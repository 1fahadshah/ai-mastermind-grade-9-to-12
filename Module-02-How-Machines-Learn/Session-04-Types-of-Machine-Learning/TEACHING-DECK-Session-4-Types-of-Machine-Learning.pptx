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0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91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9144000" cy="5143500" type="screen16x9"/>
  <p:notesSz cx="5143500" cy="9144000"/>
  <p:embeddedFontLst>
    <p:embeddedFont>
      <p:font typeface="Roboto" panose="02000000000000000000" pitchFamily="2" charset="0"/>
      <p:regular r:id="rId35"/>
      <p:bold r:id="rId36"/>
      <p:italic r:id="rId37"/>
      <p:boldItalic r:id="rId38"/>
    </p:embeddedFont>
    <p:embeddedFont>
      <p:font typeface="Roboto Slab" pitchFamily="2" charset="0"/>
      <p:regular r:id="rId39"/>
      <p:bold r:id="rId40"/>
    </p:embeddedFont>
    <p:embeddedFont>
      <p:font typeface="Roboto Slab Bold" pitchFamily="2" charset="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27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84202"/>
            <a:ext cx="4017615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4 : </a:t>
            </a:r>
            <a:endParaRPr lang="en-US" sz="2400" dirty="0"/>
          </a:p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Types of Machine Learning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8495"/>
            <a:ext cx="55680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Recap : What We Learned in Session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214065"/>
            <a:ext cx="8151763" cy="3350865"/>
          </a:xfrm>
          <a:prstGeom prst="roundRect">
            <a:avLst>
              <a:gd name="adj" fmla="val 55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21882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1298004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7071" y="1298004"/>
            <a:ext cx="504207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1625278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1704454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7071" y="1704454"/>
            <a:ext cx="5042074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Computers learning patterns from examples instead of following fixed rules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27982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2359000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Programming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7071" y="2359000"/>
            <a:ext cx="504207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Writing step-by-step instructions for a computer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686273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2765450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Rule‑Based Systems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7071" y="2765450"/>
            <a:ext cx="5042074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Programs that follow fixed rules - great for simple tasks, fail for complex ones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334081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929" y="3419996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Recognition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7071" y="3419996"/>
            <a:ext cx="504207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 regularities in data - the foundation of ML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374726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4929" y="3826446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from Patterns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7071" y="3826446"/>
            <a:ext cx="504207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found patterns to make predictions on new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0881" y="415371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4929" y="4232895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in Everyday Life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7071" y="4232895"/>
            <a:ext cx="504207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TikTok, Spotify, Netflix, Google Maps - all use ML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1" y="314327"/>
            <a:ext cx="164592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7" y="1752228"/>
            <a:ext cx="4013895" cy="14288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7" y="2437730"/>
            <a:ext cx="4013895" cy="14288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7" y="3123158"/>
            <a:ext cx="4013895" cy="14288"/>
          </a:xfrm>
          <a:prstGeom prst="rect">
            <a:avLst/>
          </a:prstGeom>
        </p:spPr>
      </p:pic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808661"/>
            <a:ext cx="8151763" cy="14288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7E6E0CFB-2282-C837-8398-FC1E21DFA5F2}"/>
              </a:ext>
            </a:extLst>
          </p:cNvPr>
          <p:cNvGrpSpPr/>
          <p:nvPr/>
        </p:nvGrpSpPr>
        <p:grpSpPr>
          <a:xfrm>
            <a:off x="822960" y="876053"/>
            <a:ext cx="7498080" cy="3941064"/>
            <a:chOff x="502920" y="1143000"/>
            <a:chExt cx="7498080" cy="3941064"/>
          </a:xfrm>
        </p:grpSpPr>
        <p:sp>
          <p:nvSpPr>
            <p:cNvPr id="95" name="Text 1">
              <a:extLst>
                <a:ext uri="{FF2B5EF4-FFF2-40B4-BE49-F238E27FC236}">
                  <a16:creationId xmlns:a16="http://schemas.microsoft.com/office/drawing/2014/main" id="{931500F6-23A7-1000-7DDB-64DA3D4461CD}"/>
                </a:ext>
              </a:extLst>
            </p:cNvPr>
            <p:cNvSpPr/>
            <p:nvPr/>
          </p:nvSpPr>
          <p:spPr>
            <a:xfrm>
              <a:off x="502920" y="1143000"/>
              <a:ext cx="3246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100" dirty="0"/>
            </a:p>
          </p:txBody>
        </p:sp>
        <p:sp>
          <p:nvSpPr>
            <p:cNvPr id="96" name="Text 13">
              <a:extLst>
                <a:ext uri="{FF2B5EF4-FFF2-40B4-BE49-F238E27FC236}">
                  <a16:creationId xmlns:a16="http://schemas.microsoft.com/office/drawing/2014/main" id="{B0AA256F-6A9D-5D67-9A69-14CD3A1BF3DE}"/>
                </a:ext>
              </a:extLst>
            </p:cNvPr>
            <p:cNvSpPr/>
            <p:nvPr/>
          </p:nvSpPr>
          <p:spPr>
            <a:xfrm>
              <a:off x="4754880" y="1143000"/>
              <a:ext cx="32461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100" dirty="0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D0CA844-E626-DC5D-9C88-2AA425AB3D12}"/>
                </a:ext>
              </a:extLst>
            </p:cNvPr>
            <p:cNvGrpSpPr/>
            <p:nvPr/>
          </p:nvGrpSpPr>
          <p:grpSpPr>
            <a:xfrm>
              <a:off x="502920" y="1389888"/>
              <a:ext cx="7498080" cy="3694176"/>
              <a:chOff x="502920" y="1389888"/>
              <a:chExt cx="7498080" cy="3694176"/>
            </a:xfrm>
          </p:grpSpPr>
          <p:sp>
            <p:nvSpPr>
              <p:cNvPr id="98" name="Shape 2">
                <a:extLst>
                  <a:ext uri="{FF2B5EF4-FFF2-40B4-BE49-F238E27FC236}">
                    <a16:creationId xmlns:a16="http://schemas.microsoft.com/office/drawing/2014/main" id="{500D0B54-55D0-7F90-3AFF-41DA5C959DCA}"/>
                  </a:ext>
                </a:extLst>
              </p:cNvPr>
              <p:cNvSpPr/>
              <p:nvPr/>
            </p:nvSpPr>
            <p:spPr>
              <a:xfrm>
                <a:off x="502920" y="1389888"/>
                <a:ext cx="3246120" cy="0"/>
              </a:xfrm>
              <a:prstGeom prst="line">
                <a:avLst/>
              </a:prstGeom>
              <a:noFill/>
              <a:ln w="15240">
                <a:solidFill>
                  <a:srgbClr val="2563EB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9" name="Text 3">
                <a:extLst>
                  <a:ext uri="{FF2B5EF4-FFF2-40B4-BE49-F238E27FC236}">
                    <a16:creationId xmlns:a16="http://schemas.microsoft.com/office/drawing/2014/main" id="{49DC5270-2C42-18FA-80B8-AC7FA959BC9C}"/>
                  </a:ext>
                </a:extLst>
              </p:cNvPr>
              <p:cNvSpPr/>
              <p:nvPr/>
            </p:nvSpPr>
            <p:spPr>
              <a:xfrm>
                <a:off x="502920" y="1435608"/>
                <a:ext cx="32461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E3A8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Identify Learning Styles</a:t>
                </a:r>
                <a:endParaRPr lang="en-US" sz="1500" dirty="0"/>
              </a:p>
            </p:txBody>
          </p:sp>
          <p:sp>
            <p:nvSpPr>
              <p:cNvPr id="100" name="Text 4">
                <a:extLst>
                  <a:ext uri="{FF2B5EF4-FFF2-40B4-BE49-F238E27FC236}">
                    <a16:creationId xmlns:a16="http://schemas.microsoft.com/office/drawing/2014/main" id="{D83431FE-E0D7-30F7-8A08-E96E7F844554}"/>
                  </a:ext>
                </a:extLst>
              </p:cNvPr>
              <p:cNvSpPr/>
              <p:nvPr/>
            </p:nvSpPr>
            <p:spPr>
              <a:xfrm>
                <a:off x="502920" y="2221992"/>
                <a:ext cx="324612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6B728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03</a:t>
                </a:r>
                <a:endParaRPr lang="en-US" sz="1100" dirty="0"/>
              </a:p>
            </p:txBody>
          </p:sp>
          <p:sp>
            <p:nvSpPr>
              <p:cNvPr id="101" name="Shape 5">
                <a:extLst>
                  <a:ext uri="{FF2B5EF4-FFF2-40B4-BE49-F238E27FC236}">
                    <a16:creationId xmlns:a16="http://schemas.microsoft.com/office/drawing/2014/main" id="{C491C048-8F1E-5053-0BAC-646855BE2AEA}"/>
                  </a:ext>
                </a:extLst>
              </p:cNvPr>
              <p:cNvSpPr/>
              <p:nvPr/>
            </p:nvSpPr>
            <p:spPr>
              <a:xfrm>
                <a:off x="502920" y="2468880"/>
                <a:ext cx="3246120" cy="0"/>
              </a:xfrm>
              <a:prstGeom prst="line">
                <a:avLst/>
              </a:prstGeom>
              <a:noFill/>
              <a:ln w="15240">
                <a:solidFill>
                  <a:srgbClr val="2563EB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2" name="Text 6">
                <a:extLst>
                  <a:ext uri="{FF2B5EF4-FFF2-40B4-BE49-F238E27FC236}">
                    <a16:creationId xmlns:a16="http://schemas.microsoft.com/office/drawing/2014/main" id="{FAA29E03-F3BA-97D4-BB9A-69126EE5534B}"/>
                  </a:ext>
                </a:extLst>
              </p:cNvPr>
              <p:cNvSpPr/>
              <p:nvPr/>
            </p:nvSpPr>
            <p:spPr>
              <a:xfrm>
                <a:off x="502920" y="2514600"/>
                <a:ext cx="32461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E3A8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Define Unsupervised Learning</a:t>
                </a:r>
                <a:endParaRPr lang="en-US" sz="1500" dirty="0"/>
              </a:p>
            </p:txBody>
          </p:sp>
          <p:sp>
            <p:nvSpPr>
              <p:cNvPr id="103" name="Text 7">
                <a:extLst>
                  <a:ext uri="{FF2B5EF4-FFF2-40B4-BE49-F238E27FC236}">
                    <a16:creationId xmlns:a16="http://schemas.microsoft.com/office/drawing/2014/main" id="{597DE1EE-08C5-2C78-1C92-BFD1AE1E206A}"/>
                  </a:ext>
                </a:extLst>
              </p:cNvPr>
              <p:cNvSpPr/>
              <p:nvPr/>
            </p:nvSpPr>
            <p:spPr>
              <a:xfrm>
                <a:off x="502920" y="3300984"/>
                <a:ext cx="324612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6B728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05</a:t>
                </a:r>
                <a:endParaRPr lang="en-US" sz="1100" dirty="0"/>
              </a:p>
            </p:txBody>
          </p:sp>
          <p:sp>
            <p:nvSpPr>
              <p:cNvPr id="104" name="Shape 8">
                <a:extLst>
                  <a:ext uri="{FF2B5EF4-FFF2-40B4-BE49-F238E27FC236}">
                    <a16:creationId xmlns:a16="http://schemas.microsoft.com/office/drawing/2014/main" id="{BC642DD0-25BE-10FB-5AC5-12EC781D3D04}"/>
                  </a:ext>
                </a:extLst>
              </p:cNvPr>
              <p:cNvSpPr/>
              <p:nvPr/>
            </p:nvSpPr>
            <p:spPr>
              <a:xfrm>
                <a:off x="502920" y="3547872"/>
                <a:ext cx="3246120" cy="0"/>
              </a:xfrm>
              <a:prstGeom prst="line">
                <a:avLst/>
              </a:prstGeom>
              <a:noFill/>
              <a:ln w="15240">
                <a:solidFill>
                  <a:srgbClr val="2563EB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5" name="Text 9">
                <a:extLst>
                  <a:ext uri="{FF2B5EF4-FFF2-40B4-BE49-F238E27FC236}">
                    <a16:creationId xmlns:a16="http://schemas.microsoft.com/office/drawing/2014/main" id="{446E0987-CED4-18B9-C4AC-3A4705AA8B43}"/>
                  </a:ext>
                </a:extLst>
              </p:cNvPr>
              <p:cNvSpPr/>
              <p:nvPr/>
            </p:nvSpPr>
            <p:spPr>
              <a:xfrm>
                <a:off x="502920" y="3593592"/>
                <a:ext cx="32461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E3A8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Give Real Examples</a:t>
                </a:r>
                <a:endParaRPr lang="en-US" sz="1500" dirty="0"/>
              </a:p>
            </p:txBody>
          </p:sp>
          <p:sp>
            <p:nvSpPr>
              <p:cNvPr id="106" name="Text 10">
                <a:extLst>
                  <a:ext uri="{FF2B5EF4-FFF2-40B4-BE49-F238E27FC236}">
                    <a16:creationId xmlns:a16="http://schemas.microsoft.com/office/drawing/2014/main" id="{BF1172B4-584D-6C23-1E98-7F7F5E40838D}"/>
                  </a:ext>
                </a:extLst>
              </p:cNvPr>
              <p:cNvSpPr/>
              <p:nvPr/>
            </p:nvSpPr>
            <p:spPr>
              <a:xfrm>
                <a:off x="502920" y="4379976"/>
                <a:ext cx="324612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6B728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07</a:t>
                </a:r>
                <a:endParaRPr lang="en-US" sz="1100" dirty="0"/>
              </a:p>
            </p:txBody>
          </p:sp>
          <p:sp>
            <p:nvSpPr>
              <p:cNvPr id="107" name="Shape 11">
                <a:extLst>
                  <a:ext uri="{FF2B5EF4-FFF2-40B4-BE49-F238E27FC236}">
                    <a16:creationId xmlns:a16="http://schemas.microsoft.com/office/drawing/2014/main" id="{9C239C96-D7A3-07B2-1AB0-B05E8226F486}"/>
                  </a:ext>
                </a:extLst>
              </p:cNvPr>
              <p:cNvSpPr/>
              <p:nvPr/>
            </p:nvSpPr>
            <p:spPr>
              <a:xfrm>
                <a:off x="502920" y="4626864"/>
                <a:ext cx="3246120" cy="0"/>
              </a:xfrm>
              <a:prstGeom prst="line">
                <a:avLst/>
              </a:prstGeom>
              <a:noFill/>
              <a:ln w="15240">
                <a:solidFill>
                  <a:srgbClr val="2563EB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8" name="Text 12">
                <a:extLst>
                  <a:ext uri="{FF2B5EF4-FFF2-40B4-BE49-F238E27FC236}">
                    <a16:creationId xmlns:a16="http://schemas.microsoft.com/office/drawing/2014/main" id="{327DD238-CDF2-39D1-F80E-38DF24AAB61E}"/>
                  </a:ext>
                </a:extLst>
              </p:cNvPr>
              <p:cNvSpPr/>
              <p:nvPr/>
            </p:nvSpPr>
            <p:spPr>
              <a:xfrm>
                <a:off x="502920" y="4672584"/>
                <a:ext cx="32461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E3A8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See the Big Picture</a:t>
                </a:r>
                <a:endParaRPr lang="en-US" sz="1500" dirty="0"/>
              </a:p>
            </p:txBody>
          </p:sp>
          <p:sp>
            <p:nvSpPr>
              <p:cNvPr id="109" name="Shape 14">
                <a:extLst>
                  <a:ext uri="{FF2B5EF4-FFF2-40B4-BE49-F238E27FC236}">
                    <a16:creationId xmlns:a16="http://schemas.microsoft.com/office/drawing/2014/main" id="{67497A59-3B07-54D4-4914-07918D6828E4}"/>
                  </a:ext>
                </a:extLst>
              </p:cNvPr>
              <p:cNvSpPr/>
              <p:nvPr/>
            </p:nvSpPr>
            <p:spPr>
              <a:xfrm>
                <a:off x="4754880" y="1389888"/>
                <a:ext cx="3246120" cy="0"/>
              </a:xfrm>
              <a:prstGeom prst="line">
                <a:avLst/>
              </a:prstGeom>
              <a:noFill/>
              <a:ln w="15240">
                <a:solidFill>
                  <a:srgbClr val="2563EB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0" name="Text 15">
                <a:extLst>
                  <a:ext uri="{FF2B5EF4-FFF2-40B4-BE49-F238E27FC236}">
                    <a16:creationId xmlns:a16="http://schemas.microsoft.com/office/drawing/2014/main" id="{09BA2B90-A8FF-1613-F8B7-80505B2E13CF}"/>
                  </a:ext>
                </a:extLst>
              </p:cNvPr>
              <p:cNvSpPr/>
              <p:nvPr/>
            </p:nvSpPr>
            <p:spPr>
              <a:xfrm>
                <a:off x="4754880" y="1435608"/>
                <a:ext cx="32461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E3A8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Define Supervised Learning</a:t>
                </a:r>
                <a:endParaRPr lang="en-US" sz="1500" dirty="0"/>
              </a:p>
            </p:txBody>
          </p:sp>
          <p:sp>
            <p:nvSpPr>
              <p:cNvPr id="111" name="Text 16">
                <a:extLst>
                  <a:ext uri="{FF2B5EF4-FFF2-40B4-BE49-F238E27FC236}">
                    <a16:creationId xmlns:a16="http://schemas.microsoft.com/office/drawing/2014/main" id="{7DBFB281-2EF4-397C-AE23-1B9291CAC3E9}"/>
                  </a:ext>
                </a:extLst>
              </p:cNvPr>
              <p:cNvSpPr/>
              <p:nvPr/>
            </p:nvSpPr>
            <p:spPr>
              <a:xfrm>
                <a:off x="4754880" y="2221992"/>
                <a:ext cx="324612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6B728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04</a:t>
                </a:r>
                <a:endParaRPr lang="en-US" sz="1100" dirty="0"/>
              </a:p>
            </p:txBody>
          </p:sp>
          <p:sp>
            <p:nvSpPr>
              <p:cNvPr id="112" name="Shape 17">
                <a:extLst>
                  <a:ext uri="{FF2B5EF4-FFF2-40B4-BE49-F238E27FC236}">
                    <a16:creationId xmlns:a16="http://schemas.microsoft.com/office/drawing/2014/main" id="{A166FDAE-15A6-D833-159A-435F340B84A0}"/>
                  </a:ext>
                </a:extLst>
              </p:cNvPr>
              <p:cNvSpPr/>
              <p:nvPr/>
            </p:nvSpPr>
            <p:spPr>
              <a:xfrm>
                <a:off x="4754880" y="2468880"/>
                <a:ext cx="3246120" cy="0"/>
              </a:xfrm>
              <a:prstGeom prst="line">
                <a:avLst/>
              </a:prstGeom>
              <a:noFill/>
              <a:ln w="15240">
                <a:solidFill>
                  <a:srgbClr val="2563EB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3" name="Text 18">
                <a:extLst>
                  <a:ext uri="{FF2B5EF4-FFF2-40B4-BE49-F238E27FC236}">
                    <a16:creationId xmlns:a16="http://schemas.microsoft.com/office/drawing/2014/main" id="{39EFC9F0-1EEB-D2F1-74F5-238A95054759}"/>
                  </a:ext>
                </a:extLst>
              </p:cNvPr>
              <p:cNvSpPr/>
              <p:nvPr/>
            </p:nvSpPr>
            <p:spPr>
              <a:xfrm>
                <a:off x="4754880" y="2514600"/>
                <a:ext cx="32461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E3A8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Define Reinforcement Learning</a:t>
                </a:r>
                <a:endParaRPr lang="en-US" sz="1500" dirty="0"/>
              </a:p>
            </p:txBody>
          </p:sp>
          <p:sp>
            <p:nvSpPr>
              <p:cNvPr id="114" name="Text 19">
                <a:extLst>
                  <a:ext uri="{FF2B5EF4-FFF2-40B4-BE49-F238E27FC236}">
                    <a16:creationId xmlns:a16="http://schemas.microsoft.com/office/drawing/2014/main" id="{0F482D4E-CF86-9814-F815-3C574E44F3F0}"/>
                  </a:ext>
                </a:extLst>
              </p:cNvPr>
              <p:cNvSpPr/>
              <p:nvPr/>
            </p:nvSpPr>
            <p:spPr>
              <a:xfrm>
                <a:off x="4754880" y="3300984"/>
                <a:ext cx="324612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6B728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06</a:t>
                </a:r>
                <a:endParaRPr lang="en-US" sz="1100" dirty="0"/>
              </a:p>
            </p:txBody>
          </p:sp>
          <p:sp>
            <p:nvSpPr>
              <p:cNvPr id="115" name="Shape 20">
                <a:extLst>
                  <a:ext uri="{FF2B5EF4-FFF2-40B4-BE49-F238E27FC236}">
                    <a16:creationId xmlns:a16="http://schemas.microsoft.com/office/drawing/2014/main" id="{7302F0CE-B011-1D21-149A-45795DEC277A}"/>
                  </a:ext>
                </a:extLst>
              </p:cNvPr>
              <p:cNvSpPr/>
              <p:nvPr/>
            </p:nvSpPr>
            <p:spPr>
              <a:xfrm>
                <a:off x="4754880" y="3547872"/>
                <a:ext cx="3246120" cy="0"/>
              </a:xfrm>
              <a:prstGeom prst="line">
                <a:avLst/>
              </a:prstGeom>
              <a:noFill/>
              <a:ln w="15240">
                <a:solidFill>
                  <a:srgbClr val="2563EB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6" name="Text 21">
                <a:extLst>
                  <a:ext uri="{FF2B5EF4-FFF2-40B4-BE49-F238E27FC236}">
                    <a16:creationId xmlns:a16="http://schemas.microsoft.com/office/drawing/2014/main" id="{EA83FC8F-1E6E-9157-84D5-27B535D790AC}"/>
                  </a:ext>
                </a:extLst>
              </p:cNvPr>
              <p:cNvSpPr/>
              <p:nvPr/>
            </p:nvSpPr>
            <p:spPr>
              <a:xfrm>
                <a:off x="4754880" y="3593592"/>
                <a:ext cx="32461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E3A8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Compare Approaches</a:t>
                </a:r>
                <a:endParaRPr lang="en-US" sz="1500" dirty="0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043112"/>
            <a:ext cx="338033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Big Question of the Day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480221"/>
            <a:ext cx="472276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many different ways can machines learn?</a:t>
            </a:r>
            <a:endParaRPr lang="en-US" sz="1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64109"/>
            <a:ext cx="46273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Different Ways Machines Learn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9968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703CDC-4B39-8640-AB1E-F191992A03BC}"/>
              </a:ext>
            </a:extLst>
          </p:cNvPr>
          <p:cNvGrpSpPr/>
          <p:nvPr/>
        </p:nvGrpSpPr>
        <p:grpSpPr>
          <a:xfrm>
            <a:off x="496119" y="2587303"/>
            <a:ext cx="2634555" cy="992088"/>
            <a:chOff x="496119" y="2587303"/>
            <a:chExt cx="2634555" cy="992088"/>
          </a:xfrm>
        </p:grpSpPr>
        <p:sp>
          <p:nvSpPr>
            <p:cNvPr id="4" name="Shape 2"/>
            <p:cNvSpPr/>
            <p:nvPr/>
          </p:nvSpPr>
          <p:spPr>
            <a:xfrm>
              <a:off x="496119" y="2587303"/>
              <a:ext cx="2634555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2711276"/>
              <a:ext cx="372070" cy="372070"/>
            </a:xfrm>
            <a:prstGeom prst="rect">
              <a:avLst/>
            </a:prstGeom>
          </p:spPr>
        </p:pic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412" y="2813521"/>
              <a:ext cx="167432" cy="167432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620092" y="3207321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data we have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0366E61-6E32-6BA0-5CD9-7ECF42CD3CDE}"/>
              </a:ext>
            </a:extLst>
          </p:cNvPr>
          <p:cNvGrpSpPr/>
          <p:nvPr/>
        </p:nvGrpSpPr>
        <p:grpSpPr>
          <a:xfrm>
            <a:off x="3254648" y="2587303"/>
            <a:ext cx="2634630" cy="992088"/>
            <a:chOff x="3254648" y="2587303"/>
            <a:chExt cx="2634630" cy="992088"/>
          </a:xfrm>
        </p:grpSpPr>
        <p:sp>
          <p:nvSpPr>
            <p:cNvPr id="8" name="Shape 4"/>
            <p:cNvSpPr/>
            <p:nvPr/>
          </p:nvSpPr>
          <p:spPr>
            <a:xfrm>
              <a:off x="3254648" y="2587303"/>
              <a:ext cx="2634630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78622" y="2711276"/>
              <a:ext cx="372070" cy="372070"/>
            </a:xfrm>
            <a:prstGeom prst="rect">
              <a:avLst/>
            </a:prstGeom>
          </p:spPr>
        </p:pic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80941" y="2813521"/>
              <a:ext cx="167432" cy="167432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3378622" y="3207321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we want the machine to do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EEDDA4-8E37-FB61-BD62-45A47EFE9CFD}"/>
              </a:ext>
            </a:extLst>
          </p:cNvPr>
          <p:cNvGrpSpPr/>
          <p:nvPr/>
        </p:nvGrpSpPr>
        <p:grpSpPr>
          <a:xfrm>
            <a:off x="6013252" y="2587303"/>
            <a:ext cx="2634555" cy="992088"/>
            <a:chOff x="6013252" y="2587303"/>
            <a:chExt cx="2634555" cy="992088"/>
          </a:xfrm>
        </p:grpSpPr>
        <p:sp>
          <p:nvSpPr>
            <p:cNvPr id="12" name="Shape 6"/>
            <p:cNvSpPr/>
            <p:nvPr/>
          </p:nvSpPr>
          <p:spPr>
            <a:xfrm>
              <a:off x="6013252" y="2587303"/>
              <a:ext cx="2634555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3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37225" y="2711276"/>
              <a:ext cx="372070" cy="372070"/>
            </a:xfrm>
            <a:prstGeom prst="rect">
              <a:avLst/>
            </a:prstGeom>
          </p:spPr>
        </p:pic>
        <p:pic>
          <p:nvPicPr>
            <p:cNvPr id="14" name="Image 5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239545" y="2813521"/>
              <a:ext cx="167432" cy="167432"/>
            </a:xfrm>
            <a:prstGeom prst="rect">
              <a:avLst/>
            </a:prstGeom>
          </p:spPr>
        </p:pic>
        <p:sp>
          <p:nvSpPr>
            <p:cNvPr id="15" name="Text 7"/>
            <p:cNvSpPr/>
            <p:nvPr/>
          </p:nvSpPr>
          <p:spPr>
            <a:xfrm>
              <a:off x="6137225" y="3207321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we give feedback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66838"/>
            <a:ext cx="645594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Three Main Types of Machine Learning</a:t>
            </a:r>
            <a:endParaRPr lang="en-US" sz="24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AC60AB3-3834-498E-7AAA-9E1E5BB6A14D}"/>
              </a:ext>
            </a:extLst>
          </p:cNvPr>
          <p:cNvGrpSpPr/>
          <p:nvPr/>
        </p:nvGrpSpPr>
        <p:grpSpPr>
          <a:xfrm>
            <a:off x="496119" y="2002408"/>
            <a:ext cx="2634555" cy="1774254"/>
            <a:chOff x="496119" y="2002408"/>
            <a:chExt cx="2634555" cy="1774254"/>
          </a:xfrm>
        </p:grpSpPr>
        <p:sp>
          <p:nvSpPr>
            <p:cNvPr id="3" name="Shape 1"/>
            <p:cNvSpPr/>
            <p:nvPr/>
          </p:nvSpPr>
          <p:spPr>
            <a:xfrm>
              <a:off x="496119" y="2002408"/>
              <a:ext cx="2634555" cy="1774254"/>
            </a:xfrm>
            <a:prstGeom prst="roundRect">
              <a:avLst>
                <a:gd name="adj" fmla="val 1049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4C5ED10-7769-D57C-3AC9-9269A6115FB3}"/>
                </a:ext>
              </a:extLst>
            </p:cNvPr>
            <p:cNvGrpSpPr/>
            <p:nvPr/>
          </p:nvGrpSpPr>
          <p:grpSpPr>
            <a:xfrm>
              <a:off x="510406" y="2016696"/>
              <a:ext cx="2605980" cy="372070"/>
              <a:chOff x="510406" y="2016696"/>
              <a:chExt cx="2605980" cy="37207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510406" y="2016696"/>
                <a:ext cx="2605980" cy="372070"/>
              </a:xfrm>
              <a:prstGeom prst="roundRect">
                <a:avLst>
                  <a:gd name="adj" fmla="val 393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grpSp>
            <p:nvGrpSpPr>
              <p:cNvPr id="23" name="Image 0" descr="preencoded.png">
                <a:extLst>
                  <a:ext uri="{FF2B5EF4-FFF2-40B4-BE49-F238E27FC236}">
                    <a16:creationId xmlns:a16="http://schemas.microsoft.com/office/drawing/2014/main" id="{0A14F6DA-EAEC-19D5-D228-82EBFD95AA73}"/>
                  </a:ext>
                </a:extLst>
              </p:cNvPr>
              <p:cNvGrpSpPr/>
              <p:nvPr/>
            </p:nvGrpSpPr>
            <p:grpSpPr>
              <a:xfrm>
                <a:off x="1721073" y="2124490"/>
                <a:ext cx="170870" cy="168531"/>
                <a:chOff x="1721073" y="2124490"/>
                <a:chExt cx="170870" cy="168531"/>
              </a:xfrm>
              <a:noFill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00C8CA0F-3F59-CD67-6604-737E8800069B}"/>
                    </a:ext>
                  </a:extLst>
                </p:cNvPr>
                <p:cNvSpPr/>
                <p:nvPr/>
              </p:nvSpPr>
              <p:spPr>
                <a:xfrm>
                  <a:off x="1742415" y="2138320"/>
                  <a:ext cx="56697" cy="76558"/>
                </a:xfrm>
                <a:custGeom>
                  <a:avLst/>
                  <a:gdLst>
                    <a:gd name="csX0" fmla="*/ 0 w 56697"/>
                    <a:gd name="csY0" fmla="*/ 38484 h 76558"/>
                    <a:gd name="csX1" fmla="*/ 775 w 56697"/>
                    <a:gd name="csY1" fmla="*/ 51898 h 76558"/>
                    <a:gd name="csX2" fmla="*/ 4217 w 56697"/>
                    <a:gd name="csY2" fmla="*/ 61276 h 76558"/>
                    <a:gd name="csX3" fmla="*/ 11072 w 56697"/>
                    <a:gd name="csY3" fmla="*/ 69797 h 76558"/>
                    <a:gd name="csX4" fmla="*/ 19833 w 56697"/>
                    <a:gd name="csY4" fmla="*/ 75122 h 76558"/>
                    <a:gd name="csX5" fmla="*/ 30413 w 56697"/>
                    <a:gd name="csY5" fmla="*/ 76559 h 76558"/>
                    <a:gd name="csX6" fmla="*/ 39628 w 56697"/>
                    <a:gd name="csY6" fmla="*/ 73968 h 76558"/>
                    <a:gd name="csX7" fmla="*/ 47858 w 56697"/>
                    <a:gd name="csY7" fmla="*/ 67730 h 76558"/>
                    <a:gd name="csX8" fmla="*/ 53722 w 56697"/>
                    <a:gd name="csY8" fmla="*/ 58976 h 76558"/>
                    <a:gd name="csX9" fmla="*/ 56210 w 56697"/>
                    <a:gd name="csY9" fmla="*/ 50727 h 76558"/>
                    <a:gd name="csX10" fmla="*/ 56691 w 56697"/>
                    <a:gd name="csY10" fmla="*/ 30785 h 76558"/>
                    <a:gd name="csX11" fmla="*/ 55616 w 56697"/>
                    <a:gd name="csY11" fmla="*/ 23016 h 76558"/>
                    <a:gd name="csX12" fmla="*/ 52025 w 56697"/>
                    <a:gd name="csY12" fmla="*/ 14396 h 76558"/>
                    <a:gd name="csX13" fmla="*/ 46518 w 56697"/>
                    <a:gd name="csY13" fmla="*/ 7382 h 76558"/>
                    <a:gd name="csX14" fmla="*/ 39326 w 56697"/>
                    <a:gd name="csY14" fmla="*/ 2340 h 76558"/>
                    <a:gd name="csX15" fmla="*/ 31526 w 56697"/>
                    <a:gd name="csY15" fmla="*/ 121 h 76558"/>
                    <a:gd name="csX16" fmla="*/ 22642 w 56697"/>
                    <a:gd name="csY16" fmla="*/ 446 h 76558"/>
                    <a:gd name="csX17" fmla="*/ 14898 w 56697"/>
                    <a:gd name="csY17" fmla="*/ 3663 h 76558"/>
                    <a:gd name="csX18" fmla="*/ 8071 w 56697"/>
                    <a:gd name="csY18" fmla="*/ 9615 h 76558"/>
                    <a:gd name="csX19" fmla="*/ 3456 w 56697"/>
                    <a:gd name="csY19" fmla="*/ 16657 h 76558"/>
                    <a:gd name="csX20" fmla="*/ 668 w 56697"/>
                    <a:gd name="csY20" fmla="*/ 24814 h 76558"/>
                    <a:gd name="csX21" fmla="*/ 0 w 56697"/>
                    <a:gd name="csY21" fmla="*/ 38484 h 765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56697" h="76558">
                      <a:moveTo>
                        <a:pt x="0" y="38484"/>
                      </a:moveTo>
                      <a:cubicBezTo>
                        <a:pt x="14" y="43676"/>
                        <a:pt x="235" y="48015"/>
                        <a:pt x="775" y="51898"/>
                      </a:cubicBezTo>
                      <a:cubicBezTo>
                        <a:pt x="1520" y="54955"/>
                        <a:pt x="2768" y="58384"/>
                        <a:pt x="4217" y="61276"/>
                      </a:cubicBezTo>
                      <a:cubicBezTo>
                        <a:pt x="5907" y="63962"/>
                        <a:pt x="8323" y="67042"/>
                        <a:pt x="11072" y="69797"/>
                      </a:cubicBezTo>
                      <a:cubicBezTo>
                        <a:pt x="13994" y="72082"/>
                        <a:pt x="17014" y="73885"/>
                        <a:pt x="19833" y="75122"/>
                      </a:cubicBezTo>
                      <a:cubicBezTo>
                        <a:pt x="23319" y="76103"/>
                        <a:pt x="26635" y="76574"/>
                        <a:pt x="30413" y="76559"/>
                      </a:cubicBezTo>
                      <a:cubicBezTo>
                        <a:pt x="33535" y="76121"/>
                        <a:pt x="36887" y="75163"/>
                        <a:pt x="39628" y="73968"/>
                      </a:cubicBezTo>
                      <a:cubicBezTo>
                        <a:pt x="42415" y="72346"/>
                        <a:pt x="45126" y="70324"/>
                        <a:pt x="47858" y="67730"/>
                      </a:cubicBezTo>
                      <a:cubicBezTo>
                        <a:pt x="50156" y="64986"/>
                        <a:pt x="51976" y="62277"/>
                        <a:pt x="53722" y="58976"/>
                      </a:cubicBezTo>
                      <a:cubicBezTo>
                        <a:pt x="54697" y="56623"/>
                        <a:pt x="55637" y="53526"/>
                        <a:pt x="56210" y="50727"/>
                      </a:cubicBezTo>
                      <a:cubicBezTo>
                        <a:pt x="56581" y="47587"/>
                        <a:pt x="56729" y="42539"/>
                        <a:pt x="56691" y="30785"/>
                      </a:cubicBezTo>
                      <a:cubicBezTo>
                        <a:pt x="56608" y="28793"/>
                        <a:pt x="56275" y="26083"/>
                        <a:pt x="55616" y="23016"/>
                      </a:cubicBezTo>
                      <a:cubicBezTo>
                        <a:pt x="54737" y="20166"/>
                        <a:pt x="53421" y="17010"/>
                        <a:pt x="52025" y="14396"/>
                      </a:cubicBezTo>
                      <a:cubicBezTo>
                        <a:pt x="50687" y="12285"/>
                        <a:pt x="48606" y="9591"/>
                        <a:pt x="46518" y="7382"/>
                      </a:cubicBezTo>
                      <a:cubicBezTo>
                        <a:pt x="44097" y="5291"/>
                        <a:pt x="41888" y="3759"/>
                        <a:pt x="39326" y="2340"/>
                      </a:cubicBezTo>
                      <a:cubicBezTo>
                        <a:pt x="37133" y="1411"/>
                        <a:pt x="34540" y="630"/>
                        <a:pt x="31526" y="121"/>
                      </a:cubicBezTo>
                      <a:cubicBezTo>
                        <a:pt x="28468" y="-108"/>
                        <a:pt x="25750" y="-19"/>
                        <a:pt x="22642" y="446"/>
                      </a:cubicBezTo>
                      <a:cubicBezTo>
                        <a:pt x="19749" y="1289"/>
                        <a:pt x="17301" y="2326"/>
                        <a:pt x="14898" y="3663"/>
                      </a:cubicBezTo>
                      <a:cubicBezTo>
                        <a:pt x="12443" y="5395"/>
                        <a:pt x="10293" y="7271"/>
                        <a:pt x="8071" y="9615"/>
                      </a:cubicBezTo>
                      <a:cubicBezTo>
                        <a:pt x="6361" y="11809"/>
                        <a:pt x="4714" y="14329"/>
                        <a:pt x="3456" y="16657"/>
                      </a:cubicBezTo>
                      <a:cubicBezTo>
                        <a:pt x="2251" y="19416"/>
                        <a:pt x="1407" y="21915"/>
                        <a:pt x="668" y="24814"/>
                      </a:cubicBezTo>
                      <a:cubicBezTo>
                        <a:pt x="229" y="27512"/>
                        <a:pt x="37" y="29871"/>
                        <a:pt x="0" y="38484"/>
                      </a:cubicBez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EF84BD27-DEB0-CC1D-035B-B2A62A406DA1}"/>
                    </a:ext>
                  </a:extLst>
                </p:cNvPr>
                <p:cNvSpPr/>
                <p:nvPr/>
              </p:nvSpPr>
              <p:spPr>
                <a:xfrm>
                  <a:off x="1775104" y="2170247"/>
                  <a:ext cx="15489" cy="3583"/>
                </a:xfrm>
                <a:custGeom>
                  <a:avLst/>
                  <a:gdLst>
                    <a:gd name="csX0" fmla="*/ 15489 w 15489"/>
                    <a:gd name="csY0" fmla="*/ 2855 h 3583"/>
                    <a:gd name="csX1" fmla="*/ 9574 w 15489"/>
                    <a:gd name="csY1" fmla="*/ 0 h 3583"/>
                    <a:gd name="csX2" fmla="*/ 2512 w 15489"/>
                    <a:gd name="csY2" fmla="*/ 745 h 3583"/>
                    <a:gd name="csX3" fmla="*/ 0 w 15489"/>
                    <a:gd name="csY3" fmla="*/ 3584 h 358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489" h="3583">
                      <a:moveTo>
                        <a:pt x="15489" y="2855"/>
                      </a:moveTo>
                      <a:cubicBezTo>
                        <a:pt x="13521" y="1286"/>
                        <a:pt x="11617" y="332"/>
                        <a:pt x="9574" y="0"/>
                      </a:cubicBezTo>
                      <a:cubicBezTo>
                        <a:pt x="5494" y="35"/>
                        <a:pt x="4129" y="170"/>
                        <a:pt x="2512" y="745"/>
                      </a:cubicBezTo>
                      <a:cubicBezTo>
                        <a:pt x="1838" y="1326"/>
                        <a:pt x="1001" y="2272"/>
                        <a:pt x="0" y="3584"/>
                      </a:cubicBez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6FF2D29E-6B9B-F1E8-5FCD-CCF9BDD37826}"/>
                    </a:ext>
                  </a:extLst>
                </p:cNvPr>
                <p:cNvSpPr/>
                <p:nvPr/>
              </p:nvSpPr>
              <p:spPr>
                <a:xfrm>
                  <a:off x="1750894" y="2170275"/>
                  <a:ext cx="15250" cy="4187"/>
                </a:xfrm>
                <a:custGeom>
                  <a:avLst/>
                  <a:gdLst>
                    <a:gd name="csX0" fmla="*/ 15250 w 15250"/>
                    <a:gd name="csY0" fmla="*/ 4176 h 4187"/>
                    <a:gd name="csX1" fmla="*/ 12620 w 15250"/>
                    <a:gd name="csY1" fmla="*/ 703 h 4187"/>
                    <a:gd name="csX2" fmla="*/ 4685 w 15250"/>
                    <a:gd name="csY2" fmla="*/ 25 h 4187"/>
                    <a:gd name="csX3" fmla="*/ 1292 w 15250"/>
                    <a:gd name="csY3" fmla="*/ 1847 h 4187"/>
                    <a:gd name="csX4" fmla="*/ 0 w 15250"/>
                    <a:gd name="csY4" fmla="*/ 4187 h 418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5250" h="4187">
                      <a:moveTo>
                        <a:pt x="15250" y="4176"/>
                      </a:moveTo>
                      <a:cubicBezTo>
                        <a:pt x="14663" y="2773"/>
                        <a:pt x="14126" y="1919"/>
                        <a:pt x="12620" y="703"/>
                      </a:cubicBezTo>
                      <a:cubicBezTo>
                        <a:pt x="10817" y="126"/>
                        <a:pt x="8095" y="-76"/>
                        <a:pt x="4685" y="25"/>
                      </a:cubicBezTo>
                      <a:cubicBezTo>
                        <a:pt x="2641" y="682"/>
                        <a:pt x="1930" y="1172"/>
                        <a:pt x="1292" y="1847"/>
                      </a:cubicBezTo>
                      <a:lnTo>
                        <a:pt x="0" y="4187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9A66CC81-D566-07F0-3943-59307F07EE51}"/>
                    </a:ext>
                  </a:extLst>
                </p:cNvPr>
                <p:cNvSpPr/>
                <p:nvPr/>
              </p:nvSpPr>
              <p:spPr>
                <a:xfrm>
                  <a:off x="1811054" y="2286714"/>
                  <a:ext cx="10747" cy="6307"/>
                </a:xfrm>
                <a:custGeom>
                  <a:avLst/>
                  <a:gdLst>
                    <a:gd name="csX0" fmla="*/ 10748 w 10747"/>
                    <a:gd name="csY0" fmla="*/ 0 h 6307"/>
                    <a:gd name="csX1" fmla="*/ 8110 w 10747"/>
                    <a:gd name="csY1" fmla="*/ 4301 h 6307"/>
                    <a:gd name="csX2" fmla="*/ 4469 w 10747"/>
                    <a:gd name="csY2" fmla="*/ 6165 h 6307"/>
                    <a:gd name="csX3" fmla="*/ 0 w 10747"/>
                    <a:gd name="csY3" fmla="*/ 6308 h 63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0747" h="6307">
                      <a:moveTo>
                        <a:pt x="10748" y="0"/>
                      </a:moveTo>
                      <a:cubicBezTo>
                        <a:pt x="9783" y="2047"/>
                        <a:pt x="8891" y="3453"/>
                        <a:pt x="8110" y="4301"/>
                      </a:cubicBezTo>
                      <a:cubicBezTo>
                        <a:pt x="6850" y="5311"/>
                        <a:pt x="5924" y="5758"/>
                        <a:pt x="4469" y="6165"/>
                      </a:cubicBezTo>
                      <a:lnTo>
                        <a:pt x="0" y="6308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4F294A96-A0AF-9633-B8DF-9C6F66D98480}"/>
                    </a:ext>
                  </a:extLst>
                </p:cNvPr>
                <p:cNvSpPr/>
                <p:nvPr/>
              </p:nvSpPr>
              <p:spPr>
                <a:xfrm>
                  <a:off x="1721122" y="2283248"/>
                  <a:ext cx="6871" cy="9763"/>
                </a:xfrm>
                <a:custGeom>
                  <a:avLst/>
                  <a:gdLst>
                    <a:gd name="csX0" fmla="*/ 6871 w 6871"/>
                    <a:gd name="csY0" fmla="*/ 9763 h 9763"/>
                    <a:gd name="csX1" fmla="*/ 3093 w 6871"/>
                    <a:gd name="csY1" fmla="*/ 8202 h 9763"/>
                    <a:gd name="csX2" fmla="*/ 407 w 6871"/>
                    <a:gd name="csY2" fmla="*/ 4064 h 9763"/>
                    <a:gd name="csX3" fmla="*/ 0 w 6871"/>
                    <a:gd name="csY3" fmla="*/ 0 h 97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871" h="9763">
                      <a:moveTo>
                        <a:pt x="6871" y="9763"/>
                      </a:moveTo>
                      <a:cubicBezTo>
                        <a:pt x="5516" y="9526"/>
                        <a:pt x="4165" y="8948"/>
                        <a:pt x="3093" y="8202"/>
                      </a:cubicBezTo>
                      <a:cubicBezTo>
                        <a:pt x="1833" y="6896"/>
                        <a:pt x="920" y="5420"/>
                        <a:pt x="407" y="4064"/>
                      </a:cubicBezTo>
                      <a:cubicBezTo>
                        <a:pt x="183" y="2899"/>
                        <a:pt x="47" y="1544"/>
                        <a:pt x="0" y="0"/>
                      </a:cubicBez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186643F-50C2-5032-68BA-7F6D5301B4F4}"/>
                    </a:ext>
                  </a:extLst>
                </p:cNvPr>
                <p:cNvSpPr/>
                <p:nvPr/>
              </p:nvSpPr>
              <p:spPr>
                <a:xfrm>
                  <a:off x="1721073" y="2257390"/>
                  <a:ext cx="93" cy="4286"/>
                </a:xfrm>
                <a:custGeom>
                  <a:avLst/>
                  <a:gdLst>
                    <a:gd name="csX0" fmla="*/ 0 w 93"/>
                    <a:gd name="csY0" fmla="*/ 4287 h 4286"/>
                    <a:gd name="csX1" fmla="*/ 93 w 93"/>
                    <a:gd name="csY1" fmla="*/ 0 h 42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3" h="4286">
                      <a:moveTo>
                        <a:pt x="0" y="4287"/>
                      </a:moveTo>
                      <a:lnTo>
                        <a:pt x="93" y="0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BF37A4FF-016C-8A19-B16B-14A436047804}"/>
                    </a:ext>
                  </a:extLst>
                </p:cNvPr>
                <p:cNvSpPr/>
                <p:nvPr/>
              </p:nvSpPr>
              <p:spPr>
                <a:xfrm>
                  <a:off x="1751348" y="2220179"/>
                  <a:ext cx="39210" cy="20890"/>
                </a:xfrm>
                <a:custGeom>
                  <a:avLst/>
                  <a:gdLst>
                    <a:gd name="csX0" fmla="*/ 39210 w 39210"/>
                    <a:gd name="csY0" fmla="*/ 0 h 20890"/>
                    <a:gd name="csX1" fmla="*/ 31609 w 39210"/>
                    <a:gd name="csY1" fmla="*/ 13150 h 20890"/>
                    <a:gd name="csX2" fmla="*/ 24613 w 39210"/>
                    <a:gd name="csY2" fmla="*/ 19792 h 20890"/>
                    <a:gd name="csX3" fmla="*/ 17087 w 39210"/>
                    <a:gd name="csY3" fmla="*/ 20782 h 20890"/>
                    <a:gd name="csX4" fmla="*/ 12253 w 39210"/>
                    <a:gd name="csY4" fmla="*/ 18268 h 20890"/>
                    <a:gd name="csX5" fmla="*/ 4990 w 39210"/>
                    <a:gd name="csY5" fmla="*/ 9671 h 20890"/>
                    <a:gd name="csX6" fmla="*/ 0 w 39210"/>
                    <a:gd name="csY6" fmla="*/ 348 h 208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39210" h="20890">
                      <a:moveTo>
                        <a:pt x="39210" y="0"/>
                      </a:moveTo>
                      <a:cubicBezTo>
                        <a:pt x="36347" y="5487"/>
                        <a:pt x="34023" y="9558"/>
                        <a:pt x="31609" y="13150"/>
                      </a:cubicBezTo>
                      <a:cubicBezTo>
                        <a:pt x="29400" y="15827"/>
                        <a:pt x="26941" y="18170"/>
                        <a:pt x="24613" y="19792"/>
                      </a:cubicBezTo>
                      <a:cubicBezTo>
                        <a:pt x="22024" y="20789"/>
                        <a:pt x="19574" y="21073"/>
                        <a:pt x="17087" y="20782"/>
                      </a:cubicBezTo>
                      <a:cubicBezTo>
                        <a:pt x="15843" y="20419"/>
                        <a:pt x="14492" y="19809"/>
                        <a:pt x="12253" y="18268"/>
                      </a:cubicBezTo>
                      <a:cubicBezTo>
                        <a:pt x="9737" y="15946"/>
                        <a:pt x="7405" y="13192"/>
                        <a:pt x="4990" y="9671"/>
                      </a:cubicBezTo>
                      <a:cubicBezTo>
                        <a:pt x="3468" y="7026"/>
                        <a:pt x="1804" y="3919"/>
                        <a:pt x="0" y="348"/>
                      </a:cubicBez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5FBE9DBF-DDD8-5BEA-0059-E36DA7D0F6E0}"/>
                    </a:ext>
                  </a:extLst>
                </p:cNvPr>
                <p:cNvSpPr/>
                <p:nvPr/>
              </p:nvSpPr>
              <p:spPr>
                <a:xfrm>
                  <a:off x="1886409" y="2124490"/>
                  <a:ext cx="5534" cy="9722"/>
                </a:xfrm>
                <a:custGeom>
                  <a:avLst/>
                  <a:gdLst>
                    <a:gd name="csX0" fmla="*/ 0 w 5534"/>
                    <a:gd name="csY0" fmla="*/ 0 h 9722"/>
                    <a:gd name="csX1" fmla="*/ 3509 w 5534"/>
                    <a:gd name="csY1" fmla="*/ 1778 h 9722"/>
                    <a:gd name="csX2" fmla="*/ 5420 w 5534"/>
                    <a:gd name="csY2" fmla="*/ 5764 h 9722"/>
                    <a:gd name="csX3" fmla="*/ 5534 w 5534"/>
                    <a:gd name="csY3" fmla="*/ 9723 h 97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534" h="9722">
                      <a:moveTo>
                        <a:pt x="0" y="0"/>
                      </a:moveTo>
                      <a:cubicBezTo>
                        <a:pt x="1377" y="324"/>
                        <a:pt x="2487" y="898"/>
                        <a:pt x="3509" y="1778"/>
                      </a:cubicBezTo>
                      <a:cubicBezTo>
                        <a:pt x="4414" y="2979"/>
                        <a:pt x="4977" y="4145"/>
                        <a:pt x="5420" y="5764"/>
                      </a:cubicBezTo>
                      <a:lnTo>
                        <a:pt x="5534" y="9723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4F2251B6-FD57-0385-51B6-7E185A572D55}"/>
                    </a:ext>
                  </a:extLst>
                </p:cNvPr>
                <p:cNvSpPr/>
                <p:nvPr/>
              </p:nvSpPr>
              <p:spPr>
                <a:xfrm>
                  <a:off x="1884721" y="2221974"/>
                  <a:ext cx="7168" cy="8685"/>
                </a:xfrm>
                <a:custGeom>
                  <a:avLst/>
                  <a:gdLst>
                    <a:gd name="csX0" fmla="*/ 7169 w 7168"/>
                    <a:gd name="csY0" fmla="*/ 0 h 8685"/>
                    <a:gd name="csX1" fmla="*/ 6350 w 7168"/>
                    <a:gd name="csY1" fmla="*/ 5305 h 8685"/>
                    <a:gd name="csX2" fmla="*/ 3190 w 7168"/>
                    <a:gd name="csY2" fmla="*/ 8398 h 8685"/>
                    <a:gd name="csX3" fmla="*/ 0 w 7168"/>
                    <a:gd name="csY3" fmla="*/ 8686 h 8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168" h="8685">
                      <a:moveTo>
                        <a:pt x="7169" y="0"/>
                      </a:moveTo>
                      <a:cubicBezTo>
                        <a:pt x="7131" y="2369"/>
                        <a:pt x="6834" y="3946"/>
                        <a:pt x="6350" y="5305"/>
                      </a:cubicBezTo>
                      <a:cubicBezTo>
                        <a:pt x="5374" y="6884"/>
                        <a:pt x="4594" y="7668"/>
                        <a:pt x="3190" y="8398"/>
                      </a:cubicBezTo>
                      <a:cubicBezTo>
                        <a:pt x="2420" y="8556"/>
                        <a:pt x="1357" y="8652"/>
                        <a:pt x="0" y="8686"/>
                      </a:cubicBez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02A7C733-C7A6-12B9-B970-1B68EE337831}"/>
                    </a:ext>
                  </a:extLst>
                </p:cNvPr>
                <p:cNvSpPr/>
                <p:nvPr/>
              </p:nvSpPr>
              <p:spPr>
                <a:xfrm>
                  <a:off x="1832764" y="2230525"/>
                  <a:ext cx="22115" cy="255"/>
                </a:xfrm>
                <a:custGeom>
                  <a:avLst/>
                  <a:gdLst>
                    <a:gd name="csX0" fmla="*/ 22115 w 22115"/>
                    <a:gd name="csY0" fmla="*/ 255 h 255"/>
                    <a:gd name="csX1" fmla="*/ 0 w 22115"/>
                    <a:gd name="csY1" fmla="*/ 0 h 2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2115" h="255">
                      <a:moveTo>
                        <a:pt x="22115" y="255"/>
                      </a:moveTo>
                      <a:cubicBezTo>
                        <a:pt x="17511" y="93"/>
                        <a:pt x="10139" y="8"/>
                        <a:pt x="0" y="0"/>
                      </a:cubicBez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0F1FD38E-A6E9-26F5-B1D5-47C04054E009}"/>
                    </a:ext>
                  </a:extLst>
                </p:cNvPr>
                <p:cNvSpPr/>
                <p:nvPr/>
              </p:nvSpPr>
              <p:spPr>
                <a:xfrm>
                  <a:off x="1742448" y="2174444"/>
                  <a:ext cx="8445" cy="17"/>
                </a:xfrm>
                <a:custGeom>
                  <a:avLst/>
                  <a:gdLst>
                    <a:gd name="csX0" fmla="*/ 8445 w 8445"/>
                    <a:gd name="csY0" fmla="*/ 18 h 17"/>
                    <a:gd name="csX1" fmla="*/ 0 w 8445"/>
                    <a:gd name="csY1" fmla="*/ 0 h 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445" h="17">
                      <a:moveTo>
                        <a:pt x="8445" y="1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53A09E41-C3F7-6C7D-AFF1-361736CD5622}"/>
                    </a:ext>
                  </a:extLst>
                </p:cNvPr>
                <p:cNvSpPr/>
                <p:nvPr/>
              </p:nvSpPr>
              <p:spPr>
                <a:xfrm>
                  <a:off x="1750820" y="2174505"/>
                  <a:ext cx="15523" cy="11578"/>
                </a:xfrm>
                <a:custGeom>
                  <a:avLst/>
                  <a:gdLst>
                    <a:gd name="csX0" fmla="*/ 15173 w 15523"/>
                    <a:gd name="csY0" fmla="*/ 0 h 11578"/>
                    <a:gd name="csX1" fmla="*/ 10058 w 15523"/>
                    <a:gd name="csY1" fmla="*/ 11175 h 11578"/>
                    <a:gd name="csX2" fmla="*/ 348 w 15523"/>
                    <a:gd name="csY2" fmla="*/ 5288 h 11578"/>
                    <a:gd name="csX3" fmla="*/ 335 w 15523"/>
                    <a:gd name="csY3" fmla="*/ 48 h 115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523" h="11578">
                      <a:moveTo>
                        <a:pt x="15173" y="0"/>
                      </a:moveTo>
                      <a:cubicBezTo>
                        <a:pt x="16442" y="4712"/>
                        <a:pt x="14152" y="9715"/>
                        <a:pt x="10058" y="11175"/>
                      </a:cubicBezTo>
                      <a:cubicBezTo>
                        <a:pt x="5964" y="12636"/>
                        <a:pt x="1617" y="10000"/>
                        <a:pt x="348" y="5288"/>
                      </a:cubicBezTo>
                      <a:cubicBezTo>
                        <a:pt x="-112" y="3582"/>
                        <a:pt x="-116" y="1757"/>
                        <a:pt x="335" y="48"/>
                      </a:cubicBez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930F2E1-FFD3-A417-2A7D-6AFD602917D1}"/>
                    </a:ext>
                  </a:extLst>
                </p:cNvPr>
                <p:cNvSpPr/>
                <p:nvPr/>
              </p:nvSpPr>
              <p:spPr>
                <a:xfrm>
                  <a:off x="1766144" y="2174451"/>
                  <a:ext cx="8466" cy="40"/>
                </a:xfrm>
                <a:custGeom>
                  <a:avLst/>
                  <a:gdLst>
                    <a:gd name="csX0" fmla="*/ 8466 w 8466"/>
                    <a:gd name="csY0" fmla="*/ 40 h 40"/>
                    <a:gd name="csX1" fmla="*/ 0 w 8466"/>
                    <a:gd name="csY1" fmla="*/ 0 h 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466" h="40">
                      <a:moveTo>
                        <a:pt x="8466" y="4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B1922FC6-98D5-C477-F978-409A967B0253}"/>
                    </a:ext>
                  </a:extLst>
                </p:cNvPr>
                <p:cNvSpPr/>
                <p:nvPr/>
              </p:nvSpPr>
              <p:spPr>
                <a:xfrm>
                  <a:off x="1775102" y="2174575"/>
                  <a:ext cx="15470" cy="11489"/>
                </a:xfrm>
                <a:custGeom>
                  <a:avLst/>
                  <a:gdLst>
                    <a:gd name="csX0" fmla="*/ 15135 w 15470"/>
                    <a:gd name="csY0" fmla="*/ 0 h 11489"/>
                    <a:gd name="csX1" fmla="*/ 9981 w 15470"/>
                    <a:gd name="csY1" fmla="*/ 11103 h 11489"/>
                    <a:gd name="csX2" fmla="*/ 334 w 15470"/>
                    <a:gd name="csY2" fmla="*/ 5172 h 11489"/>
                    <a:gd name="csX3" fmla="*/ 327 w 15470"/>
                    <a:gd name="csY3" fmla="*/ 24 h 114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5470" h="11489">
                      <a:moveTo>
                        <a:pt x="15135" y="0"/>
                      </a:moveTo>
                      <a:cubicBezTo>
                        <a:pt x="16376" y="4704"/>
                        <a:pt x="14069" y="9675"/>
                        <a:pt x="9981" y="11103"/>
                      </a:cubicBezTo>
                      <a:cubicBezTo>
                        <a:pt x="5894" y="12532"/>
                        <a:pt x="1575" y="9876"/>
                        <a:pt x="334" y="5172"/>
                      </a:cubicBezTo>
                      <a:cubicBezTo>
                        <a:pt x="-109" y="3494"/>
                        <a:pt x="-111" y="1704"/>
                        <a:pt x="327" y="24"/>
                      </a:cubicBez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F293F131-3972-4B01-DF42-CBC580CD4321}"/>
                    </a:ext>
                  </a:extLst>
                </p:cNvPr>
                <p:cNvSpPr/>
                <p:nvPr/>
              </p:nvSpPr>
              <p:spPr>
                <a:xfrm>
                  <a:off x="1792344" y="2174499"/>
                  <a:ext cx="6742" cy="145"/>
                </a:xfrm>
                <a:custGeom>
                  <a:avLst/>
                  <a:gdLst>
                    <a:gd name="csX0" fmla="*/ 6742 w 6742"/>
                    <a:gd name="csY0" fmla="*/ 146 h 145"/>
                    <a:gd name="csX1" fmla="*/ 0 w 6742"/>
                    <a:gd name="csY1" fmla="*/ 0 h 1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6742" h="145">
                      <a:moveTo>
                        <a:pt x="6742" y="14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1266C1AB-7D53-3BF4-3D03-65387C3EE785}"/>
                    </a:ext>
                  </a:extLst>
                </p:cNvPr>
                <p:cNvSpPr/>
                <p:nvPr/>
              </p:nvSpPr>
              <p:spPr>
                <a:xfrm>
                  <a:off x="1727993" y="2293012"/>
                  <a:ext cx="83060" cy="9"/>
                </a:xfrm>
                <a:custGeom>
                  <a:avLst/>
                  <a:gdLst>
                    <a:gd name="csX0" fmla="*/ 83061 w 83060"/>
                    <a:gd name="csY0" fmla="*/ 10 h 9"/>
                    <a:gd name="csX1" fmla="*/ 0 w 83060"/>
                    <a:gd name="csY1" fmla="*/ 0 h 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3060" h="9">
                      <a:moveTo>
                        <a:pt x="83061" y="1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ED3A8F7F-A146-0516-8134-C99BF75E1572}"/>
                    </a:ext>
                  </a:extLst>
                </p:cNvPr>
                <p:cNvSpPr/>
                <p:nvPr/>
              </p:nvSpPr>
              <p:spPr>
                <a:xfrm>
                  <a:off x="1821515" y="2255076"/>
                  <a:ext cx="286" cy="31638"/>
                </a:xfrm>
                <a:custGeom>
                  <a:avLst/>
                  <a:gdLst>
                    <a:gd name="csX0" fmla="*/ 287 w 286"/>
                    <a:gd name="csY0" fmla="*/ 31638 h 31638"/>
                    <a:gd name="csX1" fmla="*/ 0 w 286"/>
                    <a:gd name="csY1" fmla="*/ 0 h 316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6" h="31638">
                      <a:moveTo>
                        <a:pt x="287" y="3163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FB4EBDA4-F4BC-DD63-ED0F-A0890D756475}"/>
                    </a:ext>
                  </a:extLst>
                </p:cNvPr>
                <p:cNvSpPr/>
                <p:nvPr/>
              </p:nvSpPr>
              <p:spPr>
                <a:xfrm>
                  <a:off x="1721073" y="2261676"/>
                  <a:ext cx="49" cy="21571"/>
                </a:xfrm>
                <a:custGeom>
                  <a:avLst/>
                  <a:gdLst>
                    <a:gd name="csX0" fmla="*/ 49 w 49"/>
                    <a:gd name="csY0" fmla="*/ 21572 h 21571"/>
                    <a:gd name="csX1" fmla="*/ 0 w 49"/>
                    <a:gd name="csY1" fmla="*/ 0 h 215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9" h="21571">
                      <a:moveTo>
                        <a:pt x="49" y="2157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642305E9-F477-8D10-653C-32DC1D4A5C39}"/>
                    </a:ext>
                  </a:extLst>
                </p:cNvPr>
                <p:cNvSpPr/>
                <p:nvPr/>
              </p:nvSpPr>
              <p:spPr>
                <a:xfrm>
                  <a:off x="1772622" y="2124490"/>
                  <a:ext cx="113787" cy="276"/>
                </a:xfrm>
                <a:custGeom>
                  <a:avLst/>
                  <a:gdLst>
                    <a:gd name="csX0" fmla="*/ 0 w 113787"/>
                    <a:gd name="csY0" fmla="*/ 276 h 276"/>
                    <a:gd name="csX1" fmla="*/ 113787 w 113787"/>
                    <a:gd name="csY1" fmla="*/ 0 h 2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13787" h="276">
                      <a:moveTo>
                        <a:pt x="0" y="276"/>
                      </a:moveTo>
                      <a:lnTo>
                        <a:pt x="113787" y="0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A92ABE70-34CF-47B4-9B54-3AE4E6C468ED}"/>
                    </a:ext>
                  </a:extLst>
                </p:cNvPr>
                <p:cNvSpPr/>
                <p:nvPr/>
              </p:nvSpPr>
              <p:spPr>
                <a:xfrm>
                  <a:off x="1821805" y="2184777"/>
                  <a:ext cx="53262" cy="102405"/>
                </a:xfrm>
                <a:custGeom>
                  <a:avLst/>
                  <a:gdLst>
                    <a:gd name="csX0" fmla="*/ 0 w 53262"/>
                    <a:gd name="csY0" fmla="*/ 102406 h 102405"/>
                    <a:gd name="csX1" fmla="*/ 53262 w 53262"/>
                    <a:gd name="csY1" fmla="*/ 0 h 1024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3262" h="102405">
                      <a:moveTo>
                        <a:pt x="0" y="102406"/>
                      </a:moveTo>
                      <a:lnTo>
                        <a:pt x="53262" y="0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06774E95-8C1C-567A-116E-99899D335093}"/>
                    </a:ext>
                  </a:extLst>
                </p:cNvPr>
                <p:cNvSpPr/>
                <p:nvPr/>
              </p:nvSpPr>
              <p:spPr>
                <a:xfrm>
                  <a:off x="1891889" y="2134212"/>
                  <a:ext cx="54" cy="87762"/>
                </a:xfrm>
                <a:custGeom>
                  <a:avLst/>
                  <a:gdLst>
                    <a:gd name="csX0" fmla="*/ 54 w 54"/>
                    <a:gd name="csY0" fmla="*/ 0 h 87762"/>
                    <a:gd name="csX1" fmla="*/ 0 w 54"/>
                    <a:gd name="csY1" fmla="*/ 87762 h 877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4" h="87762">
                      <a:moveTo>
                        <a:pt x="54" y="0"/>
                      </a:moveTo>
                      <a:lnTo>
                        <a:pt x="0" y="87762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B77CB21-E6A1-D470-9839-7EA9737804FC}"/>
                    </a:ext>
                  </a:extLst>
                </p:cNvPr>
                <p:cNvSpPr/>
                <p:nvPr/>
              </p:nvSpPr>
              <p:spPr>
                <a:xfrm>
                  <a:off x="1790551" y="2220258"/>
                  <a:ext cx="31060" cy="34800"/>
                </a:xfrm>
                <a:custGeom>
                  <a:avLst/>
                  <a:gdLst>
                    <a:gd name="csX0" fmla="*/ 31061 w 31060"/>
                    <a:gd name="csY0" fmla="*/ 34801 h 34800"/>
                    <a:gd name="csX1" fmla="*/ 0 w 31060"/>
                    <a:gd name="csY1" fmla="*/ 0 h 348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1060" h="34800">
                      <a:moveTo>
                        <a:pt x="31061" y="34801"/>
                      </a:moveTo>
                      <a:cubicBezTo>
                        <a:pt x="28695" y="16476"/>
                        <a:pt x="15980" y="2230"/>
                        <a:pt x="0" y="0"/>
                      </a:cubicBez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9A9C2D58-9D8F-C20D-E53F-2CF01AF419FB}"/>
                    </a:ext>
                  </a:extLst>
                </p:cNvPr>
                <p:cNvSpPr/>
                <p:nvPr/>
              </p:nvSpPr>
              <p:spPr>
                <a:xfrm>
                  <a:off x="1721077" y="2220471"/>
                  <a:ext cx="30265" cy="36912"/>
                </a:xfrm>
                <a:custGeom>
                  <a:avLst/>
                  <a:gdLst>
                    <a:gd name="csX0" fmla="*/ 0 w 30265"/>
                    <a:gd name="csY0" fmla="*/ 36913 h 36912"/>
                    <a:gd name="csX1" fmla="*/ 30266 w 30265"/>
                    <a:gd name="csY1" fmla="*/ 0 h 369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0265" h="36912">
                      <a:moveTo>
                        <a:pt x="0" y="36913"/>
                      </a:moveTo>
                      <a:cubicBezTo>
                        <a:pt x="1005" y="17804"/>
                        <a:pt x="13748" y="2262"/>
                        <a:pt x="30266" y="0"/>
                      </a:cubicBez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1A0CC161-F1BE-3B1E-3AB6-43C25A994F1B}"/>
                    </a:ext>
                  </a:extLst>
                </p:cNvPr>
                <p:cNvSpPr/>
                <p:nvPr/>
              </p:nvSpPr>
              <p:spPr>
                <a:xfrm>
                  <a:off x="1854880" y="2230660"/>
                  <a:ext cx="29840" cy="120"/>
                </a:xfrm>
                <a:custGeom>
                  <a:avLst/>
                  <a:gdLst>
                    <a:gd name="csX0" fmla="*/ 29841 w 29840"/>
                    <a:gd name="csY0" fmla="*/ 0 h 120"/>
                    <a:gd name="csX1" fmla="*/ 0 w 29840"/>
                    <a:gd name="csY1" fmla="*/ 121 h 1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9840" h="120">
                      <a:moveTo>
                        <a:pt x="29841" y="0"/>
                      </a:moveTo>
                      <a:lnTo>
                        <a:pt x="0" y="121"/>
                      </a:lnTo>
                    </a:path>
                  </a:pathLst>
                </a:custGeom>
                <a:noFill/>
                <a:ln w="7363" cap="rnd">
                  <a:solidFill>
                    <a:srgbClr val="15213F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sp>
          <p:nvSpPr>
            <p:cNvPr id="6" name="Text 3"/>
            <p:cNvSpPr/>
            <p:nvPr/>
          </p:nvSpPr>
          <p:spPr>
            <a:xfrm>
              <a:off x="634380" y="2512740"/>
              <a:ext cx="1860649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Supervised Learning</a:t>
              </a:r>
              <a:endParaRPr lang="en-US" sz="145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634380" y="2819698"/>
            <a:ext cx="235803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4380" y="3142208"/>
            <a:ext cx="235803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Style: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Learning with a teacher</a:t>
            </a:r>
            <a:endParaRPr lang="en-US" sz="120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36395A5-A100-4F0E-B500-9E1DBA11A2B6}"/>
              </a:ext>
            </a:extLst>
          </p:cNvPr>
          <p:cNvGrpSpPr/>
          <p:nvPr/>
        </p:nvGrpSpPr>
        <p:grpSpPr>
          <a:xfrm>
            <a:off x="3254648" y="2002408"/>
            <a:ext cx="2634630" cy="1774254"/>
            <a:chOff x="3254648" y="2002408"/>
            <a:chExt cx="2634630" cy="1774254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863471A-1A73-94DE-DCDC-1C472FAA843B}"/>
                </a:ext>
              </a:extLst>
            </p:cNvPr>
            <p:cNvGrpSpPr/>
            <p:nvPr/>
          </p:nvGrpSpPr>
          <p:grpSpPr>
            <a:xfrm>
              <a:off x="3254648" y="2002408"/>
              <a:ext cx="2634630" cy="1774254"/>
              <a:chOff x="3254648" y="2002408"/>
              <a:chExt cx="2634630" cy="1774254"/>
            </a:xfrm>
          </p:grpSpPr>
          <p:sp>
            <p:nvSpPr>
              <p:cNvPr id="9" name="Shape 6"/>
              <p:cNvSpPr/>
              <p:nvPr/>
            </p:nvSpPr>
            <p:spPr>
              <a:xfrm>
                <a:off x="3254648" y="2002408"/>
                <a:ext cx="2634630" cy="1774254"/>
              </a:xfrm>
              <a:prstGeom prst="roundRect">
                <a:avLst>
                  <a:gd name="adj" fmla="val 1049"/>
                </a:avLst>
              </a:prstGeom>
              <a:solidFill>
                <a:srgbClr val="FBFCFE"/>
              </a:solidFill>
              <a:ln w="14288">
                <a:solidFill>
                  <a:srgbClr val="CFD2D8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A5643FE0-3CE5-6857-9686-5150FFEC1239}"/>
                  </a:ext>
                </a:extLst>
              </p:cNvPr>
              <p:cNvGrpSpPr/>
              <p:nvPr/>
            </p:nvGrpSpPr>
            <p:grpSpPr>
              <a:xfrm>
                <a:off x="3268935" y="2016696"/>
                <a:ext cx="2606055" cy="372070"/>
                <a:chOff x="3268935" y="2016696"/>
                <a:chExt cx="2606055" cy="372070"/>
              </a:xfrm>
            </p:grpSpPr>
            <p:sp>
              <p:nvSpPr>
                <p:cNvPr id="10" name="Shape 7"/>
                <p:cNvSpPr/>
                <p:nvPr/>
              </p:nvSpPr>
              <p:spPr>
                <a:xfrm>
                  <a:off x="3268935" y="2016696"/>
                  <a:ext cx="2606055" cy="372070"/>
                </a:xfrm>
                <a:prstGeom prst="roundRect">
                  <a:avLst>
                    <a:gd name="adj" fmla="val 393"/>
                  </a:avLst>
                </a:prstGeom>
                <a:solidFill>
                  <a:srgbClr val="E9ECF2"/>
                </a:solidFill>
                <a:ln/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50" name="Image 1" descr="preencoded.png">
                  <a:extLst>
                    <a:ext uri="{FF2B5EF4-FFF2-40B4-BE49-F238E27FC236}">
                      <a16:creationId xmlns:a16="http://schemas.microsoft.com/office/drawing/2014/main" id="{2A07C674-39CC-EF03-6A4B-34D0405BC311}"/>
                    </a:ext>
                  </a:extLst>
                </p:cNvPr>
                <p:cNvGrpSpPr/>
                <p:nvPr/>
              </p:nvGrpSpPr>
              <p:grpSpPr>
                <a:xfrm>
                  <a:off x="4515763" y="2110411"/>
                  <a:ext cx="165017" cy="170951"/>
                  <a:chOff x="4515763" y="2110411"/>
                  <a:chExt cx="165017" cy="170951"/>
                </a:xfrm>
                <a:noFill/>
              </p:grpSpPr>
              <p:sp>
                <p:nvSpPr>
                  <p:cNvPr id="51" name="Freeform: Shape 50">
                    <a:extLst>
                      <a:ext uri="{FF2B5EF4-FFF2-40B4-BE49-F238E27FC236}">
                        <a16:creationId xmlns:a16="http://schemas.microsoft.com/office/drawing/2014/main" id="{1ED88DDA-3446-821E-E102-811E9C459097}"/>
                      </a:ext>
                    </a:extLst>
                  </p:cNvPr>
                  <p:cNvSpPr/>
                  <p:nvPr/>
                </p:nvSpPr>
                <p:spPr>
                  <a:xfrm>
                    <a:off x="4597723" y="2235973"/>
                    <a:ext cx="83057" cy="45204"/>
                  </a:xfrm>
                  <a:custGeom>
                    <a:avLst/>
                    <a:gdLst>
                      <a:gd name="csX0" fmla="*/ 0 w 83057"/>
                      <a:gd name="csY0" fmla="*/ 44972 h 45204"/>
                      <a:gd name="csX1" fmla="*/ 25227 w 83057"/>
                      <a:gd name="csY1" fmla="*/ 44732 h 45204"/>
                      <a:gd name="csX2" fmla="*/ 44922 w 83057"/>
                      <a:gd name="csY2" fmla="*/ 40828 h 45204"/>
                      <a:gd name="csX3" fmla="*/ 63797 w 83057"/>
                      <a:gd name="csY3" fmla="*/ 31891 h 45204"/>
                      <a:gd name="csX4" fmla="*/ 73191 w 83057"/>
                      <a:gd name="csY4" fmla="*/ 23776 h 45204"/>
                      <a:gd name="csX5" fmla="*/ 81533 w 83057"/>
                      <a:gd name="csY5" fmla="*/ 10170 h 45204"/>
                      <a:gd name="csX6" fmla="*/ 83058 w 83057"/>
                      <a:gd name="csY6" fmla="*/ 0 h 4520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3057" h="45204">
                        <a:moveTo>
                          <a:pt x="0" y="44972"/>
                        </a:moveTo>
                        <a:cubicBezTo>
                          <a:pt x="10223" y="45383"/>
                          <a:pt x="18668" y="45215"/>
                          <a:pt x="25227" y="44732"/>
                        </a:cubicBezTo>
                        <a:cubicBezTo>
                          <a:pt x="32721" y="43731"/>
                          <a:pt x="39296" y="42437"/>
                          <a:pt x="44922" y="40828"/>
                        </a:cubicBezTo>
                        <a:cubicBezTo>
                          <a:pt x="52504" y="37981"/>
                          <a:pt x="58167" y="35246"/>
                          <a:pt x="63797" y="31891"/>
                        </a:cubicBezTo>
                        <a:cubicBezTo>
                          <a:pt x="66605" y="29898"/>
                          <a:pt x="69080" y="27867"/>
                          <a:pt x="73191" y="23776"/>
                        </a:cubicBezTo>
                        <a:cubicBezTo>
                          <a:pt x="77530" y="18338"/>
                          <a:pt x="79913" y="14280"/>
                          <a:pt x="81533" y="10170"/>
                        </a:cubicBezTo>
                        <a:cubicBezTo>
                          <a:pt x="82336" y="6551"/>
                          <a:pt x="82844" y="3161"/>
                          <a:pt x="83058" y="0"/>
                        </a:cubicBez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2" name="Freeform: Shape 51">
                    <a:extLst>
                      <a:ext uri="{FF2B5EF4-FFF2-40B4-BE49-F238E27FC236}">
                        <a16:creationId xmlns:a16="http://schemas.microsoft.com/office/drawing/2014/main" id="{945B8F99-44A2-5ECF-4A57-00A84870A8B1}"/>
                      </a:ext>
                    </a:extLst>
                  </p:cNvPr>
                  <p:cNvSpPr/>
                  <p:nvPr/>
                </p:nvSpPr>
                <p:spPr>
                  <a:xfrm>
                    <a:off x="4593918" y="2264711"/>
                    <a:ext cx="4484" cy="16233"/>
                  </a:xfrm>
                  <a:custGeom>
                    <a:avLst/>
                    <a:gdLst>
                      <a:gd name="csX0" fmla="*/ 4484 w 4484"/>
                      <a:gd name="csY0" fmla="*/ 0 h 16233"/>
                      <a:gd name="csX1" fmla="*/ 0 w 4484"/>
                      <a:gd name="csY1" fmla="*/ 8545 h 16233"/>
                      <a:gd name="csX2" fmla="*/ 3805 w 4484"/>
                      <a:gd name="csY2" fmla="*/ 16234 h 1623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4484" h="16233">
                        <a:moveTo>
                          <a:pt x="4484" y="0"/>
                        </a:moveTo>
                        <a:cubicBezTo>
                          <a:pt x="1007" y="4946"/>
                          <a:pt x="318" y="6600"/>
                          <a:pt x="0" y="8545"/>
                        </a:cubicBezTo>
                        <a:cubicBezTo>
                          <a:pt x="103" y="9912"/>
                          <a:pt x="708" y="11669"/>
                          <a:pt x="3805" y="16234"/>
                        </a:cubicBez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3" name="Freeform: Shape 52">
                    <a:extLst>
                      <a:ext uri="{FF2B5EF4-FFF2-40B4-BE49-F238E27FC236}">
                        <a16:creationId xmlns:a16="http://schemas.microsoft.com/office/drawing/2014/main" id="{718641D8-6E5D-C723-D2D5-B99AA63B518D}"/>
                      </a:ext>
                    </a:extLst>
                  </p:cNvPr>
                  <p:cNvSpPr/>
                  <p:nvPr/>
                </p:nvSpPr>
                <p:spPr>
                  <a:xfrm>
                    <a:off x="4598402" y="2241703"/>
                    <a:ext cx="50936" cy="23008"/>
                  </a:xfrm>
                  <a:custGeom>
                    <a:avLst/>
                    <a:gdLst>
                      <a:gd name="csX0" fmla="*/ 50936 w 50936"/>
                      <a:gd name="csY0" fmla="*/ 0 h 23008"/>
                      <a:gd name="csX1" fmla="*/ 43400 w 50936"/>
                      <a:gd name="csY1" fmla="*/ 8456 h 23008"/>
                      <a:gd name="csX2" fmla="*/ 32163 w 50936"/>
                      <a:gd name="csY2" fmla="*/ 14334 h 23008"/>
                      <a:gd name="csX3" fmla="*/ 13332 w 50936"/>
                      <a:gd name="csY3" fmla="*/ 17722 h 23008"/>
                      <a:gd name="csX4" fmla="*/ 0 w 50936"/>
                      <a:gd name="csY4" fmla="*/ 23008 h 230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50936" h="23008">
                        <a:moveTo>
                          <a:pt x="50936" y="0"/>
                        </a:moveTo>
                        <a:cubicBezTo>
                          <a:pt x="48457" y="3667"/>
                          <a:pt x="45081" y="7099"/>
                          <a:pt x="43400" y="8456"/>
                        </a:cubicBezTo>
                        <a:cubicBezTo>
                          <a:pt x="40707" y="10295"/>
                          <a:pt x="35970" y="12835"/>
                          <a:pt x="32163" y="14334"/>
                        </a:cubicBezTo>
                        <a:cubicBezTo>
                          <a:pt x="27408" y="15634"/>
                          <a:pt x="23658" y="16295"/>
                          <a:pt x="13332" y="17722"/>
                        </a:cubicBezTo>
                        <a:cubicBezTo>
                          <a:pt x="9601" y="18556"/>
                          <a:pt x="5867" y="19944"/>
                          <a:pt x="0" y="23008"/>
                        </a:cubicBez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4" name="Freeform: Shape 53">
                    <a:extLst>
                      <a:ext uri="{FF2B5EF4-FFF2-40B4-BE49-F238E27FC236}">
                        <a16:creationId xmlns:a16="http://schemas.microsoft.com/office/drawing/2014/main" id="{D2FE111D-61FB-32ED-16B9-EB53A010487B}"/>
                      </a:ext>
                    </a:extLst>
                  </p:cNvPr>
                  <p:cNvSpPr/>
                  <p:nvPr/>
                </p:nvSpPr>
                <p:spPr>
                  <a:xfrm>
                    <a:off x="4547611" y="2241537"/>
                    <a:ext cx="50790" cy="23174"/>
                  </a:xfrm>
                  <a:custGeom>
                    <a:avLst/>
                    <a:gdLst>
                      <a:gd name="csX0" fmla="*/ 0 w 50790"/>
                      <a:gd name="csY0" fmla="*/ 0 h 23174"/>
                      <a:gd name="csX1" fmla="*/ 5523 w 50790"/>
                      <a:gd name="csY1" fmla="*/ 7369 h 23174"/>
                      <a:gd name="csX2" fmla="*/ 14341 w 50790"/>
                      <a:gd name="csY2" fmla="*/ 13033 h 23174"/>
                      <a:gd name="csX3" fmla="*/ 27977 w 50790"/>
                      <a:gd name="csY3" fmla="*/ 16732 h 23174"/>
                      <a:gd name="csX4" fmla="*/ 43329 w 50790"/>
                      <a:gd name="csY4" fmla="*/ 19450 h 23174"/>
                      <a:gd name="csX5" fmla="*/ 50791 w 50790"/>
                      <a:gd name="csY5" fmla="*/ 23175 h 231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50790" h="23174">
                        <a:moveTo>
                          <a:pt x="0" y="0"/>
                        </a:moveTo>
                        <a:cubicBezTo>
                          <a:pt x="952" y="1872"/>
                          <a:pt x="2539" y="4189"/>
                          <a:pt x="5523" y="7369"/>
                        </a:cubicBezTo>
                        <a:cubicBezTo>
                          <a:pt x="9261" y="10240"/>
                          <a:pt x="11923" y="11819"/>
                          <a:pt x="14341" y="13033"/>
                        </a:cubicBezTo>
                        <a:cubicBezTo>
                          <a:pt x="18674" y="14697"/>
                          <a:pt x="23674" y="15996"/>
                          <a:pt x="27977" y="16732"/>
                        </a:cubicBezTo>
                        <a:cubicBezTo>
                          <a:pt x="36821" y="17828"/>
                          <a:pt x="40681" y="18593"/>
                          <a:pt x="43329" y="19450"/>
                        </a:cubicBezTo>
                        <a:cubicBezTo>
                          <a:pt x="44755" y="20030"/>
                          <a:pt x="47242" y="21272"/>
                          <a:pt x="50791" y="23175"/>
                        </a:cubicBez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5" name="Freeform: Shape 54">
                    <a:extLst>
                      <a:ext uri="{FF2B5EF4-FFF2-40B4-BE49-F238E27FC236}">
                        <a16:creationId xmlns:a16="http://schemas.microsoft.com/office/drawing/2014/main" id="{E33A2E24-5052-00CB-8FB9-9C7047CA573E}"/>
                      </a:ext>
                    </a:extLst>
                  </p:cNvPr>
                  <p:cNvSpPr/>
                  <p:nvPr/>
                </p:nvSpPr>
                <p:spPr>
                  <a:xfrm>
                    <a:off x="4598399" y="2195745"/>
                    <a:ext cx="43970" cy="33922"/>
                  </a:xfrm>
                  <a:custGeom>
                    <a:avLst/>
                    <a:gdLst>
                      <a:gd name="csX0" fmla="*/ 0 w 43970"/>
                      <a:gd name="csY0" fmla="*/ 9175 h 33922"/>
                      <a:gd name="csX1" fmla="*/ 10046 w 43970"/>
                      <a:gd name="csY1" fmla="*/ 2012 h 33922"/>
                      <a:gd name="csX2" fmla="*/ 17521 w 43970"/>
                      <a:gd name="csY2" fmla="*/ 140 h 33922"/>
                      <a:gd name="csX3" fmla="*/ 25731 w 43970"/>
                      <a:gd name="csY3" fmla="*/ 208 h 33922"/>
                      <a:gd name="csX4" fmla="*/ 33142 w 43970"/>
                      <a:gd name="csY4" fmla="*/ 2379 h 33922"/>
                      <a:gd name="csX5" fmla="*/ 38846 w 43970"/>
                      <a:gd name="csY5" fmla="*/ 6106 h 33922"/>
                      <a:gd name="csX6" fmla="*/ 42759 w 43970"/>
                      <a:gd name="csY6" fmla="*/ 11323 h 33922"/>
                      <a:gd name="csX7" fmla="*/ 43971 w 43970"/>
                      <a:gd name="csY7" fmla="*/ 17015 h 33922"/>
                      <a:gd name="csX8" fmla="*/ 42787 w 43970"/>
                      <a:gd name="csY8" fmla="*/ 22757 h 33922"/>
                      <a:gd name="csX9" fmla="*/ 39106 w 43970"/>
                      <a:gd name="csY9" fmla="*/ 28294 h 33922"/>
                      <a:gd name="csX10" fmla="*/ 32897 w 43970"/>
                      <a:gd name="csY10" fmla="*/ 33923 h 3392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43970" h="33922">
                        <a:moveTo>
                          <a:pt x="0" y="9175"/>
                        </a:moveTo>
                        <a:cubicBezTo>
                          <a:pt x="5042" y="4830"/>
                          <a:pt x="8269" y="2828"/>
                          <a:pt x="10046" y="2012"/>
                        </a:cubicBezTo>
                        <a:cubicBezTo>
                          <a:pt x="12340" y="1206"/>
                          <a:pt x="14616" y="631"/>
                          <a:pt x="17521" y="140"/>
                        </a:cubicBezTo>
                        <a:cubicBezTo>
                          <a:pt x="19825" y="-56"/>
                          <a:pt x="23047" y="-57"/>
                          <a:pt x="25731" y="208"/>
                        </a:cubicBezTo>
                        <a:cubicBezTo>
                          <a:pt x="28202" y="671"/>
                          <a:pt x="30667" y="1385"/>
                          <a:pt x="33142" y="2379"/>
                        </a:cubicBezTo>
                        <a:cubicBezTo>
                          <a:pt x="35073" y="3382"/>
                          <a:pt x="37204" y="4767"/>
                          <a:pt x="38846" y="6106"/>
                        </a:cubicBezTo>
                        <a:cubicBezTo>
                          <a:pt x="40564" y="7860"/>
                          <a:pt x="41870" y="9635"/>
                          <a:pt x="42759" y="11323"/>
                        </a:cubicBezTo>
                        <a:cubicBezTo>
                          <a:pt x="43481" y="13311"/>
                          <a:pt x="43830" y="15067"/>
                          <a:pt x="43971" y="17015"/>
                        </a:cubicBezTo>
                        <a:cubicBezTo>
                          <a:pt x="43806" y="19147"/>
                          <a:pt x="43403" y="21037"/>
                          <a:pt x="42787" y="22757"/>
                        </a:cubicBezTo>
                        <a:cubicBezTo>
                          <a:pt x="41853" y="24570"/>
                          <a:pt x="40715" y="26284"/>
                          <a:pt x="39106" y="28294"/>
                        </a:cubicBezTo>
                        <a:cubicBezTo>
                          <a:pt x="37862" y="29604"/>
                          <a:pt x="35792" y="31480"/>
                          <a:pt x="32897" y="33923"/>
                        </a:cubicBez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6" name="Freeform: Shape 55">
                    <a:extLst>
                      <a:ext uri="{FF2B5EF4-FFF2-40B4-BE49-F238E27FC236}">
                        <a16:creationId xmlns:a16="http://schemas.microsoft.com/office/drawing/2014/main" id="{5429015F-571C-B5CC-953F-70E6FF57E83F}"/>
                      </a:ext>
                    </a:extLst>
                  </p:cNvPr>
                  <p:cNvSpPr/>
                  <p:nvPr/>
                </p:nvSpPr>
                <p:spPr>
                  <a:xfrm>
                    <a:off x="4515862" y="2237315"/>
                    <a:ext cx="82149" cy="44048"/>
                  </a:xfrm>
                  <a:custGeom>
                    <a:avLst/>
                    <a:gdLst>
                      <a:gd name="csX0" fmla="*/ 0 w 82149"/>
                      <a:gd name="csY0" fmla="*/ 0 h 44048"/>
                      <a:gd name="csX1" fmla="*/ 4013 w 82149"/>
                      <a:gd name="csY1" fmla="*/ 14142 h 44048"/>
                      <a:gd name="csX2" fmla="*/ 14749 w 82149"/>
                      <a:gd name="csY2" fmla="*/ 27043 h 44048"/>
                      <a:gd name="csX3" fmla="*/ 31083 w 82149"/>
                      <a:gd name="csY3" fmla="*/ 36854 h 44048"/>
                      <a:gd name="csX4" fmla="*/ 49878 w 82149"/>
                      <a:gd name="csY4" fmla="*/ 42397 h 44048"/>
                      <a:gd name="csX5" fmla="*/ 68636 w 82149"/>
                      <a:gd name="csY5" fmla="*/ 44004 h 44048"/>
                      <a:gd name="csX6" fmla="*/ 82149 w 82149"/>
                      <a:gd name="csY6" fmla="*/ 44048 h 4404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82149" h="44048">
                        <a:moveTo>
                          <a:pt x="0" y="0"/>
                        </a:moveTo>
                        <a:cubicBezTo>
                          <a:pt x="667" y="4699"/>
                          <a:pt x="2060" y="9646"/>
                          <a:pt x="4013" y="14142"/>
                        </a:cubicBezTo>
                        <a:cubicBezTo>
                          <a:pt x="6937" y="18875"/>
                          <a:pt x="10374" y="22955"/>
                          <a:pt x="14749" y="27043"/>
                        </a:cubicBezTo>
                        <a:cubicBezTo>
                          <a:pt x="19952" y="30943"/>
                          <a:pt x="25544" y="34246"/>
                          <a:pt x="31083" y="36854"/>
                        </a:cubicBezTo>
                        <a:cubicBezTo>
                          <a:pt x="37747" y="39372"/>
                          <a:pt x="43383" y="41052"/>
                          <a:pt x="49878" y="42397"/>
                        </a:cubicBezTo>
                        <a:cubicBezTo>
                          <a:pt x="56456" y="43344"/>
                          <a:pt x="62080" y="43804"/>
                          <a:pt x="68636" y="44004"/>
                        </a:cubicBezTo>
                        <a:lnTo>
                          <a:pt x="82149" y="44048"/>
                        </a:ln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7" name="Freeform: Shape 56">
                    <a:extLst>
                      <a:ext uri="{FF2B5EF4-FFF2-40B4-BE49-F238E27FC236}">
                        <a16:creationId xmlns:a16="http://schemas.microsoft.com/office/drawing/2014/main" id="{BF5F8959-8889-7E06-F325-DC0E756BCB4A}"/>
                      </a:ext>
                    </a:extLst>
                  </p:cNvPr>
                  <p:cNvSpPr/>
                  <p:nvPr/>
                </p:nvSpPr>
                <p:spPr>
                  <a:xfrm>
                    <a:off x="4554300" y="2195677"/>
                    <a:ext cx="44098" cy="32575"/>
                  </a:xfrm>
                  <a:custGeom>
                    <a:avLst/>
                    <a:gdLst>
                      <a:gd name="csX0" fmla="*/ 9180 w 44098"/>
                      <a:gd name="csY0" fmla="*/ 32575 h 32575"/>
                      <a:gd name="csX1" fmla="*/ 1440 w 44098"/>
                      <a:gd name="csY1" fmla="*/ 23388 h 32575"/>
                      <a:gd name="csX2" fmla="*/ 0 w 44098"/>
                      <a:gd name="csY2" fmla="*/ 17833 h 32575"/>
                      <a:gd name="csX3" fmla="*/ 894 w 44098"/>
                      <a:gd name="csY3" fmla="*/ 12149 h 32575"/>
                      <a:gd name="csX4" fmla="*/ 4173 w 44098"/>
                      <a:gd name="csY4" fmla="*/ 7099 h 32575"/>
                      <a:gd name="csX5" fmla="*/ 9802 w 44098"/>
                      <a:gd name="csY5" fmla="*/ 3002 h 32575"/>
                      <a:gd name="csX6" fmla="*/ 17006 w 44098"/>
                      <a:gd name="csY6" fmla="*/ 559 h 32575"/>
                      <a:gd name="csX7" fmla="*/ 24203 w 44098"/>
                      <a:gd name="csY7" fmla="*/ 0 h 32575"/>
                      <a:gd name="csX8" fmla="*/ 34380 w 44098"/>
                      <a:gd name="csY8" fmla="*/ 2162 h 32575"/>
                      <a:gd name="csX9" fmla="*/ 44099 w 44098"/>
                      <a:gd name="csY9" fmla="*/ 9243 h 3257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44098" h="32575">
                        <a:moveTo>
                          <a:pt x="9180" y="32575"/>
                        </a:moveTo>
                        <a:cubicBezTo>
                          <a:pt x="5303" y="28900"/>
                          <a:pt x="2440" y="25145"/>
                          <a:pt x="1440" y="23388"/>
                        </a:cubicBezTo>
                        <a:cubicBezTo>
                          <a:pt x="650" y="21476"/>
                          <a:pt x="197" y="19629"/>
                          <a:pt x="0" y="17833"/>
                        </a:cubicBezTo>
                        <a:cubicBezTo>
                          <a:pt x="23" y="16096"/>
                          <a:pt x="409" y="13699"/>
                          <a:pt x="894" y="12149"/>
                        </a:cubicBezTo>
                        <a:cubicBezTo>
                          <a:pt x="1737" y="10335"/>
                          <a:pt x="2750" y="8753"/>
                          <a:pt x="4173" y="7099"/>
                        </a:cubicBezTo>
                        <a:cubicBezTo>
                          <a:pt x="6059" y="5386"/>
                          <a:pt x="7492" y="4348"/>
                          <a:pt x="9802" y="3002"/>
                        </a:cubicBezTo>
                        <a:cubicBezTo>
                          <a:pt x="11982" y="2029"/>
                          <a:pt x="14350" y="1211"/>
                          <a:pt x="17006" y="559"/>
                        </a:cubicBezTo>
                        <a:cubicBezTo>
                          <a:pt x="19406" y="177"/>
                          <a:pt x="21471" y="11"/>
                          <a:pt x="24203" y="0"/>
                        </a:cubicBezTo>
                        <a:cubicBezTo>
                          <a:pt x="27035" y="234"/>
                          <a:pt x="31779" y="1242"/>
                          <a:pt x="34380" y="2162"/>
                        </a:cubicBezTo>
                        <a:cubicBezTo>
                          <a:pt x="36354" y="3094"/>
                          <a:pt x="39532" y="5197"/>
                          <a:pt x="44099" y="9243"/>
                        </a:cubicBez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8" name="Oval 57">
                    <a:extLst>
                      <a:ext uri="{FF2B5EF4-FFF2-40B4-BE49-F238E27FC236}">
                        <a16:creationId xmlns:a16="http://schemas.microsoft.com/office/drawing/2014/main" id="{40240F44-B82D-D4EF-80AE-1ED2219C18CB}"/>
                      </a:ext>
                    </a:extLst>
                  </p:cNvPr>
                  <p:cNvSpPr/>
                  <p:nvPr/>
                </p:nvSpPr>
                <p:spPr>
                  <a:xfrm>
                    <a:off x="4560803" y="2110411"/>
                    <a:ext cx="75107" cy="54240"/>
                  </a:xfrm>
                  <a:prstGeom prst="ellipse">
                    <a:avLst/>
                  </a:pr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252D865B-F1E5-3C82-798B-7D97762DF53D}"/>
                      </a:ext>
                    </a:extLst>
                  </p:cNvPr>
                  <p:cNvSpPr/>
                  <p:nvPr/>
                </p:nvSpPr>
                <p:spPr>
                  <a:xfrm>
                    <a:off x="4563480" y="2228253"/>
                    <a:ext cx="34916" cy="24312"/>
                  </a:xfrm>
                  <a:custGeom>
                    <a:avLst/>
                    <a:gdLst>
                      <a:gd name="csX0" fmla="*/ 34916 w 34916"/>
                      <a:gd name="csY0" fmla="*/ 24312 h 24312"/>
                      <a:gd name="csX1" fmla="*/ 0 w 34916"/>
                      <a:gd name="csY1" fmla="*/ 0 h 2431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34916" h="24312">
                        <a:moveTo>
                          <a:pt x="34916" y="24312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60" name="Freeform: Shape 59">
                    <a:extLst>
                      <a:ext uri="{FF2B5EF4-FFF2-40B4-BE49-F238E27FC236}">
                        <a16:creationId xmlns:a16="http://schemas.microsoft.com/office/drawing/2014/main" id="{F6E01E04-623D-EC65-C967-1A86C89748F0}"/>
                      </a:ext>
                    </a:extLst>
                  </p:cNvPr>
                  <p:cNvSpPr/>
                  <p:nvPr/>
                </p:nvSpPr>
                <p:spPr>
                  <a:xfrm>
                    <a:off x="4680517" y="2213616"/>
                    <a:ext cx="263" cy="22357"/>
                  </a:xfrm>
                  <a:custGeom>
                    <a:avLst/>
                    <a:gdLst>
                      <a:gd name="csX0" fmla="*/ 263 w 263"/>
                      <a:gd name="csY0" fmla="*/ 22357 h 22357"/>
                      <a:gd name="csX1" fmla="*/ 0 w 263"/>
                      <a:gd name="csY1" fmla="*/ 0 h 2235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63" h="22357">
                        <a:moveTo>
                          <a:pt x="263" y="22357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61" name="Freeform: Shape 60">
                    <a:extLst>
                      <a:ext uri="{FF2B5EF4-FFF2-40B4-BE49-F238E27FC236}">
                        <a16:creationId xmlns:a16="http://schemas.microsoft.com/office/drawing/2014/main" id="{04666F4E-ED6C-013C-0BED-C4D07CF44BB0}"/>
                      </a:ext>
                    </a:extLst>
                  </p:cNvPr>
                  <p:cNvSpPr/>
                  <p:nvPr/>
                </p:nvSpPr>
                <p:spPr>
                  <a:xfrm>
                    <a:off x="4619826" y="2173108"/>
                    <a:ext cx="60601" cy="40511"/>
                  </a:xfrm>
                  <a:custGeom>
                    <a:avLst/>
                    <a:gdLst>
                      <a:gd name="csX0" fmla="*/ 60602 w 60601"/>
                      <a:gd name="csY0" fmla="*/ 40512 h 40511"/>
                      <a:gd name="csX1" fmla="*/ 0 w 60601"/>
                      <a:gd name="csY1" fmla="*/ 3 h 405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60601" h="40511">
                        <a:moveTo>
                          <a:pt x="60602" y="40512"/>
                        </a:moveTo>
                        <a:cubicBezTo>
                          <a:pt x="58525" y="17522"/>
                          <a:pt x="31900" y="-275"/>
                          <a:pt x="0" y="3"/>
                        </a:cubicBez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62" name="Freeform: Shape 61">
                    <a:extLst>
                      <a:ext uri="{FF2B5EF4-FFF2-40B4-BE49-F238E27FC236}">
                        <a16:creationId xmlns:a16="http://schemas.microsoft.com/office/drawing/2014/main" id="{3643E050-C8BB-03FB-193E-80442612E32C}"/>
                      </a:ext>
                    </a:extLst>
                  </p:cNvPr>
                  <p:cNvSpPr/>
                  <p:nvPr/>
                </p:nvSpPr>
                <p:spPr>
                  <a:xfrm>
                    <a:off x="4564869" y="2173095"/>
                    <a:ext cx="54957" cy="785"/>
                  </a:xfrm>
                  <a:custGeom>
                    <a:avLst/>
                    <a:gdLst>
                      <a:gd name="csX0" fmla="*/ 54957 w 54957"/>
                      <a:gd name="csY0" fmla="*/ 0 h 785"/>
                      <a:gd name="csX1" fmla="*/ 0 w 54957"/>
                      <a:gd name="csY1" fmla="*/ 786 h 78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54957" h="785">
                        <a:moveTo>
                          <a:pt x="54957" y="0"/>
                        </a:moveTo>
                        <a:lnTo>
                          <a:pt x="0" y="786"/>
                        </a:ln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63" name="Freeform: Shape 62">
                    <a:extLst>
                      <a:ext uri="{FF2B5EF4-FFF2-40B4-BE49-F238E27FC236}">
                        <a16:creationId xmlns:a16="http://schemas.microsoft.com/office/drawing/2014/main" id="{362CABE7-4BEB-2516-4179-B64A51FCC810}"/>
                      </a:ext>
                    </a:extLst>
                  </p:cNvPr>
                  <p:cNvSpPr/>
                  <p:nvPr/>
                </p:nvSpPr>
                <p:spPr>
                  <a:xfrm>
                    <a:off x="4515839" y="2173930"/>
                    <a:ext cx="49043" cy="44425"/>
                  </a:xfrm>
                  <a:custGeom>
                    <a:avLst/>
                    <a:gdLst>
                      <a:gd name="csX0" fmla="*/ 49044 w 49043"/>
                      <a:gd name="csY0" fmla="*/ 0 h 44425"/>
                      <a:gd name="csX1" fmla="*/ 34 w 49043"/>
                      <a:gd name="csY1" fmla="*/ 44426 h 4442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9043" h="44425">
                        <a:moveTo>
                          <a:pt x="49044" y="0"/>
                        </a:moveTo>
                        <a:cubicBezTo>
                          <a:pt x="19815" y="4105"/>
                          <a:pt x="-957" y="22934"/>
                          <a:pt x="34" y="44426"/>
                        </a:cubicBez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64" name="Freeform: Shape 63">
                    <a:extLst>
                      <a:ext uri="{FF2B5EF4-FFF2-40B4-BE49-F238E27FC236}">
                        <a16:creationId xmlns:a16="http://schemas.microsoft.com/office/drawing/2014/main" id="{31817067-C4FC-0C43-6258-B6D8DA71ADCB}"/>
                      </a:ext>
                    </a:extLst>
                  </p:cNvPr>
                  <p:cNvSpPr/>
                  <p:nvPr/>
                </p:nvSpPr>
                <p:spPr>
                  <a:xfrm>
                    <a:off x="4515763" y="2218358"/>
                    <a:ext cx="99" cy="18956"/>
                  </a:xfrm>
                  <a:custGeom>
                    <a:avLst/>
                    <a:gdLst>
                      <a:gd name="csX0" fmla="*/ 0 w 99"/>
                      <a:gd name="csY0" fmla="*/ 0 h 18956"/>
                      <a:gd name="csX1" fmla="*/ 99 w 99"/>
                      <a:gd name="csY1" fmla="*/ 18957 h 1895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99" h="18956">
                        <a:moveTo>
                          <a:pt x="0" y="0"/>
                        </a:moveTo>
                        <a:lnTo>
                          <a:pt x="99" y="18957"/>
                        </a:ln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65" name="Freeform: Shape 64">
                    <a:extLst>
                      <a:ext uri="{FF2B5EF4-FFF2-40B4-BE49-F238E27FC236}">
                        <a16:creationId xmlns:a16="http://schemas.microsoft.com/office/drawing/2014/main" id="{1A36E2C1-37B3-80C2-DDD2-94B424FA1828}"/>
                      </a:ext>
                    </a:extLst>
                  </p:cNvPr>
                  <p:cNvSpPr/>
                  <p:nvPr/>
                </p:nvSpPr>
                <p:spPr>
                  <a:xfrm>
                    <a:off x="4598397" y="2229668"/>
                    <a:ext cx="32899" cy="22896"/>
                  </a:xfrm>
                  <a:custGeom>
                    <a:avLst/>
                    <a:gdLst>
                      <a:gd name="csX0" fmla="*/ 32899 w 32899"/>
                      <a:gd name="csY0" fmla="*/ 0 h 22896"/>
                      <a:gd name="csX1" fmla="*/ 0 w 32899"/>
                      <a:gd name="csY1" fmla="*/ 22897 h 2289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32899" h="22896">
                        <a:moveTo>
                          <a:pt x="32899" y="0"/>
                        </a:moveTo>
                        <a:lnTo>
                          <a:pt x="0" y="22897"/>
                        </a:lnTo>
                      </a:path>
                    </a:pathLst>
                  </a:custGeom>
                  <a:noFill/>
                  <a:ln w="10205" cap="rnd">
                    <a:solidFill>
                      <a:srgbClr val="15213F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</p:grpSp>
        </p:grpSp>
        <p:sp>
          <p:nvSpPr>
            <p:cNvPr id="12" name="Text 8"/>
            <p:cNvSpPr/>
            <p:nvPr/>
          </p:nvSpPr>
          <p:spPr>
            <a:xfrm>
              <a:off x="3392909" y="2512740"/>
              <a:ext cx="2081733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Unsupervised Learning</a:t>
              </a:r>
              <a:endParaRPr lang="en-US" sz="1450" dirty="0"/>
            </a:p>
          </p:txBody>
        </p:sp>
      </p:grpSp>
      <p:sp>
        <p:nvSpPr>
          <p:cNvPr id="13" name="Text 9"/>
          <p:cNvSpPr/>
          <p:nvPr/>
        </p:nvSpPr>
        <p:spPr>
          <a:xfrm>
            <a:off x="3392909" y="2819698"/>
            <a:ext cx="235810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92909" y="3142208"/>
            <a:ext cx="235810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Style: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Learning by exploring</a:t>
            </a:r>
            <a:endParaRPr lang="en-US" sz="1200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3A8C6C5-92C7-E18B-4FD5-299A4D5DC3E7}"/>
              </a:ext>
            </a:extLst>
          </p:cNvPr>
          <p:cNvGrpSpPr/>
          <p:nvPr/>
        </p:nvGrpSpPr>
        <p:grpSpPr>
          <a:xfrm>
            <a:off x="6013252" y="2002408"/>
            <a:ext cx="2634555" cy="1774254"/>
            <a:chOff x="6013252" y="2002408"/>
            <a:chExt cx="2634555" cy="1774254"/>
          </a:xfrm>
        </p:grpSpPr>
        <p:sp>
          <p:nvSpPr>
            <p:cNvPr id="15" name="Shape 11"/>
            <p:cNvSpPr/>
            <p:nvPr/>
          </p:nvSpPr>
          <p:spPr>
            <a:xfrm>
              <a:off x="6013252" y="2002408"/>
              <a:ext cx="2634555" cy="1774254"/>
            </a:xfrm>
            <a:prstGeom prst="roundRect">
              <a:avLst>
                <a:gd name="adj" fmla="val 1049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12"/>
            <p:cNvSpPr/>
            <p:nvPr/>
          </p:nvSpPr>
          <p:spPr>
            <a:xfrm>
              <a:off x="6027539" y="2016696"/>
              <a:ext cx="2605980" cy="372070"/>
            </a:xfrm>
            <a:prstGeom prst="roundRect">
              <a:avLst>
                <a:gd name="adj" fmla="val 39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grpSp>
          <p:nvGrpSpPr>
            <p:cNvPr id="69" name="Image 2" descr="preencoded.png">
              <a:extLst>
                <a:ext uri="{FF2B5EF4-FFF2-40B4-BE49-F238E27FC236}">
                  <a16:creationId xmlns:a16="http://schemas.microsoft.com/office/drawing/2014/main" id="{599A6287-34EE-C3EE-5660-E591A5C1E4B0}"/>
                </a:ext>
              </a:extLst>
            </p:cNvPr>
            <p:cNvGrpSpPr/>
            <p:nvPr/>
          </p:nvGrpSpPr>
          <p:grpSpPr>
            <a:xfrm>
              <a:off x="7238193" y="2128410"/>
              <a:ext cx="170843" cy="167924"/>
              <a:chOff x="7238193" y="2128410"/>
              <a:chExt cx="170843" cy="167924"/>
            </a:xfrm>
            <a:noFill/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1919861-EC26-737C-A2B4-86D793BFE1F9}"/>
                  </a:ext>
                </a:extLst>
              </p:cNvPr>
              <p:cNvSpPr/>
              <p:nvPr/>
            </p:nvSpPr>
            <p:spPr>
              <a:xfrm>
                <a:off x="7320968" y="2128410"/>
                <a:ext cx="34124" cy="49398"/>
              </a:xfrm>
              <a:custGeom>
                <a:avLst/>
                <a:gdLst>
                  <a:gd name="csX0" fmla="*/ 34125 w 34124"/>
                  <a:gd name="csY0" fmla="*/ 0 h 49398"/>
                  <a:gd name="csX1" fmla="*/ 33391 w 34124"/>
                  <a:gd name="csY1" fmla="*/ 7095 h 49398"/>
                  <a:gd name="csX2" fmla="*/ 30229 w 34124"/>
                  <a:gd name="csY2" fmla="*/ 14035 h 49398"/>
                  <a:gd name="csX3" fmla="*/ 25926 w 34124"/>
                  <a:gd name="csY3" fmla="*/ 18465 h 49398"/>
                  <a:gd name="csX4" fmla="*/ 18267 w 34124"/>
                  <a:gd name="csY4" fmla="*/ 21274 h 49398"/>
                  <a:gd name="csX5" fmla="*/ 7530 w 34124"/>
                  <a:gd name="csY5" fmla="*/ 22935 h 49398"/>
                  <a:gd name="csX6" fmla="*/ 3268 w 34124"/>
                  <a:gd name="csY6" fmla="*/ 26719 h 49398"/>
                  <a:gd name="csX7" fmla="*/ 742 w 34124"/>
                  <a:gd name="csY7" fmla="*/ 31994 h 49398"/>
                  <a:gd name="csX8" fmla="*/ 0 w 34124"/>
                  <a:gd name="csY8" fmla="*/ 49399 h 49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4124" h="49398">
                    <a:moveTo>
                      <a:pt x="34125" y="0"/>
                    </a:moveTo>
                    <a:cubicBezTo>
                      <a:pt x="34080" y="2507"/>
                      <a:pt x="33845" y="4815"/>
                      <a:pt x="33391" y="7095"/>
                    </a:cubicBezTo>
                    <a:cubicBezTo>
                      <a:pt x="32658" y="9429"/>
                      <a:pt x="31605" y="11768"/>
                      <a:pt x="30229" y="14035"/>
                    </a:cubicBezTo>
                    <a:cubicBezTo>
                      <a:pt x="28534" y="16148"/>
                      <a:pt x="27241" y="17412"/>
                      <a:pt x="25926" y="18465"/>
                    </a:cubicBezTo>
                    <a:cubicBezTo>
                      <a:pt x="23987" y="19643"/>
                      <a:pt x="20799" y="20859"/>
                      <a:pt x="18267" y="21274"/>
                    </a:cubicBezTo>
                    <a:cubicBezTo>
                      <a:pt x="12564" y="21394"/>
                      <a:pt x="9429" y="22077"/>
                      <a:pt x="7530" y="22935"/>
                    </a:cubicBezTo>
                    <a:cubicBezTo>
                      <a:pt x="6298" y="23720"/>
                      <a:pt x="4389" y="25381"/>
                      <a:pt x="3268" y="26719"/>
                    </a:cubicBezTo>
                    <a:cubicBezTo>
                      <a:pt x="2294" y="28229"/>
                      <a:pt x="1216" y="30525"/>
                      <a:pt x="742" y="31994"/>
                    </a:cubicBezTo>
                    <a:cubicBezTo>
                      <a:pt x="279" y="34229"/>
                      <a:pt x="31" y="37209"/>
                      <a:pt x="0" y="49399"/>
                    </a:cubicBez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9AEEB78A-EC6E-5A6F-C362-D00B7C3015F3}"/>
                  </a:ext>
                </a:extLst>
              </p:cNvPr>
              <p:cNvSpPr/>
              <p:nvPr/>
            </p:nvSpPr>
            <p:spPr>
              <a:xfrm>
                <a:off x="7252402" y="2177803"/>
                <a:ext cx="30446" cy="32573"/>
              </a:xfrm>
              <a:custGeom>
                <a:avLst/>
                <a:gdLst>
                  <a:gd name="csX0" fmla="*/ 30447 w 30446"/>
                  <a:gd name="csY0" fmla="*/ 0 h 32573"/>
                  <a:gd name="csX1" fmla="*/ 22412 w 30446"/>
                  <a:gd name="csY1" fmla="*/ 1121 h 32573"/>
                  <a:gd name="csX2" fmla="*/ 14855 w 30446"/>
                  <a:gd name="csY2" fmla="*/ 4849 h 32573"/>
                  <a:gd name="csX3" fmla="*/ 8727 w 30446"/>
                  <a:gd name="csY3" fmla="*/ 10742 h 32573"/>
                  <a:gd name="csX4" fmla="*/ 4486 w 30446"/>
                  <a:gd name="csY4" fmla="*/ 17782 h 32573"/>
                  <a:gd name="csX5" fmla="*/ 0 w 30446"/>
                  <a:gd name="csY5" fmla="*/ 32573 h 32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0446" h="32573">
                    <a:moveTo>
                      <a:pt x="30447" y="0"/>
                    </a:moveTo>
                    <a:cubicBezTo>
                      <a:pt x="27292" y="126"/>
                      <a:pt x="25337" y="397"/>
                      <a:pt x="22412" y="1121"/>
                    </a:cubicBezTo>
                    <a:cubicBezTo>
                      <a:pt x="19665" y="2123"/>
                      <a:pt x="17180" y="3367"/>
                      <a:pt x="14855" y="4849"/>
                    </a:cubicBezTo>
                    <a:cubicBezTo>
                      <a:pt x="12862" y="6405"/>
                      <a:pt x="10618" y="8545"/>
                      <a:pt x="8727" y="10742"/>
                    </a:cubicBezTo>
                    <a:cubicBezTo>
                      <a:pt x="7020" y="13124"/>
                      <a:pt x="5763" y="15244"/>
                      <a:pt x="4486" y="17782"/>
                    </a:cubicBezTo>
                    <a:cubicBezTo>
                      <a:pt x="3394" y="20432"/>
                      <a:pt x="2549" y="22941"/>
                      <a:pt x="0" y="32573"/>
                    </a:cubicBez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54F2EAE-7386-ACFC-9C37-91D74927D2F3}"/>
                  </a:ext>
                </a:extLst>
              </p:cNvPr>
              <p:cNvSpPr/>
              <p:nvPr/>
            </p:nvSpPr>
            <p:spPr>
              <a:xfrm>
                <a:off x="7238193" y="2252672"/>
                <a:ext cx="72591" cy="43663"/>
              </a:xfrm>
              <a:custGeom>
                <a:avLst/>
                <a:gdLst>
                  <a:gd name="csX0" fmla="*/ 1332 w 72591"/>
                  <a:gd name="csY0" fmla="*/ 7540 h 43663"/>
                  <a:gd name="csX1" fmla="*/ 0 w 72591"/>
                  <a:gd name="csY1" fmla="*/ 18116 h 43663"/>
                  <a:gd name="csX2" fmla="*/ 1655 w 72591"/>
                  <a:gd name="csY2" fmla="*/ 27164 h 43663"/>
                  <a:gd name="csX3" fmla="*/ 6330 w 72591"/>
                  <a:gd name="csY3" fmla="*/ 35407 h 43663"/>
                  <a:gd name="csX4" fmla="*/ 13110 w 72591"/>
                  <a:gd name="csY4" fmla="*/ 41109 h 43663"/>
                  <a:gd name="csX5" fmla="*/ 21661 w 72591"/>
                  <a:gd name="csY5" fmla="*/ 43663 h 43663"/>
                  <a:gd name="csX6" fmla="*/ 28203 w 72591"/>
                  <a:gd name="csY6" fmla="*/ 42830 h 43663"/>
                  <a:gd name="csX7" fmla="*/ 33768 w 72591"/>
                  <a:gd name="csY7" fmla="*/ 40090 h 43663"/>
                  <a:gd name="csX8" fmla="*/ 40384 w 72591"/>
                  <a:gd name="csY8" fmla="*/ 33477 h 43663"/>
                  <a:gd name="csX9" fmla="*/ 56170 w 72591"/>
                  <a:gd name="csY9" fmla="*/ 6499 h 43663"/>
                  <a:gd name="csX10" fmla="*/ 62775 w 72591"/>
                  <a:gd name="csY10" fmla="*/ 1337 h 43663"/>
                  <a:gd name="csX11" fmla="*/ 72591 w 72591"/>
                  <a:gd name="csY11" fmla="*/ 0 h 436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72591" h="43663">
                    <a:moveTo>
                      <a:pt x="1332" y="7540"/>
                    </a:moveTo>
                    <a:cubicBezTo>
                      <a:pt x="514" y="11362"/>
                      <a:pt x="91" y="14755"/>
                      <a:pt x="0" y="18116"/>
                    </a:cubicBezTo>
                    <a:cubicBezTo>
                      <a:pt x="208" y="21185"/>
                      <a:pt x="698" y="23898"/>
                      <a:pt x="1655" y="27164"/>
                    </a:cubicBezTo>
                    <a:cubicBezTo>
                      <a:pt x="2832" y="29937"/>
                      <a:pt x="4466" y="32833"/>
                      <a:pt x="6330" y="35407"/>
                    </a:cubicBezTo>
                    <a:cubicBezTo>
                      <a:pt x="8396" y="37640"/>
                      <a:pt x="10452" y="39373"/>
                      <a:pt x="13110" y="41109"/>
                    </a:cubicBezTo>
                    <a:cubicBezTo>
                      <a:pt x="15660" y="42308"/>
                      <a:pt x="18635" y="43218"/>
                      <a:pt x="21661" y="43663"/>
                    </a:cubicBezTo>
                    <a:cubicBezTo>
                      <a:pt x="24203" y="43636"/>
                      <a:pt x="26450" y="43296"/>
                      <a:pt x="28203" y="42830"/>
                    </a:cubicBezTo>
                    <a:cubicBezTo>
                      <a:pt x="30210" y="42085"/>
                      <a:pt x="31880" y="41251"/>
                      <a:pt x="33768" y="40090"/>
                    </a:cubicBezTo>
                    <a:cubicBezTo>
                      <a:pt x="35610" y="38690"/>
                      <a:pt x="38730" y="35598"/>
                      <a:pt x="40384" y="33477"/>
                    </a:cubicBezTo>
                    <a:cubicBezTo>
                      <a:pt x="41934" y="31066"/>
                      <a:pt x="54609" y="8741"/>
                      <a:pt x="56170" y="6499"/>
                    </a:cubicBezTo>
                    <a:cubicBezTo>
                      <a:pt x="58063" y="4448"/>
                      <a:pt x="60944" y="2287"/>
                      <a:pt x="62775" y="1337"/>
                    </a:cubicBezTo>
                    <a:cubicBezTo>
                      <a:pt x="64704" y="633"/>
                      <a:pt x="67863" y="67"/>
                      <a:pt x="72591" y="0"/>
                    </a:cubicBez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224BDC3F-1649-2032-3950-B4FCDCB77179}"/>
                  </a:ext>
                </a:extLst>
              </p:cNvPr>
              <p:cNvSpPr/>
              <p:nvPr/>
            </p:nvSpPr>
            <p:spPr>
              <a:xfrm>
                <a:off x="7339600" y="2252684"/>
                <a:ext cx="15604" cy="9376"/>
              </a:xfrm>
              <a:custGeom>
                <a:avLst/>
                <a:gdLst>
                  <a:gd name="csX0" fmla="*/ 0 w 15604"/>
                  <a:gd name="csY0" fmla="*/ 0 h 9376"/>
                  <a:gd name="csX1" fmla="*/ 6920 w 15604"/>
                  <a:gd name="csY1" fmla="*/ 1288 h 9376"/>
                  <a:gd name="csX2" fmla="*/ 12416 w 15604"/>
                  <a:gd name="csY2" fmla="*/ 5132 h 9376"/>
                  <a:gd name="csX3" fmla="*/ 15605 w 15604"/>
                  <a:gd name="csY3" fmla="*/ 9376 h 9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5604" h="9376">
                    <a:moveTo>
                      <a:pt x="0" y="0"/>
                    </a:moveTo>
                    <a:cubicBezTo>
                      <a:pt x="2531" y="152"/>
                      <a:pt x="4724" y="553"/>
                      <a:pt x="6920" y="1288"/>
                    </a:cubicBezTo>
                    <a:cubicBezTo>
                      <a:pt x="8933" y="2318"/>
                      <a:pt x="10866" y="3700"/>
                      <a:pt x="12416" y="5132"/>
                    </a:cubicBezTo>
                    <a:cubicBezTo>
                      <a:pt x="13405" y="6272"/>
                      <a:pt x="14468" y="7687"/>
                      <a:pt x="15605" y="9376"/>
                    </a:cubicBez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2688F60-2949-DE84-6704-6B2E53AA047D}"/>
                  </a:ext>
                </a:extLst>
              </p:cNvPr>
              <p:cNvSpPr/>
              <p:nvPr/>
            </p:nvSpPr>
            <p:spPr>
              <a:xfrm>
                <a:off x="7367340" y="2258148"/>
                <a:ext cx="41695" cy="38043"/>
              </a:xfrm>
              <a:custGeom>
                <a:avLst/>
                <a:gdLst>
                  <a:gd name="csX0" fmla="*/ 0 w 41695"/>
                  <a:gd name="csY0" fmla="*/ 25875 h 38043"/>
                  <a:gd name="csX1" fmla="*/ 4386 w 41695"/>
                  <a:gd name="csY1" fmla="*/ 31535 h 38043"/>
                  <a:gd name="csX2" fmla="*/ 10227 w 41695"/>
                  <a:gd name="csY2" fmla="*/ 35861 h 38043"/>
                  <a:gd name="csX3" fmla="*/ 16008 w 41695"/>
                  <a:gd name="csY3" fmla="*/ 37849 h 38043"/>
                  <a:gd name="csX4" fmla="*/ 22064 w 41695"/>
                  <a:gd name="csY4" fmla="*/ 37879 h 38043"/>
                  <a:gd name="csX5" fmla="*/ 29824 w 41695"/>
                  <a:gd name="csY5" fmla="*/ 34792 h 38043"/>
                  <a:gd name="csX6" fmla="*/ 35092 w 41695"/>
                  <a:gd name="csY6" fmla="*/ 30269 h 38043"/>
                  <a:gd name="csX7" fmla="*/ 39023 w 41695"/>
                  <a:gd name="csY7" fmla="*/ 24375 h 38043"/>
                  <a:gd name="csX8" fmla="*/ 41328 w 41695"/>
                  <a:gd name="csY8" fmla="*/ 17666 h 38043"/>
                  <a:gd name="csX9" fmla="*/ 41397 w 41695"/>
                  <a:gd name="csY9" fmla="*/ 5879 h 38043"/>
                  <a:gd name="csX10" fmla="*/ 40029 w 41695"/>
                  <a:gd name="csY10" fmla="*/ 0 h 380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41695" h="38043">
                    <a:moveTo>
                      <a:pt x="0" y="25875"/>
                    </a:moveTo>
                    <a:cubicBezTo>
                      <a:pt x="1511" y="28160"/>
                      <a:pt x="2738" y="29726"/>
                      <a:pt x="4386" y="31535"/>
                    </a:cubicBezTo>
                    <a:cubicBezTo>
                      <a:pt x="6224" y="33212"/>
                      <a:pt x="8222" y="34676"/>
                      <a:pt x="10227" y="35861"/>
                    </a:cubicBezTo>
                    <a:cubicBezTo>
                      <a:pt x="11999" y="36685"/>
                      <a:pt x="14095" y="37415"/>
                      <a:pt x="16008" y="37849"/>
                    </a:cubicBezTo>
                    <a:cubicBezTo>
                      <a:pt x="18243" y="38104"/>
                      <a:pt x="20159" y="38103"/>
                      <a:pt x="22064" y="37879"/>
                    </a:cubicBezTo>
                    <a:cubicBezTo>
                      <a:pt x="25833" y="36827"/>
                      <a:pt x="27761" y="35975"/>
                      <a:pt x="29824" y="34792"/>
                    </a:cubicBezTo>
                    <a:cubicBezTo>
                      <a:pt x="31726" y="33442"/>
                      <a:pt x="33482" y="31933"/>
                      <a:pt x="35092" y="30269"/>
                    </a:cubicBezTo>
                    <a:cubicBezTo>
                      <a:pt x="36402" y="28653"/>
                      <a:pt x="37765" y="26647"/>
                      <a:pt x="39023" y="24375"/>
                    </a:cubicBezTo>
                    <a:cubicBezTo>
                      <a:pt x="40100" y="21924"/>
                      <a:pt x="40776" y="19907"/>
                      <a:pt x="41328" y="17666"/>
                    </a:cubicBezTo>
                    <a:cubicBezTo>
                      <a:pt x="41723" y="15062"/>
                      <a:pt x="41877" y="10707"/>
                      <a:pt x="41397" y="5879"/>
                    </a:cubicBezTo>
                    <a:lnTo>
                      <a:pt x="40029" y="0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54CBCA8-93E0-5368-513F-5F8393692928}"/>
                  </a:ext>
                </a:extLst>
              </p:cNvPr>
              <p:cNvSpPr/>
              <p:nvPr/>
            </p:nvSpPr>
            <p:spPr>
              <a:xfrm>
                <a:off x="7358376" y="2177813"/>
                <a:ext cx="34380" cy="24832"/>
              </a:xfrm>
              <a:custGeom>
                <a:avLst/>
                <a:gdLst>
                  <a:gd name="csX0" fmla="*/ 34380 w 34380"/>
                  <a:gd name="csY0" fmla="*/ 24833 h 24832"/>
                  <a:gd name="csX1" fmla="*/ 30954 w 34380"/>
                  <a:gd name="csY1" fmla="*/ 15690 h 24832"/>
                  <a:gd name="csX2" fmla="*/ 25946 w 34380"/>
                  <a:gd name="csY2" fmla="*/ 8633 h 24832"/>
                  <a:gd name="csX3" fmla="*/ 19236 w 34380"/>
                  <a:gd name="csY3" fmla="*/ 3323 h 24832"/>
                  <a:gd name="csX4" fmla="*/ 12040 w 34380"/>
                  <a:gd name="csY4" fmla="*/ 562 h 24832"/>
                  <a:gd name="csX5" fmla="*/ 0 w 34380"/>
                  <a:gd name="csY5" fmla="*/ 0 h 248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4380" h="24832">
                    <a:moveTo>
                      <a:pt x="34380" y="24833"/>
                    </a:moveTo>
                    <a:cubicBezTo>
                      <a:pt x="33398" y="21464"/>
                      <a:pt x="32334" y="18605"/>
                      <a:pt x="30954" y="15690"/>
                    </a:cubicBezTo>
                    <a:cubicBezTo>
                      <a:pt x="29622" y="13404"/>
                      <a:pt x="27854" y="10881"/>
                      <a:pt x="25946" y="8633"/>
                    </a:cubicBezTo>
                    <a:cubicBezTo>
                      <a:pt x="24020" y="6744"/>
                      <a:pt x="21790" y="4956"/>
                      <a:pt x="19236" y="3323"/>
                    </a:cubicBezTo>
                    <a:cubicBezTo>
                      <a:pt x="17179" y="2280"/>
                      <a:pt x="14501" y="1233"/>
                      <a:pt x="12040" y="562"/>
                    </a:cubicBezTo>
                    <a:cubicBezTo>
                      <a:pt x="9499" y="203"/>
                      <a:pt x="5485" y="16"/>
                      <a:pt x="0" y="0"/>
                    </a:cubicBez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2A3F264-A4AB-B0D1-769D-202DD0909E2E}"/>
                  </a:ext>
                </a:extLst>
              </p:cNvPr>
              <p:cNvSpPr/>
              <p:nvPr/>
            </p:nvSpPr>
            <p:spPr>
              <a:xfrm>
                <a:off x="7282849" y="2177803"/>
                <a:ext cx="36048" cy="5"/>
              </a:xfrm>
              <a:custGeom>
                <a:avLst/>
                <a:gdLst>
                  <a:gd name="csX0" fmla="*/ 36049 w 36048"/>
                  <a:gd name="csY0" fmla="*/ 6 h 5"/>
                  <a:gd name="csX1" fmla="*/ 0 w 36048"/>
                  <a:gd name="csY1" fmla="*/ 0 h 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048" h="5">
                    <a:moveTo>
                      <a:pt x="36049" y="6"/>
                    </a:moveTo>
                    <a:lnTo>
                      <a:pt x="0" y="0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8EEC4AF8-066C-E175-0D7F-E703009D69A5}"/>
                  </a:ext>
                </a:extLst>
              </p:cNvPr>
              <p:cNvSpPr/>
              <p:nvPr/>
            </p:nvSpPr>
            <p:spPr>
              <a:xfrm>
                <a:off x="7359871" y="2199215"/>
                <a:ext cx="9889" cy="11788"/>
              </a:xfrm>
              <a:prstGeom prst="ellipse">
                <a:avLst/>
              </a:pr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5BA77A4-F162-D1F1-36D9-EE4AECBF55A5}"/>
                  </a:ext>
                </a:extLst>
              </p:cNvPr>
              <p:cNvSpPr/>
              <p:nvPr/>
            </p:nvSpPr>
            <p:spPr>
              <a:xfrm>
                <a:off x="7361974" y="2209948"/>
                <a:ext cx="551" cy="522"/>
              </a:xfrm>
              <a:custGeom>
                <a:avLst/>
                <a:gdLst>
                  <a:gd name="csX0" fmla="*/ 0 w 551"/>
                  <a:gd name="csY0" fmla="*/ 0 h 522"/>
                  <a:gd name="csX1" fmla="*/ 551 w 551"/>
                  <a:gd name="csY1" fmla="*/ 523 h 5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51" h="522">
                    <a:moveTo>
                      <a:pt x="0" y="0"/>
                    </a:moveTo>
                    <a:lnTo>
                      <a:pt x="551" y="523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EC75CF0-86D1-A374-8D87-3782A0A766EE}"/>
                  </a:ext>
                </a:extLst>
              </p:cNvPr>
              <p:cNvSpPr/>
              <p:nvPr/>
            </p:nvSpPr>
            <p:spPr>
              <a:xfrm>
                <a:off x="7284259" y="2200081"/>
                <a:ext cx="12" cy="39462"/>
              </a:xfrm>
              <a:custGeom>
                <a:avLst/>
                <a:gdLst>
                  <a:gd name="csX0" fmla="*/ 0 w 12"/>
                  <a:gd name="csY0" fmla="*/ 0 h 39462"/>
                  <a:gd name="csX1" fmla="*/ 12 w 12"/>
                  <a:gd name="csY1" fmla="*/ 39462 h 394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" h="39462">
                    <a:moveTo>
                      <a:pt x="0" y="0"/>
                    </a:moveTo>
                    <a:lnTo>
                      <a:pt x="12" y="39462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A2AFF81-6D98-5C64-B8BC-1573C460EDCB}"/>
                  </a:ext>
                </a:extLst>
              </p:cNvPr>
              <p:cNvSpPr/>
              <p:nvPr/>
            </p:nvSpPr>
            <p:spPr>
              <a:xfrm>
                <a:off x="7267464" y="2219887"/>
                <a:ext cx="33389" cy="0"/>
              </a:xfrm>
              <a:custGeom>
                <a:avLst/>
                <a:gdLst>
                  <a:gd name="csX0" fmla="*/ 0 w 33389"/>
                  <a:gd name="csY0" fmla="*/ 0 h 0"/>
                  <a:gd name="csX1" fmla="*/ 33389 w 33389"/>
                  <a:gd name="csY1" fmla="*/ 0 h 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3389">
                    <a:moveTo>
                      <a:pt x="0" y="0"/>
                    </a:moveTo>
                    <a:lnTo>
                      <a:pt x="33389" y="0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3D2AD151-CD63-DB68-B917-6E66025E19FE}"/>
                  </a:ext>
                </a:extLst>
              </p:cNvPr>
              <p:cNvSpPr/>
              <p:nvPr/>
            </p:nvSpPr>
            <p:spPr>
              <a:xfrm>
                <a:off x="7346443" y="2215219"/>
                <a:ext cx="9796" cy="11676"/>
              </a:xfrm>
              <a:custGeom>
                <a:avLst/>
                <a:gdLst>
                  <a:gd name="csX0" fmla="*/ 3553 w 9796"/>
                  <a:gd name="csY0" fmla="*/ 11452 h 11676"/>
                  <a:gd name="csX1" fmla="*/ 190 w 9796"/>
                  <a:gd name="csY1" fmla="*/ 4235 h 11676"/>
                  <a:gd name="csX2" fmla="*/ 6244 w 9796"/>
                  <a:gd name="csY2" fmla="*/ 226 h 11676"/>
                  <a:gd name="csX3" fmla="*/ 9607 w 9796"/>
                  <a:gd name="csY3" fmla="*/ 7443 h 11676"/>
                  <a:gd name="csX4" fmla="*/ 4687 w 9796"/>
                  <a:gd name="csY4" fmla="*/ 11671 h 116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796" h="11676">
                    <a:moveTo>
                      <a:pt x="3553" y="11452"/>
                    </a:moveTo>
                    <a:cubicBezTo>
                      <a:pt x="953" y="10566"/>
                      <a:pt x="-553" y="7335"/>
                      <a:pt x="190" y="4235"/>
                    </a:cubicBezTo>
                    <a:cubicBezTo>
                      <a:pt x="933" y="1135"/>
                      <a:pt x="3643" y="-660"/>
                      <a:pt x="6244" y="226"/>
                    </a:cubicBezTo>
                    <a:cubicBezTo>
                      <a:pt x="8844" y="1112"/>
                      <a:pt x="10350" y="4343"/>
                      <a:pt x="9607" y="7443"/>
                    </a:cubicBezTo>
                    <a:cubicBezTo>
                      <a:pt x="8985" y="10039"/>
                      <a:pt x="6950" y="11788"/>
                      <a:pt x="4687" y="11671"/>
                    </a:cubicBez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66C48371-DB63-0685-59B8-0268589CB891}"/>
                  </a:ext>
                </a:extLst>
              </p:cNvPr>
              <p:cNvSpPr/>
              <p:nvPr/>
            </p:nvSpPr>
            <p:spPr>
              <a:xfrm>
                <a:off x="7349990" y="2226696"/>
                <a:ext cx="1126" cy="534"/>
              </a:xfrm>
              <a:custGeom>
                <a:avLst/>
                <a:gdLst>
                  <a:gd name="csX0" fmla="*/ 0 w 1126"/>
                  <a:gd name="csY0" fmla="*/ 0 h 534"/>
                  <a:gd name="csX1" fmla="*/ 1127 w 1126"/>
                  <a:gd name="csY1" fmla="*/ 534 h 5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26" h="534">
                    <a:moveTo>
                      <a:pt x="0" y="0"/>
                    </a:moveTo>
                    <a:lnTo>
                      <a:pt x="1127" y="534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B8E73FA-043D-5B57-CE73-802026BCCBAA}"/>
                  </a:ext>
                </a:extLst>
              </p:cNvPr>
              <p:cNvSpPr/>
              <p:nvPr/>
            </p:nvSpPr>
            <p:spPr>
              <a:xfrm>
                <a:off x="7373165" y="2215146"/>
                <a:ext cx="9873" cy="11773"/>
              </a:xfrm>
              <a:custGeom>
                <a:avLst/>
                <a:gdLst>
                  <a:gd name="csX0" fmla="*/ 55 w 9873"/>
                  <a:gd name="csY0" fmla="*/ 6788 h 11773"/>
                  <a:gd name="csX1" fmla="*/ 5690 w 9873"/>
                  <a:gd name="csY1" fmla="*/ 11703 h 11773"/>
                  <a:gd name="csX2" fmla="*/ 9814 w 9873"/>
                  <a:gd name="csY2" fmla="*/ 4986 h 11773"/>
                  <a:gd name="csX3" fmla="*/ 4179 w 9873"/>
                  <a:gd name="csY3" fmla="*/ 70 h 11773"/>
                  <a:gd name="csX4" fmla="*/ 0 w 9873"/>
                  <a:gd name="csY4" fmla="*/ 5678 h 117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873" h="11773">
                    <a:moveTo>
                      <a:pt x="55" y="6788"/>
                    </a:moveTo>
                    <a:cubicBezTo>
                      <a:pt x="472" y="10000"/>
                      <a:pt x="2995" y="12201"/>
                      <a:pt x="5690" y="11703"/>
                    </a:cubicBezTo>
                    <a:cubicBezTo>
                      <a:pt x="8385" y="11206"/>
                      <a:pt x="10232" y="8198"/>
                      <a:pt x="9814" y="4986"/>
                    </a:cubicBezTo>
                    <a:cubicBezTo>
                      <a:pt x="9397" y="1774"/>
                      <a:pt x="6874" y="-427"/>
                      <a:pt x="4179" y="70"/>
                    </a:cubicBezTo>
                    <a:cubicBezTo>
                      <a:pt x="1838" y="502"/>
                      <a:pt x="84" y="2856"/>
                      <a:pt x="0" y="5678"/>
                    </a:cubicBez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55B0B2E5-83A8-233E-2E1C-9C177D4D1D40}"/>
                  </a:ext>
                </a:extLst>
              </p:cNvPr>
              <p:cNvSpPr/>
              <p:nvPr/>
            </p:nvSpPr>
            <p:spPr>
              <a:xfrm>
                <a:off x="7373100" y="2220821"/>
                <a:ext cx="188" cy="1099"/>
              </a:xfrm>
              <a:custGeom>
                <a:avLst/>
                <a:gdLst>
                  <a:gd name="csX0" fmla="*/ 188 w 188"/>
                  <a:gd name="csY0" fmla="*/ 1100 h 1099"/>
                  <a:gd name="csX1" fmla="*/ 0 w 188"/>
                  <a:gd name="csY1" fmla="*/ 0 h 10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8" h="1099">
                    <a:moveTo>
                      <a:pt x="188" y="1100"/>
                    </a:moveTo>
                    <a:lnTo>
                      <a:pt x="0" y="0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00819C01-8E8D-29BF-8F6E-C8C3E713D66B}"/>
                  </a:ext>
                </a:extLst>
              </p:cNvPr>
              <p:cNvSpPr/>
              <p:nvPr/>
            </p:nvSpPr>
            <p:spPr>
              <a:xfrm>
                <a:off x="7359937" y="2231396"/>
                <a:ext cx="9793" cy="11673"/>
              </a:xfrm>
              <a:prstGeom prst="ellipse">
                <a:avLst/>
              </a:pr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58ABC5EF-C1AF-ACC5-A4A7-C4A6BA7B7C63}"/>
                  </a:ext>
                </a:extLst>
              </p:cNvPr>
              <p:cNvSpPr/>
              <p:nvPr/>
            </p:nvSpPr>
            <p:spPr>
              <a:xfrm>
                <a:off x="7369353" y="2238763"/>
                <a:ext cx="243" cy="614"/>
              </a:xfrm>
              <a:custGeom>
                <a:avLst/>
                <a:gdLst>
                  <a:gd name="csX0" fmla="*/ 0 w 243"/>
                  <a:gd name="csY0" fmla="*/ 615 h 614"/>
                  <a:gd name="csX1" fmla="*/ 243 w 243"/>
                  <a:gd name="csY1" fmla="*/ 0 h 6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43" h="614">
                    <a:moveTo>
                      <a:pt x="0" y="615"/>
                    </a:moveTo>
                    <a:lnTo>
                      <a:pt x="243" y="0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5B22726-52DD-7F2B-5430-92D55D9DFBF6}"/>
                  </a:ext>
                </a:extLst>
              </p:cNvPr>
              <p:cNvSpPr/>
              <p:nvPr/>
            </p:nvSpPr>
            <p:spPr>
              <a:xfrm>
                <a:off x="7239524" y="2210376"/>
                <a:ext cx="12878" cy="49835"/>
              </a:xfrm>
              <a:custGeom>
                <a:avLst/>
                <a:gdLst>
                  <a:gd name="csX0" fmla="*/ 12878 w 12878"/>
                  <a:gd name="csY0" fmla="*/ 0 h 49835"/>
                  <a:gd name="csX1" fmla="*/ 0 w 12878"/>
                  <a:gd name="csY1" fmla="*/ 49836 h 498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878" h="49835">
                    <a:moveTo>
                      <a:pt x="12878" y="0"/>
                    </a:moveTo>
                    <a:lnTo>
                      <a:pt x="0" y="49836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5A29C3F7-DEB6-20B7-F13C-4B775245ED4D}"/>
                  </a:ext>
                </a:extLst>
              </p:cNvPr>
              <p:cNvSpPr/>
              <p:nvPr/>
            </p:nvSpPr>
            <p:spPr>
              <a:xfrm>
                <a:off x="7355204" y="2262061"/>
                <a:ext cx="12135" cy="21961"/>
              </a:xfrm>
              <a:custGeom>
                <a:avLst/>
                <a:gdLst>
                  <a:gd name="csX0" fmla="*/ 0 w 12135"/>
                  <a:gd name="csY0" fmla="*/ 0 h 21961"/>
                  <a:gd name="csX1" fmla="*/ 12135 w 12135"/>
                  <a:gd name="csY1" fmla="*/ 21962 h 219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135" h="21961">
                    <a:moveTo>
                      <a:pt x="0" y="0"/>
                    </a:moveTo>
                    <a:lnTo>
                      <a:pt x="12135" y="21962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5828E93E-DFEE-D1D7-50BA-C36CA0A6BF59}"/>
                  </a:ext>
                </a:extLst>
              </p:cNvPr>
              <p:cNvSpPr/>
              <p:nvPr/>
            </p:nvSpPr>
            <p:spPr>
              <a:xfrm>
                <a:off x="7310784" y="2252672"/>
                <a:ext cx="28815" cy="12"/>
              </a:xfrm>
              <a:custGeom>
                <a:avLst/>
                <a:gdLst>
                  <a:gd name="csX0" fmla="*/ 0 w 28815"/>
                  <a:gd name="csY0" fmla="*/ 0 h 12"/>
                  <a:gd name="csX1" fmla="*/ 28816 w 28815"/>
                  <a:gd name="csY1" fmla="*/ 12 h 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8815" h="12">
                    <a:moveTo>
                      <a:pt x="0" y="0"/>
                    </a:moveTo>
                    <a:lnTo>
                      <a:pt x="28816" y="12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BF399C51-027F-EFFA-14C1-7F7ED09DE20D}"/>
                  </a:ext>
                </a:extLst>
              </p:cNvPr>
              <p:cNvSpPr/>
              <p:nvPr/>
            </p:nvSpPr>
            <p:spPr>
              <a:xfrm>
                <a:off x="7402329" y="2238822"/>
                <a:ext cx="5039" cy="19325"/>
              </a:xfrm>
              <a:custGeom>
                <a:avLst/>
                <a:gdLst>
                  <a:gd name="csX0" fmla="*/ 5040 w 5039"/>
                  <a:gd name="csY0" fmla="*/ 19326 h 19325"/>
                  <a:gd name="csX1" fmla="*/ 0 w 5039"/>
                  <a:gd name="csY1" fmla="*/ 0 h 193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039" h="19325">
                    <a:moveTo>
                      <a:pt x="5040" y="19326"/>
                    </a:moveTo>
                    <a:lnTo>
                      <a:pt x="0" y="0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706D86F1-E927-6721-6A80-66AF25BABF9C}"/>
                  </a:ext>
                </a:extLst>
              </p:cNvPr>
              <p:cNvSpPr/>
              <p:nvPr/>
            </p:nvSpPr>
            <p:spPr>
              <a:xfrm>
                <a:off x="7392756" y="2202646"/>
                <a:ext cx="9572" cy="36175"/>
              </a:xfrm>
              <a:custGeom>
                <a:avLst/>
                <a:gdLst>
                  <a:gd name="csX0" fmla="*/ 9573 w 9572"/>
                  <a:gd name="csY0" fmla="*/ 36176 h 36175"/>
                  <a:gd name="csX1" fmla="*/ 0 w 9572"/>
                  <a:gd name="csY1" fmla="*/ 0 h 36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72" h="36175">
                    <a:moveTo>
                      <a:pt x="9573" y="36176"/>
                    </a:moveTo>
                    <a:lnTo>
                      <a:pt x="0" y="0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E8DE32B-C9DA-3EA5-6B19-E8D574499B5E}"/>
                  </a:ext>
                </a:extLst>
              </p:cNvPr>
              <p:cNvSpPr/>
              <p:nvPr/>
            </p:nvSpPr>
            <p:spPr>
              <a:xfrm>
                <a:off x="7318898" y="2177809"/>
                <a:ext cx="39477" cy="4"/>
              </a:xfrm>
              <a:custGeom>
                <a:avLst/>
                <a:gdLst>
                  <a:gd name="csX0" fmla="*/ 39478 w 39477"/>
                  <a:gd name="csY0" fmla="*/ 4 h 4"/>
                  <a:gd name="csX1" fmla="*/ 0 w 39477"/>
                  <a:gd name="csY1" fmla="*/ 0 h 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9477" h="4">
                    <a:moveTo>
                      <a:pt x="39478" y="4"/>
                    </a:moveTo>
                    <a:lnTo>
                      <a:pt x="0" y="0"/>
                    </a:lnTo>
                  </a:path>
                </a:pathLst>
              </a:custGeom>
              <a:noFill/>
              <a:ln w="7370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8" name="Text 13"/>
            <p:cNvSpPr/>
            <p:nvPr/>
          </p:nvSpPr>
          <p:spPr>
            <a:xfrm>
              <a:off x="6151513" y="2512740"/>
              <a:ext cx="2153394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Reinforcement Learning</a:t>
              </a:r>
              <a:endParaRPr lang="en-US" sz="1450" dirty="0"/>
            </a:p>
          </p:txBody>
        </p:sp>
      </p:grpSp>
      <p:sp>
        <p:nvSpPr>
          <p:cNvPr id="19" name="Text 14"/>
          <p:cNvSpPr/>
          <p:nvPr/>
        </p:nvSpPr>
        <p:spPr>
          <a:xfrm>
            <a:off x="6151513" y="2819698"/>
            <a:ext cx="235803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51513" y="3142208"/>
            <a:ext cx="235803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Style: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Learning by trial and error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4927"/>
            <a:ext cx="6114976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Supervised Learning - Learning with Labels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56965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Learning is when we teach a machine using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labeled examples.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285" y="1312664"/>
            <a:ext cx="6911429" cy="3110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85488" y="1611300"/>
            <a:ext cx="911484" cy="19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Labeled Data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0603" y="2289150"/>
            <a:ext cx="267901" cy="267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63915" y="3943902"/>
            <a:ext cx="618144" cy="19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Training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9088" y="3266052"/>
            <a:ext cx="267900" cy="2679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30730" y="1588041"/>
            <a:ext cx="1041800" cy="19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 Slab Bold" pitchFamily="34" charset="0"/>
                <a:ea typeface="Roboto Slab Bold" pitchFamily="34" charset="-122"/>
                <a:cs typeface="Roboto Slab Bold" pitchFamily="34" charset="-120"/>
              </a:rPr>
              <a:t>Trained Model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0991" y="2262568"/>
            <a:ext cx="267901" cy="267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6119" y="4548708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machine receives labeled data, learns patterns during training, and then can predict labels for new, unseen data.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5417"/>
            <a:ext cx="647558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Supervised Learning - Two Important Tasks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5098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 1: Classification - Sorting Things into Categories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738610"/>
            <a:ext cx="8151763" cy="1635323"/>
          </a:xfrm>
          <a:prstGeom prst="roundRect">
            <a:avLst>
              <a:gd name="adj" fmla="val 113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74337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F406831-C2A8-33BA-8A2D-40FD58F7C26C}"/>
              </a:ext>
            </a:extLst>
          </p:cNvPr>
          <p:cNvGrpSpPr/>
          <p:nvPr/>
        </p:nvGrpSpPr>
        <p:grpSpPr>
          <a:xfrm>
            <a:off x="624855" y="1822549"/>
            <a:ext cx="7894290" cy="248096"/>
            <a:chOff x="624855" y="1822549"/>
            <a:chExt cx="7894290" cy="248096"/>
          </a:xfrm>
        </p:grpSpPr>
        <p:sp>
          <p:nvSpPr>
            <p:cNvPr id="6" name="Text 4"/>
            <p:cNvSpPr/>
            <p:nvPr/>
          </p:nvSpPr>
          <p:spPr>
            <a:xfrm>
              <a:off x="624855" y="1822549"/>
              <a:ext cx="382079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Examples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698355" y="1822549"/>
              <a:ext cx="382079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What's Being Predicted</a:t>
              </a:r>
              <a:endParaRPr lang="en-US" sz="120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500881" y="214982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4855" y="2228999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Spam filter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98355" y="2228999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"Spam" or "Not Spam"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881" y="255627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4855" y="2635448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Face recognition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8355" y="2635448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"This is Sara" or "This is not Sara"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881" y="2962721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4855" y="3041898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 vs Dog classifier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355" y="3041898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"Cat" or "Dog"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119" y="3513460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6D917C9-E04C-C3CE-CB17-2C8D062AA6DB}"/>
              </a:ext>
            </a:extLst>
          </p:cNvPr>
          <p:cNvGrpSpPr/>
          <p:nvPr/>
        </p:nvGrpSpPr>
        <p:grpSpPr>
          <a:xfrm>
            <a:off x="496119" y="3851449"/>
            <a:ext cx="8151763" cy="576635"/>
            <a:chOff x="496119" y="3851449"/>
            <a:chExt cx="8151763" cy="576635"/>
          </a:xfrm>
        </p:grpSpPr>
        <p:sp>
          <p:nvSpPr>
            <p:cNvPr id="18" name="Shape 16"/>
            <p:cNvSpPr/>
            <p:nvPr/>
          </p:nvSpPr>
          <p:spPr>
            <a:xfrm>
              <a:off x="496119" y="3851449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4046934"/>
              <a:ext cx="193774" cy="155004"/>
            </a:xfrm>
            <a:prstGeom prst="rect">
              <a:avLst/>
            </a:prstGeom>
          </p:spPr>
        </p:pic>
        <p:sp>
          <p:nvSpPr>
            <p:cNvPr id="20" name="Text 17"/>
            <p:cNvSpPr/>
            <p:nvPr/>
          </p:nvSpPr>
          <p:spPr>
            <a:xfrm>
              <a:off x="937840" y="4006379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answer is one of a fixed set of choices.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17129"/>
            <a:ext cx="472276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Classification - Sorting Things into Categories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2123331"/>
            <a:ext cx="4722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 is a type of Supervised Learning where the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model's 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 is to put something into a category. 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2805559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It Works</a:t>
            </a:r>
            <a:endParaRPr lang="en-US" sz="195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C49457-7235-DDE8-6828-D595609E7822}"/>
              </a:ext>
            </a:extLst>
          </p:cNvPr>
          <p:cNvGrpSpPr/>
          <p:nvPr/>
        </p:nvGrpSpPr>
        <p:grpSpPr>
          <a:xfrm>
            <a:off x="3925119" y="3301678"/>
            <a:ext cx="2299395" cy="524619"/>
            <a:chOff x="3925119" y="3301678"/>
            <a:chExt cx="2299395" cy="524619"/>
          </a:xfrm>
        </p:grpSpPr>
        <p:sp>
          <p:nvSpPr>
            <p:cNvPr id="6" name="Shape 3"/>
            <p:cNvSpPr/>
            <p:nvPr/>
          </p:nvSpPr>
          <p:spPr>
            <a:xfrm>
              <a:off x="3925119" y="3301678"/>
              <a:ext cx="2299395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4"/>
            <p:cNvSpPr/>
            <p:nvPr/>
          </p:nvSpPr>
          <p:spPr>
            <a:xfrm>
              <a:off x="4063380" y="3439939"/>
              <a:ext cx="20228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Training</a:t>
              </a:r>
              <a:endParaRPr lang="en-US" sz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4745D2-4A08-D07A-CDAF-1D42DCC1C806}"/>
              </a:ext>
            </a:extLst>
          </p:cNvPr>
          <p:cNvGrpSpPr/>
          <p:nvPr/>
        </p:nvGrpSpPr>
        <p:grpSpPr>
          <a:xfrm>
            <a:off x="6348487" y="3301678"/>
            <a:ext cx="2299395" cy="524619"/>
            <a:chOff x="6348487" y="3301678"/>
            <a:chExt cx="2299395" cy="524619"/>
          </a:xfrm>
        </p:grpSpPr>
        <p:sp>
          <p:nvSpPr>
            <p:cNvPr id="8" name="Shape 5"/>
            <p:cNvSpPr/>
            <p:nvPr/>
          </p:nvSpPr>
          <p:spPr>
            <a:xfrm>
              <a:off x="6348487" y="3301678"/>
              <a:ext cx="2299395" cy="524619"/>
            </a:xfrm>
            <a:prstGeom prst="roundRect">
              <a:avLst>
                <a:gd name="adj" fmla="val 3547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6"/>
            <p:cNvSpPr/>
            <p:nvPr/>
          </p:nvSpPr>
          <p:spPr>
            <a:xfrm>
              <a:off x="6486748" y="3439939"/>
              <a:ext cx="20228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Predicting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977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053182"/>
            <a:ext cx="475014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Real-World Examples You Know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62676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011263"/>
            <a:ext cx="211105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Classification Examples</a:t>
            </a:r>
            <a:endParaRPr lang="en-US" sz="14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8450F6E-B5CA-BF15-451B-A47F73CA5CA0}"/>
              </a:ext>
            </a:extLst>
          </p:cNvPr>
          <p:cNvGrpSpPr/>
          <p:nvPr/>
        </p:nvGrpSpPr>
        <p:grpSpPr>
          <a:xfrm>
            <a:off x="496119" y="2429842"/>
            <a:ext cx="1550566" cy="658937"/>
            <a:chOff x="496119" y="2429842"/>
            <a:chExt cx="1550566" cy="658937"/>
          </a:xfrm>
        </p:grpSpPr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2429842"/>
              <a:ext cx="310083" cy="310083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496119" y="2894930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Email Spam Filter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11363AD-1A4A-B084-EEF2-F3D68A43D156}"/>
              </a:ext>
            </a:extLst>
          </p:cNvPr>
          <p:cNvGrpSpPr/>
          <p:nvPr/>
        </p:nvGrpSpPr>
        <p:grpSpPr>
          <a:xfrm>
            <a:off x="4649465" y="2429842"/>
            <a:ext cx="1550566" cy="658937"/>
            <a:chOff x="4649465" y="2429842"/>
            <a:chExt cx="1550566" cy="658937"/>
          </a:xfrm>
        </p:grpSpPr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49465" y="2429842"/>
              <a:ext cx="310083" cy="310083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4649465" y="2894930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Face Recognition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A49D99-E270-FD56-2976-D6F30938E729}"/>
              </a:ext>
            </a:extLst>
          </p:cNvPr>
          <p:cNvGrpSpPr/>
          <p:nvPr/>
        </p:nvGrpSpPr>
        <p:grpSpPr>
          <a:xfrm>
            <a:off x="496119" y="3336801"/>
            <a:ext cx="1590303" cy="658937"/>
            <a:chOff x="496119" y="3336801"/>
            <a:chExt cx="1590303" cy="658937"/>
          </a:xfrm>
        </p:grpSpPr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6119" y="3336801"/>
              <a:ext cx="310083" cy="310083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496119" y="3801889"/>
              <a:ext cx="1590303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Google Photos Search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171611-07C8-97CB-EF63-F5D28C8F7435}"/>
              </a:ext>
            </a:extLst>
          </p:cNvPr>
          <p:cNvGrpSpPr/>
          <p:nvPr/>
        </p:nvGrpSpPr>
        <p:grpSpPr>
          <a:xfrm>
            <a:off x="4649465" y="3336801"/>
            <a:ext cx="1550566" cy="658937"/>
            <a:chOff x="4649465" y="3336801"/>
            <a:chExt cx="1550566" cy="658937"/>
          </a:xfrm>
        </p:grpSpPr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49465" y="3336801"/>
              <a:ext cx="310083" cy="310083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4649465" y="380188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Snapchat Filters</a:t>
              </a:r>
              <a:endParaRPr lang="en-US" sz="1200" dirty="0"/>
            </a:p>
          </p:txBody>
        </p:sp>
      </p:grpSp>
      <p:sp>
        <p:nvSpPr>
          <p:cNvPr id="14" name="Text 8"/>
          <p:cNvSpPr/>
          <p:nvPr/>
        </p:nvSpPr>
        <p:spPr>
          <a:xfrm>
            <a:off x="496119" y="4135264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4821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Task 2: Regression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74292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Predicting numbers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The AI predicts a number or value.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13054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78893E1-0F57-1F92-B268-99319B97AF43}"/>
              </a:ext>
            </a:extLst>
          </p:cNvPr>
          <p:cNvGrpSpPr/>
          <p:nvPr/>
        </p:nvGrpSpPr>
        <p:grpSpPr>
          <a:xfrm>
            <a:off x="496119" y="2518172"/>
            <a:ext cx="2887161" cy="665188"/>
            <a:chOff x="496119" y="2518172"/>
            <a:chExt cx="2887161" cy="665188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2518172"/>
              <a:ext cx="565199" cy="496119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147241" y="2518172"/>
              <a:ext cx="1766467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Weather app</a:t>
              </a:r>
              <a:endParaRPr lang="en-US" sz="12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147242" y="2786435"/>
              <a:ext cx="2236038" cy="396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Tomorrow's temperature (72°F, 68°F)</a:t>
              </a:r>
              <a:endParaRPr lang="en-US" sz="95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1A5381A-7EF2-26CE-8F42-0562BCF20627}"/>
              </a:ext>
            </a:extLst>
          </p:cNvPr>
          <p:cNvGrpSpPr/>
          <p:nvPr/>
        </p:nvGrpSpPr>
        <p:grpSpPr>
          <a:xfrm>
            <a:off x="3264991" y="2518172"/>
            <a:ext cx="2613943" cy="496119"/>
            <a:chOff x="3264991" y="2518172"/>
            <a:chExt cx="2613943" cy="496119"/>
          </a:xfrm>
        </p:grpSpPr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64991" y="2518172"/>
              <a:ext cx="496119" cy="496119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3916114" y="2518172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Sports scores</a:t>
              </a:r>
              <a:endParaRPr lang="en-US" sz="12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3916114" y="2786435"/>
              <a:ext cx="1962820" cy="198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many points a team will score</a:t>
              </a:r>
              <a:endParaRPr lang="en-US" sz="9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AF3B99-35B3-C110-0259-DE5D8626377B}"/>
              </a:ext>
            </a:extLst>
          </p:cNvPr>
          <p:cNvGrpSpPr/>
          <p:nvPr/>
        </p:nvGrpSpPr>
        <p:grpSpPr>
          <a:xfrm>
            <a:off x="6033939" y="2518172"/>
            <a:ext cx="2613943" cy="496119"/>
            <a:chOff x="6033939" y="2518172"/>
            <a:chExt cx="2613943" cy="496119"/>
          </a:xfrm>
        </p:grpSpPr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33939" y="2518172"/>
              <a:ext cx="496119" cy="496119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6685062" y="2518172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Car value</a:t>
              </a:r>
              <a:endParaRPr lang="en-US" sz="120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6685062" y="2786435"/>
              <a:ext cx="1962820" cy="198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How much a used car is worth</a:t>
              </a:r>
              <a:endParaRPr lang="en-US" sz="950" dirty="0"/>
            </a:p>
          </p:txBody>
        </p:sp>
      </p:grpSp>
      <p:sp>
        <p:nvSpPr>
          <p:cNvPr id="14" name="Text 9"/>
          <p:cNvSpPr/>
          <p:nvPr/>
        </p:nvSpPr>
        <p:spPr>
          <a:xfrm>
            <a:off x="496119" y="332288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96119" y="371050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classification and regression use labeled data - they're both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Learning!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83096"/>
            <a:ext cx="3950196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Regression - Predicting a Number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979215"/>
            <a:ext cx="4722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 is another type of Supervised Learning where the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model's 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 is to predict a number. 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1614934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25119" y="1999431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It Works</a:t>
            </a:r>
            <a:endParaRPr lang="en-US" sz="195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C4E616-3C6F-E2A8-20E8-976EF697CD0D}"/>
              </a:ext>
            </a:extLst>
          </p:cNvPr>
          <p:cNvGrpSpPr/>
          <p:nvPr/>
        </p:nvGrpSpPr>
        <p:grpSpPr>
          <a:xfrm>
            <a:off x="3925119" y="2495550"/>
            <a:ext cx="2299395" cy="772716"/>
            <a:chOff x="3925119" y="2495550"/>
            <a:chExt cx="2299395" cy="772716"/>
          </a:xfrm>
        </p:grpSpPr>
        <p:sp>
          <p:nvSpPr>
            <p:cNvPr id="7" name="Shape 4"/>
            <p:cNvSpPr/>
            <p:nvPr/>
          </p:nvSpPr>
          <p:spPr>
            <a:xfrm>
              <a:off x="3925119" y="2495550"/>
              <a:ext cx="2299395" cy="772716"/>
            </a:xfrm>
            <a:prstGeom prst="roundRect">
              <a:avLst>
                <a:gd name="adj" fmla="val 240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/>
            <p:cNvSpPr/>
            <p:nvPr/>
          </p:nvSpPr>
          <p:spPr>
            <a:xfrm>
              <a:off x="4063380" y="2633811"/>
              <a:ext cx="2022872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Training on Labeled Examples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0BF296-E97A-3738-C144-96160E1135EF}"/>
              </a:ext>
            </a:extLst>
          </p:cNvPr>
          <p:cNvGrpSpPr/>
          <p:nvPr/>
        </p:nvGrpSpPr>
        <p:grpSpPr>
          <a:xfrm>
            <a:off x="6348487" y="2495550"/>
            <a:ext cx="2299395" cy="772716"/>
            <a:chOff x="6348487" y="2495550"/>
            <a:chExt cx="2299395" cy="772716"/>
          </a:xfrm>
        </p:grpSpPr>
        <p:sp>
          <p:nvSpPr>
            <p:cNvPr id="9" name="Shape 6"/>
            <p:cNvSpPr/>
            <p:nvPr/>
          </p:nvSpPr>
          <p:spPr>
            <a:xfrm>
              <a:off x="6348487" y="2495550"/>
              <a:ext cx="2299395" cy="772716"/>
            </a:xfrm>
            <a:prstGeom prst="roundRect">
              <a:avLst>
                <a:gd name="adj" fmla="val 240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7"/>
            <p:cNvSpPr/>
            <p:nvPr/>
          </p:nvSpPr>
          <p:spPr>
            <a:xfrm>
              <a:off x="6486748" y="2633811"/>
              <a:ext cx="202287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Predicting a Number</a:t>
              </a:r>
              <a:endParaRPr lang="en-US" sz="1200" dirty="0"/>
            </a:p>
          </p:txBody>
        </p:sp>
      </p:grpSp>
      <p:sp>
        <p:nvSpPr>
          <p:cNvPr id="11" name="Text 8"/>
          <p:cNvSpPr/>
          <p:nvPr/>
        </p:nvSpPr>
        <p:spPr>
          <a:xfrm>
            <a:off x="3925119" y="3407792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F0458E-F2BE-BF70-04D2-4D9D43D04CD8}"/>
              </a:ext>
            </a:extLst>
          </p:cNvPr>
          <p:cNvGrpSpPr/>
          <p:nvPr/>
        </p:nvGrpSpPr>
        <p:grpSpPr>
          <a:xfrm>
            <a:off x="3925119" y="3745781"/>
            <a:ext cx="4722763" cy="576635"/>
            <a:chOff x="3925119" y="3745781"/>
            <a:chExt cx="4722763" cy="57663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399270D-FFB4-1561-5D7B-DBF92D902E1A}"/>
                </a:ext>
              </a:extLst>
            </p:cNvPr>
            <p:cNvGrpSpPr/>
            <p:nvPr/>
          </p:nvGrpSpPr>
          <p:grpSpPr>
            <a:xfrm>
              <a:off x="3925119" y="3745781"/>
              <a:ext cx="4722763" cy="576635"/>
              <a:chOff x="3925119" y="3745781"/>
              <a:chExt cx="4722763" cy="576635"/>
            </a:xfrm>
          </p:grpSpPr>
          <p:sp>
            <p:nvSpPr>
              <p:cNvPr id="12" name="Shape 9"/>
              <p:cNvSpPr/>
              <p:nvPr/>
            </p:nvSpPr>
            <p:spPr>
              <a:xfrm>
                <a:off x="3925119" y="3745781"/>
                <a:ext cx="4722763" cy="576635"/>
              </a:xfrm>
              <a:prstGeom prst="roundRect">
                <a:avLst>
                  <a:gd name="adj" fmla="val 3227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pic>
            <p:nvPicPr>
              <p:cNvPr id="13" name="Image 1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9092" y="3941266"/>
                <a:ext cx="193774" cy="155004"/>
              </a:xfrm>
              <a:prstGeom prst="rect">
                <a:avLst/>
              </a:prstGeom>
            </p:spPr>
          </p:pic>
        </p:grpSp>
        <p:sp>
          <p:nvSpPr>
            <p:cNvPr id="14" name="Text 10"/>
            <p:cNvSpPr/>
            <p:nvPr/>
          </p:nvSpPr>
          <p:spPr>
            <a:xfrm>
              <a:off x="4366840" y="3900711"/>
              <a:ext cx="4157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Regression predicts a number on a continuous scale.</a:t>
              </a:r>
              <a:endParaRPr lang="en-US" sz="1200" dirty="0"/>
            </a:p>
          </p:txBody>
        </p:sp>
      </p:grpSp>
      <p:sp>
        <p:nvSpPr>
          <p:cNvPr id="15" name="Text 11"/>
          <p:cNvSpPr/>
          <p:nvPr/>
        </p:nvSpPr>
        <p:spPr>
          <a:xfrm>
            <a:off x="3925119" y="4461942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94197"/>
            <a:ext cx="251110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Regression Examples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2352303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54105-4752-E385-41E0-CCB896CC0E17}"/>
              </a:ext>
            </a:extLst>
          </p:cNvPr>
          <p:cNvGrpSpPr/>
          <p:nvPr/>
        </p:nvGrpSpPr>
        <p:grpSpPr>
          <a:xfrm>
            <a:off x="496119" y="2690292"/>
            <a:ext cx="1550566" cy="658936"/>
            <a:chOff x="496119" y="2690292"/>
            <a:chExt cx="1550566" cy="658936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119" y="2690292"/>
              <a:ext cx="310083" cy="310083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496119" y="315537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Weather App</a:t>
              </a:r>
              <a:endParaRPr lang="en-US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BABDEB-49D6-4D90-95E0-FB100FE06362}"/>
              </a:ext>
            </a:extLst>
          </p:cNvPr>
          <p:cNvGrpSpPr/>
          <p:nvPr/>
        </p:nvGrpSpPr>
        <p:grpSpPr>
          <a:xfrm>
            <a:off x="2572792" y="2690292"/>
            <a:ext cx="1550566" cy="658936"/>
            <a:chOff x="2572792" y="2690292"/>
            <a:chExt cx="1550566" cy="658936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72792" y="2690292"/>
              <a:ext cx="310083" cy="310083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2572792" y="315537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Google Maps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CF2E93-2A65-63FD-2D73-CE1F04CC8FD6}"/>
              </a:ext>
            </a:extLst>
          </p:cNvPr>
          <p:cNvGrpSpPr/>
          <p:nvPr/>
        </p:nvGrpSpPr>
        <p:grpSpPr>
          <a:xfrm>
            <a:off x="4649465" y="2690292"/>
            <a:ext cx="1550566" cy="658936"/>
            <a:chOff x="4649465" y="2690292"/>
            <a:chExt cx="1550566" cy="658936"/>
          </a:xfrm>
        </p:grpSpPr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49465" y="2690292"/>
              <a:ext cx="310083" cy="310083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4649465" y="315537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Real Estate Apps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E48E86-DB69-5A07-031B-372C489B67DD}"/>
              </a:ext>
            </a:extLst>
          </p:cNvPr>
          <p:cNvGrpSpPr/>
          <p:nvPr/>
        </p:nvGrpSpPr>
        <p:grpSpPr>
          <a:xfrm>
            <a:off x="6726138" y="2690292"/>
            <a:ext cx="1550566" cy="658936"/>
            <a:chOff x="6726138" y="2690292"/>
            <a:chExt cx="1550566" cy="658936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726138" y="2690292"/>
              <a:ext cx="310083" cy="310083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6726138" y="315537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Uber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768"/>
            <a:ext cx="3346996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Classification vs. Regression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536874"/>
            <a:ext cx="8151763" cy="2289870"/>
          </a:xfrm>
          <a:prstGeom prst="roundRect">
            <a:avLst>
              <a:gd name="adj" fmla="val 81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54163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5004" y="1620813"/>
            <a:ext cx="208076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58480" y="1620813"/>
            <a:ext cx="230877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19961" y="1620813"/>
            <a:ext cx="299918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0881" y="1948086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5004" y="2027262"/>
            <a:ext cx="208076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type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58480" y="2027262"/>
            <a:ext cx="230877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"Which category?"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19961" y="2027262"/>
            <a:ext cx="299918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"How many?" or "How much?"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0881" y="235453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5004" y="2433712"/>
            <a:ext cx="208076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type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58480" y="2433712"/>
            <a:ext cx="230877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category (from a fixed list)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19961" y="2433712"/>
            <a:ext cx="299918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number (any value)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276098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5004" y="2840162"/>
            <a:ext cx="208076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Analogy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58480" y="2840162"/>
            <a:ext cx="230877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Multiple‑choice test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19961" y="2840162"/>
            <a:ext cx="299918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Fill‑in‑the‑blank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0881" y="3167435"/>
            <a:ext cx="8142238" cy="6545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5004" y="3246611"/>
            <a:ext cx="208076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58480" y="3246611"/>
            <a:ext cx="2308771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"Is this movie suitable for kids, teens, or adults?"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19961" y="3246611"/>
            <a:ext cx="2999184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"How many tickets will be sold for the movie?"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119" y="3966270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5517"/>
            <a:ext cx="733030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Unsupervised Learning - Finding Hidden Patterns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8108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Learning is when we give a machine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unlabeled data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let it find patterns on its own.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468710"/>
            <a:ext cx="4787801" cy="28415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3611" y="2163239"/>
            <a:ext cx="407581" cy="4075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10481" y="3536534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Discovered Patterns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480" y="2164003"/>
            <a:ext cx="407582" cy="4075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10581" y="3536534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Pattern Finding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81580" y="2164003"/>
            <a:ext cx="407582" cy="40758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486226" y="3536534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Unlabeled Data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96119" y="4449812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machine receives unlabeled data, searches for similarities, and discovers hidden groups or structures on its own.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4764"/>
            <a:ext cx="172424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Unsupervised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448172"/>
            <a:ext cx="475014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Real-World Examples You Know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202175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406253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Clustering Examples</a:t>
            </a:r>
            <a:endParaRPr lang="en-US" sz="19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9693886-7AD5-AA62-6937-A081A69E1F6E}"/>
              </a:ext>
            </a:extLst>
          </p:cNvPr>
          <p:cNvGrpSpPr/>
          <p:nvPr/>
        </p:nvGrpSpPr>
        <p:grpSpPr>
          <a:xfrm>
            <a:off x="496119" y="2902372"/>
            <a:ext cx="1944960" cy="1036290"/>
            <a:chOff x="496119" y="2902372"/>
            <a:chExt cx="1944960" cy="1036290"/>
          </a:xfrm>
        </p:grpSpPr>
        <p:sp>
          <p:nvSpPr>
            <p:cNvPr id="6" name="Shape 4"/>
            <p:cNvSpPr/>
            <p:nvPr/>
          </p:nvSpPr>
          <p:spPr>
            <a:xfrm>
              <a:off x="496119" y="2902372"/>
              <a:ext cx="1944960" cy="1036290"/>
            </a:xfrm>
            <a:prstGeom prst="roundRect">
              <a:avLst>
                <a:gd name="adj" fmla="val 179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16A7149-9127-6F74-D5BA-27F6E6A4C5B1}"/>
                </a:ext>
              </a:extLst>
            </p:cNvPr>
            <p:cNvGrpSpPr/>
            <p:nvPr/>
          </p:nvGrpSpPr>
          <p:grpSpPr>
            <a:xfrm>
              <a:off x="510406" y="2916659"/>
              <a:ext cx="1916385" cy="689893"/>
              <a:chOff x="510406" y="2916659"/>
              <a:chExt cx="1916385" cy="689893"/>
            </a:xfrm>
          </p:grpSpPr>
          <p:sp>
            <p:nvSpPr>
              <p:cNvPr id="7" name="Shape 5"/>
              <p:cNvSpPr/>
              <p:nvPr/>
            </p:nvSpPr>
            <p:spPr>
              <a:xfrm>
                <a:off x="510406" y="2916659"/>
                <a:ext cx="1916385" cy="372070"/>
              </a:xfrm>
              <a:prstGeom prst="roundRect">
                <a:avLst>
                  <a:gd name="adj" fmla="val 393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pic>
            <p:nvPicPr>
              <p:cNvPr id="8" name="Image 0" descr="preencoded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375544" y="3009602"/>
                <a:ext cx="186035" cy="186035"/>
              </a:xfrm>
              <a:prstGeom prst="rect">
                <a:avLst/>
              </a:prstGeom>
            </p:spPr>
          </p:pic>
          <p:sp>
            <p:nvSpPr>
              <p:cNvPr id="9" name="Text 6"/>
              <p:cNvSpPr/>
              <p:nvPr/>
            </p:nvSpPr>
            <p:spPr>
              <a:xfrm>
                <a:off x="634380" y="3412703"/>
                <a:ext cx="1550566" cy="1938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Google News</a:t>
                </a:r>
                <a:endParaRPr lang="en-US" sz="1200" dirty="0"/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D25026-5A51-7832-7ECD-AEBD6CEAE463}"/>
              </a:ext>
            </a:extLst>
          </p:cNvPr>
          <p:cNvGrpSpPr/>
          <p:nvPr/>
        </p:nvGrpSpPr>
        <p:grpSpPr>
          <a:xfrm>
            <a:off x="2565053" y="2902372"/>
            <a:ext cx="1944960" cy="1036290"/>
            <a:chOff x="2565053" y="2902372"/>
            <a:chExt cx="1944960" cy="103629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42B77EB-947F-FE84-EDDD-985AD2C3FB37}"/>
                </a:ext>
              </a:extLst>
            </p:cNvPr>
            <p:cNvGrpSpPr/>
            <p:nvPr/>
          </p:nvGrpSpPr>
          <p:grpSpPr>
            <a:xfrm>
              <a:off x="2565053" y="2902372"/>
              <a:ext cx="1944960" cy="1036290"/>
              <a:chOff x="2565053" y="2902372"/>
              <a:chExt cx="1944960" cy="1036290"/>
            </a:xfrm>
          </p:grpSpPr>
          <p:sp>
            <p:nvSpPr>
              <p:cNvPr id="10" name="Shape 7"/>
              <p:cNvSpPr/>
              <p:nvPr/>
            </p:nvSpPr>
            <p:spPr>
              <a:xfrm>
                <a:off x="2565053" y="2902372"/>
                <a:ext cx="1944960" cy="1036290"/>
              </a:xfrm>
              <a:prstGeom prst="roundRect">
                <a:avLst>
                  <a:gd name="adj" fmla="val 1796"/>
                </a:avLst>
              </a:prstGeom>
              <a:solidFill>
                <a:srgbClr val="FBFCFE"/>
              </a:solidFill>
              <a:ln w="14288">
                <a:solidFill>
                  <a:srgbClr val="CFD2D8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Shape 8"/>
              <p:cNvSpPr/>
              <p:nvPr/>
            </p:nvSpPr>
            <p:spPr>
              <a:xfrm>
                <a:off x="2579340" y="2916659"/>
                <a:ext cx="1916385" cy="372070"/>
              </a:xfrm>
              <a:prstGeom prst="roundRect">
                <a:avLst>
                  <a:gd name="adj" fmla="val 393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3" name="Text 9"/>
              <p:cNvSpPr/>
              <p:nvPr/>
            </p:nvSpPr>
            <p:spPr>
              <a:xfrm>
                <a:off x="2703314" y="3412703"/>
                <a:ext cx="1668438" cy="3876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Customer Segmentation</a:t>
                </a:r>
                <a:endParaRPr lang="en-US" sz="1200" dirty="0"/>
              </a:p>
            </p:txBody>
          </p:sp>
        </p:grpSp>
        <p:grpSp>
          <p:nvGrpSpPr>
            <p:cNvPr id="25" name="Image 1" descr="preencoded.png">
              <a:extLst>
                <a:ext uri="{FF2B5EF4-FFF2-40B4-BE49-F238E27FC236}">
                  <a16:creationId xmlns:a16="http://schemas.microsoft.com/office/drawing/2014/main" id="{34FB2695-B357-5BED-0DA2-7DFC030874CA}"/>
                </a:ext>
              </a:extLst>
            </p:cNvPr>
            <p:cNvGrpSpPr/>
            <p:nvPr/>
          </p:nvGrpSpPr>
          <p:grpSpPr>
            <a:xfrm>
              <a:off x="3445108" y="3014530"/>
              <a:ext cx="170815" cy="170193"/>
              <a:chOff x="3445108" y="3014530"/>
              <a:chExt cx="170815" cy="170193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23CD65D-9608-9A1A-2615-6ABA38E45091}"/>
                  </a:ext>
                </a:extLst>
              </p:cNvPr>
              <p:cNvSpPr/>
              <p:nvPr/>
            </p:nvSpPr>
            <p:spPr>
              <a:xfrm>
                <a:off x="3488072" y="3059214"/>
                <a:ext cx="42753" cy="15891"/>
              </a:xfrm>
              <a:custGeom>
                <a:avLst/>
                <a:gdLst>
                  <a:gd name="csX0" fmla="*/ 42754 w 42753"/>
                  <a:gd name="csY0" fmla="*/ 191 h 15891"/>
                  <a:gd name="csX1" fmla="*/ 36042 w 42753"/>
                  <a:gd name="csY1" fmla="*/ 10042 h 15891"/>
                  <a:gd name="csX2" fmla="*/ 28395 w 42753"/>
                  <a:gd name="csY2" fmla="*/ 14849 h 15891"/>
                  <a:gd name="csX3" fmla="*/ 18377 w 42753"/>
                  <a:gd name="csY3" fmla="*/ 15820 h 15891"/>
                  <a:gd name="csX4" fmla="*/ 9197 w 42753"/>
                  <a:gd name="csY4" fmla="*/ 12073 h 15891"/>
                  <a:gd name="csX5" fmla="*/ 2895 w 42753"/>
                  <a:gd name="csY5" fmla="*/ 5012 h 15891"/>
                  <a:gd name="csX6" fmla="*/ 0 w 42753"/>
                  <a:gd name="csY6" fmla="*/ 0 h 158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2753" h="15891">
                    <a:moveTo>
                      <a:pt x="42754" y="191"/>
                    </a:moveTo>
                    <a:cubicBezTo>
                      <a:pt x="39900" y="5135"/>
                      <a:pt x="38274" y="7535"/>
                      <a:pt x="36042" y="10042"/>
                    </a:cubicBezTo>
                    <a:cubicBezTo>
                      <a:pt x="33628" y="12069"/>
                      <a:pt x="31234" y="13598"/>
                      <a:pt x="28395" y="14849"/>
                    </a:cubicBezTo>
                    <a:cubicBezTo>
                      <a:pt x="25306" y="15693"/>
                      <a:pt x="21614" y="16059"/>
                      <a:pt x="18377" y="15820"/>
                    </a:cubicBezTo>
                    <a:cubicBezTo>
                      <a:pt x="15186" y="15079"/>
                      <a:pt x="11989" y="13799"/>
                      <a:pt x="9197" y="12073"/>
                    </a:cubicBezTo>
                    <a:cubicBezTo>
                      <a:pt x="6877" y="10164"/>
                      <a:pt x="5055" y="8157"/>
                      <a:pt x="2895" y="5012"/>
                    </a:cubicBezTo>
                    <a:lnTo>
                      <a:pt x="0" y="0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1944DE8-1F6C-1113-DCE6-016444777EA6}"/>
                  </a:ext>
                </a:extLst>
              </p:cNvPr>
              <p:cNvSpPr/>
              <p:nvPr/>
            </p:nvSpPr>
            <p:spPr>
              <a:xfrm>
                <a:off x="3530825" y="3059405"/>
                <a:ext cx="42140" cy="15691"/>
              </a:xfrm>
              <a:custGeom>
                <a:avLst/>
                <a:gdLst>
                  <a:gd name="csX0" fmla="*/ 42140 w 42140"/>
                  <a:gd name="csY0" fmla="*/ 777 h 15691"/>
                  <a:gd name="csX1" fmla="*/ 35259 w 42140"/>
                  <a:gd name="csY1" fmla="*/ 10264 h 15691"/>
                  <a:gd name="csX2" fmla="*/ 27165 w 42140"/>
                  <a:gd name="csY2" fmla="*/ 14967 h 15691"/>
                  <a:gd name="csX3" fmla="*/ 17535 w 42140"/>
                  <a:gd name="csY3" fmla="*/ 15560 h 15691"/>
                  <a:gd name="csX4" fmla="*/ 8138 w 42140"/>
                  <a:gd name="csY4" fmla="*/ 11290 h 15691"/>
                  <a:gd name="csX5" fmla="*/ 3039 w 42140"/>
                  <a:gd name="csY5" fmla="*/ 5309 h 15691"/>
                  <a:gd name="csX6" fmla="*/ 0 w 42140"/>
                  <a:gd name="csY6" fmla="*/ 0 h 156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42140" h="15691">
                    <a:moveTo>
                      <a:pt x="42140" y="777"/>
                    </a:moveTo>
                    <a:cubicBezTo>
                      <a:pt x="39011" y="5813"/>
                      <a:pt x="37512" y="7866"/>
                      <a:pt x="35259" y="10264"/>
                    </a:cubicBezTo>
                    <a:cubicBezTo>
                      <a:pt x="32828" y="12211"/>
                      <a:pt x="30255" y="13724"/>
                      <a:pt x="27165" y="14967"/>
                    </a:cubicBezTo>
                    <a:cubicBezTo>
                      <a:pt x="24141" y="15639"/>
                      <a:pt x="20470" y="15860"/>
                      <a:pt x="17535" y="15560"/>
                    </a:cubicBezTo>
                    <a:cubicBezTo>
                      <a:pt x="13847" y="14582"/>
                      <a:pt x="10986" y="13235"/>
                      <a:pt x="8138" y="11290"/>
                    </a:cubicBezTo>
                    <a:cubicBezTo>
                      <a:pt x="6213" y="9531"/>
                      <a:pt x="4381" y="7340"/>
                      <a:pt x="3039" y="5309"/>
                    </a:cubicBezTo>
                    <a:lnTo>
                      <a:pt x="0" y="0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64C026-85CC-C005-7E9D-576A1AE43DBE}"/>
                  </a:ext>
                </a:extLst>
              </p:cNvPr>
              <p:cNvSpPr/>
              <p:nvPr/>
            </p:nvSpPr>
            <p:spPr>
              <a:xfrm>
                <a:off x="3573440" y="3059416"/>
                <a:ext cx="33845" cy="15749"/>
              </a:xfrm>
              <a:custGeom>
                <a:avLst/>
                <a:gdLst>
                  <a:gd name="csX0" fmla="*/ 33846 w 33845"/>
                  <a:gd name="csY0" fmla="*/ 11926 h 15749"/>
                  <a:gd name="csX1" fmla="*/ 25684 w 33845"/>
                  <a:gd name="csY1" fmla="*/ 15312 h 15749"/>
                  <a:gd name="csX2" fmla="*/ 18442 w 33845"/>
                  <a:gd name="csY2" fmla="*/ 15691 h 15749"/>
                  <a:gd name="csX3" fmla="*/ 11563 w 33845"/>
                  <a:gd name="csY3" fmla="*/ 13558 h 15749"/>
                  <a:gd name="csX4" fmla="*/ 6031 w 33845"/>
                  <a:gd name="csY4" fmla="*/ 9463 h 15749"/>
                  <a:gd name="csX5" fmla="*/ 0 w 33845"/>
                  <a:gd name="csY5" fmla="*/ 0 h 157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3845" h="15749">
                    <a:moveTo>
                      <a:pt x="33846" y="11926"/>
                    </a:moveTo>
                    <a:cubicBezTo>
                      <a:pt x="30280" y="13696"/>
                      <a:pt x="28362" y="14492"/>
                      <a:pt x="25684" y="15312"/>
                    </a:cubicBezTo>
                    <a:cubicBezTo>
                      <a:pt x="23779" y="15662"/>
                      <a:pt x="21170" y="15853"/>
                      <a:pt x="18442" y="15691"/>
                    </a:cubicBezTo>
                    <a:cubicBezTo>
                      <a:pt x="16441" y="15340"/>
                      <a:pt x="13690" y="14509"/>
                      <a:pt x="11563" y="13558"/>
                    </a:cubicBezTo>
                    <a:cubicBezTo>
                      <a:pt x="9782" y="12540"/>
                      <a:pt x="7896" y="11169"/>
                      <a:pt x="6031" y="9463"/>
                    </a:cubicBezTo>
                    <a:cubicBezTo>
                      <a:pt x="4506" y="7715"/>
                      <a:pt x="3299" y="6044"/>
                      <a:pt x="0" y="0"/>
                    </a:cubicBez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8F75104-21F0-3211-6DB3-055AE4C6B1EF}"/>
                  </a:ext>
                </a:extLst>
              </p:cNvPr>
              <p:cNvSpPr/>
              <p:nvPr/>
            </p:nvSpPr>
            <p:spPr>
              <a:xfrm>
                <a:off x="3454791" y="3059214"/>
                <a:ext cx="33280" cy="15884"/>
              </a:xfrm>
              <a:custGeom>
                <a:avLst/>
                <a:gdLst>
                  <a:gd name="csX0" fmla="*/ 33281 w 33280"/>
                  <a:gd name="csY0" fmla="*/ 0 h 15884"/>
                  <a:gd name="csX1" fmla="*/ 27136 w 33280"/>
                  <a:gd name="csY1" fmla="*/ 9426 h 15884"/>
                  <a:gd name="csX2" fmla="*/ 21611 w 33280"/>
                  <a:gd name="csY2" fmla="*/ 13601 h 15884"/>
                  <a:gd name="csX3" fmla="*/ 14994 w 33280"/>
                  <a:gd name="csY3" fmla="*/ 15765 h 15884"/>
                  <a:gd name="csX4" fmla="*/ 7891 w 33280"/>
                  <a:gd name="csY4" fmla="*/ 15593 h 15884"/>
                  <a:gd name="csX5" fmla="*/ 0 w 33280"/>
                  <a:gd name="csY5" fmla="*/ 12906 h 158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33280" h="15884">
                    <a:moveTo>
                      <a:pt x="33281" y="0"/>
                    </a:moveTo>
                    <a:cubicBezTo>
                      <a:pt x="29867" y="5985"/>
                      <a:pt x="28455" y="7937"/>
                      <a:pt x="27136" y="9426"/>
                    </a:cubicBezTo>
                    <a:cubicBezTo>
                      <a:pt x="25595" y="10879"/>
                      <a:pt x="23687" y="12344"/>
                      <a:pt x="21611" y="13601"/>
                    </a:cubicBezTo>
                    <a:cubicBezTo>
                      <a:pt x="19589" y="14537"/>
                      <a:pt x="17817" y="15151"/>
                      <a:pt x="14994" y="15765"/>
                    </a:cubicBezTo>
                    <a:cubicBezTo>
                      <a:pt x="12694" y="15969"/>
                      <a:pt x="10248" y="15912"/>
                      <a:pt x="7891" y="15593"/>
                    </a:cubicBezTo>
                    <a:cubicBezTo>
                      <a:pt x="6570" y="15268"/>
                      <a:pt x="3939" y="14372"/>
                      <a:pt x="0" y="12906"/>
                    </a:cubicBez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D4D170C-4FA0-9388-E17B-64C8605F3387}"/>
                  </a:ext>
                </a:extLst>
              </p:cNvPr>
              <p:cNvSpPr/>
              <p:nvPr/>
            </p:nvSpPr>
            <p:spPr>
              <a:xfrm>
                <a:off x="3607286" y="3034872"/>
                <a:ext cx="8637" cy="36469"/>
              </a:xfrm>
              <a:custGeom>
                <a:avLst/>
                <a:gdLst>
                  <a:gd name="csX0" fmla="*/ 0 w 8637"/>
                  <a:gd name="csY0" fmla="*/ 36470 h 36469"/>
                  <a:gd name="csX1" fmla="*/ 6659 w 8637"/>
                  <a:gd name="csY1" fmla="*/ 27841 h 36469"/>
                  <a:gd name="csX2" fmla="*/ 8527 w 8637"/>
                  <a:gd name="csY2" fmla="*/ 21261 h 36469"/>
                  <a:gd name="csX3" fmla="*/ 8293 w 8637"/>
                  <a:gd name="csY3" fmla="*/ 12807 h 36469"/>
                  <a:gd name="csX4" fmla="*/ 4153 w 8637"/>
                  <a:gd name="csY4" fmla="*/ 0 h 364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8637" h="36469">
                    <a:moveTo>
                      <a:pt x="0" y="36470"/>
                    </a:moveTo>
                    <a:cubicBezTo>
                      <a:pt x="4110" y="32030"/>
                      <a:pt x="5836" y="29466"/>
                      <a:pt x="6659" y="27841"/>
                    </a:cubicBezTo>
                    <a:cubicBezTo>
                      <a:pt x="7470" y="25785"/>
                      <a:pt x="8182" y="23148"/>
                      <a:pt x="8527" y="21261"/>
                    </a:cubicBezTo>
                    <a:cubicBezTo>
                      <a:pt x="8751" y="16853"/>
                      <a:pt x="8616" y="14866"/>
                      <a:pt x="8293" y="12807"/>
                    </a:cubicBezTo>
                    <a:cubicBezTo>
                      <a:pt x="7594" y="10262"/>
                      <a:pt x="6214" y="5993"/>
                      <a:pt x="4153" y="0"/>
                    </a:cubicBez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507D4DD-866A-9004-6211-D4A306722254}"/>
                  </a:ext>
                </a:extLst>
              </p:cNvPr>
              <p:cNvSpPr/>
              <p:nvPr/>
            </p:nvSpPr>
            <p:spPr>
              <a:xfrm>
                <a:off x="3505096" y="3104520"/>
                <a:ext cx="51072" cy="7"/>
              </a:xfrm>
              <a:custGeom>
                <a:avLst/>
                <a:gdLst>
                  <a:gd name="csX0" fmla="*/ 51072 w 51072"/>
                  <a:gd name="csY0" fmla="*/ 0 h 7"/>
                  <a:gd name="csX1" fmla="*/ 0 w 51072"/>
                  <a:gd name="csY1" fmla="*/ 8 h 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1072" h="7">
                    <a:moveTo>
                      <a:pt x="51072" y="0"/>
                    </a:moveTo>
                    <a:lnTo>
                      <a:pt x="0" y="8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FA367D9-C654-2155-9810-1ECF05D289D9}"/>
                  </a:ext>
                </a:extLst>
              </p:cNvPr>
              <p:cNvSpPr/>
              <p:nvPr/>
            </p:nvSpPr>
            <p:spPr>
              <a:xfrm>
                <a:off x="3556168" y="3104520"/>
                <a:ext cx="80" cy="80204"/>
              </a:xfrm>
              <a:custGeom>
                <a:avLst/>
                <a:gdLst>
                  <a:gd name="csX0" fmla="*/ 81 w 80"/>
                  <a:gd name="csY0" fmla="*/ 80204 h 80204"/>
                  <a:gd name="csX1" fmla="*/ 0 w 80"/>
                  <a:gd name="csY1" fmla="*/ 0 h 802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0" h="80204">
                    <a:moveTo>
                      <a:pt x="81" y="80204"/>
                    </a:moveTo>
                    <a:lnTo>
                      <a:pt x="0" y="0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9897511D-E722-B662-2763-2EB6DA869B36}"/>
                  </a:ext>
                </a:extLst>
              </p:cNvPr>
              <p:cNvSpPr/>
              <p:nvPr/>
            </p:nvSpPr>
            <p:spPr>
              <a:xfrm>
                <a:off x="3453908" y="3184633"/>
                <a:ext cx="153372" cy="24"/>
              </a:xfrm>
              <a:custGeom>
                <a:avLst/>
                <a:gdLst>
                  <a:gd name="csX0" fmla="*/ 153372 w 153372"/>
                  <a:gd name="csY0" fmla="*/ 24 h 24"/>
                  <a:gd name="csX1" fmla="*/ 0 w 153372"/>
                  <a:gd name="csY1" fmla="*/ 0 h 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372" h="24">
                    <a:moveTo>
                      <a:pt x="153372" y="24"/>
                    </a:moveTo>
                    <a:lnTo>
                      <a:pt x="0" y="0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83C583E1-950F-4BC2-0C53-A125AD986173}"/>
                  </a:ext>
                </a:extLst>
              </p:cNvPr>
              <p:cNvSpPr/>
              <p:nvPr/>
            </p:nvSpPr>
            <p:spPr>
              <a:xfrm>
                <a:off x="3505025" y="3104528"/>
                <a:ext cx="70" cy="80195"/>
              </a:xfrm>
              <a:custGeom>
                <a:avLst/>
                <a:gdLst>
                  <a:gd name="csX0" fmla="*/ 71 w 70"/>
                  <a:gd name="csY0" fmla="*/ 0 h 80195"/>
                  <a:gd name="csX1" fmla="*/ 0 w 70"/>
                  <a:gd name="csY1" fmla="*/ 80196 h 801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0" h="80195">
                    <a:moveTo>
                      <a:pt x="71" y="0"/>
                    </a:moveTo>
                    <a:lnTo>
                      <a:pt x="0" y="80196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E373CF2-2E65-C069-FE41-274C22D2E04D}"/>
                  </a:ext>
                </a:extLst>
              </p:cNvPr>
              <p:cNvSpPr/>
              <p:nvPr/>
            </p:nvSpPr>
            <p:spPr>
              <a:xfrm>
                <a:off x="3607281" y="3071342"/>
                <a:ext cx="5" cy="113315"/>
              </a:xfrm>
              <a:custGeom>
                <a:avLst/>
                <a:gdLst>
                  <a:gd name="csX0" fmla="*/ 5 w 5"/>
                  <a:gd name="csY0" fmla="*/ 0 h 113315"/>
                  <a:gd name="csX1" fmla="*/ 0 w 5"/>
                  <a:gd name="csY1" fmla="*/ 113315 h 1133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" h="113315">
                    <a:moveTo>
                      <a:pt x="5" y="0"/>
                    </a:moveTo>
                    <a:lnTo>
                      <a:pt x="0" y="113315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BC377AE-275A-415B-E39E-C90016C7E524}"/>
                  </a:ext>
                </a:extLst>
              </p:cNvPr>
              <p:cNvSpPr/>
              <p:nvPr/>
            </p:nvSpPr>
            <p:spPr>
              <a:xfrm>
                <a:off x="3453867" y="3071762"/>
                <a:ext cx="41" cy="112870"/>
              </a:xfrm>
              <a:custGeom>
                <a:avLst/>
                <a:gdLst>
                  <a:gd name="csX0" fmla="*/ 42 w 41"/>
                  <a:gd name="csY0" fmla="*/ 112870 h 112870"/>
                  <a:gd name="csX1" fmla="*/ 0 w 41"/>
                  <a:gd name="csY1" fmla="*/ 0 h 1128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1" h="112870">
                    <a:moveTo>
                      <a:pt x="42" y="112870"/>
                    </a:moveTo>
                    <a:lnTo>
                      <a:pt x="0" y="0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63D6AEF-D912-3348-1709-A84EB477E4A9}"/>
                  </a:ext>
                </a:extLst>
              </p:cNvPr>
              <p:cNvSpPr/>
              <p:nvPr/>
            </p:nvSpPr>
            <p:spPr>
              <a:xfrm>
                <a:off x="3456925" y="3014530"/>
                <a:ext cx="147556" cy="71"/>
              </a:xfrm>
              <a:custGeom>
                <a:avLst/>
                <a:gdLst>
                  <a:gd name="csX0" fmla="*/ 147557 w 147556"/>
                  <a:gd name="csY0" fmla="*/ 71 h 71"/>
                  <a:gd name="csX1" fmla="*/ 0 w 147556"/>
                  <a:gd name="csY1" fmla="*/ 0 h 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7556" h="71">
                    <a:moveTo>
                      <a:pt x="147557" y="71"/>
                    </a:moveTo>
                    <a:lnTo>
                      <a:pt x="0" y="0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B1A327C3-3A9E-E0C4-FDA8-5082F1AAE4FE}"/>
                  </a:ext>
                </a:extLst>
              </p:cNvPr>
              <p:cNvSpPr/>
              <p:nvPr/>
            </p:nvSpPr>
            <p:spPr>
              <a:xfrm>
                <a:off x="3573031" y="3054452"/>
                <a:ext cx="166" cy="4191"/>
              </a:xfrm>
              <a:custGeom>
                <a:avLst/>
                <a:gdLst>
                  <a:gd name="csX0" fmla="*/ 167 w 166"/>
                  <a:gd name="csY0" fmla="*/ 0 h 4191"/>
                  <a:gd name="csX1" fmla="*/ 0 w 166"/>
                  <a:gd name="csY1" fmla="*/ 4192 h 41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6" h="4191">
                    <a:moveTo>
                      <a:pt x="167" y="0"/>
                    </a:moveTo>
                    <a:lnTo>
                      <a:pt x="0" y="4192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A86DC51A-5FDC-6BC4-BF0B-BB45FA8F248D}"/>
                  </a:ext>
                </a:extLst>
              </p:cNvPr>
              <p:cNvSpPr/>
              <p:nvPr/>
            </p:nvSpPr>
            <p:spPr>
              <a:xfrm>
                <a:off x="3530736" y="3053726"/>
                <a:ext cx="89" cy="5678"/>
              </a:xfrm>
              <a:custGeom>
                <a:avLst/>
                <a:gdLst>
                  <a:gd name="csX0" fmla="*/ 0 w 89"/>
                  <a:gd name="csY0" fmla="*/ 0 h 5678"/>
                  <a:gd name="csX1" fmla="*/ 90 w 89"/>
                  <a:gd name="csY1" fmla="*/ 5679 h 56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9" h="5678">
                    <a:moveTo>
                      <a:pt x="0" y="0"/>
                    </a:moveTo>
                    <a:lnTo>
                      <a:pt x="90" y="5679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F799CBE0-AEC7-4213-2B51-05008F739C76}"/>
                  </a:ext>
                </a:extLst>
              </p:cNvPr>
              <p:cNvSpPr/>
              <p:nvPr/>
            </p:nvSpPr>
            <p:spPr>
              <a:xfrm>
                <a:off x="3488072" y="3053441"/>
                <a:ext cx="72" cy="5773"/>
              </a:xfrm>
              <a:custGeom>
                <a:avLst/>
                <a:gdLst>
                  <a:gd name="csX0" fmla="*/ 72 w 72"/>
                  <a:gd name="csY0" fmla="*/ 0 h 5773"/>
                  <a:gd name="csX1" fmla="*/ 0 w 72"/>
                  <a:gd name="csY1" fmla="*/ 5774 h 57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2" h="5773">
                    <a:moveTo>
                      <a:pt x="72" y="0"/>
                    </a:moveTo>
                    <a:lnTo>
                      <a:pt x="0" y="5774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8CB25719-FE29-4680-85D3-64B82B9D6F7A}"/>
                  </a:ext>
                </a:extLst>
              </p:cNvPr>
              <p:cNvSpPr/>
              <p:nvPr/>
            </p:nvSpPr>
            <p:spPr>
              <a:xfrm>
                <a:off x="3447052" y="3014530"/>
                <a:ext cx="9872" cy="28162"/>
              </a:xfrm>
              <a:custGeom>
                <a:avLst/>
                <a:gdLst>
                  <a:gd name="csX0" fmla="*/ 9873 w 9872"/>
                  <a:gd name="csY0" fmla="*/ 0 h 28162"/>
                  <a:gd name="csX1" fmla="*/ 0 w 9872"/>
                  <a:gd name="csY1" fmla="*/ 28163 h 281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872" h="28162">
                    <a:moveTo>
                      <a:pt x="9873" y="0"/>
                    </a:moveTo>
                    <a:lnTo>
                      <a:pt x="0" y="28163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F23C74C-194B-179E-9109-19E9B8D0153C}"/>
                  </a:ext>
                </a:extLst>
              </p:cNvPr>
              <p:cNvSpPr/>
              <p:nvPr/>
            </p:nvSpPr>
            <p:spPr>
              <a:xfrm>
                <a:off x="3604481" y="3014602"/>
                <a:ext cx="6957" cy="20270"/>
              </a:xfrm>
              <a:custGeom>
                <a:avLst/>
                <a:gdLst>
                  <a:gd name="csX0" fmla="*/ 6958 w 6957"/>
                  <a:gd name="csY0" fmla="*/ 20271 h 20270"/>
                  <a:gd name="csX1" fmla="*/ 0 w 6957"/>
                  <a:gd name="csY1" fmla="*/ 0 h 202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957" h="20270">
                    <a:moveTo>
                      <a:pt x="6958" y="20271"/>
                    </a:moveTo>
                    <a:lnTo>
                      <a:pt x="0" y="0"/>
                    </a:ln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33678BFE-82EB-2C61-B045-45761123EB82}"/>
                  </a:ext>
                </a:extLst>
              </p:cNvPr>
              <p:cNvSpPr/>
              <p:nvPr/>
            </p:nvSpPr>
            <p:spPr>
              <a:xfrm>
                <a:off x="3445108" y="3042735"/>
                <a:ext cx="8786" cy="28414"/>
              </a:xfrm>
              <a:custGeom>
                <a:avLst/>
                <a:gdLst>
                  <a:gd name="csX0" fmla="*/ 2032 w 8786"/>
                  <a:gd name="csY0" fmla="*/ 0 h 28414"/>
                  <a:gd name="csX1" fmla="*/ 8786 w 8786"/>
                  <a:gd name="csY1" fmla="*/ 28415 h 284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786" h="28414">
                    <a:moveTo>
                      <a:pt x="2032" y="0"/>
                    </a:moveTo>
                    <a:cubicBezTo>
                      <a:pt x="-2315" y="9961"/>
                      <a:pt x="485" y="21740"/>
                      <a:pt x="8786" y="28415"/>
                    </a:cubicBezTo>
                  </a:path>
                </a:pathLst>
              </a:custGeom>
              <a:noFill/>
              <a:ln w="7363" cap="rnd">
                <a:solidFill>
                  <a:srgbClr val="15213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F334E0D-A5EC-83E0-1C0C-6F1FF38E7FF1}"/>
              </a:ext>
            </a:extLst>
          </p:cNvPr>
          <p:cNvGrpSpPr/>
          <p:nvPr/>
        </p:nvGrpSpPr>
        <p:grpSpPr>
          <a:xfrm>
            <a:off x="4633987" y="2902372"/>
            <a:ext cx="1944960" cy="1036290"/>
            <a:chOff x="4633987" y="2902372"/>
            <a:chExt cx="1944960" cy="1036290"/>
          </a:xfrm>
        </p:grpSpPr>
        <p:sp>
          <p:nvSpPr>
            <p:cNvPr id="14" name="Shape 10"/>
            <p:cNvSpPr/>
            <p:nvPr/>
          </p:nvSpPr>
          <p:spPr>
            <a:xfrm>
              <a:off x="4633987" y="2902372"/>
              <a:ext cx="1944960" cy="1036290"/>
            </a:xfrm>
            <a:prstGeom prst="roundRect">
              <a:avLst>
                <a:gd name="adj" fmla="val 179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F94BBD9-7E22-049F-4F85-467DCBCD7163}"/>
                </a:ext>
              </a:extLst>
            </p:cNvPr>
            <p:cNvGrpSpPr/>
            <p:nvPr/>
          </p:nvGrpSpPr>
          <p:grpSpPr>
            <a:xfrm>
              <a:off x="4648274" y="2916659"/>
              <a:ext cx="1916385" cy="689893"/>
              <a:chOff x="4648274" y="2916659"/>
              <a:chExt cx="1916385" cy="689893"/>
            </a:xfrm>
          </p:grpSpPr>
          <p:sp>
            <p:nvSpPr>
              <p:cNvPr id="15" name="Shape 11"/>
              <p:cNvSpPr/>
              <p:nvPr/>
            </p:nvSpPr>
            <p:spPr>
              <a:xfrm>
                <a:off x="4648274" y="2916659"/>
                <a:ext cx="1916385" cy="372070"/>
              </a:xfrm>
              <a:prstGeom prst="roundRect">
                <a:avLst>
                  <a:gd name="adj" fmla="val 393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5A27CCBC-A3AB-F3A1-DC55-66A0C0537B52}"/>
                  </a:ext>
                </a:extLst>
              </p:cNvPr>
              <p:cNvGrpSpPr/>
              <p:nvPr/>
            </p:nvGrpSpPr>
            <p:grpSpPr>
              <a:xfrm>
                <a:off x="4772248" y="3009602"/>
                <a:ext cx="1605781" cy="596950"/>
                <a:chOff x="4772248" y="3009602"/>
                <a:chExt cx="1605781" cy="596950"/>
              </a:xfrm>
            </p:grpSpPr>
            <p:pic>
              <p:nvPicPr>
                <p:cNvPr id="16" name="Image 2" descr="preencoded.png"/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13412" y="3009602"/>
                  <a:ext cx="186035" cy="186035"/>
                </a:xfrm>
                <a:prstGeom prst="rect">
                  <a:avLst/>
                </a:prstGeom>
              </p:spPr>
            </p:pic>
            <p:sp>
              <p:nvSpPr>
                <p:cNvPr id="17" name="Text 12"/>
                <p:cNvSpPr/>
                <p:nvPr/>
              </p:nvSpPr>
              <p:spPr>
                <a:xfrm>
                  <a:off x="4772248" y="3412703"/>
                  <a:ext cx="1605781" cy="193849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1500"/>
                    </a:lnSpc>
                    <a:buNone/>
                  </a:pPr>
                  <a:r>
                    <a:rPr lang="en-US" sz="1200" b="1" dirty="0">
                      <a:solidFill>
                        <a:srgbClr val="15213F"/>
                      </a:solidFill>
                      <a:latin typeface="Roboto Slab" pitchFamily="34" charset="0"/>
                      <a:ea typeface="Roboto Slab" pitchFamily="34" charset="-122"/>
                      <a:cs typeface="Roboto Slab" pitchFamily="34" charset="-120"/>
                    </a:rPr>
                    <a:t>Spotify / Apple Music</a:t>
                  </a:r>
                  <a:endParaRPr lang="en-US" sz="1200" dirty="0"/>
                </a:p>
              </p:txBody>
            </p:sp>
          </p:grp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E904308-83C9-5739-656D-171397541505}"/>
              </a:ext>
            </a:extLst>
          </p:cNvPr>
          <p:cNvGrpSpPr/>
          <p:nvPr/>
        </p:nvGrpSpPr>
        <p:grpSpPr>
          <a:xfrm>
            <a:off x="6702921" y="2902372"/>
            <a:ext cx="1944960" cy="1036290"/>
            <a:chOff x="6702921" y="2902372"/>
            <a:chExt cx="1944960" cy="103629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931F420-89EA-EDFD-3EC2-9F2FC5303911}"/>
                </a:ext>
              </a:extLst>
            </p:cNvPr>
            <p:cNvGrpSpPr/>
            <p:nvPr/>
          </p:nvGrpSpPr>
          <p:grpSpPr>
            <a:xfrm>
              <a:off x="6702921" y="2902372"/>
              <a:ext cx="1944960" cy="1036290"/>
              <a:chOff x="6702921" y="2902372"/>
              <a:chExt cx="1944960" cy="1036290"/>
            </a:xfrm>
          </p:grpSpPr>
          <p:sp>
            <p:nvSpPr>
              <p:cNvPr id="18" name="Shape 13"/>
              <p:cNvSpPr/>
              <p:nvPr/>
            </p:nvSpPr>
            <p:spPr>
              <a:xfrm>
                <a:off x="6702921" y="2902372"/>
                <a:ext cx="1944960" cy="1036290"/>
              </a:xfrm>
              <a:prstGeom prst="roundRect">
                <a:avLst>
                  <a:gd name="adj" fmla="val 1796"/>
                </a:avLst>
              </a:prstGeom>
              <a:solidFill>
                <a:srgbClr val="FBFCFE"/>
              </a:solidFill>
              <a:ln w="14288">
                <a:solidFill>
                  <a:srgbClr val="CFD2D8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 15"/>
              <p:cNvSpPr/>
              <p:nvPr/>
            </p:nvSpPr>
            <p:spPr>
              <a:xfrm>
                <a:off x="6841182" y="3412703"/>
                <a:ext cx="1668438" cy="3876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Movie Recommendations</a:t>
                </a:r>
                <a:endParaRPr lang="en-US" sz="1200" dirty="0"/>
              </a:p>
            </p:txBody>
          </p:sp>
        </p:grpSp>
        <p:sp>
          <p:nvSpPr>
            <p:cNvPr id="19" name="Shape 14"/>
            <p:cNvSpPr/>
            <p:nvPr/>
          </p:nvSpPr>
          <p:spPr>
            <a:xfrm>
              <a:off x="6717209" y="2916659"/>
              <a:ext cx="1916385" cy="372070"/>
            </a:xfrm>
            <a:prstGeom prst="roundRect">
              <a:avLst>
                <a:gd name="adj" fmla="val 39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20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82346" y="3009602"/>
              <a:ext cx="186035" cy="18603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96119" y="929878"/>
            <a:ext cx="8151763" cy="3773239"/>
          </a:xfrm>
          <a:prstGeom prst="roundRect">
            <a:avLst>
              <a:gd name="adj" fmla="val 44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934641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577" y="999679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71838" y="999679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Type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14480" y="999679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Supervised: Class or Reg?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0881" y="1276796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577" y="1341834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Predicting tomorrow's temperature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71838" y="1341834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14480" y="1341834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 (predicting a number)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0881" y="1618952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2577" y="1683990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Grouping customers by shopping habits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71838" y="1683990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(clustering)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14480" y="1683990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0881" y="1961108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577" y="2026146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AI learning to play chess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71838" y="2026146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14480" y="2026146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0881" y="2303264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2577" y="2368302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if an email is spam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71838" y="2368302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14480" y="2368302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 (spam or not)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0881" y="2645420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2577" y="2710458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Predicting house prices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71838" y="2710458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14480" y="2710458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 (predicting a number)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0881" y="2987576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12577" y="3052614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News grouping articles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71838" y="3052614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(clustering)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14480" y="3052614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0881" y="3329732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12577" y="3394770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Recognizing if a photo shows a cat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71838" y="3394770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14480" y="3394770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 (cat or not)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0881" y="3671888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12577" y="3736925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robot learning to walk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71838" y="3736925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14480" y="3736925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0881" y="4014043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12577" y="4079081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Predicting how many points a team will score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71838" y="4079081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14480" y="4079081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 (predicting a number)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0881" y="4356199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12577" y="4421237"/>
            <a:ext cx="303125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Spotify grouping similar songs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871838" y="4421237"/>
            <a:ext cx="22146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(clustering)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14480" y="4421237"/>
            <a:ext cx="22170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</a:t>
            </a:r>
            <a:endParaRPr lang="en-US" sz="1050" dirty="0"/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88498E89-3013-48BF-EC0E-31F17B5D06A6}"/>
              </a:ext>
            </a:extLst>
          </p:cNvPr>
          <p:cNvSpPr/>
          <p:nvPr/>
        </p:nvSpPr>
        <p:spPr>
          <a:xfrm>
            <a:off x="496119" y="379288"/>
            <a:ext cx="4859015" cy="273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🎮</a:t>
            </a:r>
            <a:r>
              <a:rPr lang="en-US" sz="165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1 : Supervised or Unsupervised?</a:t>
            </a:r>
            <a:endParaRPr lang="en-US" sz="165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DCE763-C727-4764-B7E3-6AE0160A36DB}"/>
              </a:ext>
            </a:extLst>
          </p:cNvPr>
          <p:cNvSpPr txBox="1"/>
          <p:nvPr/>
        </p:nvSpPr>
        <p:spPr>
          <a:xfrm>
            <a:off x="500881" y="619661"/>
            <a:ext cx="8151762" cy="270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scenario, identify: Which type of ML? (Supervised, Unsupervised, or Reinforcement). If Supervised: Is it Classification or Regression?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4923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Reinforcement Learning - Learning from Rewards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610371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2997994"/>
            <a:ext cx="4722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 Learning is when a machine learns by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trial and error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receiving rewards for good actions and penalties for bad ones.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9811"/>
            <a:ext cx="541786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Reinforcement Learning - Key Terms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4538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3308857-CB00-28D6-9559-1A649953C81F}"/>
              </a:ext>
            </a:extLst>
          </p:cNvPr>
          <p:cNvGrpSpPr/>
          <p:nvPr/>
        </p:nvGrpSpPr>
        <p:grpSpPr>
          <a:xfrm>
            <a:off x="496119" y="2083371"/>
            <a:ext cx="1944960" cy="913135"/>
            <a:chOff x="496119" y="2083371"/>
            <a:chExt cx="1944960" cy="913135"/>
          </a:xfrm>
        </p:grpSpPr>
        <p:sp>
          <p:nvSpPr>
            <p:cNvPr id="4" name="Shape 2"/>
            <p:cNvSpPr/>
            <p:nvPr/>
          </p:nvSpPr>
          <p:spPr>
            <a:xfrm>
              <a:off x="496119" y="2083371"/>
              <a:ext cx="1944960" cy="913135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207344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Agent</a:t>
              </a:r>
              <a:endParaRPr lang="en-US" sz="120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620092" y="2475607"/>
            <a:ext cx="16970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thing that's learning</a:t>
            </a:r>
            <a:endParaRPr lang="en-US" sz="95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6300CD-5FAB-82CB-56F5-E3AA33E8B423}"/>
              </a:ext>
            </a:extLst>
          </p:cNvPr>
          <p:cNvGrpSpPr/>
          <p:nvPr/>
        </p:nvGrpSpPr>
        <p:grpSpPr>
          <a:xfrm>
            <a:off x="2565053" y="2083371"/>
            <a:ext cx="1944960" cy="913135"/>
            <a:chOff x="2565053" y="2083371"/>
            <a:chExt cx="1944960" cy="913135"/>
          </a:xfrm>
        </p:grpSpPr>
        <p:sp>
          <p:nvSpPr>
            <p:cNvPr id="7" name="Shape 5"/>
            <p:cNvSpPr/>
            <p:nvPr/>
          </p:nvSpPr>
          <p:spPr>
            <a:xfrm>
              <a:off x="2565053" y="2083371"/>
              <a:ext cx="1944960" cy="913135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6"/>
            <p:cNvSpPr/>
            <p:nvPr/>
          </p:nvSpPr>
          <p:spPr>
            <a:xfrm>
              <a:off x="2689027" y="2207344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Environment</a:t>
              </a:r>
              <a:endParaRPr lang="en-US" sz="120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2689027" y="2475607"/>
            <a:ext cx="169701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world the agent interacts with</a:t>
            </a:r>
            <a:endParaRPr lang="en-US" sz="9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932489-132D-9201-91A5-469258DFDD70}"/>
              </a:ext>
            </a:extLst>
          </p:cNvPr>
          <p:cNvGrpSpPr/>
          <p:nvPr/>
        </p:nvGrpSpPr>
        <p:grpSpPr>
          <a:xfrm>
            <a:off x="4633987" y="2083371"/>
            <a:ext cx="1944960" cy="913135"/>
            <a:chOff x="4633987" y="2083371"/>
            <a:chExt cx="1944960" cy="913135"/>
          </a:xfrm>
        </p:grpSpPr>
        <p:sp>
          <p:nvSpPr>
            <p:cNvPr id="10" name="Shape 8"/>
            <p:cNvSpPr/>
            <p:nvPr/>
          </p:nvSpPr>
          <p:spPr>
            <a:xfrm>
              <a:off x="4633987" y="2083371"/>
              <a:ext cx="1944960" cy="913135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4757961" y="2207344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State</a:t>
              </a:r>
              <a:endParaRPr lang="en-US" sz="12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4757961" y="2475607"/>
            <a:ext cx="169701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current situation or observation</a:t>
            </a:r>
            <a:endParaRPr lang="en-US" sz="95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0B9223-8C0F-01A8-0851-CD342D1F7B75}"/>
              </a:ext>
            </a:extLst>
          </p:cNvPr>
          <p:cNvGrpSpPr/>
          <p:nvPr/>
        </p:nvGrpSpPr>
        <p:grpSpPr>
          <a:xfrm>
            <a:off x="6702921" y="2083371"/>
            <a:ext cx="1944960" cy="913135"/>
            <a:chOff x="6702921" y="2083371"/>
            <a:chExt cx="1944960" cy="913135"/>
          </a:xfrm>
        </p:grpSpPr>
        <p:sp>
          <p:nvSpPr>
            <p:cNvPr id="13" name="Shape 11"/>
            <p:cNvSpPr/>
            <p:nvPr/>
          </p:nvSpPr>
          <p:spPr>
            <a:xfrm>
              <a:off x="6702921" y="2083371"/>
              <a:ext cx="1944960" cy="913135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6826895" y="2207344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Action</a:t>
              </a:r>
              <a:endParaRPr lang="en-US" sz="12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6826895" y="2475607"/>
            <a:ext cx="16970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Something the agent can do</a:t>
            </a:r>
            <a:endParaRPr lang="en-US" sz="9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9083C7E-2804-98BE-6F16-10E4A71B085A}"/>
              </a:ext>
            </a:extLst>
          </p:cNvPr>
          <p:cNvGrpSpPr/>
          <p:nvPr/>
        </p:nvGrpSpPr>
        <p:grpSpPr>
          <a:xfrm>
            <a:off x="496119" y="3120479"/>
            <a:ext cx="1944960" cy="913135"/>
            <a:chOff x="496119" y="3120479"/>
            <a:chExt cx="1944960" cy="913135"/>
          </a:xfrm>
        </p:grpSpPr>
        <p:sp>
          <p:nvSpPr>
            <p:cNvPr id="16" name="Shape 14"/>
            <p:cNvSpPr/>
            <p:nvPr/>
          </p:nvSpPr>
          <p:spPr>
            <a:xfrm>
              <a:off x="496119" y="3120479"/>
              <a:ext cx="1944960" cy="913135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5"/>
            <p:cNvSpPr/>
            <p:nvPr/>
          </p:nvSpPr>
          <p:spPr>
            <a:xfrm>
              <a:off x="620092" y="3244453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Reward</a:t>
              </a:r>
              <a:endParaRPr lang="en-US" sz="120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620092" y="3512716"/>
            <a:ext cx="169701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Positive feedback for good actions</a:t>
            </a:r>
            <a:endParaRPr lang="en-US" sz="95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BAC49C2-4B97-E98C-E74D-D785D1AB896A}"/>
              </a:ext>
            </a:extLst>
          </p:cNvPr>
          <p:cNvGrpSpPr/>
          <p:nvPr/>
        </p:nvGrpSpPr>
        <p:grpSpPr>
          <a:xfrm>
            <a:off x="2565053" y="3120479"/>
            <a:ext cx="1944960" cy="913135"/>
            <a:chOff x="2565053" y="3120479"/>
            <a:chExt cx="1944960" cy="913135"/>
          </a:xfrm>
        </p:grpSpPr>
        <p:sp>
          <p:nvSpPr>
            <p:cNvPr id="19" name="Shape 17"/>
            <p:cNvSpPr/>
            <p:nvPr/>
          </p:nvSpPr>
          <p:spPr>
            <a:xfrm>
              <a:off x="2565053" y="3120479"/>
              <a:ext cx="1944960" cy="913135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 18"/>
            <p:cNvSpPr/>
            <p:nvPr/>
          </p:nvSpPr>
          <p:spPr>
            <a:xfrm>
              <a:off x="2689027" y="3244453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Penalty</a:t>
              </a:r>
              <a:endParaRPr lang="en-US" sz="12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2689027" y="3512716"/>
            <a:ext cx="169701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Negative feedback for bad actions</a:t>
            </a:r>
            <a:endParaRPr lang="en-US" sz="95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C393C2-325E-9094-DE60-AFE480DCC14E}"/>
              </a:ext>
            </a:extLst>
          </p:cNvPr>
          <p:cNvGrpSpPr/>
          <p:nvPr/>
        </p:nvGrpSpPr>
        <p:grpSpPr>
          <a:xfrm>
            <a:off x="4633987" y="3120479"/>
            <a:ext cx="1944960" cy="913135"/>
            <a:chOff x="4633987" y="3120479"/>
            <a:chExt cx="1944960" cy="913135"/>
          </a:xfrm>
        </p:grpSpPr>
        <p:sp>
          <p:nvSpPr>
            <p:cNvPr id="22" name="Shape 20"/>
            <p:cNvSpPr/>
            <p:nvPr/>
          </p:nvSpPr>
          <p:spPr>
            <a:xfrm>
              <a:off x="4633987" y="3120479"/>
              <a:ext cx="1944960" cy="913135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21"/>
            <p:cNvSpPr/>
            <p:nvPr/>
          </p:nvSpPr>
          <p:spPr>
            <a:xfrm>
              <a:off x="4757961" y="3244453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Policy</a:t>
              </a:r>
              <a:endParaRPr lang="en-US" sz="120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4757961" y="3512716"/>
            <a:ext cx="169701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agent's strategy - what action to take in each state</a:t>
            </a:r>
            <a:endParaRPr lang="en-US" sz="95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CA87D26-13B5-CDB8-8960-3DD094F9FF9B}"/>
              </a:ext>
            </a:extLst>
          </p:cNvPr>
          <p:cNvGrpSpPr/>
          <p:nvPr/>
        </p:nvGrpSpPr>
        <p:grpSpPr>
          <a:xfrm>
            <a:off x="6702921" y="3120479"/>
            <a:ext cx="1944960" cy="913135"/>
            <a:chOff x="6702921" y="3120479"/>
            <a:chExt cx="1944960" cy="913135"/>
          </a:xfrm>
        </p:grpSpPr>
        <p:sp>
          <p:nvSpPr>
            <p:cNvPr id="25" name="Shape 23"/>
            <p:cNvSpPr/>
            <p:nvPr/>
          </p:nvSpPr>
          <p:spPr>
            <a:xfrm>
              <a:off x="6702921" y="3120479"/>
              <a:ext cx="1944960" cy="913135"/>
            </a:xfrm>
            <a:prstGeom prst="roundRect">
              <a:avLst>
                <a:gd name="adj" fmla="val 2038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 24"/>
            <p:cNvSpPr/>
            <p:nvPr/>
          </p:nvSpPr>
          <p:spPr>
            <a:xfrm>
              <a:off x="6826895" y="3244453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A/B Testing</a:t>
              </a:r>
              <a:endParaRPr lang="en-US" sz="120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6826895" y="3512716"/>
            <a:ext cx="169701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different strategies to see which gets better rewards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8" grpId="0" animBg="1"/>
      <p:bldP spid="21" grpId="0" animBg="1"/>
      <p:bldP spid="24" grpId="0" build="allAtOnce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5200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It Works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05" y="1323305"/>
            <a:ext cx="7792715" cy="30549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2103" y="1473129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 Observes State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5133" y="1473129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Choose Action (Policy)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5133" y="3769871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Environment Returns Reward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2103" y="3769871"/>
            <a:ext cx="1426548" cy="45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Agent Updates Policy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2897"/>
            <a:ext cx="178638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396305"/>
            <a:ext cx="475014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Real-World Examples You Know</a:t>
            </a:r>
            <a:endParaRPr lang="en-US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1244E1E-4A6D-A83C-0C0B-C95F7F455364}"/>
              </a:ext>
            </a:extLst>
          </p:cNvPr>
          <p:cNvGrpSpPr/>
          <p:nvPr/>
        </p:nvGrpSpPr>
        <p:grpSpPr>
          <a:xfrm>
            <a:off x="481831" y="1969889"/>
            <a:ext cx="1959248" cy="470371"/>
            <a:chOff x="481831" y="1969889"/>
            <a:chExt cx="1959248" cy="470371"/>
          </a:xfrm>
        </p:grpSpPr>
        <p:sp>
          <p:nvSpPr>
            <p:cNvPr id="4" name="Shape 2"/>
            <p:cNvSpPr/>
            <p:nvPr/>
          </p:nvSpPr>
          <p:spPr>
            <a:xfrm>
              <a:off x="496119" y="1969889"/>
              <a:ext cx="1944960" cy="470371"/>
            </a:xfrm>
            <a:prstGeom prst="roundRect">
              <a:avLst>
                <a:gd name="adj" fmla="val 1458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831" y="1969889"/>
              <a:ext cx="57150" cy="470371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677242" y="2108150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AlphaGo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B0768B-89AA-8D26-C99C-AF1207C7D2F8}"/>
              </a:ext>
            </a:extLst>
          </p:cNvPr>
          <p:cNvGrpSpPr/>
          <p:nvPr/>
        </p:nvGrpSpPr>
        <p:grpSpPr>
          <a:xfrm>
            <a:off x="2550765" y="1969889"/>
            <a:ext cx="1959248" cy="470371"/>
            <a:chOff x="2550765" y="1969889"/>
            <a:chExt cx="1959248" cy="470371"/>
          </a:xfrm>
        </p:grpSpPr>
        <p:sp>
          <p:nvSpPr>
            <p:cNvPr id="7" name="Shape 4"/>
            <p:cNvSpPr/>
            <p:nvPr/>
          </p:nvSpPr>
          <p:spPr>
            <a:xfrm>
              <a:off x="2565053" y="1969889"/>
              <a:ext cx="1944960" cy="470371"/>
            </a:xfrm>
            <a:prstGeom prst="roundRect">
              <a:avLst>
                <a:gd name="adj" fmla="val 1458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50765" y="1969889"/>
              <a:ext cx="57150" cy="470371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2746177" y="2108150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Self-Driving Cars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380996E-661F-FD4D-5B86-0242C459BE7F}"/>
              </a:ext>
            </a:extLst>
          </p:cNvPr>
          <p:cNvGrpSpPr/>
          <p:nvPr/>
        </p:nvGrpSpPr>
        <p:grpSpPr>
          <a:xfrm>
            <a:off x="4619699" y="1969889"/>
            <a:ext cx="1959248" cy="470371"/>
            <a:chOff x="4619699" y="1969889"/>
            <a:chExt cx="1959248" cy="470371"/>
          </a:xfrm>
        </p:grpSpPr>
        <p:sp>
          <p:nvSpPr>
            <p:cNvPr id="10" name="Shape 6"/>
            <p:cNvSpPr/>
            <p:nvPr/>
          </p:nvSpPr>
          <p:spPr>
            <a:xfrm>
              <a:off x="4633987" y="1969889"/>
              <a:ext cx="1944960" cy="470371"/>
            </a:xfrm>
            <a:prstGeom prst="roundRect">
              <a:avLst>
                <a:gd name="adj" fmla="val 1458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9699" y="1969889"/>
              <a:ext cx="57150" cy="470371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4815111" y="2108150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Game AI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BD6A78-E8C3-06AB-7D81-A5366E1B19F3}"/>
              </a:ext>
            </a:extLst>
          </p:cNvPr>
          <p:cNvGrpSpPr/>
          <p:nvPr/>
        </p:nvGrpSpPr>
        <p:grpSpPr>
          <a:xfrm>
            <a:off x="6688634" y="1969889"/>
            <a:ext cx="1959247" cy="470371"/>
            <a:chOff x="6688634" y="1969889"/>
            <a:chExt cx="1959247" cy="470371"/>
          </a:xfrm>
        </p:grpSpPr>
        <p:sp>
          <p:nvSpPr>
            <p:cNvPr id="13" name="Shape 8"/>
            <p:cNvSpPr/>
            <p:nvPr/>
          </p:nvSpPr>
          <p:spPr>
            <a:xfrm>
              <a:off x="6702921" y="1969889"/>
              <a:ext cx="1944960" cy="470371"/>
            </a:xfrm>
            <a:prstGeom prst="roundRect">
              <a:avLst>
                <a:gd name="adj" fmla="val 1458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4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88634" y="1969889"/>
              <a:ext cx="57150" cy="470371"/>
            </a:xfrm>
            <a:prstGeom prst="rect">
              <a:avLst/>
            </a:prstGeom>
          </p:spPr>
        </p:pic>
        <p:sp>
          <p:nvSpPr>
            <p:cNvPr id="15" name="Text 9"/>
            <p:cNvSpPr/>
            <p:nvPr/>
          </p:nvSpPr>
          <p:spPr>
            <a:xfrm>
              <a:off x="6884045" y="2108150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Robot Navigation</a:t>
              </a:r>
              <a:endParaRPr lang="en-US" sz="1200" dirty="0"/>
            </a:p>
          </p:txBody>
        </p:sp>
      </p:grpSp>
      <p:sp>
        <p:nvSpPr>
          <p:cNvPr id="16" name="Text 10"/>
          <p:cNvSpPr/>
          <p:nvPr/>
        </p:nvSpPr>
        <p:spPr>
          <a:xfrm>
            <a:off x="496119" y="2579787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CBC873-94D7-F525-ED99-D2DCAC5029C0}"/>
              </a:ext>
            </a:extLst>
          </p:cNvPr>
          <p:cNvGrpSpPr/>
          <p:nvPr/>
        </p:nvGrpSpPr>
        <p:grpSpPr>
          <a:xfrm>
            <a:off x="496119" y="2917775"/>
            <a:ext cx="8151763" cy="1072828"/>
            <a:chOff x="496119" y="2917775"/>
            <a:chExt cx="8151763" cy="1072828"/>
          </a:xfrm>
        </p:grpSpPr>
        <p:sp>
          <p:nvSpPr>
            <p:cNvPr id="17" name="Shape 11"/>
            <p:cNvSpPr/>
            <p:nvPr/>
          </p:nvSpPr>
          <p:spPr>
            <a:xfrm>
              <a:off x="496119" y="2917775"/>
              <a:ext cx="8151763" cy="1072828"/>
            </a:xfrm>
            <a:prstGeom prst="roundRect">
              <a:avLst>
                <a:gd name="adj" fmla="val 1734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8" name="Image 4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092" y="3113261"/>
              <a:ext cx="193774" cy="155004"/>
            </a:xfrm>
            <a:prstGeom prst="rect">
              <a:avLst/>
            </a:prstGeom>
          </p:spPr>
        </p:pic>
        <p:sp>
          <p:nvSpPr>
            <p:cNvPr id="19" name="Text 12"/>
            <p:cNvSpPr/>
            <p:nvPr/>
          </p:nvSpPr>
          <p:spPr>
            <a:xfrm>
              <a:off x="937840" y="3072705"/>
              <a:ext cx="7586067" cy="7442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Reinforcement Learning is like playing a video game: you start not knowing what to do, try things, and get rewards for doing well or penalties for mistakes. Over time - across thousands of attempts - you learn what actions lead to the most points.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89446"/>
            <a:ext cx="4722763" cy="78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Imagine you're learning to bake cookies </a:t>
            </a:r>
            <a:r>
              <a:rPr lang="en-US" sz="2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🍪</a:t>
            </a:r>
            <a:endParaRPr lang="en-US" sz="2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C9F212-2A7E-FA19-3B85-833EA29FA89E}"/>
              </a:ext>
            </a:extLst>
          </p:cNvPr>
          <p:cNvGrpSpPr/>
          <p:nvPr/>
        </p:nvGrpSpPr>
        <p:grpSpPr>
          <a:xfrm>
            <a:off x="3925119" y="1664866"/>
            <a:ext cx="4722762" cy="1012403"/>
            <a:chOff x="3925119" y="1664866"/>
            <a:chExt cx="4722762" cy="1012403"/>
          </a:xfrm>
        </p:grpSpPr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25119" y="1664866"/>
              <a:ext cx="620167" cy="1012403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4669259" y="1788840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Supervised</a:t>
              </a:r>
              <a:endParaRPr lang="en-US" sz="1200" dirty="0"/>
            </a:p>
          </p:txBody>
        </p:sp>
        <p:sp>
          <p:nvSpPr>
            <p:cNvPr id="6" name="Text 2"/>
            <p:cNvSpPr/>
            <p:nvPr/>
          </p:nvSpPr>
          <p:spPr>
            <a:xfrm>
              <a:off x="4669259" y="2057102"/>
              <a:ext cx="3978622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Given a recipe with exact measurements, you bake perfect cookies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AE2587-DF09-121C-71DC-2DE01FEC83F8}"/>
              </a:ext>
            </a:extLst>
          </p:cNvPr>
          <p:cNvGrpSpPr/>
          <p:nvPr/>
        </p:nvGrpSpPr>
        <p:grpSpPr>
          <a:xfrm>
            <a:off x="3925119" y="2677269"/>
            <a:ext cx="4722762" cy="1012403"/>
            <a:chOff x="3925119" y="2677269"/>
            <a:chExt cx="4722762" cy="1012403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25119" y="2677269"/>
              <a:ext cx="620167" cy="1012403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4669259" y="2801243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Unsupervised</a:t>
              </a:r>
              <a:endParaRPr lang="en-US" sz="1200" dirty="0"/>
            </a:p>
          </p:txBody>
        </p:sp>
        <p:sp>
          <p:nvSpPr>
            <p:cNvPr id="9" name="Text 4"/>
            <p:cNvSpPr/>
            <p:nvPr/>
          </p:nvSpPr>
          <p:spPr>
            <a:xfrm>
              <a:off x="4669259" y="3069506"/>
              <a:ext cx="3978622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 notice patterns across many cookies - round ones are sweet, flat ones crispy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DBD03BB-25C3-0130-6ACA-AD51CE9D294F}"/>
              </a:ext>
            </a:extLst>
          </p:cNvPr>
          <p:cNvGrpSpPr/>
          <p:nvPr/>
        </p:nvGrpSpPr>
        <p:grpSpPr>
          <a:xfrm>
            <a:off x="3925119" y="3689672"/>
            <a:ext cx="4722762" cy="764307"/>
            <a:chOff x="3925119" y="3689672"/>
            <a:chExt cx="4722762" cy="764307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25119" y="3689672"/>
              <a:ext cx="620167" cy="764307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4669259" y="3813646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Reinforcement</a:t>
              </a:r>
              <a:endParaRPr lang="en-US" sz="1200" dirty="0"/>
            </a:p>
          </p:txBody>
        </p:sp>
        <p:sp>
          <p:nvSpPr>
            <p:cNvPr id="12" name="Text 6"/>
            <p:cNvSpPr/>
            <p:nvPr/>
          </p:nvSpPr>
          <p:spPr>
            <a:xfrm>
              <a:off x="4669259" y="4081909"/>
              <a:ext cx="397862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You try different recipes and stick with what tastes good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003" y="324260"/>
            <a:ext cx="3138785" cy="300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🎮</a:t>
            </a:r>
            <a:r>
              <a:rPr lang="en-US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Mini Activity 2 : Identify the Learning Type</a:t>
            </a:r>
            <a:r>
              <a:rPr lang="en-US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96119" y="932706"/>
            <a:ext cx="8151763" cy="3476625"/>
          </a:xfrm>
          <a:prstGeom prst="roundRect">
            <a:avLst>
              <a:gd name="adj" fmla="val 40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937468"/>
            <a:ext cx="8142238" cy="255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047" y="984052"/>
            <a:ext cx="21862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3474" y="984052"/>
            <a:ext cx="225184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46115" y="984052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Type(s)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1638" y="984052"/>
            <a:ext cx="306846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0881" y="1193453"/>
            <a:ext cx="8142238" cy="4188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FDA9B02-8D9E-01D6-7DE4-B45CE3454961}"/>
              </a:ext>
            </a:extLst>
          </p:cNvPr>
          <p:cNvGrpSpPr/>
          <p:nvPr/>
        </p:nvGrpSpPr>
        <p:grpSpPr>
          <a:xfrm>
            <a:off x="594047" y="1240036"/>
            <a:ext cx="2661271" cy="162818"/>
            <a:chOff x="594047" y="1240036"/>
            <a:chExt cx="2661271" cy="162818"/>
          </a:xfrm>
        </p:grpSpPr>
        <p:sp>
          <p:nvSpPr>
            <p:cNvPr id="10" name="Text 8"/>
            <p:cNvSpPr/>
            <p:nvPr/>
          </p:nvSpPr>
          <p:spPr>
            <a:xfrm>
              <a:off x="594047" y="1240036"/>
              <a:ext cx="218629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1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003474" y="1240036"/>
              <a:ext cx="225184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Netflix recommendations</a:t>
              </a:r>
              <a:endParaRPr lang="en-US" sz="90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3446115" y="1240036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+ Supervised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1638" y="1240036"/>
            <a:ext cx="306846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patterns (unsupervised) + learns from ratings (supervised)</a:t>
            </a:r>
            <a:endParaRPr lang="en-US" sz="9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9E73BD0-0BEE-3A20-E2D9-727194BA3A91}"/>
              </a:ext>
            </a:extLst>
          </p:cNvPr>
          <p:cNvGrpSpPr/>
          <p:nvPr/>
        </p:nvGrpSpPr>
        <p:grpSpPr>
          <a:xfrm>
            <a:off x="500881" y="1612255"/>
            <a:ext cx="8142238" cy="418802"/>
            <a:chOff x="500881" y="1612255"/>
            <a:chExt cx="8142238" cy="418802"/>
          </a:xfrm>
        </p:grpSpPr>
        <p:sp>
          <p:nvSpPr>
            <p:cNvPr id="14" name="Shape 12"/>
            <p:cNvSpPr/>
            <p:nvPr/>
          </p:nvSpPr>
          <p:spPr>
            <a:xfrm>
              <a:off x="500881" y="1612255"/>
              <a:ext cx="8142238" cy="418802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/>
            <p:cNvSpPr/>
            <p:nvPr/>
          </p:nvSpPr>
          <p:spPr>
            <a:xfrm>
              <a:off x="594047" y="1658838"/>
              <a:ext cx="218629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2</a:t>
              </a:r>
              <a:endParaRPr lang="en-US" sz="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003474" y="1658838"/>
              <a:ext cx="225184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Self-driving car staying in lane</a:t>
              </a:r>
              <a:endParaRPr lang="en-US" sz="9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3446115" y="1658838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1638" y="1658838"/>
            <a:ext cx="306846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Learns from rewards (staying safe) and penalties (going off road); observes state (lane position)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0881" y="2031057"/>
            <a:ext cx="8142238" cy="2559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5C50925-743D-77E2-4D10-666BACEBE16B}"/>
              </a:ext>
            </a:extLst>
          </p:cNvPr>
          <p:cNvGrpSpPr/>
          <p:nvPr/>
        </p:nvGrpSpPr>
        <p:grpSpPr>
          <a:xfrm>
            <a:off x="594047" y="2077641"/>
            <a:ext cx="2661271" cy="162818"/>
            <a:chOff x="594047" y="2077641"/>
            <a:chExt cx="2661271" cy="162818"/>
          </a:xfrm>
        </p:grpSpPr>
        <p:sp>
          <p:nvSpPr>
            <p:cNvPr id="20" name="Text 18"/>
            <p:cNvSpPr/>
            <p:nvPr/>
          </p:nvSpPr>
          <p:spPr>
            <a:xfrm>
              <a:off x="594047" y="2077641"/>
              <a:ext cx="218629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</a:t>
              </a:r>
              <a:endParaRPr lang="en-US" sz="9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003474" y="2077641"/>
              <a:ext cx="225184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Google Photos grouping</a:t>
              </a:r>
              <a:endParaRPr lang="en-US" sz="900" dirty="0"/>
            </a:p>
          </p:txBody>
        </p:sp>
      </p:grpSp>
      <p:sp>
        <p:nvSpPr>
          <p:cNvPr id="22" name="Text 20"/>
          <p:cNvSpPr/>
          <p:nvPr/>
        </p:nvSpPr>
        <p:spPr>
          <a:xfrm>
            <a:off x="3446115" y="2077641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(clustering)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1638" y="2077641"/>
            <a:ext cx="306846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patterns without labels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0881" y="2287042"/>
            <a:ext cx="8142238" cy="255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507B794-0BB3-C539-18A6-E8C3996D3E4D}"/>
              </a:ext>
            </a:extLst>
          </p:cNvPr>
          <p:cNvGrpSpPr/>
          <p:nvPr/>
        </p:nvGrpSpPr>
        <p:grpSpPr>
          <a:xfrm>
            <a:off x="594047" y="2333625"/>
            <a:ext cx="2661271" cy="162818"/>
            <a:chOff x="594047" y="2333625"/>
            <a:chExt cx="2661271" cy="162818"/>
          </a:xfrm>
        </p:grpSpPr>
        <p:sp>
          <p:nvSpPr>
            <p:cNvPr id="25" name="Text 23"/>
            <p:cNvSpPr/>
            <p:nvPr/>
          </p:nvSpPr>
          <p:spPr>
            <a:xfrm>
              <a:off x="594047" y="2333625"/>
              <a:ext cx="218629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4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003474" y="2333625"/>
              <a:ext cx="225184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Face unlock</a:t>
              </a:r>
              <a:endParaRPr lang="en-US" sz="90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3446115" y="2333625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(classification)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1638" y="2333625"/>
            <a:ext cx="306846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Trained on labeled photos of your face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0881" y="2543026"/>
            <a:ext cx="8142238" cy="4188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0D1C1AD-2585-FF76-EFF7-30EF98A4E808}"/>
              </a:ext>
            </a:extLst>
          </p:cNvPr>
          <p:cNvGrpSpPr/>
          <p:nvPr/>
        </p:nvGrpSpPr>
        <p:grpSpPr>
          <a:xfrm>
            <a:off x="594047" y="2589609"/>
            <a:ext cx="2661271" cy="162818"/>
            <a:chOff x="594047" y="2589609"/>
            <a:chExt cx="2661271" cy="162818"/>
          </a:xfrm>
        </p:grpSpPr>
        <p:sp>
          <p:nvSpPr>
            <p:cNvPr id="30" name="Text 28"/>
            <p:cNvSpPr/>
            <p:nvPr/>
          </p:nvSpPr>
          <p:spPr>
            <a:xfrm>
              <a:off x="594047" y="2589609"/>
              <a:ext cx="218629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5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1003474" y="2589609"/>
              <a:ext cx="225184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AlphaGo</a:t>
              </a:r>
              <a:endParaRPr lang="en-US" sz="90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3446115" y="2589609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1638" y="2589609"/>
            <a:ext cx="306846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Learned by playing millions of games and getting rewards; state = board positions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0881" y="2961829"/>
            <a:ext cx="8142238" cy="255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EECAC1E-E758-5E4A-486D-5FA7CDE8B6FB}"/>
              </a:ext>
            </a:extLst>
          </p:cNvPr>
          <p:cNvGrpSpPr/>
          <p:nvPr/>
        </p:nvGrpSpPr>
        <p:grpSpPr>
          <a:xfrm>
            <a:off x="594047" y="3008412"/>
            <a:ext cx="2661271" cy="162818"/>
            <a:chOff x="594047" y="3008412"/>
            <a:chExt cx="2661271" cy="162818"/>
          </a:xfrm>
        </p:grpSpPr>
        <p:sp>
          <p:nvSpPr>
            <p:cNvPr id="35" name="Text 33"/>
            <p:cNvSpPr/>
            <p:nvPr/>
          </p:nvSpPr>
          <p:spPr>
            <a:xfrm>
              <a:off x="594047" y="3008412"/>
              <a:ext cx="218629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6</a:t>
              </a:r>
              <a:endParaRPr lang="en-US" sz="9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1003474" y="3008412"/>
              <a:ext cx="225184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Amazon suggestions</a:t>
              </a:r>
              <a:endParaRPr lang="en-US" sz="900" dirty="0"/>
            </a:p>
          </p:txBody>
        </p:sp>
      </p:grpSp>
      <p:sp>
        <p:nvSpPr>
          <p:cNvPr id="37" name="Text 35"/>
          <p:cNvSpPr/>
          <p:nvPr/>
        </p:nvSpPr>
        <p:spPr>
          <a:xfrm>
            <a:off x="3446115" y="3008412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(clustering)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1638" y="3008412"/>
            <a:ext cx="306846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patterns in purchase data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0881" y="3217813"/>
            <a:ext cx="8142238" cy="2559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D32C8A4-B43D-26FB-A772-829F423E8184}"/>
              </a:ext>
            </a:extLst>
          </p:cNvPr>
          <p:cNvGrpSpPr/>
          <p:nvPr/>
        </p:nvGrpSpPr>
        <p:grpSpPr>
          <a:xfrm>
            <a:off x="594047" y="3264396"/>
            <a:ext cx="2661271" cy="162818"/>
            <a:chOff x="594047" y="3264396"/>
            <a:chExt cx="2661271" cy="162818"/>
          </a:xfrm>
        </p:grpSpPr>
        <p:sp>
          <p:nvSpPr>
            <p:cNvPr id="40" name="Text 38"/>
            <p:cNvSpPr/>
            <p:nvPr/>
          </p:nvSpPr>
          <p:spPr>
            <a:xfrm>
              <a:off x="594047" y="3264396"/>
              <a:ext cx="218629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7</a:t>
              </a:r>
              <a:endParaRPr lang="en-US" sz="9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1003474" y="3264396"/>
              <a:ext cx="225184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Gmail spam filter</a:t>
              </a:r>
              <a:endParaRPr lang="en-US" sz="900" dirty="0"/>
            </a:p>
          </p:txBody>
        </p:sp>
      </p:grpSp>
      <p:sp>
        <p:nvSpPr>
          <p:cNvPr id="42" name="Text 40"/>
          <p:cNvSpPr/>
          <p:nvPr/>
        </p:nvSpPr>
        <p:spPr>
          <a:xfrm>
            <a:off x="3446115" y="3264396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(classification)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1638" y="3264396"/>
            <a:ext cx="306846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Trained on labeled emails (spam/not spam)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0881" y="3473797"/>
            <a:ext cx="8142238" cy="4188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9E84200-50F1-D3DE-01BB-0932323C833E}"/>
              </a:ext>
            </a:extLst>
          </p:cNvPr>
          <p:cNvGrpSpPr/>
          <p:nvPr/>
        </p:nvGrpSpPr>
        <p:grpSpPr>
          <a:xfrm>
            <a:off x="594047" y="3520380"/>
            <a:ext cx="2661271" cy="162818"/>
            <a:chOff x="594047" y="3520380"/>
            <a:chExt cx="2661271" cy="162818"/>
          </a:xfrm>
        </p:grpSpPr>
        <p:sp>
          <p:nvSpPr>
            <p:cNvPr id="45" name="Text 43"/>
            <p:cNvSpPr/>
            <p:nvPr/>
          </p:nvSpPr>
          <p:spPr>
            <a:xfrm>
              <a:off x="594047" y="3520380"/>
              <a:ext cx="218629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8</a:t>
              </a:r>
              <a:endParaRPr lang="en-US" sz="9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1003474" y="3520380"/>
              <a:ext cx="225184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Robot learning to walk</a:t>
              </a:r>
              <a:endParaRPr lang="en-US" sz="900" dirty="0"/>
            </a:p>
          </p:txBody>
        </p:sp>
      </p:grpSp>
      <p:sp>
        <p:nvSpPr>
          <p:cNvPr id="47" name="Text 45"/>
          <p:cNvSpPr/>
          <p:nvPr/>
        </p:nvSpPr>
        <p:spPr>
          <a:xfrm>
            <a:off x="3446115" y="3520380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1638" y="3520380"/>
            <a:ext cx="306846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Trial and error with rewards/penalties; state = position, balance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0881" y="3892600"/>
            <a:ext cx="8142238" cy="2559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3F4CCEB-7EAB-DB43-3E3D-5C73447309B1}"/>
              </a:ext>
            </a:extLst>
          </p:cNvPr>
          <p:cNvGrpSpPr/>
          <p:nvPr/>
        </p:nvGrpSpPr>
        <p:grpSpPr>
          <a:xfrm>
            <a:off x="594047" y="3939183"/>
            <a:ext cx="2661271" cy="162818"/>
            <a:chOff x="594047" y="3939183"/>
            <a:chExt cx="2661271" cy="162818"/>
          </a:xfrm>
        </p:grpSpPr>
        <p:sp>
          <p:nvSpPr>
            <p:cNvPr id="50" name="Text 48"/>
            <p:cNvSpPr/>
            <p:nvPr/>
          </p:nvSpPr>
          <p:spPr>
            <a:xfrm>
              <a:off x="594047" y="3939183"/>
              <a:ext cx="218629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9</a:t>
              </a:r>
              <a:endParaRPr lang="en-US" sz="9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1003474" y="3939183"/>
              <a:ext cx="225184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Discover Weekly</a:t>
              </a:r>
              <a:endParaRPr lang="en-US" sz="900" dirty="0"/>
            </a:p>
          </p:txBody>
        </p:sp>
      </p:grpSp>
      <p:sp>
        <p:nvSpPr>
          <p:cNvPr id="52" name="Text 50"/>
          <p:cNvSpPr/>
          <p:nvPr/>
        </p:nvSpPr>
        <p:spPr>
          <a:xfrm>
            <a:off x="3446115" y="3939183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+ Supervised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1638" y="3939183"/>
            <a:ext cx="306846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patterns + learns from your listening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0881" y="4148584"/>
            <a:ext cx="8142238" cy="2559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CCA1DCC-9DAC-6006-DF18-B94B12956C0D}"/>
              </a:ext>
            </a:extLst>
          </p:cNvPr>
          <p:cNvGrpSpPr/>
          <p:nvPr/>
        </p:nvGrpSpPr>
        <p:grpSpPr>
          <a:xfrm>
            <a:off x="594047" y="4195167"/>
            <a:ext cx="2661271" cy="162818"/>
            <a:chOff x="594047" y="4195167"/>
            <a:chExt cx="2661271" cy="162818"/>
          </a:xfrm>
        </p:grpSpPr>
        <p:sp>
          <p:nvSpPr>
            <p:cNvPr id="55" name="Text 53"/>
            <p:cNvSpPr/>
            <p:nvPr/>
          </p:nvSpPr>
          <p:spPr>
            <a:xfrm>
              <a:off x="594047" y="4195167"/>
              <a:ext cx="218629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10</a:t>
              </a:r>
              <a:endParaRPr lang="en-US" sz="9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03474" y="4195167"/>
              <a:ext cx="2251844" cy="16281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Fraud detection</a:t>
              </a:r>
              <a:endParaRPr lang="en-US" sz="900" dirty="0"/>
            </a:p>
          </p:txBody>
        </p:sp>
      </p:grpSp>
      <p:sp>
        <p:nvSpPr>
          <p:cNvPr id="57" name="Text 55"/>
          <p:cNvSpPr/>
          <p:nvPr/>
        </p:nvSpPr>
        <p:spPr>
          <a:xfrm>
            <a:off x="3446115" y="4195167"/>
            <a:ext cx="184472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81638" y="4195167"/>
            <a:ext cx="306846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unusual patterns that might be fraud</a:t>
            </a:r>
            <a:endParaRPr lang="en-US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EDB9DE-7788-28DF-3A1B-56868DD0E589}"/>
              </a:ext>
            </a:extLst>
          </p:cNvPr>
          <p:cNvSpPr txBox="1"/>
          <p:nvPr/>
        </p:nvSpPr>
        <p:spPr>
          <a:xfrm>
            <a:off x="500881" y="630428"/>
            <a:ext cx="6675120" cy="26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real-world application, identify which type of machine learning it uses (or might use):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7" grpId="0" animBg="1"/>
      <p:bldP spid="32" grpId="0" animBg="1"/>
      <p:bldP spid="33" grpId="0" animBg="1"/>
      <p:bldP spid="37" grpId="0" animBg="1"/>
      <p:bldP spid="38" grpId="0" animBg="1"/>
      <p:bldP spid="42" grpId="0" animBg="1"/>
      <p:bldP spid="43" grpId="0" animBg="1"/>
      <p:bldP spid="47" grpId="0" animBg="1"/>
      <p:bldP spid="48" grpId="0" animBg="1"/>
      <p:bldP spid="52" grpId="0" animBg="1"/>
      <p:bldP spid="53" grpId="0" animBg="1"/>
      <p:bldP spid="57" grpId="0" animBg="1"/>
      <p:bldP spid="5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1720"/>
            <a:ext cx="526420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Comparison - How They're Different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17290"/>
            <a:ext cx="8151763" cy="2285108"/>
          </a:xfrm>
          <a:prstGeom prst="roundRect">
            <a:avLst>
              <a:gd name="adj" fmla="val 6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42205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5004" y="1501229"/>
            <a:ext cx="7877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Aspect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65461" y="1501229"/>
            <a:ext cx="206372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81896" y="1501229"/>
            <a:ext cx="184390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78513" y="1501229"/>
            <a:ext cx="24406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0881" y="1828502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5004" y="1907679"/>
            <a:ext cx="7877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65461" y="1907679"/>
            <a:ext cx="206372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Labeled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81896" y="1907679"/>
            <a:ext cx="184390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Unlabeled data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78513" y="1907679"/>
            <a:ext cx="244063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data at start - learns from states, actions, rewards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881" y="248304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5004" y="2562225"/>
            <a:ext cx="7877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Tasks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65461" y="2562225"/>
            <a:ext cx="206372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Classification, Regression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81896" y="2562225"/>
            <a:ext cx="184390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78513" y="2562225"/>
            <a:ext cx="24406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strategies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2889498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5004" y="2968675"/>
            <a:ext cx="7877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65461" y="2968675"/>
            <a:ext cx="206372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correct label or value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81896" y="2968675"/>
            <a:ext cx="184390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hidden patterns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78513" y="2968675"/>
            <a:ext cx="24406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Maximize rewards over time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0881" y="329594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5004" y="3375124"/>
            <a:ext cx="78774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65461" y="3375124"/>
            <a:ext cx="2192461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Correct answers during 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81896" y="3375124"/>
            <a:ext cx="1843906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feedback - just patterns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78513" y="3375124"/>
            <a:ext cx="244063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Rewards and penalties after actions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50045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 AI Systems Combine Multiple Types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511177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25119" y="2849166"/>
            <a:ext cx="472276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AI systems often use multiple types of machine learning together. 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three types work together more often than they work alone.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538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Combined ML Types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388790"/>
            <a:ext cx="534612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 : Netflix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19" y="1962373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Netflix doesn't use just one type - it combines several:</a:t>
            </a:r>
            <a:endParaRPr lang="en-US" sz="12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FE52EC-C446-B541-FF48-46DC181871FF}"/>
              </a:ext>
            </a:extLst>
          </p:cNvPr>
          <p:cNvGrpSpPr/>
          <p:nvPr/>
        </p:nvGrpSpPr>
        <p:grpSpPr>
          <a:xfrm>
            <a:off x="496119" y="2349996"/>
            <a:ext cx="2037904" cy="1201638"/>
            <a:chOff x="496119" y="2349996"/>
            <a:chExt cx="2037904" cy="1201638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119" y="2349996"/>
              <a:ext cx="2037904" cy="496119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620092" y="2970088"/>
              <a:ext cx="1657350" cy="5815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Collaborative Filtering</a:t>
              </a:r>
              <a:endParaRPr lang="en-US" sz="120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620092" y="3162060"/>
            <a:ext cx="99191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</a:t>
            </a:r>
            <a:endParaRPr lang="en-US" sz="1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76F9977-0AFD-2C8A-CF5C-5A60A96ECA79}"/>
              </a:ext>
            </a:extLst>
          </p:cNvPr>
          <p:cNvGrpSpPr/>
          <p:nvPr/>
        </p:nvGrpSpPr>
        <p:grpSpPr>
          <a:xfrm>
            <a:off x="2534022" y="2349996"/>
            <a:ext cx="2037978" cy="813941"/>
            <a:chOff x="2534022" y="2349996"/>
            <a:chExt cx="2037978" cy="813941"/>
          </a:xfrm>
        </p:grpSpPr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34022" y="2349996"/>
              <a:ext cx="2037978" cy="496119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2657996" y="2970088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Personalization</a:t>
              </a:r>
              <a:endParaRPr lang="en-US" sz="1200" dirty="0"/>
            </a:p>
          </p:txBody>
        </p:sp>
      </p:grpSp>
      <p:sp>
        <p:nvSpPr>
          <p:cNvPr id="10" name="Text 6"/>
          <p:cNvSpPr/>
          <p:nvPr/>
        </p:nvSpPr>
        <p:spPr>
          <a:xfrm>
            <a:off x="2844388" y="3238351"/>
            <a:ext cx="17900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657996" y="3163862"/>
            <a:ext cx="80559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</a:t>
            </a:r>
            <a:endParaRPr lang="en-US" sz="1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43ACF5-DA94-49D9-9B13-9E52780CA497}"/>
              </a:ext>
            </a:extLst>
          </p:cNvPr>
          <p:cNvGrpSpPr/>
          <p:nvPr/>
        </p:nvGrpSpPr>
        <p:grpSpPr>
          <a:xfrm>
            <a:off x="4572000" y="2349996"/>
            <a:ext cx="2037904" cy="813941"/>
            <a:chOff x="4572000" y="2349996"/>
            <a:chExt cx="2037904" cy="813941"/>
          </a:xfrm>
        </p:grpSpPr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2000" y="2349996"/>
              <a:ext cx="2037904" cy="496119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4695974" y="2970088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Content Analysis</a:t>
              </a:r>
              <a:endParaRPr lang="en-US" sz="1200" dirty="0"/>
            </a:p>
          </p:txBody>
        </p:sp>
      </p:grpSp>
      <p:sp>
        <p:nvSpPr>
          <p:cNvPr id="14" name="Text 9"/>
          <p:cNvSpPr/>
          <p:nvPr/>
        </p:nvSpPr>
        <p:spPr>
          <a:xfrm>
            <a:off x="4695974" y="3238351"/>
            <a:ext cx="178995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695974" y="3162060"/>
            <a:ext cx="178995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</a:t>
            </a: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762E040-3195-5CE4-BA36-80EECFA18DB5}"/>
              </a:ext>
            </a:extLst>
          </p:cNvPr>
          <p:cNvGrpSpPr/>
          <p:nvPr/>
        </p:nvGrpSpPr>
        <p:grpSpPr>
          <a:xfrm>
            <a:off x="6609904" y="2349996"/>
            <a:ext cx="2037978" cy="813941"/>
            <a:chOff x="6609904" y="2349996"/>
            <a:chExt cx="2037978" cy="813941"/>
          </a:xfrm>
        </p:grpSpPr>
        <p:pic>
          <p:nvPicPr>
            <p:cNvPr id="16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09904" y="2349996"/>
              <a:ext cx="2037978" cy="496119"/>
            </a:xfrm>
            <a:prstGeom prst="rect">
              <a:avLst/>
            </a:prstGeom>
          </p:spPr>
        </p:pic>
        <p:sp>
          <p:nvSpPr>
            <p:cNvPr id="17" name="Text 11"/>
            <p:cNvSpPr/>
            <p:nvPr/>
          </p:nvSpPr>
          <p:spPr>
            <a:xfrm>
              <a:off x="6733877" y="2970088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A/B Testing</a:t>
              </a:r>
              <a:endParaRPr lang="en-US" sz="1200" dirty="0"/>
            </a:p>
          </p:txBody>
        </p:sp>
      </p:grpSp>
      <p:sp>
        <p:nvSpPr>
          <p:cNvPr id="18" name="Text 12"/>
          <p:cNvSpPr/>
          <p:nvPr/>
        </p:nvSpPr>
        <p:spPr>
          <a:xfrm>
            <a:off x="6733877" y="3238351"/>
            <a:ext cx="17900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733877" y="3163937"/>
            <a:ext cx="179003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 Learning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5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1765"/>
            <a:ext cx="400630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More Real-World Examples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97335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F87B3D4-F72E-C4DC-FBB5-82434CC81772}"/>
              </a:ext>
            </a:extLst>
          </p:cNvPr>
          <p:cNvGrpSpPr/>
          <p:nvPr/>
        </p:nvGrpSpPr>
        <p:grpSpPr>
          <a:xfrm>
            <a:off x="406822" y="2235324"/>
            <a:ext cx="4103191" cy="1646411"/>
            <a:chOff x="406822" y="2235324"/>
            <a:chExt cx="4103191" cy="1646411"/>
          </a:xfrm>
        </p:grpSpPr>
        <p:sp>
          <p:nvSpPr>
            <p:cNvPr id="4" name="Shape 2"/>
            <p:cNvSpPr/>
            <p:nvPr/>
          </p:nvSpPr>
          <p:spPr>
            <a:xfrm>
              <a:off x="406822" y="2235324"/>
              <a:ext cx="4103191" cy="1646411"/>
            </a:xfrm>
            <a:prstGeom prst="roundRect">
              <a:avLst>
                <a:gd name="adj" fmla="val 1130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530796" y="2359298"/>
              <a:ext cx="1860649" cy="2325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450" b="1" dirty="0">
                  <a:solidFill>
                    <a:srgbClr val="000000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Self-Driving Cars</a:t>
              </a:r>
              <a:endParaRPr lang="en-US" sz="1450" dirty="0"/>
            </a:p>
          </p:txBody>
        </p:sp>
      </p:grpSp>
      <p:sp>
        <p:nvSpPr>
          <p:cNvPr id="6" name="Text 4"/>
          <p:cNvSpPr/>
          <p:nvPr/>
        </p:nvSpPr>
        <p:spPr>
          <a:xfrm>
            <a:off x="530796" y="2715816"/>
            <a:ext cx="3855244" cy="83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Detection (Supervised)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 Planning (Reinforcement)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Traffic Pattern Analysis (Unsupervised)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359298"/>
            <a:ext cx="256438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Voice Assistants (Siri, Alexa)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28046" y="2715816"/>
            <a:ext cx="3924598" cy="112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Speech Recognition (Supervised)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Intent (Supervised)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Personalization (Unsupervised)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 Generation (Reinforcement)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0521"/>
            <a:ext cx="524634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Summary : What we Learned Today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236092"/>
            <a:ext cx="2634555" cy="1591419"/>
          </a:xfrm>
          <a:prstGeom prst="roundRect">
            <a:avLst>
              <a:gd name="adj" fmla="val 430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31" y="1236092"/>
            <a:ext cx="57150" cy="15914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7242" y="1374353"/>
            <a:ext cx="231517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7242" y="1696864"/>
            <a:ext cx="2315170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with labeled examples - like studying with flashcards that have answers on the back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54648" y="1236092"/>
            <a:ext cx="2634630" cy="1591419"/>
          </a:xfrm>
          <a:prstGeom prst="roundRect">
            <a:avLst>
              <a:gd name="adj" fmla="val 430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360" y="1236092"/>
            <a:ext cx="57150" cy="15914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35772" y="137435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435772" y="1642616"/>
            <a:ext cx="2315245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task where AI predicts a category (spam/not spam, cat/dog)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13252" y="1236092"/>
            <a:ext cx="2634555" cy="1591419"/>
          </a:xfrm>
          <a:prstGeom prst="roundRect">
            <a:avLst>
              <a:gd name="adj" fmla="val 430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964" y="1236092"/>
            <a:ext cx="57150" cy="15914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94375" y="137435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194375" y="1642616"/>
            <a:ext cx="231517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task where AI predicts a number (temperature, price)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96119" y="2951485"/>
            <a:ext cx="2634555" cy="1591419"/>
          </a:xfrm>
          <a:prstGeom prst="roundRect">
            <a:avLst>
              <a:gd name="adj" fmla="val 430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31" y="2951485"/>
            <a:ext cx="57150" cy="15914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7242" y="3089746"/>
            <a:ext cx="231517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Learning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77242" y="3412257"/>
            <a:ext cx="2315170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that finds patterns without labels - like organizing a messy closet without instructions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254648" y="2951485"/>
            <a:ext cx="2634630" cy="1591419"/>
          </a:xfrm>
          <a:prstGeom prst="roundRect">
            <a:avLst>
              <a:gd name="adj" fmla="val 430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360" y="2951485"/>
            <a:ext cx="57150" cy="159141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435772" y="308974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435772" y="3358009"/>
            <a:ext cx="2315245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task where AI finds hidden groups in data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013252" y="2951485"/>
            <a:ext cx="2634555" cy="1591419"/>
          </a:xfrm>
          <a:prstGeom prst="roundRect">
            <a:avLst>
              <a:gd name="adj" fmla="val 4309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964" y="2951485"/>
            <a:ext cx="57150" cy="159141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94375" y="3089746"/>
            <a:ext cx="231517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194375" y="3412257"/>
            <a:ext cx="2315170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through trial and error with rewards and penalties - like playing a video game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417"/>
            <a:ext cx="5388992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Your Homework: ML Type Hunter </a:t>
            </a:r>
            <a:r>
              <a:rPr lang="en-US" sz="2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57275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441772"/>
            <a:ext cx="271864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1: Quick Warm‑Up 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1937891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each learning type to its description: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2325514"/>
            <a:ext cx="8151763" cy="1635323"/>
          </a:xfrm>
          <a:prstGeom prst="roundRect">
            <a:avLst>
              <a:gd name="adj" fmla="val 113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0881" y="233027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855" y="2409453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355" y="2409453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736726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855" y="2815903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Supervised 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355" y="2815903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A. Learning from rewards and penalties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314317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855" y="3222352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Unsupervised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8355" y="3222352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B. Learning with labeled examples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354962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855" y="3628802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Reinforcement Learning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98355" y="3628802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C. Finding patterns without labels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119" y="4100364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119" y="448798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Answers: 1-___ , 2-___ , 3-___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2084"/>
            <a:ext cx="4333726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2: Your Mission - Find ML Types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16019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 one real example of each type of machine learning. They can be apps, websites, or devices you use.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547813"/>
            <a:ext cx="8151763" cy="1635323"/>
          </a:xfrm>
          <a:prstGeom prst="roundRect">
            <a:avLst>
              <a:gd name="adj" fmla="val 113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55257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5004" y="1631752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62907" y="1631752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(App/System)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429" y="1631752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does it do?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33952" y="1631752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makes it this type?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195902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5004" y="2038201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2907" y="2038201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8429" y="2038201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3952" y="2038201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881" y="236547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5004" y="2444651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62907" y="2444651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98429" y="2444651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33952" y="2444651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0881" y="277192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5004" y="2851100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62907" y="2851100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98429" y="2851100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33952" y="2851100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6119" y="3322662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ideas?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119" y="3710285"/>
            <a:ext cx="8151763" cy="83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Supervised: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Face unlock, spam filter, handwriting recognition, Google Translate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Unsupervised: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Google News, Amazon "customers also bought," Spotify recommendations, YouTube suggestions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Reinforcement: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Game AI (chess, Go), self-driving cars, robot vacuum learning your floor plan, AlphaGo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515"/>
            <a:ext cx="6458992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3: Challenge - Find a System That Combines Types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416621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you find an example of a real AI system that probably uses more than one type of machine learning?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804243"/>
            <a:ext cx="8151763" cy="112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System: ___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 part: ___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 part: ___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 part: ___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306630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 (Netflix):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453929"/>
            <a:ext cx="8151763" cy="83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Supervised: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Learns from your ratings (labeled data)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Unsupervised: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Finds patterns in what people watch together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Reinforcement:</a:t>
            </a: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Tests different recommendations, keeps what works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47676"/>
            <a:ext cx="31708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Session Preview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084784"/>
            <a:ext cx="316572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5 : How AI Learns from Data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3925119" y="2503363"/>
            <a:ext cx="472276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session dives into the data that powers AI — what it looks like, where it comes from, and why its quality determines everything. You'll explore features, data types, and the fine line between memorisation and real learning.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1785</Words>
  <Application>Microsoft Office PowerPoint</Application>
  <PresentationFormat>On-screen Show (16:9)</PresentationFormat>
  <Paragraphs>369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Roboto Slab</vt:lpstr>
      <vt:lpstr>Roboto Slab 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3</cp:revision>
  <dcterms:created xsi:type="dcterms:W3CDTF">2026-05-08T04:03:25Z</dcterms:created>
  <dcterms:modified xsi:type="dcterms:W3CDTF">2026-05-08T05:48:26Z</dcterms:modified>
</cp:coreProperties>
</file>