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8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Roboto" panose="02000000000000000000" pitchFamily="2" charset="0"/>
      <p:regular r:id="rId41"/>
      <p:bold r:id="rId42"/>
      <p:italic r:id="rId43"/>
      <p:boldItalic r:id="rId44"/>
    </p:embeddedFont>
    <p:embeddedFont>
      <p:font typeface="Roboto Slab" pitchFamily="2" charset="0"/>
      <p:regular r:id="rId45"/>
      <p:bold r:id="rId46"/>
    </p:embeddedFont>
    <p:embeddedFont>
      <p:font typeface="Roboto Slab Light" pitchFamily="2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CFFF80-4DDA-4ACB-8129-5BAA80F97349}" v="1" dt="2026-05-08T09:36:31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20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hyperlink" Target="https://www.kaggle.com/datasets/workwithfahadshah/cat-and-dog-datas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5942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6 :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96530"/>
            <a:ext cx="42144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 Your Own AI Model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805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536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450083"/>
            <a:ext cx="2634555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54064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 Kaggle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54648" y="22536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450083"/>
            <a:ext cx="2634630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4648" y="254064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 a Model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013252" y="22536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450083"/>
            <a:ext cx="2634555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3252" y="254064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Your Model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135585"/>
            <a:ext cx="401382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38500"/>
            <a:ext cx="17436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Data Amounts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33913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13" y="3135585"/>
            <a:ext cx="4013895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33913" y="32385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Observe Epochs</a:t>
            </a:r>
            <a:endParaRPr lang="en-US" sz="1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7A1DAC-1369-6276-39A4-5E709DE98110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496119" y="245722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5AEA8F-0E12-FEE0-F791-FAAD475B68FF}"/>
              </a:ext>
            </a:extLst>
          </p:cNvPr>
          <p:cNvCxnSpPr>
            <a:cxnSpLocks/>
          </p:cNvCxnSpPr>
          <p:nvPr/>
        </p:nvCxnSpPr>
        <p:spPr>
          <a:xfrm>
            <a:off x="3255964" y="2452868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B6407A-9BDE-0900-BFE3-1E118FC18352}"/>
              </a:ext>
            </a:extLst>
          </p:cNvPr>
          <p:cNvCxnSpPr>
            <a:cxnSpLocks/>
          </p:cNvCxnSpPr>
          <p:nvPr/>
        </p:nvCxnSpPr>
        <p:spPr>
          <a:xfrm>
            <a:off x="6013250" y="2457117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8DD75B-430F-A1CD-D6E5-1EF826657EDE}"/>
              </a:ext>
            </a:extLst>
          </p:cNvPr>
          <p:cNvCxnSpPr>
            <a:cxnSpLocks/>
            <a:stCxn id="13" idx="1"/>
            <a:endCxn id="13" idx="3"/>
          </p:cNvCxnSpPr>
          <p:nvPr/>
        </p:nvCxnSpPr>
        <p:spPr>
          <a:xfrm>
            <a:off x="496119" y="3142729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18408D-C27F-A4E9-F805-E0382390A483}"/>
              </a:ext>
            </a:extLst>
          </p:cNvPr>
          <p:cNvCxnSpPr>
            <a:cxnSpLocks/>
          </p:cNvCxnSpPr>
          <p:nvPr/>
        </p:nvCxnSpPr>
        <p:spPr>
          <a:xfrm>
            <a:off x="4626952" y="3142619"/>
            <a:ext cx="4013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142"/>
            <a:ext cx="55643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: What We Learned in Session 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55712"/>
            <a:ext cx="8151763" cy="3667571"/>
          </a:xfrm>
          <a:prstGeom prst="roundRect">
            <a:avLst>
              <a:gd name="adj" fmla="val 50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06047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13965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2833" y="1139651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46692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54610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62833" y="1546101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collection of examples used to teach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187337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195255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2833" y="1952551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clues AI pays attention to (ears, face shape, fur)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359000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62833" y="2359000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Practice examples AI learns from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268627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2765450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2833" y="2765450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examples that check if AI really learned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09272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171899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62833" y="3171899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Being able to handle NEW situations – the goal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349917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3578349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62833" y="3578349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AI memorizes instead of truly learning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881" y="390562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4929" y="3984799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62833" y="3984799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data is unfair or leaves groups out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0881" y="431207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4929" y="4391248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Garbage In = Garbage 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62833" y="4391248"/>
            <a:ext cx="58563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 data = bad AI, no matter what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80033"/>
            <a:ext cx="30526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Kaggle?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8379" y="941784"/>
            <a:ext cx="4738241" cy="7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Kaggle is an online platform used by AI enthusiasts, data scientists, machine learning engineers and anyone looking for real-world datasets.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0AB35C-7D33-588B-FE25-DB3DA7DCEF11}"/>
              </a:ext>
            </a:extLst>
          </p:cNvPr>
          <p:cNvGrpSpPr/>
          <p:nvPr/>
        </p:nvGrpSpPr>
        <p:grpSpPr>
          <a:xfrm>
            <a:off x="488379" y="1803648"/>
            <a:ext cx="2308994" cy="921246"/>
            <a:chOff x="488379" y="1803648"/>
            <a:chExt cx="2308994" cy="92124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9092DE-4927-3496-B135-55FF464AAC8F}"/>
                </a:ext>
              </a:extLst>
            </p:cNvPr>
            <p:cNvGrpSpPr/>
            <p:nvPr/>
          </p:nvGrpSpPr>
          <p:grpSpPr>
            <a:xfrm>
              <a:off x="488379" y="1803648"/>
              <a:ext cx="2308994" cy="921246"/>
              <a:chOff x="488379" y="1803648"/>
              <a:chExt cx="2308994" cy="921246"/>
            </a:xfrm>
          </p:grpSpPr>
          <p:sp>
            <p:nvSpPr>
              <p:cNvPr id="5" name="Shape 2"/>
              <p:cNvSpPr/>
              <p:nvPr/>
            </p:nvSpPr>
            <p:spPr>
              <a:xfrm>
                <a:off x="488379" y="1803648"/>
                <a:ext cx="2308994" cy="921246"/>
              </a:xfrm>
              <a:prstGeom prst="roundRect">
                <a:avLst>
                  <a:gd name="adj" fmla="val 1988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 3"/>
              <p:cNvSpPr/>
              <p:nvPr/>
            </p:nvSpPr>
            <p:spPr>
              <a:xfrm>
                <a:off x="610419" y="2412132"/>
                <a:ext cx="1526307" cy="19072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Datasets</a:t>
                </a:r>
                <a:endParaRPr lang="en-US" sz="1200" dirty="0"/>
              </a:p>
            </p:txBody>
          </p:sp>
        </p:grp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419" y="1925687"/>
              <a:ext cx="366266" cy="366266"/>
            </a:xfrm>
            <a:prstGeom prst="rect">
              <a:avLst/>
            </a:prstGeom>
          </p:spPr>
        </p:pic>
      </p:grp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01" y="2026369"/>
            <a:ext cx="164827" cy="16482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0273" y="2026369"/>
            <a:ext cx="164827" cy="16482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9529BCD-E653-A179-E3F8-54ADA6826463}"/>
              </a:ext>
            </a:extLst>
          </p:cNvPr>
          <p:cNvGrpSpPr/>
          <p:nvPr/>
        </p:nvGrpSpPr>
        <p:grpSpPr>
          <a:xfrm>
            <a:off x="2917552" y="1803648"/>
            <a:ext cx="2309068" cy="921246"/>
            <a:chOff x="2917552" y="1803648"/>
            <a:chExt cx="2309068" cy="921246"/>
          </a:xfrm>
        </p:grpSpPr>
        <p:sp>
          <p:nvSpPr>
            <p:cNvPr id="9" name="Shape 4"/>
            <p:cNvSpPr/>
            <p:nvPr/>
          </p:nvSpPr>
          <p:spPr>
            <a:xfrm>
              <a:off x="2917552" y="1803648"/>
              <a:ext cx="2309068" cy="921246"/>
            </a:xfrm>
            <a:prstGeom prst="roundRect">
              <a:avLst>
                <a:gd name="adj" fmla="val 198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39591" y="1925687"/>
              <a:ext cx="366266" cy="366266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3039591" y="2412132"/>
              <a:ext cx="1526307" cy="1907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Competitions</a:t>
              </a:r>
              <a:endParaRPr lang="en-US" sz="1200" dirty="0"/>
            </a:p>
          </p:txBody>
        </p:sp>
      </p:grp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101" y="3067794"/>
            <a:ext cx="164827" cy="164827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40273" y="3067794"/>
            <a:ext cx="164827" cy="16482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8CD00FF-64F7-E3E6-2E96-E35E59666551}"/>
              </a:ext>
            </a:extLst>
          </p:cNvPr>
          <p:cNvGrpSpPr/>
          <p:nvPr/>
        </p:nvGrpSpPr>
        <p:grpSpPr>
          <a:xfrm>
            <a:off x="488379" y="2845073"/>
            <a:ext cx="2308994" cy="921246"/>
            <a:chOff x="488379" y="2845073"/>
            <a:chExt cx="2308994" cy="921246"/>
          </a:xfrm>
        </p:grpSpPr>
        <p:sp>
          <p:nvSpPr>
            <p:cNvPr id="13" name="Shape 6"/>
            <p:cNvSpPr/>
            <p:nvPr/>
          </p:nvSpPr>
          <p:spPr>
            <a:xfrm>
              <a:off x="488379" y="2845073"/>
              <a:ext cx="2308994" cy="921246"/>
            </a:xfrm>
            <a:prstGeom prst="roundRect">
              <a:avLst>
                <a:gd name="adj" fmla="val 198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0419" y="2967112"/>
              <a:ext cx="366266" cy="366266"/>
            </a:xfrm>
            <a:prstGeom prst="rect">
              <a:avLst/>
            </a:prstGeom>
          </p:spPr>
        </p:pic>
        <p:sp>
          <p:nvSpPr>
            <p:cNvPr id="16" name="Text 7"/>
            <p:cNvSpPr/>
            <p:nvPr/>
          </p:nvSpPr>
          <p:spPr>
            <a:xfrm>
              <a:off x="610419" y="3453557"/>
              <a:ext cx="1526307" cy="1907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Tools</a:t>
              </a:r>
              <a:endParaRPr lang="en-US" sz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01078D-725B-67A3-2378-F19078033E5E}"/>
              </a:ext>
            </a:extLst>
          </p:cNvPr>
          <p:cNvGrpSpPr/>
          <p:nvPr/>
        </p:nvGrpSpPr>
        <p:grpSpPr>
          <a:xfrm>
            <a:off x="2917552" y="2845073"/>
            <a:ext cx="2309068" cy="921246"/>
            <a:chOff x="2917552" y="2845073"/>
            <a:chExt cx="2309068" cy="921246"/>
          </a:xfrm>
        </p:grpSpPr>
        <p:sp>
          <p:nvSpPr>
            <p:cNvPr id="17" name="Shape 8"/>
            <p:cNvSpPr/>
            <p:nvPr/>
          </p:nvSpPr>
          <p:spPr>
            <a:xfrm>
              <a:off x="2917552" y="2845073"/>
              <a:ext cx="2309068" cy="921246"/>
            </a:xfrm>
            <a:prstGeom prst="roundRect">
              <a:avLst>
                <a:gd name="adj" fmla="val 198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8" name="Image 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39591" y="2967112"/>
              <a:ext cx="366266" cy="366266"/>
            </a:xfrm>
            <a:prstGeom prst="rect">
              <a:avLst/>
            </a:prstGeom>
          </p:spPr>
        </p:pic>
        <p:sp>
          <p:nvSpPr>
            <p:cNvPr id="20" name="Text 9"/>
            <p:cNvSpPr/>
            <p:nvPr/>
          </p:nvSpPr>
          <p:spPr>
            <a:xfrm>
              <a:off x="3039591" y="3453557"/>
              <a:ext cx="1526307" cy="1907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Community</a:t>
              </a:r>
              <a:endParaRPr lang="en-US" sz="1200" dirty="0"/>
            </a:p>
          </p:txBody>
        </p:sp>
      </p:grpSp>
      <p:sp>
        <p:nvSpPr>
          <p:cNvPr id="21" name="Text 10"/>
          <p:cNvSpPr/>
          <p:nvPr/>
        </p:nvSpPr>
        <p:spPr>
          <a:xfrm>
            <a:off x="488379" y="3901529"/>
            <a:ext cx="4738241" cy="24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200" dirty="0"/>
          </a:p>
        </p:txBody>
      </p:sp>
      <p:sp>
        <p:nvSpPr>
          <p:cNvPr id="22" name="Text 11"/>
          <p:cNvSpPr/>
          <p:nvPr/>
        </p:nvSpPr>
        <p:spPr>
          <a:xfrm>
            <a:off x="488379" y="4278957"/>
            <a:ext cx="4738241" cy="48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dataset comes from:</a:t>
            </a:r>
            <a:endParaRPr lang="en-US" sz="12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 - Cat and Dog Dataset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5373"/>
            <a:ext cx="311891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Dataset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070943"/>
            <a:ext cx="8151763" cy="1637184"/>
          </a:xfrm>
          <a:prstGeom prst="roundRect">
            <a:avLst>
              <a:gd name="adj" fmla="val 113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89942" y="2070943"/>
            <a:ext cx="8164116" cy="1637184"/>
          </a:xfrm>
          <a:prstGeom prst="roundRect">
            <a:avLst>
              <a:gd name="adj" fmla="val 1137"/>
            </a:avLst>
          </a:prstGeom>
          <a:solidFill>
            <a:srgbClr val="EEEF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4947" y="2194917"/>
            <a:ext cx="785410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cat-and-dog-dataset/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training_set/     ← Images for TRAINING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cats/         ← Many cat photos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dogs/         ← Many dog photos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test_set/         ← Images for TESTING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cats/         ← NEW cat photos (AI has never seen these!)</a:t>
            </a:r>
            <a:endParaRPr lang="en-US" sz="9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dogs/         ← NEW dog photos (AI has never seen these!)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99740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0881" y="90450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983679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69952" y="983679"/>
            <a:ext cx="23177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40437" y="983679"/>
            <a:ext cx="28787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31095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390129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training_set/cats/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9952" y="1390129"/>
            <a:ext cx="23177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Hundreds of cat photos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40437" y="1390129"/>
            <a:ext cx="28787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Teaching the AI what cats look like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171740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929" y="1796579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training_set/dogs/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9952" y="1796579"/>
            <a:ext cx="23177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Hundreds of dog photos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40437" y="1796579"/>
            <a:ext cx="28787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Teaching the AI what dogs look like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212385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2203028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test_set/cats/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9952" y="2203028"/>
            <a:ext cx="23177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NEW cat photos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40437" y="2203028"/>
            <a:ext cx="28787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- AI has never seen these!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53030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2609478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test_set/dogs/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9952" y="2609478"/>
            <a:ext cx="231777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NEW dog photos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40437" y="2609478"/>
            <a:ext cx="28787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- AI has never seen these!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119" y="308104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9CE21D-D2AE-9C35-732E-B39A0BF8C070}"/>
              </a:ext>
            </a:extLst>
          </p:cNvPr>
          <p:cNvGrpSpPr/>
          <p:nvPr/>
        </p:nvGrpSpPr>
        <p:grpSpPr>
          <a:xfrm>
            <a:off x="496119" y="3419029"/>
            <a:ext cx="8151763" cy="824731"/>
            <a:chOff x="496119" y="3419029"/>
            <a:chExt cx="8151763" cy="824731"/>
          </a:xfrm>
        </p:grpSpPr>
        <p:sp>
          <p:nvSpPr>
            <p:cNvPr id="24" name="Shape 22"/>
            <p:cNvSpPr/>
            <p:nvPr/>
          </p:nvSpPr>
          <p:spPr>
            <a:xfrm>
              <a:off x="496119" y="3419029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3614514"/>
              <a:ext cx="193774" cy="155004"/>
            </a:xfrm>
            <a:prstGeom prst="rect">
              <a:avLst/>
            </a:prstGeom>
          </p:spPr>
        </p:pic>
        <p:sp>
          <p:nvSpPr>
            <p:cNvPr id="26" name="Text 23"/>
            <p:cNvSpPr/>
            <p:nvPr/>
          </p:nvSpPr>
          <p:spPr>
            <a:xfrm>
              <a:off x="937840" y="3573959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Important: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The images in test_set are brand new - the AI has never seen them during training. This helps us check if it really learned or just memorized.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4" grpId="0" animBg="1"/>
      <p:bldP spid="17" grpId="0" animBg="1"/>
      <p:bldP spid="18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220"/>
            <a:ext cx="4526047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0"/>
              </a:lnSpc>
            </a:pPr>
            <a:r>
              <a:rPr lang="en-US" sz="20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🎮</a:t>
            </a: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Mini Activity : Build the Dataset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1035546"/>
            <a:ext cx="81517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45332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3916" y="1463129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🐱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Cat Breeds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3916" y="1723951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Persian, Siamese, tabby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27959" y="1345332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45757" y="1463129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🐶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Dog Breeds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45757" y="1723951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Golden Retriever, Poodle, Labrador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6119" y="2183457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3916" y="2301255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📐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Angles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3916" y="2562076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Front, side, looking away, from above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7959" y="2183457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45757" y="2301255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🌳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Backgrounds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45757" y="2562076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Homes, parks, streets, grass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6119" y="3021583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3916" y="3139380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💡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Lighting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3916" y="3400202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Bright sun, dim rooms, shadows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7959" y="3021583"/>
            <a:ext cx="4019922" cy="726207"/>
          </a:xfrm>
          <a:prstGeom prst="roundRect">
            <a:avLst>
              <a:gd name="adj" fmla="val 243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45757" y="3139380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🐾</a:t>
            </a:r>
            <a:r>
              <a:rPr lang="en-US" sz="11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Ages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45757" y="3400202"/>
            <a:ext cx="378432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Kittens, puppies, adults, seniors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6119" y="3873698"/>
            <a:ext cx="81517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F543C20-C55B-6E75-3B7B-848D371F898B}"/>
              </a:ext>
            </a:extLst>
          </p:cNvPr>
          <p:cNvGrpSpPr/>
          <p:nvPr/>
        </p:nvGrpSpPr>
        <p:grpSpPr>
          <a:xfrm>
            <a:off x="496119" y="4183484"/>
            <a:ext cx="8151763" cy="530721"/>
            <a:chOff x="496119" y="4183484"/>
            <a:chExt cx="8151763" cy="530721"/>
          </a:xfrm>
        </p:grpSpPr>
        <p:sp>
          <p:nvSpPr>
            <p:cNvPr id="23" name="Shape 21"/>
            <p:cNvSpPr/>
            <p:nvPr/>
          </p:nvSpPr>
          <p:spPr>
            <a:xfrm>
              <a:off x="496119" y="4183484"/>
              <a:ext cx="8151763" cy="530721"/>
            </a:xfrm>
            <a:prstGeom prst="roundRect">
              <a:avLst>
                <a:gd name="adj" fmla="val 333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916" y="4357836"/>
              <a:ext cx="184100" cy="147265"/>
            </a:xfrm>
            <a:prstGeom prst="rect">
              <a:avLst/>
            </a:prstGeom>
          </p:spPr>
        </p:pic>
        <p:sp>
          <p:nvSpPr>
            <p:cNvPr id="25" name="Text 22"/>
            <p:cNvSpPr/>
            <p:nvPr/>
          </p:nvSpPr>
          <p:spPr>
            <a:xfrm>
              <a:off x="915814" y="4324796"/>
              <a:ext cx="76142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Question:</a:t>
              </a: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What would happen if our dataset only had white cats and brown dogs? Discuss with your mentor. </a:t>
              </a:r>
              <a:endParaRPr lang="en-US" sz="1150" dirty="0"/>
            </a:p>
          </p:txBody>
        </p:sp>
      </p:grpSp>
      <p:sp>
        <p:nvSpPr>
          <p:cNvPr id="26" name="Text 1">
            <a:extLst>
              <a:ext uri="{FF2B5EF4-FFF2-40B4-BE49-F238E27FC236}">
                <a16:creationId xmlns:a16="http://schemas.microsoft.com/office/drawing/2014/main" id="{65406279-40D2-5BD6-B6BE-1C7EE3639595}"/>
              </a:ext>
            </a:extLst>
          </p:cNvPr>
          <p:cNvSpPr/>
          <p:nvPr/>
        </p:nvSpPr>
        <p:spPr>
          <a:xfrm>
            <a:off x="496119" y="91722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we want to train an AI to recognize cats and dogs, what kinds of images should our dataset contain?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5976"/>
            <a:ext cx="497621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Using Datasets to Train AI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5154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328526-4D68-C28B-63AE-D0E899BDEA34}"/>
              </a:ext>
            </a:extLst>
          </p:cNvPr>
          <p:cNvGrpSpPr/>
          <p:nvPr/>
        </p:nvGrpSpPr>
        <p:grpSpPr>
          <a:xfrm>
            <a:off x="496119" y="2589535"/>
            <a:ext cx="2037904" cy="813941"/>
            <a:chOff x="496119" y="2589535"/>
            <a:chExt cx="2037904" cy="813941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589535"/>
              <a:ext cx="2037904" cy="496119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20092" y="3209627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Get a Dataset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B8EF51-B27A-99A1-25F4-AAEA123F56FA}"/>
              </a:ext>
            </a:extLst>
          </p:cNvPr>
          <p:cNvGrpSpPr/>
          <p:nvPr/>
        </p:nvGrpSpPr>
        <p:grpSpPr>
          <a:xfrm>
            <a:off x="2534022" y="2589535"/>
            <a:ext cx="2037978" cy="813941"/>
            <a:chOff x="2534022" y="2589535"/>
            <a:chExt cx="2037978" cy="813941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34022" y="2589535"/>
              <a:ext cx="2037978" cy="496119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2657996" y="3209627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Train the Model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C5334A-4429-F06F-CDAE-BE49C2717D87}"/>
              </a:ext>
            </a:extLst>
          </p:cNvPr>
          <p:cNvGrpSpPr/>
          <p:nvPr/>
        </p:nvGrpSpPr>
        <p:grpSpPr>
          <a:xfrm>
            <a:off x="4572000" y="2589535"/>
            <a:ext cx="2037904" cy="813941"/>
            <a:chOff x="4572000" y="2589535"/>
            <a:chExt cx="2037904" cy="813941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0" y="2589535"/>
              <a:ext cx="2037904" cy="496119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4695974" y="3209627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Test the Model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C130AC-E9ED-D98C-086F-D7B62BD42863}"/>
              </a:ext>
            </a:extLst>
          </p:cNvPr>
          <p:cNvGrpSpPr/>
          <p:nvPr/>
        </p:nvGrpSpPr>
        <p:grpSpPr>
          <a:xfrm>
            <a:off x="6609904" y="2589535"/>
            <a:ext cx="2037978" cy="813941"/>
            <a:chOff x="6609904" y="2589535"/>
            <a:chExt cx="2037978" cy="813941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9904" y="2589535"/>
              <a:ext cx="2037978" cy="496119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6733877" y="3209627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Improve the Model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2"/>
          <p:cNvSpPr/>
          <p:nvPr/>
        </p:nvSpPr>
        <p:spPr>
          <a:xfrm>
            <a:off x="4638749" y="1885801"/>
            <a:ext cx="4103191" cy="2333030"/>
          </a:xfrm>
          <a:prstGeom prst="roundRect">
            <a:avLst>
              <a:gd name="adj" fmla="val 79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496119" y="924595"/>
            <a:ext cx="57917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 an Image Classification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817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classification model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type of machine learning model that identifies objects in pictures.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097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9136" y="2343150"/>
            <a:ext cx="14288" cy="1736154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2436168"/>
            <a:ext cx="93018" cy="9301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54BCC7F-B89E-7F4C-2BFB-10D38637AFEF}"/>
              </a:ext>
            </a:extLst>
          </p:cNvPr>
          <p:cNvGrpSpPr/>
          <p:nvPr/>
        </p:nvGrpSpPr>
        <p:grpSpPr>
          <a:xfrm>
            <a:off x="574849" y="2385789"/>
            <a:ext cx="2061046" cy="193849"/>
            <a:chOff x="574849" y="2385789"/>
            <a:chExt cx="2061046" cy="193849"/>
          </a:xfrm>
        </p:grpSpPr>
        <p:sp>
          <p:nvSpPr>
            <p:cNvPr id="6" name="Shape 4"/>
            <p:cNvSpPr/>
            <p:nvPr/>
          </p:nvSpPr>
          <p:spPr>
            <a:xfrm>
              <a:off x="574849" y="2475533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1085329" y="238578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Recognizing animals</a:t>
              </a:r>
              <a:endParaRPr lang="en-US" sz="1200" dirty="0"/>
            </a:p>
          </p:txBody>
        </p:sp>
      </p:grp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2932212"/>
            <a:ext cx="93018" cy="9301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64518F96-815F-5913-9250-CD1A26A47E98}"/>
              </a:ext>
            </a:extLst>
          </p:cNvPr>
          <p:cNvGrpSpPr/>
          <p:nvPr/>
        </p:nvGrpSpPr>
        <p:grpSpPr>
          <a:xfrm>
            <a:off x="574849" y="2881833"/>
            <a:ext cx="2856383" cy="193849"/>
            <a:chOff x="574849" y="2881833"/>
            <a:chExt cx="2856383" cy="193849"/>
          </a:xfrm>
        </p:grpSpPr>
        <p:sp>
          <p:nvSpPr>
            <p:cNvPr id="9" name="Shape 6"/>
            <p:cNvSpPr/>
            <p:nvPr/>
          </p:nvSpPr>
          <p:spPr>
            <a:xfrm>
              <a:off x="574849" y="2971577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7"/>
            <p:cNvSpPr/>
            <p:nvPr/>
          </p:nvSpPr>
          <p:spPr>
            <a:xfrm>
              <a:off x="1085329" y="2881833"/>
              <a:ext cx="2345903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Detecting handwritten numbers</a:t>
              </a:r>
              <a:endParaRPr lang="en-US" sz="1200" dirty="0"/>
            </a:p>
          </p:txBody>
        </p:sp>
      </p:grp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3428256"/>
            <a:ext cx="93018" cy="9301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5248A12-D622-DD37-30A3-715F11ECBF0E}"/>
              </a:ext>
            </a:extLst>
          </p:cNvPr>
          <p:cNvGrpSpPr/>
          <p:nvPr/>
        </p:nvGrpSpPr>
        <p:grpSpPr>
          <a:xfrm>
            <a:off x="574849" y="3377878"/>
            <a:ext cx="2734344" cy="193849"/>
            <a:chOff x="574849" y="3377878"/>
            <a:chExt cx="2734344" cy="193849"/>
          </a:xfrm>
        </p:grpSpPr>
        <p:sp>
          <p:nvSpPr>
            <p:cNvPr id="12" name="Shape 8"/>
            <p:cNvSpPr/>
            <p:nvPr/>
          </p:nvSpPr>
          <p:spPr>
            <a:xfrm>
              <a:off x="574849" y="3467621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9"/>
            <p:cNvSpPr/>
            <p:nvPr/>
          </p:nvSpPr>
          <p:spPr>
            <a:xfrm>
              <a:off x="1085329" y="3377878"/>
              <a:ext cx="2223864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Identifying plants from photos</a:t>
              </a:r>
              <a:endParaRPr lang="en-US" sz="1200" dirty="0"/>
            </a:p>
          </p:txBody>
        </p:sp>
      </p:grp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3924300"/>
            <a:ext cx="93018" cy="93018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A4022E55-1AD8-5568-C92C-2A55607FE4C9}"/>
              </a:ext>
            </a:extLst>
          </p:cNvPr>
          <p:cNvGrpSpPr/>
          <p:nvPr/>
        </p:nvGrpSpPr>
        <p:grpSpPr>
          <a:xfrm>
            <a:off x="574849" y="3873922"/>
            <a:ext cx="3138710" cy="193849"/>
            <a:chOff x="574849" y="3873922"/>
            <a:chExt cx="3138710" cy="193849"/>
          </a:xfrm>
        </p:grpSpPr>
        <p:sp>
          <p:nvSpPr>
            <p:cNvPr id="15" name="Shape 10"/>
            <p:cNvSpPr/>
            <p:nvPr/>
          </p:nvSpPr>
          <p:spPr>
            <a:xfrm>
              <a:off x="574849" y="3963665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1"/>
            <p:cNvSpPr/>
            <p:nvPr/>
          </p:nvSpPr>
          <p:spPr>
            <a:xfrm>
              <a:off x="1085329" y="3873922"/>
              <a:ext cx="2628230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Recognizing faces to unlock phones</a:t>
              </a:r>
              <a:endParaRPr lang="en-US" sz="1200" dirty="0"/>
            </a:p>
          </p:txBody>
        </p:sp>
      </p:grpSp>
      <p:sp>
        <p:nvSpPr>
          <p:cNvPr id="19" name="Text 13"/>
          <p:cNvSpPr/>
          <p:nvPr/>
        </p:nvSpPr>
        <p:spPr>
          <a:xfrm>
            <a:off x="4762723" y="2009775"/>
            <a:ext cx="208731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Models Learn By Analyzing: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855741" y="2343150"/>
            <a:ext cx="14288" cy="1736154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32" y="2436168"/>
            <a:ext cx="93018" cy="9301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4105F5FA-8F2A-F53C-99E1-3697349DB524}"/>
              </a:ext>
            </a:extLst>
          </p:cNvPr>
          <p:cNvGrpSpPr/>
          <p:nvPr/>
        </p:nvGrpSpPr>
        <p:grpSpPr>
          <a:xfrm>
            <a:off x="4841453" y="2385789"/>
            <a:ext cx="2061047" cy="193849"/>
            <a:chOff x="4841453" y="2385789"/>
            <a:chExt cx="2061047" cy="193849"/>
          </a:xfrm>
        </p:grpSpPr>
        <p:sp>
          <p:nvSpPr>
            <p:cNvPr id="21" name="Shape 15"/>
            <p:cNvSpPr/>
            <p:nvPr/>
          </p:nvSpPr>
          <p:spPr>
            <a:xfrm>
              <a:off x="4841453" y="2475533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16"/>
            <p:cNvSpPr/>
            <p:nvPr/>
          </p:nvSpPr>
          <p:spPr>
            <a:xfrm>
              <a:off x="5351934" y="238578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Shapes</a:t>
              </a:r>
              <a:endParaRPr lang="en-US" sz="1200" dirty="0"/>
            </a:p>
          </p:txBody>
        </p:sp>
      </p:grp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32" y="2932212"/>
            <a:ext cx="93018" cy="9301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D04D30D-9032-8E31-36EA-BCA1D5D0C3A3}"/>
              </a:ext>
            </a:extLst>
          </p:cNvPr>
          <p:cNvGrpSpPr/>
          <p:nvPr/>
        </p:nvGrpSpPr>
        <p:grpSpPr>
          <a:xfrm>
            <a:off x="4841453" y="2881833"/>
            <a:ext cx="2061047" cy="193849"/>
            <a:chOff x="4841453" y="2881833"/>
            <a:chExt cx="2061047" cy="193849"/>
          </a:xfrm>
        </p:grpSpPr>
        <p:sp>
          <p:nvSpPr>
            <p:cNvPr id="24" name="Shape 17"/>
            <p:cNvSpPr/>
            <p:nvPr/>
          </p:nvSpPr>
          <p:spPr>
            <a:xfrm>
              <a:off x="4841453" y="2971577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18"/>
            <p:cNvSpPr/>
            <p:nvPr/>
          </p:nvSpPr>
          <p:spPr>
            <a:xfrm>
              <a:off x="5351934" y="288183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Colors</a:t>
              </a:r>
              <a:endParaRPr lang="en-US" sz="1200" dirty="0"/>
            </a:p>
          </p:txBody>
        </p:sp>
      </p:grp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32" y="3428256"/>
            <a:ext cx="93018" cy="9301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DBEC38F1-EB09-58BA-5E85-F4575309FA78}"/>
              </a:ext>
            </a:extLst>
          </p:cNvPr>
          <p:cNvGrpSpPr/>
          <p:nvPr/>
        </p:nvGrpSpPr>
        <p:grpSpPr>
          <a:xfrm>
            <a:off x="4841453" y="3377878"/>
            <a:ext cx="2061047" cy="193849"/>
            <a:chOff x="4841453" y="3377878"/>
            <a:chExt cx="2061047" cy="193849"/>
          </a:xfrm>
        </p:grpSpPr>
        <p:sp>
          <p:nvSpPr>
            <p:cNvPr id="27" name="Shape 19"/>
            <p:cNvSpPr/>
            <p:nvPr/>
          </p:nvSpPr>
          <p:spPr>
            <a:xfrm>
              <a:off x="4841453" y="3467621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 20"/>
            <p:cNvSpPr/>
            <p:nvPr/>
          </p:nvSpPr>
          <p:spPr>
            <a:xfrm>
              <a:off x="5351934" y="3377878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Textures</a:t>
              </a: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 </a:t>
              </a:r>
              <a:endParaRPr lang="en-US" sz="1200" dirty="0"/>
            </a:p>
          </p:txBody>
        </p:sp>
      </p:grp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32" y="3924300"/>
            <a:ext cx="93018" cy="93018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BAD148A-90FC-F085-BEE8-65971A45B581}"/>
              </a:ext>
            </a:extLst>
          </p:cNvPr>
          <p:cNvGrpSpPr/>
          <p:nvPr/>
        </p:nvGrpSpPr>
        <p:grpSpPr>
          <a:xfrm>
            <a:off x="4841453" y="3873922"/>
            <a:ext cx="2061047" cy="193849"/>
            <a:chOff x="4841453" y="3873922"/>
            <a:chExt cx="2061047" cy="193849"/>
          </a:xfrm>
        </p:grpSpPr>
        <p:sp>
          <p:nvSpPr>
            <p:cNvPr id="30" name="Shape 21"/>
            <p:cNvSpPr/>
            <p:nvPr/>
          </p:nvSpPr>
          <p:spPr>
            <a:xfrm>
              <a:off x="4841453" y="3963665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22"/>
            <p:cNvSpPr/>
            <p:nvPr/>
          </p:nvSpPr>
          <p:spPr>
            <a:xfrm>
              <a:off x="5351934" y="3873922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Edges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 animBg="1"/>
      <p:bldP spid="5" grpId="0" animBg="1"/>
      <p:bldP spid="19" grpId="0" build="allAtOnce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7173"/>
            <a:ext cx="392742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Google Teachable Machine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32743"/>
            <a:ext cx="8093720" cy="3313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3367"/>
            <a:ext cx="41333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Understanding the Interface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58937"/>
            <a:ext cx="8151763" cy="3261122"/>
          </a:xfrm>
          <a:prstGeom prst="roundRect">
            <a:avLst>
              <a:gd name="adj" fmla="val 57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26370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342876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58803" y="1342876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67014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749326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Samples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58803" y="1749326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Shows how many photos you've uploaded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0765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155775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58803" y="2155775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 to add images from your computer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48304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562225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58803" y="2562225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Area to test your model with new images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288949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2968675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58803" y="2968675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 that starts the learning process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29594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375124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803" y="3375124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settings for training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370239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3781574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Epochs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58803" y="3781574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many times the AI sees all images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881" y="410884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4929" y="4188023"/>
            <a:ext cx="288116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58803" y="4188023"/>
            <a:ext cx="4760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showing confidence scores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72357"/>
            <a:ext cx="6415534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🖐️</a:t>
            </a: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Hands-On Activity : Cat vs Dog AI Model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2221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run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simple experiments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our Kaggle dataset. For testing, we'll use the same 4 images every time: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509838"/>
            <a:ext cx="4013895" cy="773683"/>
          </a:xfrm>
          <a:prstGeom prst="roundRect">
            <a:avLst>
              <a:gd name="adj" fmla="val 240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0092" y="2633811"/>
            <a:ext cx="37659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Cat Images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956322"/>
            <a:ext cx="376594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</a:t>
            </a: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test_set/cats/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509838"/>
            <a:ext cx="4013895" cy="773683"/>
          </a:xfrm>
          <a:prstGeom prst="roundRect">
            <a:avLst>
              <a:gd name="adj" fmla="val 240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7961" y="263381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 Dog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7961" y="2902074"/>
            <a:ext cx="3765947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</a:t>
            </a:r>
            <a:r>
              <a:rPr lang="en-US" sz="9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test_set/dogs/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119" y="342304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mentor will tell you exactly which files to use (for example, "the first two cat images and first two dog images").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779785"/>
            <a:ext cx="123974" cy="803002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44066" y="90375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44066" y="1210717"/>
            <a:ext cx="447481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image per class, 1 epoch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2154" y="1706761"/>
            <a:ext cx="123974" cy="803002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30101" y="183073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2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0101" y="2137693"/>
            <a:ext cx="428878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images per class, 1 epoch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189" y="2633737"/>
            <a:ext cx="123974" cy="803002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16137" y="27577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3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6137" y="3064669"/>
            <a:ext cx="4102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~100 images per class, 1 epoch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54298" y="3560713"/>
            <a:ext cx="123974" cy="803002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302246" y="368468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4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302246" y="3991645"/>
            <a:ext cx="39166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~100 images per class, 50 epochs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8295"/>
            <a:ext cx="43981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1 : Very Little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55403"/>
            <a:ext cx="228034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image per class · 1 epoch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97398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36160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do you think will happen with only 1 cat photo and 1 dog photo?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74922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087216"/>
            <a:ext cx="2717229" cy="4961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0092" y="3707309"/>
            <a:ext cx="17665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Training Images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3087216"/>
            <a:ext cx="2717229" cy="4961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322" y="370730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 Epochs to 1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3087216"/>
            <a:ext cx="2717229" cy="496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4551" y="370730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 the Model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339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Experiment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24844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test your model on the 4 test images (provided by your mentor).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36068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64083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04" y="1720007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70027" y="1720007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429" y="1720007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Dog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6832" y="1720007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04728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5004" y="2126456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70027" y="212645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429" y="212645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6832" y="2126456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24537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5004" y="2532906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70027" y="253290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429" y="253290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6832" y="2532906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0881" y="286017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004" y="2939355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70027" y="293935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8429" y="293935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6832" y="2939355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881" y="32666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5004" y="3345805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70027" y="334580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8429" y="334580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6832" y="3345805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119" y="381736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119" y="420499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correct: ___ out of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75036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Observations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2033141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203790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2117080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12594" y="2117080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Answer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44435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2523530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it recognize the training images? (Try them!)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12594" y="2523530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85080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929979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it recognize new test images?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12594" y="2929979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25725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3336429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 confidence higher on training images or test images?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12594" y="3336429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5668"/>
            <a:ext cx="447489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2 : A Bit More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2776"/>
            <a:ext cx="247962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 images per class · 1 epoch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03135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do you think will happen with 10 images per class?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41897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56967"/>
            <a:ext cx="2037904" cy="4961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3377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 Old Data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022" y="2756967"/>
            <a:ext cx="2037978" cy="4961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7996" y="3377059"/>
            <a:ext cx="16983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10 Images Each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57996" y="3645322"/>
            <a:ext cx="17900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56967"/>
            <a:ext cx="2037904" cy="496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95974" y="3377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Epochs = 1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04" y="2756967"/>
            <a:ext cx="2037978" cy="4961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3877" y="3377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 the Model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4188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Experiment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4229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on the same 4 test images again.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829916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83467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78" y="19138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2982" y="19138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4265" y="19138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Dog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05549" y="191385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3952" y="19138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than Exp 1?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224112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5078" y="23203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2982" y="23203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4265" y="23203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5549" y="232030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33952" y="23203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881" y="264757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5078" y="272675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62982" y="272675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4265" y="272675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549" y="2726754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33952" y="272675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0881" y="305402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5078" y="313320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62982" y="313320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4265" y="313320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5549" y="3133204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3952" y="313320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881" y="346047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5078" y="353965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62982" y="353965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4265" y="3539654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5549" y="3539654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33952" y="353965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119" y="401121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correct: ___ out of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4045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Results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962150"/>
            <a:ext cx="8151763" cy="723156"/>
          </a:xfrm>
          <a:prstGeom prst="roundRect">
            <a:avLst>
              <a:gd name="adj" fmla="val 257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966913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2046089"/>
            <a:ext cx="38207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98429" y="2046089"/>
            <a:ext cx="17828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 1 (1 image)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733952" y="2046089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 2 (10 images)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0881" y="2323728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4929" y="2402904"/>
            <a:ext cx="38207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out of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98429" y="2402904"/>
            <a:ext cx="17828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33952" y="2402904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282483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162821"/>
            <a:ext cx="8151763" cy="576635"/>
          </a:xfrm>
          <a:prstGeom prst="roundRect">
            <a:avLst>
              <a:gd name="adj" fmla="val 32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358307"/>
            <a:ext cx="193774" cy="1550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37840" y="3317751"/>
            <a:ext cx="758606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 you notice? Did more data help?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8781"/>
            <a:ext cx="359836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3: More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15889"/>
            <a:ext cx="271157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~100 images per class · 1 epoch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93446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do you think will happen with around 100 images per class?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322091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60079"/>
            <a:ext cx="2037904" cy="4961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32801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Clear Old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3548435"/>
            <a:ext cx="17899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022" y="2660079"/>
            <a:ext cx="2037978" cy="4961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7996" y="3280172"/>
            <a:ext cx="179003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Upload Around 100 Images Each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57996" y="3742283"/>
            <a:ext cx="17900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660079"/>
            <a:ext cx="2037904" cy="4961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95974" y="32801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Epochs = 1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695974" y="3548435"/>
            <a:ext cx="17899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04" y="2660079"/>
            <a:ext cx="2037978" cy="4961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33877" y="32801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 the Model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733877" y="3548435"/>
            <a:ext cx="17900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339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Experiment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24844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on the same 4 test images.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36068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64083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78" y="1720007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2982" y="1720007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4265" y="1720007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Dog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05549" y="1720007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3952" y="1720007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to Exp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204728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5078" y="212645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2982" y="212645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4265" y="212645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5549" y="212645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33952" y="212645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881" y="24537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5078" y="253290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62982" y="253290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4265" y="253290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549" y="253290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33952" y="253290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0881" y="286017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5078" y="29393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62982" y="29393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4265" y="29393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5549" y="293935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3952" y="29393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881" y="32666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5078" y="33458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62982" y="33458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4265" y="33458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5549" y="334580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33952" y="33458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119" y="381736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6119" y="420499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correct: ___ out of 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4045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Results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962150"/>
            <a:ext cx="8151763" cy="723156"/>
          </a:xfrm>
          <a:prstGeom prst="roundRect">
            <a:avLst>
              <a:gd name="adj" fmla="val 257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966913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5078" y="2046089"/>
            <a:ext cx="25180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95811" y="2046089"/>
            <a:ext cx="15385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 1 (1)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87032" y="2046089"/>
            <a:ext cx="15385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 2 (10)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78253" y="2046089"/>
            <a:ext cx="154089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 3 (~100)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0881" y="2323728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5078" y="2402904"/>
            <a:ext cx="251802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out of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95811" y="2402904"/>
            <a:ext cx="15385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87032" y="2402904"/>
            <a:ext cx="153851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78253" y="2402904"/>
            <a:ext cx="154089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282483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162821"/>
            <a:ext cx="8151763" cy="576635"/>
          </a:xfrm>
          <a:prstGeom prst="roundRect">
            <a:avLst>
              <a:gd name="adj" fmla="val 32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358307"/>
            <a:ext cx="193774" cy="1550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37840" y="3317751"/>
            <a:ext cx="758606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 you notice? Did more data help? Why do you think that happened?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6673"/>
            <a:ext cx="423207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 4: More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43782"/>
            <a:ext cx="293191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~100 images per class · 50 epochs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862361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20034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do you think will happen if we train for much longer on the same images?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58797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925961"/>
            <a:ext cx="2717229" cy="4961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0092" y="35460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Same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0092" y="3814316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2925961"/>
            <a:ext cx="2717229" cy="4961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322" y="3546053"/>
            <a:ext cx="15953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Increase Epochs to 50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925961"/>
            <a:ext cx="2717229" cy="4961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4551" y="35460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 the Model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0339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Experiment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24844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on the same 4 test images one last 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36068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64083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78" y="1720007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2982" y="1720007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4265" y="1720007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Dog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05549" y="1720007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3952" y="1720007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to Exp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2047280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5078" y="212645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62982" y="212645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4265" y="212645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5549" y="212645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33952" y="212645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Better? Worse?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881" y="24537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5078" y="253290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cat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62982" y="253290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4265" y="2532906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549" y="2532906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33952" y="253290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Better? Worse?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0881" y="286017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5078" y="29393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62982" y="29393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4265" y="293935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5549" y="293935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3952" y="293935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Better? Worse?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881" y="326662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5078" y="33458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dog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62982" y="33458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4265" y="3345805"/>
            <a:ext cx="9685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5549" y="3345805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33952" y="334580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Better? Worse?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119" y="381736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6119" y="420499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correct: ___ out of 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8279"/>
            <a:ext cx="337088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Happened? Check One: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316385"/>
            <a:ext cx="2634555" cy="1040978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4380" y="1454646"/>
            <a:ext cx="231301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Got BETTER than Experiment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380" y="1722909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training helped the model generalize even further.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54648" y="1316385"/>
            <a:ext cx="2634630" cy="1040978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92909" y="1454646"/>
            <a:ext cx="227022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Got WORSE than Experiment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92909" y="1722909"/>
            <a:ext cx="235810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may have started to overfit.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3252" y="1316385"/>
            <a:ext cx="2634555" cy="1040978"/>
          </a:xfrm>
          <a:prstGeom prst="roundRect">
            <a:avLst>
              <a:gd name="adj" fmla="val 178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51513" y="1454646"/>
            <a:ext cx="17334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Stayed about the SAME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51513" y="1722909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may have already learned all it could from the data.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249688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 you think caused this?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119" y="288451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3222501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6119" y="3560490"/>
            <a:ext cx="8151763" cy="824731"/>
          </a:xfrm>
          <a:prstGeom prst="roundRect">
            <a:avLst>
              <a:gd name="adj" fmla="val 22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55975"/>
            <a:ext cx="193774" cy="1550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37840" y="3715420"/>
            <a:ext cx="758606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it got worse, this could be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overfitting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when AI memorizes instead of learning. If it stayed the same, maybe it learned all it could from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4188"/>
            <a:ext cx="3215729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All 4 Experiments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442293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44705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5004" y="1526232"/>
            <a:ext cx="970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48669" y="1526232"/>
            <a:ext cx="218993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per Class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1310" y="1526232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Epochs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19713" y="1526232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out of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185350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5004" y="1932682"/>
            <a:ext cx="970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48669" y="1932682"/>
            <a:ext cx="218993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1310" y="1932682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19713" y="1932682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225995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5004" y="2339132"/>
            <a:ext cx="970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48669" y="2339132"/>
            <a:ext cx="218993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1310" y="2339132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19713" y="2339132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66640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5004" y="2745581"/>
            <a:ext cx="970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8669" y="2745581"/>
            <a:ext cx="218993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around 100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1310" y="2745581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19713" y="2745581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0881" y="307285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5004" y="3152031"/>
            <a:ext cx="970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48669" y="3152031"/>
            <a:ext cx="218993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around 100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1310" y="3152031"/>
            <a:ext cx="13756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19713" y="3152031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6119" y="362359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6119" y="401121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experiment worked best? Experiment ___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49263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Takeaways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496119" y="1145381"/>
            <a:ext cx="123974" cy="744215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44066" y="1269355"/>
            <a:ext cx="447481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With very few images (1) - The AI could only memorize, not learn real patterns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2154" y="2013570"/>
            <a:ext cx="123974" cy="744215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30101" y="2137544"/>
            <a:ext cx="381446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With more images (10) - Performance improved a bit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189" y="2881759"/>
            <a:ext cx="123974" cy="744215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16137" y="3005733"/>
            <a:ext cx="410274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With many images (around 100) - Performance improved a lot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54298" y="3749948"/>
            <a:ext cx="123974" cy="744215"/>
          </a:xfrm>
          <a:prstGeom prst="roundRect">
            <a:avLst>
              <a:gd name="adj" fmla="val 150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302246" y="3873922"/>
            <a:ext cx="3916635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With too much training (50 epochs) - Sometimes helps, sometimes causes overfitting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0706"/>
            <a:ext cx="54885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AI Uses the Same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7627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25886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1M+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27733" y="28902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158505"/>
            <a:ext cx="261386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ImageNet, a famous dataset, has over 1 million labeled images used to train real AI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64991" y="2325886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796680" y="28902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Epochs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991" y="3158505"/>
            <a:ext cx="261394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models are often trained for hundreds of epochs with careful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3939" y="2325886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95%+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65627" y="28902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3939" y="3158505"/>
            <a:ext cx="261394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State-of-the-art image classifiers can achieve over 95% accuracy on test data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386"/>
            <a:ext cx="528511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 : What We Learned Today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46956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0092" y="13709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Kaggle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0092" y="1639193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website where data scientists share datasets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54648" y="1246956"/>
            <a:ext cx="2634630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378622" y="13709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training_set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8622" y="1639193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Folder with dataset used to teach the 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13252" y="1246956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37225" y="137093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test_set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7225" y="1639193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Folder with brand new dataset to test real learning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6119" y="2383334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0092" y="25073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 Classification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092" y="2775570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looks at pictures and decides what they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54648" y="2383334"/>
            <a:ext cx="2634630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78622" y="25073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Epochs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8622" y="2775570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many times the AI studies all the training images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3252" y="2383334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37225" y="25073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37225" y="2775570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percentage showing how sure the AI is about its prediction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6119" y="3519711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0092" y="36436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Limited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092" y="3911947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enough examples to learn properly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54648" y="3519711"/>
            <a:ext cx="2634630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78622" y="36436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78622" y="3911947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Being able to handle new situations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13252" y="3519711"/>
            <a:ext cx="2634555" cy="1012403"/>
          </a:xfrm>
          <a:prstGeom prst="roundRect">
            <a:avLst>
              <a:gd name="adj" fmla="val 1838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37225" y="36436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Overfitting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225" y="3911947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AI memorizes instead of truly learning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5009"/>
            <a:ext cx="29460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137047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a dataset online (any topic - images, text, sports, music, weather, anything interesting!)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492746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212" y="1848445"/>
            <a:ext cx="4101926" cy="2750046"/>
          </a:xfrm>
          <a:prstGeom prst="roundRect">
            <a:avLst>
              <a:gd name="adj" fmla="val 64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9010" y="1960364"/>
            <a:ext cx="147302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Some Places to Look: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339" y="2270447"/>
            <a:ext cx="14288" cy="1570137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3052" y="2395835"/>
            <a:ext cx="235669" cy="14288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4" y="2358814"/>
            <a:ext cx="88329" cy="8832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752" y="2310929"/>
            <a:ext cx="2643857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Kaggle (explore their datasets section)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052" y="2844329"/>
            <a:ext cx="235669" cy="14288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4" y="2807308"/>
            <a:ext cx="88329" cy="883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8752" y="2759422"/>
            <a:ext cx="1845394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Government data websites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052" y="3292822"/>
            <a:ext cx="235669" cy="14288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4" y="3255801"/>
            <a:ext cx="88329" cy="883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88752" y="3207916"/>
            <a:ext cx="1758776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Sports statistics websites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052" y="3741316"/>
            <a:ext cx="235669" cy="14288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4" y="3704295"/>
            <a:ext cx="88329" cy="8832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8752" y="3656409"/>
            <a:ext cx="2192164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Any public dataset you can find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720530" y="1960364"/>
            <a:ext cx="1774999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Answer These Questions:</a:t>
            </a:r>
            <a:endParaRPr lang="en-US" sz="11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30" y="2270447"/>
            <a:ext cx="589211" cy="7070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21660" y="2388245"/>
            <a:ext cx="3230984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type of data does the dataset contain? (Images? Numbers? Text? Audio?)</a:t>
            </a:r>
            <a:endParaRPr lang="en-US" sz="1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30" y="2977455"/>
            <a:ext cx="589211" cy="78811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21660" y="3095253"/>
            <a:ext cx="3230984" cy="55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problem could this dataset help solve? (Example: "This dataset of house prices could help predict what a house is worth.")</a:t>
            </a:r>
            <a:endParaRPr lang="en-US" sz="11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530" y="3765575"/>
            <a:ext cx="589211" cy="7070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21660" y="3883372"/>
            <a:ext cx="3230984" cy="36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challenges might appear when training a model using this dataset?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95773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332881"/>
            <a:ext cx="291532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7: What is Generative AI?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2751460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You've trained AI to recognise things — next session, you'll discover AI that can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them. Text, images, audio, and more. Welcome to Generative AI.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C97E870F6D7542BABA8D0CA62BEE9C" ma:contentTypeVersion="4" ma:contentTypeDescription="新建文档。" ma:contentTypeScope="" ma:versionID="2a884758a1a96afdab5f030d69ab96dc">
  <xsd:schema xmlns:xsd="http://www.w3.org/2001/XMLSchema" xmlns:xs="http://www.w3.org/2001/XMLSchema" xmlns:p="http://schemas.microsoft.com/office/2006/metadata/properties" xmlns:ns3="e0221f9d-b794-42ac-8043-be0753f8addc" targetNamespace="http://schemas.microsoft.com/office/2006/metadata/properties" ma:root="true" ma:fieldsID="c6778a65063483b2d790b89d984a301d" ns3:_="">
    <xsd:import namespace="e0221f9d-b794-42ac-8043-be0753f8add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21f9d-b794-42ac-8043-be0753f8add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2F5952-A07B-4017-86B5-F1AFF4BE2692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e0221f9d-b794-42ac-8043-be0753f8addc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0F1E010-3CE6-4351-8026-6CDED5CBF5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221f9d-b794-42ac-8043-be0753f8ad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F4C9C1-8FBD-48CC-A545-214DA0D277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1709</Words>
  <Application>Microsoft Office PowerPoint</Application>
  <PresentationFormat>On-screen Show (16:9)</PresentationFormat>
  <Paragraphs>370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Roboto Slab</vt:lpstr>
      <vt:lpstr>Roboto</vt:lpstr>
      <vt:lpstr>Arial</vt:lpstr>
      <vt:lpstr>Consolas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4</cp:revision>
  <dcterms:created xsi:type="dcterms:W3CDTF">2026-05-08T09:15:41Z</dcterms:created>
  <dcterms:modified xsi:type="dcterms:W3CDTF">2026-05-08T09:54:14Z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0x010100D1C97E870F6D7542BABA8D0CA62BEE9C</vt:lpwstr>
  </property>
</Properties>
</file>