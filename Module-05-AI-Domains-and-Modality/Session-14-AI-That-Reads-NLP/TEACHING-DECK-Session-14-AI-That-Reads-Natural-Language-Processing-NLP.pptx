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2" r:id="rId14"/>
    <p:sldId id="270" r:id="rId15"/>
    <p:sldId id="271" r:id="rId16"/>
    <p:sldId id="272" r:id="rId17"/>
    <p:sldId id="273" r:id="rId18"/>
    <p:sldId id="293" r:id="rId19"/>
    <p:sldId id="294"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Lst>
  <p:sldSz cx="9144000" cy="5143500" type="screen16x9"/>
  <p:notesSz cx="5143500" cy="9144000"/>
  <p:embeddedFontLst>
    <p:embeddedFont>
      <p:font typeface="Roboto" panose="02000000000000000000" pitchFamily="2" charset="0"/>
      <p:regular r:id="rId37"/>
      <p:bold r:id="rId38"/>
      <p:italic r:id="rId39"/>
    </p:embeddedFont>
    <p:embeddedFont>
      <p:font typeface="Roboto Slab" pitchFamily="2" charset="0"/>
      <p:regular r:id="rId40"/>
      <p:bold r:id="rId41"/>
    </p:embeddedFont>
    <p:embeddedFont>
      <p:font typeface="Roboto Slab Light" pitchFamily="2"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0849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lide 3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23.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27.sv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8" Type="http://schemas.openxmlformats.org/officeDocument/2006/relationships/hyperlink" Target="https://translate.google.com/" TargetMode="External"/><Relationship Id="rId13" Type="http://schemas.openxmlformats.org/officeDocument/2006/relationships/image" Target="../media/image37.svg"/><Relationship Id="rId3" Type="http://schemas.openxmlformats.org/officeDocument/2006/relationships/image" Target="../media/image31.svg"/><Relationship Id="rId7" Type="http://schemas.openxmlformats.org/officeDocument/2006/relationships/image" Target="../media/image34.png"/><Relationship Id="rId12" Type="http://schemas.openxmlformats.org/officeDocument/2006/relationships/hyperlink" Target="https://gemini.google.com/" TargetMode="External"/><Relationship Id="rId2" Type="http://schemas.openxmlformats.org/officeDocument/2006/relationships/notesSlide" Target="../notesSlides/notesSlide22.xml"/><Relationship Id="rId1" Type="http://schemas.openxmlformats.org/officeDocument/2006/relationships/slideLayout" Target="../slideLayouts/slideLayout25.xml"/><Relationship Id="rId6" Type="http://schemas.openxmlformats.org/officeDocument/2006/relationships/image" Target="../media/image33.svg"/><Relationship Id="rId11" Type="http://schemas.openxmlformats.org/officeDocument/2006/relationships/hyperlink" Target="https://chatgpt.com/" TargetMode="External"/><Relationship Id="rId5" Type="http://schemas.openxmlformats.org/officeDocument/2006/relationships/hyperlink" Target="https://quillbot.com/" TargetMode="External"/><Relationship Id="rId15" Type="http://schemas.openxmlformats.org/officeDocument/2006/relationships/hyperlink" Target="https://notebooklm.google.com/notebook" TargetMode="External"/><Relationship Id="rId10"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5.svg"/><Relationship Id="rId1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773362"/>
            <a:ext cx="4722763" cy="1162645"/>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Session 14: </a:t>
            </a:r>
            <a:endParaRPr lang="en-US" sz="2400" dirty="0"/>
          </a:p>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AI That Reads - Natural Language Processing (NLP)</a:t>
            </a:r>
            <a:endParaRPr lang="en-US" sz="2400" dirty="0"/>
          </a:p>
        </p:txBody>
      </p:sp>
      <p:sp>
        <p:nvSpPr>
          <p:cNvPr id="4" name="Text 1"/>
          <p:cNvSpPr/>
          <p:nvPr/>
        </p:nvSpPr>
        <p:spPr>
          <a:xfrm>
            <a:off x="496119" y="3122042"/>
            <a:ext cx="4722763" cy="248096"/>
          </a:xfrm>
          <a:prstGeom prst="rect">
            <a:avLst/>
          </a:prstGeom>
          <a:noFill/>
          <a:ln/>
        </p:spPr>
        <p:txBody>
          <a:bodyPr wrap="none" lIns="0" tIns="0" rIns="0" bIns="0" rtlCol="0" anchor="t"/>
          <a:lstStyle/>
          <a:p>
            <a:pPr marL="0" indent="0" algn="l">
              <a:lnSpc>
                <a:spcPts val="1950"/>
              </a:lnSpc>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743596"/>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Objectives</a:t>
            </a:r>
            <a:endParaRPr lang="en-US" sz="1200" dirty="0"/>
          </a:p>
        </p:txBody>
      </p:sp>
      <p:sp>
        <p:nvSpPr>
          <p:cNvPr id="3" name="Text 1"/>
          <p:cNvSpPr/>
          <p:nvPr/>
        </p:nvSpPr>
        <p:spPr>
          <a:xfrm>
            <a:off x="496119" y="2131219"/>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01</a:t>
            </a:r>
            <a:endParaRPr lang="en-US" sz="950" dirty="0"/>
          </a:p>
        </p:txBody>
      </p:sp>
      <p:pic>
        <p:nvPicPr>
          <p:cNvPr id="4" name="Image 0" descr="preencoded.png"/>
          <p:cNvPicPr>
            <a:picLocks noChangeAspect="1"/>
          </p:cNvPicPr>
          <p:nvPr/>
        </p:nvPicPr>
        <p:blipFill>
          <a:blip r:embed="rId3"/>
          <a:stretch>
            <a:fillRect/>
          </a:stretch>
        </p:blipFill>
        <p:spPr>
          <a:xfrm>
            <a:off x="496119" y="2327672"/>
            <a:ext cx="1944960" cy="14288"/>
          </a:xfrm>
          <a:prstGeom prst="rect">
            <a:avLst/>
          </a:prstGeom>
        </p:spPr>
      </p:pic>
      <p:sp>
        <p:nvSpPr>
          <p:cNvPr id="5" name="Text 2"/>
          <p:cNvSpPr/>
          <p:nvPr/>
        </p:nvSpPr>
        <p:spPr>
          <a:xfrm>
            <a:off x="496119" y="2418234"/>
            <a:ext cx="194496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Define NLP</a:t>
            </a:r>
            <a:endParaRPr lang="en-US" sz="1200" dirty="0"/>
          </a:p>
        </p:txBody>
      </p:sp>
      <p:sp>
        <p:nvSpPr>
          <p:cNvPr id="6" name="Text 3"/>
          <p:cNvSpPr/>
          <p:nvPr/>
        </p:nvSpPr>
        <p:spPr>
          <a:xfrm>
            <a:off x="2565053" y="2131219"/>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02</a:t>
            </a:r>
            <a:endParaRPr lang="en-US" sz="950" dirty="0"/>
          </a:p>
        </p:txBody>
      </p:sp>
      <p:pic>
        <p:nvPicPr>
          <p:cNvPr id="7" name="Image 1" descr="preencoded.png"/>
          <p:cNvPicPr>
            <a:picLocks noChangeAspect="1"/>
          </p:cNvPicPr>
          <p:nvPr/>
        </p:nvPicPr>
        <p:blipFill>
          <a:blip r:embed="rId3"/>
          <a:stretch>
            <a:fillRect/>
          </a:stretch>
        </p:blipFill>
        <p:spPr>
          <a:xfrm>
            <a:off x="2565053" y="2327672"/>
            <a:ext cx="1944960" cy="14288"/>
          </a:xfrm>
          <a:prstGeom prst="rect">
            <a:avLst/>
          </a:prstGeom>
        </p:spPr>
      </p:pic>
      <p:sp>
        <p:nvSpPr>
          <p:cNvPr id="8" name="Text 4"/>
          <p:cNvSpPr/>
          <p:nvPr/>
        </p:nvSpPr>
        <p:spPr>
          <a:xfrm>
            <a:off x="2565053" y="2418234"/>
            <a:ext cx="194496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The Three‑Stage Pipeline</a:t>
            </a:r>
            <a:endParaRPr lang="en-US" sz="1200" dirty="0"/>
          </a:p>
        </p:txBody>
      </p:sp>
      <p:sp>
        <p:nvSpPr>
          <p:cNvPr id="9" name="Text 5"/>
          <p:cNvSpPr/>
          <p:nvPr/>
        </p:nvSpPr>
        <p:spPr>
          <a:xfrm>
            <a:off x="4633987" y="2131219"/>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03</a:t>
            </a:r>
            <a:endParaRPr lang="en-US" sz="950" dirty="0"/>
          </a:p>
        </p:txBody>
      </p:sp>
      <p:pic>
        <p:nvPicPr>
          <p:cNvPr id="10" name="Image 2" descr="preencoded.png"/>
          <p:cNvPicPr>
            <a:picLocks noChangeAspect="1"/>
          </p:cNvPicPr>
          <p:nvPr/>
        </p:nvPicPr>
        <p:blipFill>
          <a:blip r:embed="rId3"/>
          <a:stretch>
            <a:fillRect/>
          </a:stretch>
        </p:blipFill>
        <p:spPr>
          <a:xfrm>
            <a:off x="4633987" y="2327672"/>
            <a:ext cx="1944886" cy="14288"/>
          </a:xfrm>
          <a:prstGeom prst="rect">
            <a:avLst/>
          </a:prstGeom>
        </p:spPr>
      </p:pic>
      <p:sp>
        <p:nvSpPr>
          <p:cNvPr id="11" name="Text 6"/>
          <p:cNvSpPr/>
          <p:nvPr/>
        </p:nvSpPr>
        <p:spPr>
          <a:xfrm>
            <a:off x="4633987" y="2418234"/>
            <a:ext cx="194488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Breaking Down NLP Steps </a:t>
            </a:r>
            <a:endParaRPr lang="en-US" sz="1200" dirty="0"/>
          </a:p>
        </p:txBody>
      </p:sp>
      <p:sp>
        <p:nvSpPr>
          <p:cNvPr id="12" name="Text 7"/>
          <p:cNvSpPr/>
          <p:nvPr/>
        </p:nvSpPr>
        <p:spPr>
          <a:xfrm>
            <a:off x="6702847" y="2131219"/>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04</a:t>
            </a:r>
            <a:endParaRPr lang="en-US" sz="950" dirty="0"/>
          </a:p>
        </p:txBody>
      </p:sp>
      <p:pic>
        <p:nvPicPr>
          <p:cNvPr id="13" name="Image 3" descr="preencoded.png"/>
          <p:cNvPicPr>
            <a:picLocks noChangeAspect="1"/>
          </p:cNvPicPr>
          <p:nvPr/>
        </p:nvPicPr>
        <p:blipFill>
          <a:blip r:embed="rId3"/>
          <a:stretch>
            <a:fillRect/>
          </a:stretch>
        </p:blipFill>
        <p:spPr>
          <a:xfrm>
            <a:off x="6702847" y="2327672"/>
            <a:ext cx="1945035" cy="14288"/>
          </a:xfrm>
          <a:prstGeom prst="rect">
            <a:avLst/>
          </a:prstGeom>
        </p:spPr>
      </p:pic>
      <p:sp>
        <p:nvSpPr>
          <p:cNvPr id="14" name="Text 8"/>
          <p:cNvSpPr/>
          <p:nvPr/>
        </p:nvSpPr>
        <p:spPr>
          <a:xfrm>
            <a:off x="6702847" y="2418234"/>
            <a:ext cx="194503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Common NLP Tasks</a:t>
            </a:r>
            <a:endParaRPr lang="en-US" sz="1200" dirty="0"/>
          </a:p>
        </p:txBody>
      </p:sp>
      <p:sp>
        <p:nvSpPr>
          <p:cNvPr id="15" name="Text 9"/>
          <p:cNvSpPr/>
          <p:nvPr/>
        </p:nvSpPr>
        <p:spPr>
          <a:xfrm>
            <a:off x="496119" y="2883322"/>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05</a:t>
            </a:r>
            <a:endParaRPr lang="en-US" sz="950" dirty="0"/>
          </a:p>
        </p:txBody>
      </p:sp>
      <p:pic>
        <p:nvPicPr>
          <p:cNvPr id="16" name="Image 4" descr="preencoded.png"/>
          <p:cNvPicPr>
            <a:picLocks noChangeAspect="1"/>
          </p:cNvPicPr>
          <p:nvPr/>
        </p:nvPicPr>
        <p:blipFill>
          <a:blip r:embed="rId4"/>
          <a:stretch>
            <a:fillRect/>
          </a:stretch>
        </p:blipFill>
        <p:spPr>
          <a:xfrm>
            <a:off x="496119" y="3067422"/>
            <a:ext cx="2634555" cy="14288"/>
          </a:xfrm>
          <a:prstGeom prst="rect">
            <a:avLst/>
          </a:prstGeom>
        </p:spPr>
      </p:pic>
      <p:sp>
        <p:nvSpPr>
          <p:cNvPr id="17" name="Text 10"/>
          <p:cNvSpPr/>
          <p:nvPr/>
        </p:nvSpPr>
        <p:spPr>
          <a:xfrm>
            <a:off x="496119" y="3170337"/>
            <a:ext cx="263455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Challenges in NLP</a:t>
            </a:r>
            <a:endParaRPr lang="en-US" sz="1200" dirty="0"/>
          </a:p>
        </p:txBody>
      </p:sp>
      <p:sp>
        <p:nvSpPr>
          <p:cNvPr id="18" name="Text 11"/>
          <p:cNvSpPr/>
          <p:nvPr/>
        </p:nvSpPr>
        <p:spPr>
          <a:xfrm>
            <a:off x="3254648" y="2883322"/>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06</a:t>
            </a:r>
            <a:endParaRPr lang="en-US" sz="950" dirty="0"/>
          </a:p>
        </p:txBody>
      </p:sp>
      <p:pic>
        <p:nvPicPr>
          <p:cNvPr id="19" name="Image 5" descr="preencoded.png"/>
          <p:cNvPicPr>
            <a:picLocks noChangeAspect="1"/>
          </p:cNvPicPr>
          <p:nvPr/>
        </p:nvPicPr>
        <p:blipFill>
          <a:blip r:embed="rId4"/>
          <a:stretch>
            <a:fillRect/>
          </a:stretch>
        </p:blipFill>
        <p:spPr>
          <a:xfrm>
            <a:off x="3254648" y="3067422"/>
            <a:ext cx="2634630" cy="14288"/>
          </a:xfrm>
          <a:prstGeom prst="rect">
            <a:avLst/>
          </a:prstGeom>
        </p:spPr>
      </p:pic>
      <p:sp>
        <p:nvSpPr>
          <p:cNvPr id="20" name="Text 12"/>
          <p:cNvSpPr/>
          <p:nvPr/>
        </p:nvSpPr>
        <p:spPr>
          <a:xfrm>
            <a:off x="3254648" y="3170337"/>
            <a:ext cx="263463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Hands‑On Tools</a:t>
            </a:r>
            <a:endParaRPr lang="en-US" sz="1200" dirty="0"/>
          </a:p>
        </p:txBody>
      </p:sp>
      <p:sp>
        <p:nvSpPr>
          <p:cNvPr id="21" name="Text 13"/>
          <p:cNvSpPr/>
          <p:nvPr/>
        </p:nvSpPr>
        <p:spPr>
          <a:xfrm>
            <a:off x="6013252" y="2883322"/>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07</a:t>
            </a:r>
            <a:endParaRPr lang="en-US" sz="950" dirty="0"/>
          </a:p>
        </p:txBody>
      </p:sp>
      <p:pic>
        <p:nvPicPr>
          <p:cNvPr id="22" name="Image 6" descr="preencoded.png"/>
          <p:cNvPicPr>
            <a:picLocks noChangeAspect="1"/>
          </p:cNvPicPr>
          <p:nvPr/>
        </p:nvPicPr>
        <p:blipFill>
          <a:blip r:embed="rId4"/>
          <a:stretch>
            <a:fillRect/>
          </a:stretch>
        </p:blipFill>
        <p:spPr>
          <a:xfrm>
            <a:off x="6013252" y="3067422"/>
            <a:ext cx="2634630" cy="14288"/>
          </a:xfrm>
          <a:prstGeom prst="rect">
            <a:avLst/>
          </a:prstGeom>
        </p:spPr>
      </p:pic>
      <p:sp>
        <p:nvSpPr>
          <p:cNvPr id="23" name="Text 14"/>
          <p:cNvSpPr/>
          <p:nvPr/>
        </p:nvSpPr>
        <p:spPr>
          <a:xfrm>
            <a:off x="6013252" y="3170337"/>
            <a:ext cx="263463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Prompt Library</a:t>
            </a:r>
            <a:endParaRPr lang="en-US" sz="1200" dirty="0"/>
          </a:p>
        </p:txBody>
      </p:sp>
      <p:cxnSp>
        <p:nvCxnSpPr>
          <p:cNvPr id="25" name="Straight Connector 24">
            <a:extLst>
              <a:ext uri="{FF2B5EF4-FFF2-40B4-BE49-F238E27FC236}">
                <a16:creationId xmlns:a16="http://schemas.microsoft.com/office/drawing/2014/main" id="{E06FC673-EBC9-8966-4667-89311A0C044D}"/>
              </a:ext>
            </a:extLst>
          </p:cNvPr>
          <p:cNvCxnSpPr>
            <a:cxnSpLocks/>
          </p:cNvCxnSpPr>
          <p:nvPr/>
        </p:nvCxnSpPr>
        <p:spPr>
          <a:xfrm>
            <a:off x="482051" y="2334816"/>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43E0B9D-B90C-393C-7524-185BDE1D7584}"/>
              </a:ext>
            </a:extLst>
          </p:cNvPr>
          <p:cNvCxnSpPr>
            <a:cxnSpLocks/>
          </p:cNvCxnSpPr>
          <p:nvPr/>
        </p:nvCxnSpPr>
        <p:spPr>
          <a:xfrm>
            <a:off x="2544255" y="2334926"/>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9A7166F-DC63-7025-ECF5-2122C974F1FD}"/>
              </a:ext>
            </a:extLst>
          </p:cNvPr>
          <p:cNvCxnSpPr>
            <a:cxnSpLocks/>
          </p:cNvCxnSpPr>
          <p:nvPr/>
        </p:nvCxnSpPr>
        <p:spPr>
          <a:xfrm>
            <a:off x="4592150" y="2337159"/>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6B283CE-3E1F-BEF9-483E-8550BEB5AA72}"/>
              </a:ext>
            </a:extLst>
          </p:cNvPr>
          <p:cNvCxnSpPr>
            <a:cxnSpLocks/>
          </p:cNvCxnSpPr>
          <p:nvPr/>
        </p:nvCxnSpPr>
        <p:spPr>
          <a:xfrm>
            <a:off x="6657759" y="2334813"/>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7703437-F49D-6490-57A1-BCF43C9C9B0A}"/>
              </a:ext>
            </a:extLst>
          </p:cNvPr>
          <p:cNvCxnSpPr>
            <a:cxnSpLocks/>
          </p:cNvCxnSpPr>
          <p:nvPr/>
        </p:nvCxnSpPr>
        <p:spPr>
          <a:xfrm>
            <a:off x="489085" y="3088634"/>
            <a:ext cx="26345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81D40A5-73E7-FCE9-395D-4732A70AD02C}"/>
              </a:ext>
            </a:extLst>
          </p:cNvPr>
          <p:cNvCxnSpPr>
            <a:cxnSpLocks/>
          </p:cNvCxnSpPr>
          <p:nvPr/>
        </p:nvCxnSpPr>
        <p:spPr>
          <a:xfrm>
            <a:off x="3233549" y="3088524"/>
            <a:ext cx="26345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676658-6ADD-4B69-2DAC-46E1D8B45F42}"/>
              </a:ext>
            </a:extLst>
          </p:cNvPr>
          <p:cNvCxnSpPr>
            <a:cxnSpLocks/>
          </p:cNvCxnSpPr>
          <p:nvPr/>
        </p:nvCxnSpPr>
        <p:spPr>
          <a:xfrm>
            <a:off x="5980175" y="3088634"/>
            <a:ext cx="2634555"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78693"/>
            <a:ext cx="5618783"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Recap: What We Learned in Session 13</a:t>
            </a:r>
            <a:endParaRPr lang="en-US" sz="2400" dirty="0"/>
          </a:p>
        </p:txBody>
      </p:sp>
      <p:sp>
        <p:nvSpPr>
          <p:cNvPr id="3" name="Shape 1"/>
          <p:cNvSpPr/>
          <p:nvPr/>
        </p:nvSpPr>
        <p:spPr>
          <a:xfrm>
            <a:off x="496119" y="1014264"/>
            <a:ext cx="8151763" cy="2448223"/>
          </a:xfrm>
          <a:prstGeom prst="roundRect">
            <a:avLst>
              <a:gd name="adj" fmla="val 760"/>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019026"/>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098203"/>
            <a:ext cx="219231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Key Idea</a:t>
            </a:r>
            <a:endParaRPr lang="en-US" sz="1200" dirty="0"/>
          </a:p>
        </p:txBody>
      </p:sp>
      <p:sp>
        <p:nvSpPr>
          <p:cNvPr id="6" name="Text 4"/>
          <p:cNvSpPr/>
          <p:nvPr/>
        </p:nvSpPr>
        <p:spPr>
          <a:xfrm>
            <a:off x="3069952" y="1098203"/>
            <a:ext cx="544919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It Means</a:t>
            </a:r>
            <a:endParaRPr lang="en-US" sz="1200" dirty="0"/>
          </a:p>
        </p:txBody>
      </p:sp>
      <p:sp>
        <p:nvSpPr>
          <p:cNvPr id="7" name="Shape 5"/>
          <p:cNvSpPr/>
          <p:nvPr/>
        </p:nvSpPr>
        <p:spPr>
          <a:xfrm>
            <a:off x="500881" y="1425476"/>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1504652"/>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Domain‑specific prompting</a:t>
            </a:r>
            <a:endParaRPr lang="en-US" sz="1200" dirty="0"/>
          </a:p>
        </p:txBody>
      </p:sp>
      <p:sp>
        <p:nvSpPr>
          <p:cNvPr id="9" name="Text 7"/>
          <p:cNvSpPr/>
          <p:nvPr/>
        </p:nvSpPr>
        <p:spPr>
          <a:xfrm>
            <a:off x="3069952" y="1504652"/>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Adapt your prompt to creative, everyday, research, learning, or writing tasks.</a:t>
            </a:r>
            <a:endParaRPr lang="en-US" sz="1200" dirty="0"/>
          </a:p>
        </p:txBody>
      </p:sp>
      <p:sp>
        <p:nvSpPr>
          <p:cNvPr id="10" name="Shape 8"/>
          <p:cNvSpPr/>
          <p:nvPr/>
        </p:nvSpPr>
        <p:spPr>
          <a:xfrm>
            <a:off x="500881" y="1831925"/>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1911102"/>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Verification</a:t>
            </a:r>
            <a:endParaRPr lang="en-US" sz="1200" dirty="0"/>
          </a:p>
        </p:txBody>
      </p:sp>
      <p:sp>
        <p:nvSpPr>
          <p:cNvPr id="12" name="Text 10"/>
          <p:cNvSpPr/>
          <p:nvPr/>
        </p:nvSpPr>
        <p:spPr>
          <a:xfrm>
            <a:off x="3069952" y="1911102"/>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Always check AI facts against trusted sources.</a:t>
            </a:r>
            <a:endParaRPr lang="en-US" sz="1200" dirty="0"/>
          </a:p>
        </p:txBody>
      </p:sp>
      <p:sp>
        <p:nvSpPr>
          <p:cNvPr id="13" name="Shape 11"/>
          <p:cNvSpPr/>
          <p:nvPr/>
        </p:nvSpPr>
        <p:spPr>
          <a:xfrm>
            <a:off x="500881" y="2238375"/>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2317552"/>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Transparency</a:t>
            </a:r>
            <a:endParaRPr lang="en-US" sz="1200" dirty="0"/>
          </a:p>
        </p:txBody>
      </p:sp>
      <p:sp>
        <p:nvSpPr>
          <p:cNvPr id="15" name="Text 13"/>
          <p:cNvSpPr/>
          <p:nvPr/>
        </p:nvSpPr>
        <p:spPr>
          <a:xfrm>
            <a:off x="3069952" y="2317552"/>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Be honest about using AI - you are the author.</a:t>
            </a:r>
            <a:endParaRPr lang="en-US" sz="1200" dirty="0"/>
          </a:p>
        </p:txBody>
      </p:sp>
      <p:sp>
        <p:nvSpPr>
          <p:cNvPr id="16" name="Shape 14"/>
          <p:cNvSpPr/>
          <p:nvPr/>
        </p:nvSpPr>
        <p:spPr>
          <a:xfrm>
            <a:off x="500881" y="2644825"/>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929" y="2724001"/>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QuillBot</a:t>
            </a:r>
            <a:endParaRPr lang="en-US" sz="1200" dirty="0"/>
          </a:p>
        </p:txBody>
      </p:sp>
      <p:sp>
        <p:nvSpPr>
          <p:cNvPr id="18" name="Text 16"/>
          <p:cNvSpPr/>
          <p:nvPr/>
        </p:nvSpPr>
        <p:spPr>
          <a:xfrm>
            <a:off x="3069952" y="2724001"/>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tool for paraphrasing and polishing your own writing.</a:t>
            </a:r>
            <a:endParaRPr lang="en-US" sz="1200" dirty="0"/>
          </a:p>
        </p:txBody>
      </p:sp>
      <p:sp>
        <p:nvSpPr>
          <p:cNvPr id="19" name="Shape 17"/>
          <p:cNvSpPr/>
          <p:nvPr/>
        </p:nvSpPr>
        <p:spPr>
          <a:xfrm>
            <a:off x="500881" y="3051274"/>
            <a:ext cx="8142238" cy="406450"/>
          </a:xfrm>
          <a:prstGeom prst="rect">
            <a:avLst/>
          </a:prstGeom>
          <a:solidFill>
            <a:srgbClr val="000000">
              <a:alpha val="4000"/>
            </a:srgbClr>
          </a:solidFill>
          <a:ln/>
        </p:spPr>
        <p:txBody>
          <a:bodyPr/>
          <a:lstStyle/>
          <a:p>
            <a:endParaRPr lang="en-IN"/>
          </a:p>
        </p:txBody>
      </p:sp>
      <p:sp>
        <p:nvSpPr>
          <p:cNvPr id="20" name="Text 18"/>
          <p:cNvSpPr/>
          <p:nvPr/>
        </p:nvSpPr>
        <p:spPr>
          <a:xfrm>
            <a:off x="624929" y="3130451"/>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Responsible AI use</a:t>
            </a:r>
            <a:endParaRPr lang="en-US" sz="1200" dirty="0"/>
          </a:p>
        </p:txBody>
      </p:sp>
      <p:sp>
        <p:nvSpPr>
          <p:cNvPr id="21" name="Text 19"/>
          <p:cNvSpPr/>
          <p:nvPr/>
        </p:nvSpPr>
        <p:spPr>
          <a:xfrm>
            <a:off x="3069952" y="3130451"/>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is a thinking partner, not a shortcut.</a:t>
            </a:r>
            <a:endParaRPr lang="en-US" sz="1200" dirty="0"/>
          </a:p>
        </p:txBody>
      </p:sp>
      <p:sp>
        <p:nvSpPr>
          <p:cNvPr id="22" name="Text 20"/>
          <p:cNvSpPr/>
          <p:nvPr/>
        </p:nvSpPr>
        <p:spPr>
          <a:xfrm>
            <a:off x="496119" y="3602013"/>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27" name="Group 26">
            <a:extLst>
              <a:ext uri="{FF2B5EF4-FFF2-40B4-BE49-F238E27FC236}">
                <a16:creationId xmlns:a16="http://schemas.microsoft.com/office/drawing/2014/main" id="{86E81918-06F4-B770-89E4-278AAA8F1154}"/>
              </a:ext>
            </a:extLst>
          </p:cNvPr>
          <p:cNvGrpSpPr/>
          <p:nvPr/>
        </p:nvGrpSpPr>
        <p:grpSpPr>
          <a:xfrm>
            <a:off x="496119" y="3940001"/>
            <a:ext cx="8151763" cy="824731"/>
            <a:chOff x="496119" y="3940001"/>
            <a:chExt cx="8151763" cy="824731"/>
          </a:xfrm>
        </p:grpSpPr>
        <p:grpSp>
          <p:nvGrpSpPr>
            <p:cNvPr id="26" name="Group 25">
              <a:extLst>
                <a:ext uri="{FF2B5EF4-FFF2-40B4-BE49-F238E27FC236}">
                  <a16:creationId xmlns:a16="http://schemas.microsoft.com/office/drawing/2014/main" id="{652B899B-F0A5-1F72-463B-18B1B32C2B3A}"/>
                </a:ext>
              </a:extLst>
            </p:cNvPr>
            <p:cNvGrpSpPr/>
            <p:nvPr/>
          </p:nvGrpSpPr>
          <p:grpSpPr>
            <a:xfrm>
              <a:off x="496119" y="3940001"/>
              <a:ext cx="8151763" cy="824731"/>
              <a:chOff x="496119" y="3940001"/>
              <a:chExt cx="8151763" cy="824731"/>
            </a:xfrm>
          </p:grpSpPr>
          <p:sp>
            <p:nvSpPr>
              <p:cNvPr id="23" name="Shape 21"/>
              <p:cNvSpPr/>
              <p:nvPr/>
            </p:nvSpPr>
            <p:spPr>
              <a:xfrm>
                <a:off x="496119" y="3940001"/>
                <a:ext cx="8151763" cy="824731"/>
              </a:xfrm>
              <a:prstGeom prst="roundRect">
                <a:avLst>
                  <a:gd name="adj" fmla="val 2256"/>
                </a:avLst>
              </a:prstGeom>
              <a:solidFill>
                <a:srgbClr val="F2F2F2"/>
              </a:solidFill>
              <a:ln/>
            </p:spPr>
            <p:txBody>
              <a:bodyPr/>
              <a:lstStyle/>
              <a:p>
                <a:endParaRPr lang="en-IN"/>
              </a:p>
            </p:txBody>
          </p:sp>
          <p:sp>
            <p:nvSpPr>
              <p:cNvPr id="25" name="Text 22"/>
              <p:cNvSpPr/>
              <p:nvPr/>
            </p:nvSpPr>
            <p:spPr>
              <a:xfrm>
                <a:off x="937840" y="4094931"/>
                <a:ext cx="7586067"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You can use AI for real tasks, from planning a picnic to writing a story but you stay in control, verify facts, and never submit AI work as your own.</a:t>
                </a:r>
                <a:endParaRPr lang="en-US" sz="1200" dirty="0"/>
              </a:p>
            </p:txBody>
          </p:sp>
        </p:grpSp>
        <p:pic>
          <p:nvPicPr>
            <p:cNvPr id="24" name="Image 0" descr="preencoded.png"/>
            <p:cNvPicPr>
              <a:picLocks noChangeAspect="1"/>
            </p:cNvPicPr>
            <p:nvPr/>
          </p:nvPicPr>
          <p:blipFill>
            <a:blip r:embed="rId3"/>
            <a:stretch>
              <a:fillRect/>
            </a:stretch>
          </p:blipFill>
          <p:spPr>
            <a:xfrm>
              <a:off x="620092" y="4135487"/>
              <a:ext cx="193774" cy="155004"/>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388492"/>
            <a:ext cx="3107085"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The Language Puzzle</a:t>
            </a:r>
            <a:endParaRPr lang="en-US" sz="2400" dirty="0"/>
          </a:p>
        </p:txBody>
      </p:sp>
      <p:grpSp>
        <p:nvGrpSpPr>
          <p:cNvPr id="13" name="Group 12">
            <a:extLst>
              <a:ext uri="{FF2B5EF4-FFF2-40B4-BE49-F238E27FC236}">
                <a16:creationId xmlns:a16="http://schemas.microsoft.com/office/drawing/2014/main" id="{E7C1EA97-B066-7BB7-3C95-438EA73417DE}"/>
              </a:ext>
            </a:extLst>
          </p:cNvPr>
          <p:cNvGrpSpPr/>
          <p:nvPr/>
        </p:nvGrpSpPr>
        <p:grpSpPr>
          <a:xfrm>
            <a:off x="496119" y="2024063"/>
            <a:ext cx="2634555" cy="1095226"/>
            <a:chOff x="496119" y="2024063"/>
            <a:chExt cx="2634555" cy="1095226"/>
          </a:xfrm>
        </p:grpSpPr>
        <p:sp>
          <p:nvSpPr>
            <p:cNvPr id="3" name="Shape 1"/>
            <p:cNvSpPr/>
            <p:nvPr/>
          </p:nvSpPr>
          <p:spPr>
            <a:xfrm>
              <a:off x="496119" y="2024063"/>
              <a:ext cx="2634555" cy="1095226"/>
            </a:xfrm>
            <a:prstGeom prst="roundRect">
              <a:avLst>
                <a:gd name="adj" fmla="val 1699"/>
              </a:avLst>
            </a:prstGeom>
            <a:solidFill>
              <a:srgbClr val="FBFCFE"/>
            </a:solidFill>
            <a:ln w="14288">
              <a:solidFill>
                <a:srgbClr val="CFD2D8"/>
              </a:solidFill>
              <a:prstDash val="solid"/>
            </a:ln>
          </p:spPr>
          <p:txBody>
            <a:bodyPr/>
            <a:lstStyle/>
            <a:p>
              <a:endParaRPr lang="en-IN"/>
            </a:p>
          </p:txBody>
        </p:sp>
        <p:sp>
          <p:nvSpPr>
            <p:cNvPr id="4" name="Text 2"/>
            <p:cNvSpPr/>
            <p:nvPr/>
          </p:nvSpPr>
          <p:spPr>
            <a:xfrm>
              <a:off x="634380" y="2162324"/>
              <a:ext cx="235803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Sentence 1</a:t>
              </a:r>
              <a:endParaRPr lang="en-US" sz="1200" dirty="0"/>
            </a:p>
          </p:txBody>
        </p:sp>
      </p:grpSp>
      <p:sp>
        <p:nvSpPr>
          <p:cNvPr id="5" name="Text 3"/>
          <p:cNvSpPr/>
          <p:nvPr/>
        </p:nvSpPr>
        <p:spPr>
          <a:xfrm>
            <a:off x="634380" y="2484834"/>
            <a:ext cx="235803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 saw a man on a hill with a telescope."</a:t>
            </a:r>
            <a:r>
              <a:rPr lang="en-US" sz="1200" dirty="0">
                <a:solidFill>
                  <a:srgbClr val="15213F"/>
                </a:solidFill>
                <a:latin typeface="Roboto" pitchFamily="34" charset="0"/>
                <a:ea typeface="Roboto" pitchFamily="34" charset="-122"/>
                <a:cs typeface="Roboto" pitchFamily="34" charset="-120"/>
              </a:rPr>
              <a:t> </a:t>
            </a:r>
            <a:endParaRPr lang="en-US" sz="1200" dirty="0"/>
          </a:p>
        </p:txBody>
      </p:sp>
      <p:grpSp>
        <p:nvGrpSpPr>
          <p:cNvPr id="14" name="Group 13">
            <a:extLst>
              <a:ext uri="{FF2B5EF4-FFF2-40B4-BE49-F238E27FC236}">
                <a16:creationId xmlns:a16="http://schemas.microsoft.com/office/drawing/2014/main" id="{1572987E-508F-59B7-185D-3C41CD5DBB54}"/>
              </a:ext>
            </a:extLst>
          </p:cNvPr>
          <p:cNvGrpSpPr/>
          <p:nvPr/>
        </p:nvGrpSpPr>
        <p:grpSpPr>
          <a:xfrm>
            <a:off x="3254648" y="2024063"/>
            <a:ext cx="2634630" cy="1095226"/>
            <a:chOff x="3254648" y="2024063"/>
            <a:chExt cx="2634630" cy="1095226"/>
          </a:xfrm>
        </p:grpSpPr>
        <p:sp>
          <p:nvSpPr>
            <p:cNvPr id="6" name="Shape 4"/>
            <p:cNvSpPr/>
            <p:nvPr/>
          </p:nvSpPr>
          <p:spPr>
            <a:xfrm>
              <a:off x="3254648" y="2024063"/>
              <a:ext cx="2634630" cy="1095226"/>
            </a:xfrm>
            <a:prstGeom prst="roundRect">
              <a:avLst>
                <a:gd name="adj" fmla="val 1699"/>
              </a:avLst>
            </a:prstGeom>
            <a:solidFill>
              <a:srgbClr val="FBFCFE"/>
            </a:solidFill>
            <a:ln w="14288">
              <a:solidFill>
                <a:srgbClr val="CFD2D8"/>
              </a:solidFill>
              <a:prstDash val="solid"/>
            </a:ln>
          </p:spPr>
          <p:txBody>
            <a:bodyPr/>
            <a:lstStyle/>
            <a:p>
              <a:endParaRPr lang="en-IN"/>
            </a:p>
          </p:txBody>
        </p:sp>
        <p:sp>
          <p:nvSpPr>
            <p:cNvPr id="7" name="Text 5"/>
            <p:cNvSpPr/>
            <p:nvPr/>
          </p:nvSpPr>
          <p:spPr>
            <a:xfrm>
              <a:off x="3392909" y="2162324"/>
              <a:ext cx="235810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Sentence 2</a:t>
              </a:r>
              <a:endParaRPr lang="en-US" sz="1200" dirty="0"/>
            </a:p>
          </p:txBody>
        </p:sp>
      </p:grpSp>
      <p:sp>
        <p:nvSpPr>
          <p:cNvPr id="8" name="Text 6"/>
          <p:cNvSpPr/>
          <p:nvPr/>
        </p:nvSpPr>
        <p:spPr>
          <a:xfrm>
            <a:off x="3392909" y="2484834"/>
            <a:ext cx="235810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"Time flies like an arrow"</a:t>
            </a:r>
            <a:r>
              <a:rPr lang="en-US" sz="1200" dirty="0">
                <a:solidFill>
                  <a:srgbClr val="15213F"/>
                </a:solidFill>
                <a:latin typeface="Roboto" pitchFamily="34" charset="0"/>
                <a:ea typeface="Roboto" pitchFamily="34" charset="-122"/>
                <a:cs typeface="Roboto" pitchFamily="34" charset="-120"/>
              </a:rPr>
              <a:t> </a:t>
            </a:r>
            <a:endParaRPr lang="en-US" sz="1200" dirty="0"/>
          </a:p>
        </p:txBody>
      </p:sp>
      <p:grpSp>
        <p:nvGrpSpPr>
          <p:cNvPr id="15" name="Group 14">
            <a:extLst>
              <a:ext uri="{FF2B5EF4-FFF2-40B4-BE49-F238E27FC236}">
                <a16:creationId xmlns:a16="http://schemas.microsoft.com/office/drawing/2014/main" id="{ED1792DA-8C92-0FE9-395F-FB0A17573F90}"/>
              </a:ext>
            </a:extLst>
          </p:cNvPr>
          <p:cNvGrpSpPr/>
          <p:nvPr/>
        </p:nvGrpSpPr>
        <p:grpSpPr>
          <a:xfrm>
            <a:off x="6013252" y="2024063"/>
            <a:ext cx="2634555" cy="1095226"/>
            <a:chOff x="6013252" y="2024063"/>
            <a:chExt cx="2634555" cy="1095226"/>
          </a:xfrm>
        </p:grpSpPr>
        <p:sp>
          <p:nvSpPr>
            <p:cNvPr id="9" name="Shape 7"/>
            <p:cNvSpPr/>
            <p:nvPr/>
          </p:nvSpPr>
          <p:spPr>
            <a:xfrm>
              <a:off x="6013252" y="2024063"/>
              <a:ext cx="2634555" cy="1095226"/>
            </a:xfrm>
            <a:prstGeom prst="roundRect">
              <a:avLst>
                <a:gd name="adj" fmla="val 1699"/>
              </a:avLst>
            </a:prstGeom>
            <a:solidFill>
              <a:srgbClr val="FBFCFE"/>
            </a:solidFill>
            <a:ln w="14288">
              <a:solidFill>
                <a:srgbClr val="CFD2D8"/>
              </a:solidFill>
              <a:prstDash val="solid"/>
            </a:ln>
          </p:spPr>
          <p:txBody>
            <a:bodyPr/>
            <a:lstStyle/>
            <a:p>
              <a:endParaRPr lang="en-IN"/>
            </a:p>
          </p:txBody>
        </p:sp>
        <p:sp>
          <p:nvSpPr>
            <p:cNvPr id="10" name="Text 8"/>
            <p:cNvSpPr/>
            <p:nvPr/>
          </p:nvSpPr>
          <p:spPr>
            <a:xfrm>
              <a:off x="6151513" y="2162324"/>
              <a:ext cx="235803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Sentence 3</a:t>
              </a:r>
              <a:endParaRPr lang="en-US" sz="1200" dirty="0"/>
            </a:p>
          </p:txBody>
        </p:sp>
      </p:grpSp>
      <p:sp>
        <p:nvSpPr>
          <p:cNvPr id="11" name="Text 9"/>
          <p:cNvSpPr/>
          <p:nvPr/>
        </p:nvSpPr>
        <p:spPr>
          <a:xfrm>
            <a:off x="6151513" y="2484834"/>
            <a:ext cx="235803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"Great weather we're having!"</a:t>
            </a:r>
            <a:r>
              <a:rPr lang="en-US" sz="1200" dirty="0">
                <a:solidFill>
                  <a:srgbClr val="15213F"/>
                </a:solidFill>
                <a:latin typeface="Roboto" pitchFamily="34" charset="0"/>
                <a:ea typeface="Roboto" pitchFamily="34" charset="-122"/>
                <a:cs typeface="Roboto" pitchFamily="34" charset="-120"/>
              </a:rPr>
              <a:t> </a:t>
            </a:r>
            <a:endParaRPr lang="en-US" sz="1200" dirty="0"/>
          </a:p>
        </p:txBody>
      </p:sp>
      <p:sp>
        <p:nvSpPr>
          <p:cNvPr id="12" name="Text 10"/>
          <p:cNvSpPr/>
          <p:nvPr/>
        </p:nvSpPr>
        <p:spPr>
          <a:xfrm>
            <a:off x="496119" y="3258815"/>
            <a:ext cx="815176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Big Question:</a:t>
            </a:r>
            <a:r>
              <a:rPr lang="en-US" sz="1200" dirty="0">
                <a:solidFill>
                  <a:srgbClr val="15213F"/>
                </a:solidFill>
                <a:latin typeface="Roboto" pitchFamily="34" charset="0"/>
                <a:ea typeface="Roboto" pitchFamily="34" charset="-122"/>
                <a:cs typeface="Roboto" pitchFamily="34" charset="-120"/>
              </a:rPr>
              <a:t> How does AI turn messy human language into something it can "understand"  and then use that to help us?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1"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331416"/>
            <a:ext cx="4722763"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What is Natural Language Processing (NLP)?</a:t>
            </a:r>
            <a:endParaRPr lang="en-US" sz="2400" dirty="0"/>
          </a:p>
        </p:txBody>
      </p:sp>
      <p:sp>
        <p:nvSpPr>
          <p:cNvPr id="4" name="Text 1"/>
          <p:cNvSpPr/>
          <p:nvPr/>
        </p:nvSpPr>
        <p:spPr>
          <a:xfrm>
            <a:off x="3925119" y="2292548"/>
            <a:ext cx="4722763" cy="744289"/>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Natural Language Processing</a:t>
            </a:r>
            <a:r>
              <a:rPr lang="en-US" sz="1200" dirty="0">
                <a:solidFill>
                  <a:srgbClr val="15213F"/>
                </a:solidFill>
                <a:latin typeface="Roboto" pitchFamily="34" charset="0"/>
                <a:ea typeface="Roboto" pitchFamily="34" charset="-122"/>
                <a:cs typeface="Roboto" pitchFamily="34" charset="-120"/>
              </a:rPr>
              <a:t> is the branch of AI that gives computers the ability to read, interpret, and generate human language.</a:t>
            </a:r>
            <a:endParaRPr lang="en-US" sz="1200" dirty="0"/>
          </a:p>
        </p:txBody>
      </p:sp>
      <p:sp>
        <p:nvSpPr>
          <p:cNvPr id="5" name="Text 2"/>
          <p:cNvSpPr/>
          <p:nvPr/>
        </p:nvSpPr>
        <p:spPr>
          <a:xfrm>
            <a:off x="3925119" y="3176364"/>
            <a:ext cx="4722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6" name="Text 3"/>
          <p:cNvSpPr/>
          <p:nvPr/>
        </p:nvSpPr>
        <p:spPr>
          <a:xfrm>
            <a:off x="3925119" y="3563987"/>
            <a:ext cx="4722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Think of NLP as a </a:t>
            </a:r>
            <a:r>
              <a:rPr lang="en-US" sz="1200" b="1" dirty="0">
                <a:solidFill>
                  <a:srgbClr val="15213F"/>
                </a:solidFill>
                <a:latin typeface="Roboto" pitchFamily="34" charset="0"/>
                <a:ea typeface="Roboto" pitchFamily="34" charset="-122"/>
                <a:cs typeface="Roboto" pitchFamily="34" charset="-120"/>
              </a:rPr>
              <a:t>translator between human and machine</a:t>
            </a:r>
            <a:r>
              <a:rPr lang="en-US" sz="1200" dirty="0">
                <a:solidFill>
                  <a:srgbClr val="15213F"/>
                </a:solidFill>
                <a:latin typeface="Roboto" pitchFamily="34" charset="0"/>
                <a:ea typeface="Roboto" pitchFamily="34" charset="-122"/>
                <a:cs typeface="Roboto" pitchFamily="34" charset="-120"/>
              </a:rPr>
              <a:t>.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1251645"/>
            <a:ext cx="3463379"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Where you see NLP every day</a:t>
            </a:r>
            <a:endParaRPr lang="en-US" sz="1950" dirty="0"/>
          </a:p>
        </p:txBody>
      </p:sp>
      <p:sp>
        <p:nvSpPr>
          <p:cNvPr id="3" name="Text 1"/>
          <p:cNvSpPr/>
          <p:nvPr/>
        </p:nvSpPr>
        <p:spPr>
          <a:xfrm>
            <a:off x="496119" y="1809750"/>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16" name="Group 15">
            <a:extLst>
              <a:ext uri="{FF2B5EF4-FFF2-40B4-BE49-F238E27FC236}">
                <a16:creationId xmlns:a16="http://schemas.microsoft.com/office/drawing/2014/main" id="{B7577702-4B97-BF4D-F780-1662969A6D09}"/>
              </a:ext>
            </a:extLst>
          </p:cNvPr>
          <p:cNvGrpSpPr/>
          <p:nvPr/>
        </p:nvGrpSpPr>
        <p:grpSpPr>
          <a:xfrm>
            <a:off x="496119" y="2147739"/>
            <a:ext cx="1944960" cy="441796"/>
            <a:chOff x="496119" y="2147739"/>
            <a:chExt cx="1944960" cy="441796"/>
          </a:xfrm>
        </p:grpSpPr>
        <p:sp>
          <p:nvSpPr>
            <p:cNvPr id="4" name="Shape 2"/>
            <p:cNvSpPr/>
            <p:nvPr/>
          </p:nvSpPr>
          <p:spPr>
            <a:xfrm>
              <a:off x="496119" y="2147739"/>
              <a:ext cx="1944960" cy="441796"/>
            </a:xfrm>
            <a:prstGeom prst="roundRect">
              <a:avLst>
                <a:gd name="adj" fmla="val 4212"/>
              </a:avLst>
            </a:prstGeom>
            <a:solidFill>
              <a:srgbClr val="E9ECF2"/>
            </a:solidFill>
            <a:ln/>
          </p:spPr>
          <p:txBody>
            <a:bodyPr/>
            <a:lstStyle/>
            <a:p>
              <a:endParaRPr lang="en-IN"/>
            </a:p>
          </p:txBody>
        </p:sp>
        <p:sp>
          <p:nvSpPr>
            <p:cNvPr id="5" name="Text 3"/>
            <p:cNvSpPr/>
            <p:nvPr/>
          </p:nvSpPr>
          <p:spPr>
            <a:xfrm>
              <a:off x="620092" y="2271713"/>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Spell checkers</a:t>
              </a:r>
              <a:endParaRPr lang="en-US" sz="1200" dirty="0"/>
            </a:p>
          </p:txBody>
        </p:sp>
      </p:grpSp>
      <p:grpSp>
        <p:nvGrpSpPr>
          <p:cNvPr id="17" name="Group 16">
            <a:extLst>
              <a:ext uri="{FF2B5EF4-FFF2-40B4-BE49-F238E27FC236}">
                <a16:creationId xmlns:a16="http://schemas.microsoft.com/office/drawing/2014/main" id="{238F82DB-3139-61DD-C437-6A147071DABD}"/>
              </a:ext>
            </a:extLst>
          </p:cNvPr>
          <p:cNvGrpSpPr/>
          <p:nvPr/>
        </p:nvGrpSpPr>
        <p:grpSpPr>
          <a:xfrm>
            <a:off x="2565053" y="2147739"/>
            <a:ext cx="1944960" cy="441796"/>
            <a:chOff x="2565053" y="2147739"/>
            <a:chExt cx="1944960" cy="441796"/>
          </a:xfrm>
        </p:grpSpPr>
        <p:sp>
          <p:nvSpPr>
            <p:cNvPr id="6" name="Shape 4"/>
            <p:cNvSpPr/>
            <p:nvPr/>
          </p:nvSpPr>
          <p:spPr>
            <a:xfrm>
              <a:off x="2565053" y="2147739"/>
              <a:ext cx="1944960" cy="441796"/>
            </a:xfrm>
            <a:prstGeom prst="roundRect">
              <a:avLst>
                <a:gd name="adj" fmla="val 4212"/>
              </a:avLst>
            </a:prstGeom>
            <a:solidFill>
              <a:srgbClr val="E9ECF2"/>
            </a:solidFill>
            <a:ln/>
          </p:spPr>
          <p:txBody>
            <a:bodyPr/>
            <a:lstStyle/>
            <a:p>
              <a:endParaRPr lang="en-IN"/>
            </a:p>
          </p:txBody>
        </p:sp>
        <p:sp>
          <p:nvSpPr>
            <p:cNvPr id="7" name="Text 5"/>
            <p:cNvSpPr/>
            <p:nvPr/>
          </p:nvSpPr>
          <p:spPr>
            <a:xfrm>
              <a:off x="2689027" y="2271713"/>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Translation apps </a:t>
              </a:r>
              <a:endParaRPr lang="en-US" sz="1200" dirty="0"/>
            </a:p>
          </p:txBody>
        </p:sp>
      </p:grpSp>
      <p:grpSp>
        <p:nvGrpSpPr>
          <p:cNvPr id="18" name="Group 17">
            <a:extLst>
              <a:ext uri="{FF2B5EF4-FFF2-40B4-BE49-F238E27FC236}">
                <a16:creationId xmlns:a16="http://schemas.microsoft.com/office/drawing/2014/main" id="{B24B0AB9-ED94-B159-665B-258E48770156}"/>
              </a:ext>
            </a:extLst>
          </p:cNvPr>
          <p:cNvGrpSpPr/>
          <p:nvPr/>
        </p:nvGrpSpPr>
        <p:grpSpPr>
          <a:xfrm>
            <a:off x="4633987" y="2147739"/>
            <a:ext cx="1944960" cy="441796"/>
            <a:chOff x="4633987" y="2147739"/>
            <a:chExt cx="1944960" cy="441796"/>
          </a:xfrm>
        </p:grpSpPr>
        <p:sp>
          <p:nvSpPr>
            <p:cNvPr id="8" name="Shape 6"/>
            <p:cNvSpPr/>
            <p:nvPr/>
          </p:nvSpPr>
          <p:spPr>
            <a:xfrm>
              <a:off x="4633987" y="2147739"/>
              <a:ext cx="1944960" cy="441796"/>
            </a:xfrm>
            <a:prstGeom prst="roundRect">
              <a:avLst>
                <a:gd name="adj" fmla="val 4212"/>
              </a:avLst>
            </a:prstGeom>
            <a:solidFill>
              <a:srgbClr val="E9ECF2"/>
            </a:solidFill>
            <a:ln/>
          </p:spPr>
          <p:txBody>
            <a:bodyPr/>
            <a:lstStyle/>
            <a:p>
              <a:endParaRPr lang="en-IN" dirty="0"/>
            </a:p>
          </p:txBody>
        </p:sp>
        <p:sp>
          <p:nvSpPr>
            <p:cNvPr id="9" name="Text 7"/>
            <p:cNvSpPr/>
            <p:nvPr/>
          </p:nvSpPr>
          <p:spPr>
            <a:xfrm>
              <a:off x="4757961" y="2271713"/>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Chatbots </a:t>
              </a:r>
              <a:endParaRPr lang="en-US" sz="1200" dirty="0"/>
            </a:p>
          </p:txBody>
        </p:sp>
      </p:grpSp>
      <p:grpSp>
        <p:nvGrpSpPr>
          <p:cNvPr id="19" name="Group 18">
            <a:extLst>
              <a:ext uri="{FF2B5EF4-FFF2-40B4-BE49-F238E27FC236}">
                <a16:creationId xmlns:a16="http://schemas.microsoft.com/office/drawing/2014/main" id="{545C1829-2A25-ED7B-3150-1C229C2C2CC9}"/>
              </a:ext>
            </a:extLst>
          </p:cNvPr>
          <p:cNvGrpSpPr/>
          <p:nvPr/>
        </p:nvGrpSpPr>
        <p:grpSpPr>
          <a:xfrm>
            <a:off x="6702921" y="2147739"/>
            <a:ext cx="1944960" cy="441796"/>
            <a:chOff x="6702921" y="2147739"/>
            <a:chExt cx="1944960" cy="441796"/>
          </a:xfrm>
        </p:grpSpPr>
        <p:sp>
          <p:nvSpPr>
            <p:cNvPr id="10" name="Shape 8"/>
            <p:cNvSpPr/>
            <p:nvPr/>
          </p:nvSpPr>
          <p:spPr>
            <a:xfrm>
              <a:off x="6702921" y="2147739"/>
              <a:ext cx="1944960" cy="441796"/>
            </a:xfrm>
            <a:prstGeom prst="roundRect">
              <a:avLst>
                <a:gd name="adj" fmla="val 4212"/>
              </a:avLst>
            </a:prstGeom>
            <a:solidFill>
              <a:srgbClr val="E9ECF2"/>
            </a:solidFill>
            <a:ln/>
          </p:spPr>
          <p:txBody>
            <a:bodyPr/>
            <a:lstStyle/>
            <a:p>
              <a:endParaRPr lang="en-IN"/>
            </a:p>
          </p:txBody>
        </p:sp>
        <p:sp>
          <p:nvSpPr>
            <p:cNvPr id="11" name="Text 9"/>
            <p:cNvSpPr/>
            <p:nvPr/>
          </p:nvSpPr>
          <p:spPr>
            <a:xfrm>
              <a:off x="6826895" y="2271713"/>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Voice assistants </a:t>
              </a:r>
              <a:endParaRPr lang="en-US" sz="1200" dirty="0"/>
            </a:p>
          </p:txBody>
        </p:sp>
      </p:grpSp>
      <p:sp>
        <p:nvSpPr>
          <p:cNvPr id="12" name="Text 10"/>
          <p:cNvSpPr/>
          <p:nvPr/>
        </p:nvSpPr>
        <p:spPr>
          <a:xfrm>
            <a:off x="496119" y="2729061"/>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20" name="Group 19">
            <a:extLst>
              <a:ext uri="{FF2B5EF4-FFF2-40B4-BE49-F238E27FC236}">
                <a16:creationId xmlns:a16="http://schemas.microsoft.com/office/drawing/2014/main" id="{B1A04296-5E1D-9A4B-7F69-14F06FE9D9C0}"/>
              </a:ext>
            </a:extLst>
          </p:cNvPr>
          <p:cNvGrpSpPr/>
          <p:nvPr/>
        </p:nvGrpSpPr>
        <p:grpSpPr>
          <a:xfrm>
            <a:off x="496119" y="3067050"/>
            <a:ext cx="8151763" cy="824731"/>
            <a:chOff x="496119" y="3067050"/>
            <a:chExt cx="8151763" cy="824731"/>
          </a:xfrm>
        </p:grpSpPr>
        <p:sp>
          <p:nvSpPr>
            <p:cNvPr id="13" name="Shape 11"/>
            <p:cNvSpPr/>
            <p:nvPr/>
          </p:nvSpPr>
          <p:spPr>
            <a:xfrm>
              <a:off x="496119" y="3067050"/>
              <a:ext cx="8151763" cy="824731"/>
            </a:xfrm>
            <a:prstGeom prst="roundRect">
              <a:avLst>
                <a:gd name="adj" fmla="val 2256"/>
              </a:avLst>
            </a:prstGeom>
            <a:solidFill>
              <a:srgbClr val="F2F2F2"/>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620092" y="3262536"/>
              <a:ext cx="193774" cy="155004"/>
            </a:xfrm>
            <a:prstGeom prst="rect">
              <a:avLst/>
            </a:prstGeom>
          </p:spPr>
        </p:pic>
        <p:sp>
          <p:nvSpPr>
            <p:cNvPr id="15" name="Text 12"/>
            <p:cNvSpPr/>
            <p:nvPr/>
          </p:nvSpPr>
          <p:spPr>
            <a:xfrm>
              <a:off x="937840" y="3221980"/>
              <a:ext cx="7586067"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NLP doesn't "</a:t>
              </a:r>
              <a:r>
                <a:rPr lang="en-US" sz="1200" b="1" dirty="0">
                  <a:solidFill>
                    <a:srgbClr val="000000"/>
                  </a:solidFill>
                  <a:latin typeface="Roboto" pitchFamily="34" charset="0"/>
                  <a:ea typeface="Roboto" pitchFamily="34" charset="-122"/>
                  <a:cs typeface="Roboto" pitchFamily="34" charset="-120"/>
                </a:rPr>
                <a:t>understand</a:t>
              </a:r>
              <a:r>
                <a:rPr lang="en-US" sz="1200" dirty="0">
                  <a:solidFill>
                    <a:srgbClr val="000000"/>
                  </a:solidFill>
                  <a:latin typeface="Roboto" pitchFamily="34" charset="0"/>
                  <a:ea typeface="Roboto" pitchFamily="34" charset="-122"/>
                  <a:cs typeface="Roboto" pitchFamily="34" charset="-120"/>
                </a:rPr>
                <a:t>" like you do.</a:t>
              </a:r>
            </a:p>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It finds patterns in billions of sentences and uses those patterns to predict what makes sense.</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42317"/>
            <a:ext cx="2946053" cy="368201"/>
          </a:xfrm>
          <a:prstGeom prst="rect">
            <a:avLst/>
          </a:prstGeom>
          <a:noFill/>
          <a:ln/>
        </p:spPr>
        <p:txBody>
          <a:bodyPr wrap="none" lIns="0" tIns="0" rIns="0" bIns="0" rtlCol="0" anchor="t"/>
          <a:lstStyle/>
          <a:p>
            <a:pPr marL="0" indent="0" algn="l">
              <a:lnSpc>
                <a:spcPts val="2850"/>
              </a:lnSpc>
              <a:buNone/>
            </a:pPr>
            <a:r>
              <a:rPr lang="en-US" sz="2300" b="1" dirty="0">
                <a:solidFill>
                  <a:srgbClr val="3257B8"/>
                </a:solidFill>
                <a:latin typeface="Roboto Slab" pitchFamily="34" charset="0"/>
                <a:ea typeface="Roboto Slab" pitchFamily="34" charset="-122"/>
                <a:cs typeface="Roboto Slab" pitchFamily="34" charset="-120"/>
              </a:rPr>
              <a:t>How NLP works:</a:t>
            </a:r>
            <a:endParaRPr lang="en-US" sz="2300" dirty="0"/>
          </a:p>
        </p:txBody>
      </p:sp>
      <p:sp>
        <p:nvSpPr>
          <p:cNvPr id="3" name="Text 1"/>
          <p:cNvSpPr/>
          <p:nvPr/>
        </p:nvSpPr>
        <p:spPr>
          <a:xfrm>
            <a:off x="496119" y="978396"/>
            <a:ext cx="815176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The Three‑Stage Pipeline</a:t>
            </a:r>
            <a:endParaRPr lang="en-US" sz="1150" dirty="0"/>
          </a:p>
        </p:txBody>
      </p:sp>
      <p:sp>
        <p:nvSpPr>
          <p:cNvPr id="4" name="Text 2"/>
          <p:cNvSpPr/>
          <p:nvPr/>
        </p:nvSpPr>
        <p:spPr>
          <a:xfrm>
            <a:off x="496119" y="2574429"/>
            <a:ext cx="2484983" cy="229791"/>
          </a:xfrm>
          <a:prstGeom prst="rect">
            <a:avLst/>
          </a:prstGeom>
          <a:noFill/>
          <a:ln/>
        </p:spPr>
        <p:txBody>
          <a:bodyPr wrap="none" lIns="0" tIns="0" rIns="0" bIns="0" rtlCol="0" anchor="t"/>
          <a:lstStyle/>
          <a:p>
            <a:pPr marL="0" indent="0" algn="r">
              <a:lnSpc>
                <a:spcPts val="1800"/>
              </a:lnSpc>
              <a:buNone/>
            </a:pPr>
            <a:r>
              <a:rPr lang="en-US" sz="1150" b="1" dirty="0">
                <a:solidFill>
                  <a:srgbClr val="15213F"/>
                </a:solidFill>
                <a:latin typeface="Roboto" pitchFamily="34" charset="0"/>
                <a:ea typeface="Roboto" pitchFamily="34" charset="-122"/>
                <a:cs typeface="Roboto" pitchFamily="34" charset="-120"/>
              </a:rPr>
              <a:t>Break</a:t>
            </a:r>
            <a:endParaRPr lang="en-US" sz="1150" dirty="0"/>
          </a:p>
        </p:txBody>
      </p:sp>
      <p:pic>
        <p:nvPicPr>
          <p:cNvPr id="5" name="Image 0" descr="preencoded.png"/>
          <p:cNvPicPr>
            <a:picLocks noChangeAspect="1"/>
          </p:cNvPicPr>
          <p:nvPr/>
        </p:nvPicPr>
        <p:blipFill>
          <a:blip r:embed="rId3"/>
          <a:stretch>
            <a:fillRect/>
          </a:stretch>
        </p:blipFill>
        <p:spPr>
          <a:xfrm>
            <a:off x="3216771" y="1334095"/>
            <a:ext cx="2710458" cy="2710458"/>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91136" y="2606464"/>
            <a:ext cx="165646" cy="165646"/>
          </a:xfrm>
          <a:prstGeom prst="rect">
            <a:avLst/>
          </a:prstGeom>
        </p:spPr>
      </p:pic>
      <p:sp>
        <p:nvSpPr>
          <p:cNvPr id="7" name="Text 3"/>
          <p:cNvSpPr/>
          <p:nvPr/>
        </p:nvSpPr>
        <p:spPr>
          <a:xfrm>
            <a:off x="5927229" y="1852613"/>
            <a:ext cx="272065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Understand</a:t>
            </a:r>
            <a:endParaRPr lang="en-US" sz="1150" dirty="0"/>
          </a:p>
        </p:txBody>
      </p:sp>
      <p:pic>
        <p:nvPicPr>
          <p:cNvPr id="8" name="Image 2" descr="preencoded.png"/>
          <p:cNvPicPr>
            <a:picLocks noChangeAspect="1"/>
          </p:cNvPicPr>
          <p:nvPr/>
        </p:nvPicPr>
        <p:blipFill>
          <a:blip r:embed="rId5"/>
          <a:stretch>
            <a:fillRect/>
          </a:stretch>
        </p:blipFill>
        <p:spPr>
          <a:xfrm>
            <a:off x="3216771" y="1334095"/>
            <a:ext cx="2710458" cy="2710458"/>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38067" y="2001999"/>
            <a:ext cx="165646" cy="165646"/>
          </a:xfrm>
          <a:prstGeom prst="rect">
            <a:avLst/>
          </a:prstGeom>
        </p:spPr>
      </p:pic>
      <p:sp>
        <p:nvSpPr>
          <p:cNvPr id="10" name="Text 4"/>
          <p:cNvSpPr/>
          <p:nvPr/>
        </p:nvSpPr>
        <p:spPr>
          <a:xfrm>
            <a:off x="5927229" y="3296171"/>
            <a:ext cx="272065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Generate</a:t>
            </a:r>
            <a:endParaRPr lang="en-US" sz="1150" dirty="0"/>
          </a:p>
        </p:txBody>
      </p:sp>
      <p:pic>
        <p:nvPicPr>
          <p:cNvPr id="11" name="Image 4" descr="preencoded.png"/>
          <p:cNvPicPr>
            <a:picLocks noChangeAspect="1"/>
          </p:cNvPicPr>
          <p:nvPr/>
        </p:nvPicPr>
        <p:blipFill>
          <a:blip r:embed="rId7"/>
          <a:stretch>
            <a:fillRect/>
          </a:stretch>
        </p:blipFill>
        <p:spPr>
          <a:xfrm>
            <a:off x="3216771" y="1334095"/>
            <a:ext cx="2710458" cy="2710458"/>
          </a:xfrm>
          <a:prstGeom prst="rect">
            <a:avLst/>
          </a:prstGeom>
        </p:spPr>
      </p:pic>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838067" y="3210855"/>
            <a:ext cx="165646" cy="165646"/>
          </a:xfrm>
          <a:prstGeom prst="rect">
            <a:avLst/>
          </a:prstGeom>
        </p:spPr>
      </p:pic>
      <p:grpSp>
        <p:nvGrpSpPr>
          <p:cNvPr id="16" name="Group 15">
            <a:extLst>
              <a:ext uri="{FF2B5EF4-FFF2-40B4-BE49-F238E27FC236}">
                <a16:creationId xmlns:a16="http://schemas.microsoft.com/office/drawing/2014/main" id="{A969A54A-948F-1703-2DA7-86EE022E87D3}"/>
              </a:ext>
            </a:extLst>
          </p:cNvPr>
          <p:cNvGrpSpPr/>
          <p:nvPr/>
        </p:nvGrpSpPr>
        <p:grpSpPr>
          <a:xfrm>
            <a:off x="496119" y="4170462"/>
            <a:ext cx="8151763" cy="530721"/>
            <a:chOff x="496119" y="4170462"/>
            <a:chExt cx="8151763" cy="530721"/>
          </a:xfrm>
        </p:grpSpPr>
        <p:sp>
          <p:nvSpPr>
            <p:cNvPr id="13" name="Shape 5"/>
            <p:cNvSpPr/>
            <p:nvPr/>
          </p:nvSpPr>
          <p:spPr>
            <a:xfrm>
              <a:off x="496119" y="4170462"/>
              <a:ext cx="8151763" cy="530721"/>
            </a:xfrm>
            <a:prstGeom prst="roundRect">
              <a:avLst>
                <a:gd name="adj" fmla="val 3331"/>
              </a:avLst>
            </a:prstGeom>
            <a:solidFill>
              <a:srgbClr val="F2F2F2"/>
            </a:solidFill>
            <a:ln/>
          </p:spPr>
          <p:txBody>
            <a:bodyPr/>
            <a:lstStyle/>
            <a:p>
              <a:endParaRPr lang="en-IN"/>
            </a:p>
          </p:txBody>
        </p:sp>
        <p:pic>
          <p:nvPicPr>
            <p:cNvPr id="14" name="Image 6" descr="preencoded.png"/>
            <p:cNvPicPr>
              <a:picLocks noChangeAspect="1"/>
            </p:cNvPicPr>
            <p:nvPr/>
          </p:nvPicPr>
          <p:blipFill>
            <a:blip r:embed="rId9"/>
            <a:stretch>
              <a:fillRect/>
            </a:stretch>
          </p:blipFill>
          <p:spPr>
            <a:xfrm>
              <a:off x="613916" y="4344814"/>
              <a:ext cx="184100" cy="147265"/>
            </a:xfrm>
            <a:prstGeom prst="rect">
              <a:avLst/>
            </a:prstGeom>
          </p:spPr>
        </p:pic>
        <p:sp>
          <p:nvSpPr>
            <p:cNvPr id="15" name="Text 6"/>
            <p:cNvSpPr/>
            <p:nvPr/>
          </p:nvSpPr>
          <p:spPr>
            <a:xfrm>
              <a:off x="915814" y="4311774"/>
              <a:ext cx="7614270" cy="229791"/>
            </a:xfrm>
            <a:prstGeom prst="rect">
              <a:avLst/>
            </a:prstGeom>
            <a:noFill/>
            <a:ln/>
          </p:spPr>
          <p:txBody>
            <a:bodyPr wrap="none" lIns="0" tIns="0" rIns="0" bIns="0" rtlCol="0" anchor="t"/>
            <a:lstStyle/>
            <a:p>
              <a:pPr marL="0" indent="0" algn="l">
                <a:lnSpc>
                  <a:spcPts val="1800"/>
                </a:lnSpc>
                <a:buNone/>
              </a:pPr>
              <a:r>
                <a:rPr lang="en-US" sz="1150" dirty="0">
                  <a:solidFill>
                    <a:srgbClr val="000000"/>
                  </a:solidFill>
                  <a:latin typeface="Roboto" pitchFamily="34" charset="0"/>
                  <a:ea typeface="Roboto" pitchFamily="34" charset="-122"/>
                  <a:cs typeface="Roboto" pitchFamily="34" charset="-120"/>
                </a:rPr>
                <a:t>These stages happen in milliseconds. The AI doesn't "think", it follows </a:t>
              </a:r>
              <a:r>
                <a:rPr lang="en-US" sz="1150" b="1" dirty="0">
                  <a:solidFill>
                    <a:srgbClr val="000000"/>
                  </a:solidFill>
                  <a:latin typeface="Roboto" pitchFamily="34" charset="0"/>
                  <a:ea typeface="Roboto" pitchFamily="34" charset="-122"/>
                  <a:cs typeface="Roboto" pitchFamily="34" charset="-120"/>
                </a:rPr>
                <a:t>mathematical steps</a:t>
              </a:r>
              <a:r>
                <a:rPr lang="en-US" sz="1150" dirty="0">
                  <a:solidFill>
                    <a:srgbClr val="000000"/>
                  </a:solidFill>
                  <a:latin typeface="Roboto" pitchFamily="34" charset="0"/>
                  <a:ea typeface="Roboto" pitchFamily="34" charset="-122"/>
                  <a:cs typeface="Roboto" pitchFamily="34" charset="-120"/>
                </a:rPr>
                <a:t>.</a:t>
              </a:r>
              <a:endParaRPr lang="en-US" sz="11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957709"/>
            <a:ext cx="5812408"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Stage 1: BREAK - Chopping Text into Edible Pieces</a:t>
            </a:r>
            <a:endParaRPr lang="en-US" sz="1950" dirty="0"/>
          </a:p>
        </p:txBody>
      </p:sp>
      <p:sp>
        <p:nvSpPr>
          <p:cNvPr id="3" name="Text 1"/>
          <p:cNvSpPr/>
          <p:nvPr/>
        </p:nvSpPr>
        <p:spPr>
          <a:xfrm>
            <a:off x="496119" y="1515814"/>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main "chopping" techniques:</a:t>
            </a:r>
            <a:endParaRPr lang="en-US" sz="1200" dirty="0"/>
          </a:p>
        </p:txBody>
      </p:sp>
      <p:grpSp>
        <p:nvGrpSpPr>
          <p:cNvPr id="20" name="Group 19">
            <a:extLst>
              <a:ext uri="{FF2B5EF4-FFF2-40B4-BE49-F238E27FC236}">
                <a16:creationId xmlns:a16="http://schemas.microsoft.com/office/drawing/2014/main" id="{9537A1BC-04B6-1FAE-BBEB-FE30266FB988}"/>
              </a:ext>
            </a:extLst>
          </p:cNvPr>
          <p:cNvGrpSpPr/>
          <p:nvPr/>
        </p:nvGrpSpPr>
        <p:grpSpPr>
          <a:xfrm>
            <a:off x="496119" y="1903437"/>
            <a:ext cx="2634555" cy="2282279"/>
            <a:chOff x="496119" y="1903437"/>
            <a:chExt cx="2634555" cy="2282279"/>
          </a:xfrm>
        </p:grpSpPr>
        <p:sp>
          <p:nvSpPr>
            <p:cNvPr id="4" name="Shape 2"/>
            <p:cNvSpPr/>
            <p:nvPr/>
          </p:nvSpPr>
          <p:spPr>
            <a:xfrm>
              <a:off x="496119" y="1903437"/>
              <a:ext cx="2634555" cy="2282279"/>
            </a:xfrm>
            <a:prstGeom prst="roundRect">
              <a:avLst>
                <a:gd name="adj" fmla="val 815"/>
              </a:avLst>
            </a:prstGeom>
            <a:solidFill>
              <a:srgbClr val="E9ECF2"/>
            </a:solidFill>
            <a:ln/>
          </p:spPr>
          <p:txBody>
            <a:bodyPr/>
            <a:lstStyle/>
            <a:p>
              <a:endParaRPr lang="en-IN"/>
            </a:p>
          </p:txBody>
        </p:sp>
        <p:sp>
          <p:nvSpPr>
            <p:cNvPr id="5" name="Text 3"/>
            <p:cNvSpPr/>
            <p:nvPr/>
          </p:nvSpPr>
          <p:spPr>
            <a:xfrm>
              <a:off x="620092" y="2027411"/>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Tokenization</a:t>
              </a:r>
              <a:endParaRPr lang="en-US" sz="1200" dirty="0"/>
            </a:p>
          </p:txBody>
        </p:sp>
      </p:grpSp>
      <p:sp>
        <p:nvSpPr>
          <p:cNvPr id="6" name="Text 4"/>
          <p:cNvSpPr/>
          <p:nvPr/>
        </p:nvSpPr>
        <p:spPr>
          <a:xfrm>
            <a:off x="620092" y="2349922"/>
            <a:ext cx="238660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Splitting text into </a:t>
            </a:r>
            <a:r>
              <a:rPr lang="en-US" sz="1200" b="1" dirty="0">
                <a:solidFill>
                  <a:srgbClr val="15213F"/>
                </a:solidFill>
                <a:latin typeface="Roboto" pitchFamily="34" charset="0"/>
                <a:ea typeface="Roboto" pitchFamily="34" charset="-122"/>
                <a:cs typeface="Roboto" pitchFamily="34" charset="-120"/>
              </a:rPr>
              <a:t>tokens</a:t>
            </a:r>
            <a:r>
              <a:rPr lang="en-US" sz="1200" dirty="0">
                <a:solidFill>
                  <a:srgbClr val="15213F"/>
                </a:solidFill>
                <a:latin typeface="Roboto" pitchFamily="34" charset="0"/>
                <a:ea typeface="Roboto" pitchFamily="34" charset="-122"/>
                <a:cs typeface="Roboto" pitchFamily="34" charset="-120"/>
              </a:rPr>
              <a:t> - words, punctuation, or sub‑words.</a:t>
            </a:r>
            <a:endParaRPr lang="en-US" sz="1200" dirty="0"/>
          </a:p>
        </p:txBody>
      </p:sp>
      <p:sp>
        <p:nvSpPr>
          <p:cNvPr id="7" name="Text 5"/>
          <p:cNvSpPr/>
          <p:nvPr/>
        </p:nvSpPr>
        <p:spPr>
          <a:xfrm>
            <a:off x="620092" y="2920529"/>
            <a:ext cx="2386608"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"I love AI!" → ["I", "love", "AI", "!"]</a:t>
            </a:r>
            <a:endParaRPr lang="en-US" sz="1200" dirty="0"/>
          </a:p>
        </p:txBody>
      </p:sp>
      <p:sp>
        <p:nvSpPr>
          <p:cNvPr id="8" name="Text 6"/>
          <p:cNvSpPr/>
          <p:nvPr/>
        </p:nvSpPr>
        <p:spPr>
          <a:xfrm>
            <a:off x="620092" y="3243039"/>
            <a:ext cx="2386608"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9" name="Text 7"/>
          <p:cNvSpPr/>
          <p:nvPr/>
        </p:nvSpPr>
        <p:spPr>
          <a:xfrm>
            <a:off x="620092" y="3565550"/>
            <a:ext cx="238660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AI can only work with tokens, not raw strings.</a:t>
            </a:r>
            <a:endParaRPr lang="en-US" sz="1200" dirty="0"/>
          </a:p>
        </p:txBody>
      </p:sp>
      <p:grpSp>
        <p:nvGrpSpPr>
          <p:cNvPr id="21" name="Group 20">
            <a:extLst>
              <a:ext uri="{FF2B5EF4-FFF2-40B4-BE49-F238E27FC236}">
                <a16:creationId xmlns:a16="http://schemas.microsoft.com/office/drawing/2014/main" id="{365F9A14-913A-C5CB-317A-68E1F87B3AF6}"/>
              </a:ext>
            </a:extLst>
          </p:cNvPr>
          <p:cNvGrpSpPr/>
          <p:nvPr/>
        </p:nvGrpSpPr>
        <p:grpSpPr>
          <a:xfrm>
            <a:off x="3254648" y="1903437"/>
            <a:ext cx="2634630" cy="2282279"/>
            <a:chOff x="3254648" y="1903437"/>
            <a:chExt cx="2634630" cy="2282279"/>
          </a:xfrm>
        </p:grpSpPr>
        <p:sp>
          <p:nvSpPr>
            <p:cNvPr id="10" name="Shape 8"/>
            <p:cNvSpPr/>
            <p:nvPr/>
          </p:nvSpPr>
          <p:spPr>
            <a:xfrm>
              <a:off x="3254648" y="1903437"/>
              <a:ext cx="2634630" cy="2282279"/>
            </a:xfrm>
            <a:prstGeom prst="roundRect">
              <a:avLst>
                <a:gd name="adj" fmla="val 815"/>
              </a:avLst>
            </a:prstGeom>
            <a:solidFill>
              <a:srgbClr val="E9ECF2"/>
            </a:solidFill>
            <a:ln/>
          </p:spPr>
          <p:txBody>
            <a:bodyPr/>
            <a:lstStyle/>
            <a:p>
              <a:endParaRPr lang="en-IN"/>
            </a:p>
          </p:txBody>
        </p:sp>
        <p:sp>
          <p:nvSpPr>
            <p:cNvPr id="11" name="Text 9"/>
            <p:cNvSpPr/>
            <p:nvPr/>
          </p:nvSpPr>
          <p:spPr>
            <a:xfrm>
              <a:off x="3378622" y="2027411"/>
              <a:ext cx="23866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Stemming</a:t>
              </a:r>
              <a:endParaRPr lang="en-US" sz="1200" dirty="0"/>
            </a:p>
          </p:txBody>
        </p:sp>
      </p:grpSp>
      <p:sp>
        <p:nvSpPr>
          <p:cNvPr id="12" name="Text 10"/>
          <p:cNvSpPr/>
          <p:nvPr/>
        </p:nvSpPr>
        <p:spPr>
          <a:xfrm>
            <a:off x="3378622" y="2349922"/>
            <a:ext cx="23866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Chopping off word endings to get a </a:t>
            </a:r>
            <a:r>
              <a:rPr lang="en-US" sz="1200" b="1" dirty="0">
                <a:solidFill>
                  <a:srgbClr val="15213F"/>
                </a:solidFill>
                <a:latin typeface="Roboto" pitchFamily="34" charset="0"/>
                <a:ea typeface="Roboto" pitchFamily="34" charset="-122"/>
                <a:cs typeface="Roboto" pitchFamily="34" charset="-120"/>
              </a:rPr>
              <a:t>root form</a:t>
            </a:r>
            <a:r>
              <a:rPr lang="en-US" sz="1200" dirty="0">
                <a:solidFill>
                  <a:srgbClr val="15213F"/>
                </a:solidFill>
                <a:latin typeface="Roboto" pitchFamily="34" charset="0"/>
                <a:ea typeface="Roboto" pitchFamily="34" charset="-122"/>
                <a:cs typeface="Roboto" pitchFamily="34" charset="-120"/>
              </a:rPr>
              <a:t>.</a:t>
            </a:r>
            <a:endParaRPr lang="en-US" sz="1200" dirty="0"/>
          </a:p>
        </p:txBody>
      </p:sp>
      <p:sp>
        <p:nvSpPr>
          <p:cNvPr id="13" name="Text 11"/>
          <p:cNvSpPr/>
          <p:nvPr/>
        </p:nvSpPr>
        <p:spPr>
          <a:xfrm>
            <a:off x="3378622" y="2920529"/>
            <a:ext cx="2386682" cy="496193"/>
          </a:xfrm>
          <a:prstGeom prst="rect">
            <a:avLst/>
          </a:prstGeom>
          <a:noFill/>
          <a:ln/>
        </p:spPr>
        <p:txBody>
          <a:bodyPr wrap="squar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"playing", "played", "plays" → all become "play"</a:t>
            </a:r>
            <a:endParaRPr lang="en-US" sz="1200" dirty="0"/>
          </a:p>
        </p:txBody>
      </p:sp>
      <p:sp>
        <p:nvSpPr>
          <p:cNvPr id="14" name="Text 12"/>
          <p:cNvSpPr/>
          <p:nvPr/>
        </p:nvSpPr>
        <p:spPr>
          <a:xfrm>
            <a:off x="3378622" y="3540374"/>
            <a:ext cx="23866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Helps group similar words without needing a dictionary.</a:t>
            </a:r>
            <a:endParaRPr lang="en-US" sz="1200" dirty="0"/>
          </a:p>
        </p:txBody>
      </p:sp>
      <p:grpSp>
        <p:nvGrpSpPr>
          <p:cNvPr id="24" name="Group 23">
            <a:extLst>
              <a:ext uri="{FF2B5EF4-FFF2-40B4-BE49-F238E27FC236}">
                <a16:creationId xmlns:a16="http://schemas.microsoft.com/office/drawing/2014/main" id="{D90EED0B-5FC3-7BBD-C384-54210C150F6D}"/>
              </a:ext>
            </a:extLst>
          </p:cNvPr>
          <p:cNvGrpSpPr/>
          <p:nvPr/>
        </p:nvGrpSpPr>
        <p:grpSpPr>
          <a:xfrm>
            <a:off x="6013252" y="1903437"/>
            <a:ext cx="2634555" cy="2282279"/>
            <a:chOff x="6013252" y="1903437"/>
            <a:chExt cx="2634555" cy="2282279"/>
          </a:xfrm>
        </p:grpSpPr>
        <p:sp>
          <p:nvSpPr>
            <p:cNvPr id="15" name="Shape 13"/>
            <p:cNvSpPr/>
            <p:nvPr/>
          </p:nvSpPr>
          <p:spPr>
            <a:xfrm>
              <a:off x="6013252" y="1903437"/>
              <a:ext cx="2634555" cy="2282279"/>
            </a:xfrm>
            <a:prstGeom prst="roundRect">
              <a:avLst>
                <a:gd name="adj" fmla="val 815"/>
              </a:avLst>
            </a:prstGeom>
            <a:solidFill>
              <a:srgbClr val="E9ECF2"/>
            </a:solidFill>
            <a:ln/>
          </p:spPr>
          <p:txBody>
            <a:bodyPr/>
            <a:lstStyle/>
            <a:p>
              <a:endParaRPr lang="en-IN"/>
            </a:p>
          </p:txBody>
        </p:sp>
        <p:sp>
          <p:nvSpPr>
            <p:cNvPr id="16" name="Text 14"/>
            <p:cNvSpPr/>
            <p:nvPr/>
          </p:nvSpPr>
          <p:spPr>
            <a:xfrm>
              <a:off x="6137225" y="2027411"/>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Lemmatization</a:t>
              </a:r>
              <a:endParaRPr lang="en-US" sz="1200" dirty="0"/>
            </a:p>
          </p:txBody>
        </p:sp>
      </p:grpSp>
      <p:sp>
        <p:nvSpPr>
          <p:cNvPr id="17" name="Text 15"/>
          <p:cNvSpPr/>
          <p:nvPr/>
        </p:nvSpPr>
        <p:spPr>
          <a:xfrm>
            <a:off x="6137225" y="2349922"/>
            <a:ext cx="2386608"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Reducing a word to its </a:t>
            </a:r>
            <a:r>
              <a:rPr lang="en-US" sz="1200" b="1" dirty="0">
                <a:solidFill>
                  <a:srgbClr val="15213F"/>
                </a:solidFill>
                <a:latin typeface="Roboto" pitchFamily="34" charset="0"/>
                <a:ea typeface="Roboto" pitchFamily="34" charset="-122"/>
                <a:cs typeface="Roboto" pitchFamily="34" charset="-120"/>
              </a:rPr>
              <a:t>dictionary form</a:t>
            </a:r>
            <a:r>
              <a:rPr lang="en-US" sz="1200" dirty="0">
                <a:solidFill>
                  <a:srgbClr val="15213F"/>
                </a:solidFill>
                <a:latin typeface="Roboto" pitchFamily="34" charset="0"/>
                <a:ea typeface="Roboto" pitchFamily="34" charset="-122"/>
                <a:cs typeface="Roboto" pitchFamily="34" charset="-120"/>
              </a:rPr>
              <a:t> (more accurate than stemming).</a:t>
            </a:r>
            <a:endParaRPr lang="en-US" sz="1200" dirty="0"/>
          </a:p>
        </p:txBody>
      </p:sp>
      <p:sp>
        <p:nvSpPr>
          <p:cNvPr id="18" name="Text 16"/>
          <p:cNvSpPr/>
          <p:nvPr/>
        </p:nvSpPr>
        <p:spPr>
          <a:xfrm>
            <a:off x="6137225" y="3168625"/>
            <a:ext cx="2386608"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"better" → "good" | "ran" → "run"</a:t>
            </a:r>
            <a:endParaRPr lang="en-US" sz="1200" dirty="0"/>
          </a:p>
        </p:txBody>
      </p:sp>
      <p:sp>
        <p:nvSpPr>
          <p:cNvPr id="19" name="Text 17"/>
          <p:cNvSpPr/>
          <p:nvPr/>
        </p:nvSpPr>
        <p:spPr>
          <a:xfrm>
            <a:off x="6137225" y="3540374"/>
            <a:ext cx="238660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Preserves real meaning. Useful for search engines and chatbots.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animBg="1"/>
      <p:bldP spid="12" grpId="0" animBg="1"/>
      <p:bldP spid="13" grpId="0" animBg="1"/>
      <p:bldP spid="14"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538088"/>
            <a:ext cx="7585323"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Stage 2:  UNDERSTAND (NLU - Natural Language Understanding)</a:t>
            </a:r>
            <a:endParaRPr lang="en-US" sz="1950" dirty="0"/>
          </a:p>
        </p:txBody>
      </p:sp>
      <p:grpSp>
        <p:nvGrpSpPr>
          <p:cNvPr id="18" name="Group 17">
            <a:extLst>
              <a:ext uri="{FF2B5EF4-FFF2-40B4-BE49-F238E27FC236}">
                <a16:creationId xmlns:a16="http://schemas.microsoft.com/office/drawing/2014/main" id="{BA267AC3-4810-2391-E681-65EAA5CEBF65}"/>
              </a:ext>
            </a:extLst>
          </p:cNvPr>
          <p:cNvGrpSpPr/>
          <p:nvPr/>
        </p:nvGrpSpPr>
        <p:grpSpPr>
          <a:xfrm>
            <a:off x="496119" y="1096194"/>
            <a:ext cx="4013895" cy="2206972"/>
            <a:chOff x="496119" y="1096194"/>
            <a:chExt cx="4013895" cy="2206972"/>
          </a:xfrm>
        </p:grpSpPr>
        <p:sp>
          <p:nvSpPr>
            <p:cNvPr id="3" name="Shape 1"/>
            <p:cNvSpPr/>
            <p:nvPr/>
          </p:nvSpPr>
          <p:spPr>
            <a:xfrm>
              <a:off x="496119" y="1096194"/>
              <a:ext cx="4013895" cy="2206972"/>
            </a:xfrm>
            <a:prstGeom prst="roundRect">
              <a:avLst>
                <a:gd name="adj" fmla="val 843"/>
              </a:avLst>
            </a:prstGeom>
            <a:solidFill>
              <a:srgbClr val="FBFCFE"/>
            </a:solidFill>
            <a:ln w="14288">
              <a:solidFill>
                <a:srgbClr val="CFD2D8"/>
              </a:solidFill>
              <a:prstDash val="solid"/>
            </a:ln>
          </p:spPr>
          <p:txBody>
            <a:bodyPr/>
            <a:lstStyle/>
            <a:p>
              <a:endParaRPr lang="en-IN"/>
            </a:p>
          </p:txBody>
        </p:sp>
        <p:sp>
          <p:nvSpPr>
            <p:cNvPr id="4" name="Text 2"/>
            <p:cNvSpPr/>
            <p:nvPr/>
          </p:nvSpPr>
          <p:spPr>
            <a:xfrm>
              <a:off x="634380" y="1234455"/>
              <a:ext cx="2191941"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Part‑of‑Speech (POS) Tagging</a:t>
              </a:r>
              <a:endParaRPr lang="en-US" sz="1200" dirty="0"/>
            </a:p>
          </p:txBody>
        </p:sp>
      </p:grpSp>
      <p:sp>
        <p:nvSpPr>
          <p:cNvPr id="5" name="Text 3"/>
          <p:cNvSpPr/>
          <p:nvPr/>
        </p:nvSpPr>
        <p:spPr>
          <a:xfrm>
            <a:off x="634380" y="1502718"/>
            <a:ext cx="3737372"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6" name="Text 4"/>
          <p:cNvSpPr/>
          <p:nvPr/>
        </p:nvSpPr>
        <p:spPr>
          <a:xfrm>
            <a:off x="634380" y="1825228"/>
            <a:ext cx="373737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Labeling each token as noun, verb, adjective, etc.</a:t>
            </a:r>
            <a:endParaRPr lang="en-US" sz="1200" dirty="0"/>
          </a:p>
        </p:txBody>
      </p:sp>
      <p:sp>
        <p:nvSpPr>
          <p:cNvPr id="7" name="Text 5"/>
          <p:cNvSpPr/>
          <p:nvPr/>
        </p:nvSpPr>
        <p:spPr>
          <a:xfrm>
            <a:off x="634380" y="2677195"/>
            <a:ext cx="3737372" cy="625972"/>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Why it matters:</a:t>
            </a:r>
            <a:r>
              <a:rPr lang="en-US" sz="1200" dirty="0">
                <a:solidFill>
                  <a:srgbClr val="15213F"/>
                </a:solidFill>
                <a:latin typeface="Roboto" pitchFamily="34" charset="0"/>
                <a:ea typeface="Roboto" pitchFamily="34" charset="-122"/>
                <a:cs typeface="Roboto" pitchFamily="34" charset="-120"/>
              </a:rPr>
              <a:t> Knowing a word's role helps understand sentence structure.</a:t>
            </a:r>
            <a:endParaRPr lang="en-US" sz="1200" dirty="0"/>
          </a:p>
        </p:txBody>
      </p:sp>
      <p:grpSp>
        <p:nvGrpSpPr>
          <p:cNvPr id="19" name="Group 18">
            <a:extLst>
              <a:ext uri="{FF2B5EF4-FFF2-40B4-BE49-F238E27FC236}">
                <a16:creationId xmlns:a16="http://schemas.microsoft.com/office/drawing/2014/main" id="{EE219A15-AE32-D31D-2EFB-19EB3077B021}"/>
              </a:ext>
            </a:extLst>
          </p:cNvPr>
          <p:cNvGrpSpPr/>
          <p:nvPr/>
        </p:nvGrpSpPr>
        <p:grpSpPr>
          <a:xfrm>
            <a:off x="4633987" y="1096194"/>
            <a:ext cx="4013895" cy="2206972"/>
            <a:chOff x="4633987" y="1096194"/>
            <a:chExt cx="4013895" cy="2206972"/>
          </a:xfrm>
        </p:grpSpPr>
        <p:sp>
          <p:nvSpPr>
            <p:cNvPr id="8" name="Shape 6"/>
            <p:cNvSpPr/>
            <p:nvPr/>
          </p:nvSpPr>
          <p:spPr>
            <a:xfrm>
              <a:off x="4633987" y="1096194"/>
              <a:ext cx="4013895" cy="2206972"/>
            </a:xfrm>
            <a:prstGeom prst="roundRect">
              <a:avLst>
                <a:gd name="adj" fmla="val 843"/>
              </a:avLst>
            </a:prstGeom>
            <a:solidFill>
              <a:srgbClr val="FBFCFE"/>
            </a:solidFill>
            <a:ln w="14288">
              <a:solidFill>
                <a:srgbClr val="CFD2D8"/>
              </a:solidFill>
              <a:prstDash val="solid"/>
            </a:ln>
          </p:spPr>
          <p:txBody>
            <a:bodyPr/>
            <a:lstStyle/>
            <a:p>
              <a:endParaRPr lang="en-IN"/>
            </a:p>
          </p:txBody>
        </p:sp>
        <p:sp>
          <p:nvSpPr>
            <p:cNvPr id="9" name="Text 7"/>
            <p:cNvSpPr/>
            <p:nvPr/>
          </p:nvSpPr>
          <p:spPr>
            <a:xfrm>
              <a:off x="4772248" y="1234455"/>
              <a:ext cx="2420541"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Named Entity Recognition (NER)</a:t>
              </a:r>
              <a:endParaRPr lang="en-US" sz="1200" dirty="0"/>
            </a:p>
          </p:txBody>
        </p:sp>
      </p:grpSp>
      <p:sp>
        <p:nvSpPr>
          <p:cNvPr id="10" name="Text 8"/>
          <p:cNvSpPr/>
          <p:nvPr/>
        </p:nvSpPr>
        <p:spPr>
          <a:xfrm>
            <a:off x="4772248" y="1502718"/>
            <a:ext cx="3737372"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11" name="Text 9"/>
          <p:cNvSpPr/>
          <p:nvPr/>
        </p:nvSpPr>
        <p:spPr>
          <a:xfrm>
            <a:off x="4772248" y="1775594"/>
            <a:ext cx="373737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Finding and classifying </a:t>
            </a:r>
            <a:r>
              <a:rPr lang="en-US" sz="1200" b="1" dirty="0">
                <a:solidFill>
                  <a:srgbClr val="15213F"/>
                </a:solidFill>
                <a:latin typeface="Roboto" pitchFamily="34" charset="0"/>
                <a:ea typeface="Roboto" pitchFamily="34" charset="-122"/>
                <a:cs typeface="Roboto" pitchFamily="34" charset="-120"/>
              </a:rPr>
              <a:t>named things</a:t>
            </a:r>
            <a:r>
              <a:rPr lang="en-US" sz="1200" dirty="0">
                <a:solidFill>
                  <a:srgbClr val="15213F"/>
                </a:solidFill>
                <a:latin typeface="Roboto" pitchFamily="34" charset="0"/>
                <a:ea typeface="Roboto" pitchFamily="34" charset="-122"/>
                <a:cs typeface="Roboto" pitchFamily="34" charset="-120"/>
              </a:rPr>
              <a:t> - people, places, organisations, dates, quantities.</a:t>
            </a:r>
            <a:endParaRPr lang="en-US" sz="1200" dirty="0"/>
          </a:p>
        </p:txBody>
      </p:sp>
      <p:sp>
        <p:nvSpPr>
          <p:cNvPr id="12" name="Text 10"/>
          <p:cNvSpPr/>
          <p:nvPr/>
        </p:nvSpPr>
        <p:spPr>
          <a:xfrm>
            <a:off x="4772248" y="2346201"/>
            <a:ext cx="3737372"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13" name="Text 11"/>
          <p:cNvSpPr/>
          <p:nvPr/>
        </p:nvSpPr>
        <p:spPr>
          <a:xfrm>
            <a:off x="4772248" y="2668712"/>
            <a:ext cx="3737372" cy="634455"/>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Why it matters:</a:t>
            </a:r>
            <a:r>
              <a:rPr lang="en-US" sz="1200" dirty="0">
                <a:solidFill>
                  <a:srgbClr val="15213F"/>
                </a:solidFill>
                <a:latin typeface="Roboto" pitchFamily="34" charset="0"/>
                <a:ea typeface="Roboto" pitchFamily="34" charset="-122"/>
                <a:cs typeface="Roboto" pitchFamily="34" charset="-120"/>
              </a:rPr>
              <a:t> Search engines, calendars, and news summarisers rely on NER.</a:t>
            </a:r>
            <a:endParaRPr lang="en-US" sz="1200" dirty="0"/>
          </a:p>
        </p:txBody>
      </p:sp>
      <p:sp>
        <p:nvSpPr>
          <p:cNvPr id="14" name="Text 12"/>
          <p:cNvSpPr/>
          <p:nvPr/>
        </p:nvSpPr>
        <p:spPr>
          <a:xfrm>
            <a:off x="496119" y="3442692"/>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20" name="Group 19">
            <a:extLst>
              <a:ext uri="{FF2B5EF4-FFF2-40B4-BE49-F238E27FC236}">
                <a16:creationId xmlns:a16="http://schemas.microsoft.com/office/drawing/2014/main" id="{F2970AC3-58D5-6641-7928-0EA5476699AA}"/>
              </a:ext>
            </a:extLst>
          </p:cNvPr>
          <p:cNvGrpSpPr/>
          <p:nvPr/>
        </p:nvGrpSpPr>
        <p:grpSpPr>
          <a:xfrm>
            <a:off x="496119" y="3780681"/>
            <a:ext cx="8151763" cy="824731"/>
            <a:chOff x="496119" y="3780681"/>
            <a:chExt cx="8151763" cy="824731"/>
          </a:xfrm>
        </p:grpSpPr>
        <p:sp>
          <p:nvSpPr>
            <p:cNvPr id="15" name="Shape 13"/>
            <p:cNvSpPr/>
            <p:nvPr/>
          </p:nvSpPr>
          <p:spPr>
            <a:xfrm>
              <a:off x="496119" y="3780681"/>
              <a:ext cx="8151763" cy="824731"/>
            </a:xfrm>
            <a:prstGeom prst="roundRect">
              <a:avLst>
                <a:gd name="adj" fmla="val 2256"/>
              </a:avLst>
            </a:prstGeom>
            <a:solidFill>
              <a:srgbClr val="F2F2F2"/>
            </a:solidFill>
            <a:ln/>
          </p:spPr>
          <p:txBody>
            <a:bodyPr/>
            <a:lstStyle/>
            <a:p>
              <a:endParaRPr lang="en-IN"/>
            </a:p>
          </p:txBody>
        </p:sp>
        <p:pic>
          <p:nvPicPr>
            <p:cNvPr id="16" name="Image 0" descr="preencoded.png"/>
            <p:cNvPicPr>
              <a:picLocks noChangeAspect="1"/>
            </p:cNvPicPr>
            <p:nvPr/>
          </p:nvPicPr>
          <p:blipFill>
            <a:blip r:embed="rId3"/>
            <a:stretch>
              <a:fillRect/>
            </a:stretch>
          </p:blipFill>
          <p:spPr>
            <a:xfrm>
              <a:off x="620092" y="3976167"/>
              <a:ext cx="193774" cy="155004"/>
            </a:xfrm>
            <a:prstGeom prst="rect">
              <a:avLst/>
            </a:prstGeom>
          </p:spPr>
        </p:pic>
        <p:sp>
          <p:nvSpPr>
            <p:cNvPr id="17" name="Text 14"/>
            <p:cNvSpPr/>
            <p:nvPr/>
          </p:nvSpPr>
          <p:spPr>
            <a:xfrm>
              <a:off x="937840" y="3935611"/>
              <a:ext cx="7586067" cy="496193"/>
            </a:xfrm>
            <a:prstGeom prst="rect">
              <a:avLst/>
            </a:prstGeom>
            <a:noFill/>
            <a:ln/>
          </p:spPr>
          <p:txBody>
            <a:bodyPr wrap="square" lIns="0" tIns="0" rIns="0" bIns="0" rtlCol="0" anchor="t"/>
            <a:lstStyle/>
            <a:p>
              <a:pPr marL="0" indent="0" algn="l">
                <a:lnSpc>
                  <a:spcPts val="1950"/>
                </a:lnSpc>
                <a:buNone/>
              </a:pPr>
              <a:r>
                <a:rPr lang="en-US" sz="1200" b="1" dirty="0">
                  <a:solidFill>
                    <a:srgbClr val="000000"/>
                  </a:solidFill>
                  <a:latin typeface="Roboto" pitchFamily="34" charset="0"/>
                  <a:ea typeface="Roboto" pitchFamily="34" charset="-122"/>
                  <a:cs typeface="Roboto" pitchFamily="34" charset="-120"/>
                </a:rPr>
                <a:t>All these "break" steps happen before the AI even tries to understand the meaning.</a:t>
              </a:r>
              <a:r>
                <a:rPr lang="en-US" sz="1200" dirty="0">
                  <a:solidFill>
                    <a:srgbClr val="000000"/>
                  </a:solidFill>
                  <a:latin typeface="Roboto" pitchFamily="34" charset="0"/>
                  <a:ea typeface="Roboto" pitchFamily="34" charset="-122"/>
                  <a:cs typeface="Roboto" pitchFamily="34" charset="-120"/>
                </a:rPr>
                <a:t> They turn raw text into structured data.</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580802"/>
            <a:ext cx="5294784" cy="193849"/>
          </a:xfrm>
          <a:prstGeom prst="rect">
            <a:avLst/>
          </a:prstGeom>
          <a:noFill/>
          <a:ln/>
        </p:spPr>
        <p:txBody>
          <a:bodyPr wrap="none" lIns="0" tIns="0" rIns="0" bIns="0" rtlCol="0" anchor="t"/>
          <a:lstStyle/>
          <a:p>
            <a:pPr marL="0" indent="0" algn="l">
              <a:lnSpc>
                <a:spcPts val="1500"/>
              </a:lnSpc>
              <a:buNone/>
            </a:pPr>
            <a:r>
              <a:rPr lang="en-US" sz="1200" dirty="0">
                <a:solidFill>
                  <a:srgbClr val="3257B8"/>
                </a:solidFill>
                <a:latin typeface="Roboto Slab" pitchFamily="34" charset="0"/>
                <a:ea typeface="Roboto Slab" pitchFamily="34" charset="-122"/>
                <a:cs typeface="Roboto Slab" pitchFamily="34" charset="-120"/>
              </a:rPr>
              <a:t>Once the text is broken down, the AI needs to </a:t>
            </a:r>
            <a:r>
              <a:rPr lang="en-US" sz="1200" b="1" dirty="0">
                <a:solidFill>
                  <a:srgbClr val="3257B8"/>
                </a:solidFill>
                <a:latin typeface="Roboto Slab" pitchFamily="34" charset="0"/>
                <a:ea typeface="Roboto Slab" pitchFamily="34" charset="-122"/>
                <a:cs typeface="Roboto Slab" pitchFamily="34" charset="-120"/>
              </a:rPr>
              <a:t>understand</a:t>
            </a:r>
            <a:r>
              <a:rPr lang="en-US" sz="1200" dirty="0">
                <a:solidFill>
                  <a:srgbClr val="3257B8"/>
                </a:solidFill>
                <a:latin typeface="Roboto Slab" pitchFamily="34" charset="0"/>
                <a:ea typeface="Roboto Slab" pitchFamily="34" charset="-122"/>
                <a:cs typeface="Roboto Slab" pitchFamily="34" charset="-120"/>
              </a:rPr>
              <a:t> what it means.</a:t>
            </a:r>
            <a:endParaRPr lang="en-US" sz="1200" dirty="0"/>
          </a:p>
        </p:txBody>
      </p:sp>
      <p:grpSp>
        <p:nvGrpSpPr>
          <p:cNvPr id="27" name="Group 26">
            <a:extLst>
              <a:ext uri="{FF2B5EF4-FFF2-40B4-BE49-F238E27FC236}">
                <a16:creationId xmlns:a16="http://schemas.microsoft.com/office/drawing/2014/main" id="{AE763030-14AF-72F8-9B18-8EDADD98847F}"/>
              </a:ext>
            </a:extLst>
          </p:cNvPr>
          <p:cNvGrpSpPr/>
          <p:nvPr/>
        </p:nvGrpSpPr>
        <p:grpSpPr>
          <a:xfrm>
            <a:off x="496119" y="1022672"/>
            <a:ext cx="2634555" cy="1214586"/>
            <a:chOff x="496119" y="1022672"/>
            <a:chExt cx="2634555" cy="1214586"/>
          </a:xfrm>
        </p:grpSpPr>
        <p:sp>
          <p:nvSpPr>
            <p:cNvPr id="3" name="Shape 1"/>
            <p:cNvSpPr/>
            <p:nvPr/>
          </p:nvSpPr>
          <p:spPr>
            <a:xfrm>
              <a:off x="496119" y="1022672"/>
              <a:ext cx="2634555" cy="1214586"/>
            </a:xfrm>
            <a:prstGeom prst="roundRect">
              <a:avLst>
                <a:gd name="adj" fmla="val 1532"/>
              </a:avLst>
            </a:prstGeom>
            <a:solidFill>
              <a:srgbClr val="FBFCFE"/>
            </a:solidFill>
            <a:ln w="14288">
              <a:solidFill>
                <a:srgbClr val="CFD2D8"/>
              </a:solidFill>
              <a:prstDash val="solid"/>
            </a:ln>
          </p:spPr>
          <p:txBody>
            <a:bodyPr/>
            <a:lstStyle/>
            <a:p>
              <a:endParaRPr lang="en-IN"/>
            </a:p>
          </p:txBody>
        </p:sp>
        <p:sp>
          <p:nvSpPr>
            <p:cNvPr id="4" name="Text 2"/>
            <p:cNvSpPr/>
            <p:nvPr/>
          </p:nvSpPr>
          <p:spPr>
            <a:xfrm>
              <a:off x="634380" y="1160934"/>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Intent</a:t>
              </a:r>
              <a:endParaRPr lang="en-US" sz="1200" dirty="0"/>
            </a:p>
          </p:txBody>
        </p:sp>
      </p:grpSp>
      <p:sp>
        <p:nvSpPr>
          <p:cNvPr id="5" name="Text 3"/>
          <p:cNvSpPr/>
          <p:nvPr/>
        </p:nvSpPr>
        <p:spPr>
          <a:xfrm>
            <a:off x="634380" y="1429196"/>
            <a:ext cx="2358033" cy="198462"/>
          </a:xfrm>
          <a:prstGeom prst="rect">
            <a:avLst/>
          </a:prstGeom>
          <a:noFill/>
          <a:ln/>
        </p:spPr>
        <p:txBody>
          <a:bodyPr wrap="non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What does the user want? </a:t>
            </a:r>
            <a:endParaRPr lang="en-US" sz="950" dirty="0"/>
          </a:p>
        </p:txBody>
      </p:sp>
      <p:sp>
        <p:nvSpPr>
          <p:cNvPr id="6" name="Text 4"/>
          <p:cNvSpPr/>
          <p:nvPr/>
        </p:nvSpPr>
        <p:spPr>
          <a:xfrm>
            <a:off x="634380" y="1702073"/>
            <a:ext cx="2358033" cy="396925"/>
          </a:xfrm>
          <a:prstGeom prst="rect">
            <a:avLst/>
          </a:prstGeom>
          <a:noFill/>
          <a:ln/>
        </p:spPr>
        <p:txBody>
          <a:bodyPr wrap="squar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(e.g., "What's the weather?" → intent = get forecast)</a:t>
            </a:r>
            <a:endParaRPr lang="en-US" sz="950" dirty="0"/>
          </a:p>
        </p:txBody>
      </p:sp>
      <p:grpSp>
        <p:nvGrpSpPr>
          <p:cNvPr id="28" name="Group 27">
            <a:extLst>
              <a:ext uri="{FF2B5EF4-FFF2-40B4-BE49-F238E27FC236}">
                <a16:creationId xmlns:a16="http://schemas.microsoft.com/office/drawing/2014/main" id="{34F8821E-BC4B-2313-6285-0058444E4801}"/>
              </a:ext>
            </a:extLst>
          </p:cNvPr>
          <p:cNvGrpSpPr/>
          <p:nvPr/>
        </p:nvGrpSpPr>
        <p:grpSpPr>
          <a:xfrm>
            <a:off x="3254648" y="1022672"/>
            <a:ext cx="2634630" cy="1214586"/>
            <a:chOff x="3254648" y="1022672"/>
            <a:chExt cx="2634630" cy="1214586"/>
          </a:xfrm>
        </p:grpSpPr>
        <p:sp>
          <p:nvSpPr>
            <p:cNvPr id="7" name="Shape 5"/>
            <p:cNvSpPr/>
            <p:nvPr/>
          </p:nvSpPr>
          <p:spPr>
            <a:xfrm>
              <a:off x="3254648" y="1022672"/>
              <a:ext cx="2634630" cy="1214586"/>
            </a:xfrm>
            <a:prstGeom prst="roundRect">
              <a:avLst>
                <a:gd name="adj" fmla="val 1532"/>
              </a:avLst>
            </a:prstGeom>
            <a:solidFill>
              <a:srgbClr val="FBFCFE"/>
            </a:solidFill>
            <a:ln w="14288">
              <a:solidFill>
                <a:srgbClr val="CFD2D8"/>
              </a:solidFill>
              <a:prstDash val="solid"/>
            </a:ln>
          </p:spPr>
          <p:txBody>
            <a:bodyPr/>
            <a:lstStyle/>
            <a:p>
              <a:endParaRPr lang="en-IN"/>
            </a:p>
          </p:txBody>
        </p:sp>
        <p:sp>
          <p:nvSpPr>
            <p:cNvPr id="8" name="Text 6"/>
            <p:cNvSpPr/>
            <p:nvPr/>
          </p:nvSpPr>
          <p:spPr>
            <a:xfrm>
              <a:off x="3392909" y="1160934"/>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Sentiment</a:t>
              </a:r>
              <a:endParaRPr lang="en-US" sz="1200" dirty="0"/>
            </a:p>
          </p:txBody>
        </p:sp>
      </p:grpSp>
      <p:sp>
        <p:nvSpPr>
          <p:cNvPr id="9" name="Text 7"/>
          <p:cNvSpPr/>
          <p:nvPr/>
        </p:nvSpPr>
        <p:spPr>
          <a:xfrm>
            <a:off x="3392909" y="1429196"/>
            <a:ext cx="2358107" cy="198462"/>
          </a:xfrm>
          <a:prstGeom prst="rect">
            <a:avLst/>
          </a:prstGeom>
          <a:noFill/>
          <a:ln/>
        </p:spPr>
        <p:txBody>
          <a:bodyPr wrap="non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Positive, negative, or neutral?</a:t>
            </a:r>
            <a:endParaRPr lang="en-US" sz="950" dirty="0"/>
          </a:p>
        </p:txBody>
      </p:sp>
      <p:grpSp>
        <p:nvGrpSpPr>
          <p:cNvPr id="29" name="Group 28">
            <a:extLst>
              <a:ext uri="{FF2B5EF4-FFF2-40B4-BE49-F238E27FC236}">
                <a16:creationId xmlns:a16="http://schemas.microsoft.com/office/drawing/2014/main" id="{3650E0D2-3943-41DC-9834-B6E5DD0AE130}"/>
              </a:ext>
            </a:extLst>
          </p:cNvPr>
          <p:cNvGrpSpPr/>
          <p:nvPr/>
        </p:nvGrpSpPr>
        <p:grpSpPr>
          <a:xfrm>
            <a:off x="6013252" y="1022672"/>
            <a:ext cx="2634555" cy="1214586"/>
            <a:chOff x="6013252" y="1022672"/>
            <a:chExt cx="2634555" cy="1214586"/>
          </a:xfrm>
        </p:grpSpPr>
        <p:sp>
          <p:nvSpPr>
            <p:cNvPr id="10" name="Shape 8"/>
            <p:cNvSpPr/>
            <p:nvPr/>
          </p:nvSpPr>
          <p:spPr>
            <a:xfrm>
              <a:off x="6013252" y="1022672"/>
              <a:ext cx="2634555" cy="1214586"/>
            </a:xfrm>
            <a:prstGeom prst="roundRect">
              <a:avLst>
                <a:gd name="adj" fmla="val 1532"/>
              </a:avLst>
            </a:prstGeom>
            <a:solidFill>
              <a:srgbClr val="FBFCFE"/>
            </a:solidFill>
            <a:ln w="14288">
              <a:solidFill>
                <a:srgbClr val="CFD2D8"/>
              </a:solidFill>
              <a:prstDash val="solid"/>
            </a:ln>
          </p:spPr>
          <p:txBody>
            <a:bodyPr/>
            <a:lstStyle/>
            <a:p>
              <a:endParaRPr lang="en-IN"/>
            </a:p>
          </p:txBody>
        </p:sp>
        <p:sp>
          <p:nvSpPr>
            <p:cNvPr id="11" name="Text 9"/>
            <p:cNvSpPr/>
            <p:nvPr/>
          </p:nvSpPr>
          <p:spPr>
            <a:xfrm>
              <a:off x="6151513" y="1160934"/>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Relationships</a:t>
              </a:r>
              <a:endParaRPr lang="en-US" sz="1200" dirty="0"/>
            </a:p>
          </p:txBody>
        </p:sp>
      </p:grpSp>
      <p:sp>
        <p:nvSpPr>
          <p:cNvPr id="12" name="Text 10"/>
          <p:cNvSpPr/>
          <p:nvPr/>
        </p:nvSpPr>
        <p:spPr>
          <a:xfrm>
            <a:off x="6151513" y="1429196"/>
            <a:ext cx="2358033" cy="198462"/>
          </a:xfrm>
          <a:prstGeom prst="rect">
            <a:avLst/>
          </a:prstGeom>
          <a:noFill/>
          <a:ln/>
        </p:spPr>
        <p:txBody>
          <a:bodyPr wrap="non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Who did what to whom? </a:t>
            </a:r>
            <a:endParaRPr lang="en-US" sz="950" dirty="0"/>
          </a:p>
        </p:txBody>
      </p:sp>
      <p:sp>
        <p:nvSpPr>
          <p:cNvPr id="13" name="Text 11"/>
          <p:cNvSpPr/>
          <p:nvPr/>
        </p:nvSpPr>
        <p:spPr>
          <a:xfrm>
            <a:off x="6151513" y="1702073"/>
            <a:ext cx="2358033" cy="396925"/>
          </a:xfrm>
          <a:prstGeom prst="rect">
            <a:avLst/>
          </a:prstGeom>
          <a:noFill/>
          <a:ln/>
        </p:spPr>
        <p:txBody>
          <a:bodyPr wrap="squar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(e.g., "John gave Mary a book." → giver = John, receiver = Mary, object = book)</a:t>
            </a:r>
            <a:endParaRPr lang="en-US" sz="950" dirty="0"/>
          </a:p>
        </p:txBody>
      </p:sp>
      <p:sp>
        <p:nvSpPr>
          <p:cNvPr id="14" name="Text 12"/>
          <p:cNvSpPr/>
          <p:nvPr/>
        </p:nvSpPr>
        <p:spPr>
          <a:xfrm>
            <a:off x="496119" y="2376785"/>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15" name="Text 13"/>
          <p:cNvSpPr/>
          <p:nvPr/>
        </p:nvSpPr>
        <p:spPr>
          <a:xfrm>
            <a:off x="496119" y="2418009"/>
            <a:ext cx="8151763" cy="496043"/>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Example of NLU in action:</a:t>
            </a:r>
          </a:p>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User types: "Can you turn off the living room lights?"</a:t>
            </a:r>
            <a:endParaRPr lang="en-US" sz="1200" dirty="0"/>
          </a:p>
        </p:txBody>
      </p:sp>
      <p:grpSp>
        <p:nvGrpSpPr>
          <p:cNvPr id="30" name="Group 29">
            <a:extLst>
              <a:ext uri="{FF2B5EF4-FFF2-40B4-BE49-F238E27FC236}">
                <a16:creationId xmlns:a16="http://schemas.microsoft.com/office/drawing/2014/main" id="{6927B7B5-B3E2-A29A-8E59-8FCAFE824664}"/>
              </a:ext>
            </a:extLst>
          </p:cNvPr>
          <p:cNvGrpSpPr/>
          <p:nvPr/>
        </p:nvGrpSpPr>
        <p:grpSpPr>
          <a:xfrm>
            <a:off x="496119" y="3102397"/>
            <a:ext cx="1944960" cy="496044"/>
            <a:chOff x="496119" y="3102397"/>
            <a:chExt cx="1944960" cy="496044"/>
          </a:xfrm>
        </p:grpSpPr>
        <p:sp>
          <p:nvSpPr>
            <p:cNvPr id="16" name="Shape 14"/>
            <p:cNvSpPr/>
            <p:nvPr/>
          </p:nvSpPr>
          <p:spPr>
            <a:xfrm>
              <a:off x="496119" y="3102397"/>
              <a:ext cx="1944960" cy="496044"/>
            </a:xfrm>
            <a:prstGeom prst="roundRect">
              <a:avLst>
                <a:gd name="adj" fmla="val 3751"/>
              </a:avLst>
            </a:prstGeom>
            <a:solidFill>
              <a:srgbClr val="E9ECF2"/>
            </a:solidFill>
            <a:ln/>
          </p:spPr>
          <p:txBody>
            <a:bodyPr/>
            <a:lstStyle/>
            <a:p>
              <a:endParaRPr lang="en-IN"/>
            </a:p>
          </p:txBody>
        </p:sp>
        <p:sp>
          <p:nvSpPr>
            <p:cNvPr id="17" name="Text 15"/>
            <p:cNvSpPr/>
            <p:nvPr/>
          </p:nvSpPr>
          <p:spPr>
            <a:xfrm>
              <a:off x="620092" y="3226371"/>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Intent = control device</a:t>
              </a:r>
              <a:endParaRPr lang="en-US" sz="1200" dirty="0"/>
            </a:p>
          </p:txBody>
        </p:sp>
      </p:grpSp>
      <p:grpSp>
        <p:nvGrpSpPr>
          <p:cNvPr id="31" name="Group 30">
            <a:extLst>
              <a:ext uri="{FF2B5EF4-FFF2-40B4-BE49-F238E27FC236}">
                <a16:creationId xmlns:a16="http://schemas.microsoft.com/office/drawing/2014/main" id="{3B41D20F-DAB0-5779-2FB4-C902CF940E4D}"/>
              </a:ext>
            </a:extLst>
          </p:cNvPr>
          <p:cNvGrpSpPr/>
          <p:nvPr/>
        </p:nvGrpSpPr>
        <p:grpSpPr>
          <a:xfrm>
            <a:off x="2565053" y="3102397"/>
            <a:ext cx="1944960" cy="496044"/>
            <a:chOff x="2565053" y="3102397"/>
            <a:chExt cx="1944960" cy="496044"/>
          </a:xfrm>
        </p:grpSpPr>
        <p:sp>
          <p:nvSpPr>
            <p:cNvPr id="18" name="Shape 16"/>
            <p:cNvSpPr/>
            <p:nvPr/>
          </p:nvSpPr>
          <p:spPr>
            <a:xfrm>
              <a:off x="2565053" y="3102397"/>
              <a:ext cx="1944960" cy="496044"/>
            </a:xfrm>
            <a:prstGeom prst="roundRect">
              <a:avLst>
                <a:gd name="adj" fmla="val 3751"/>
              </a:avLst>
            </a:prstGeom>
            <a:solidFill>
              <a:srgbClr val="E9ECF2"/>
            </a:solidFill>
            <a:ln/>
          </p:spPr>
          <p:txBody>
            <a:bodyPr/>
            <a:lstStyle/>
            <a:p>
              <a:endParaRPr lang="en-IN" dirty="0"/>
            </a:p>
          </p:txBody>
        </p:sp>
        <p:sp>
          <p:nvSpPr>
            <p:cNvPr id="19" name="Text 17"/>
            <p:cNvSpPr/>
            <p:nvPr/>
          </p:nvSpPr>
          <p:spPr>
            <a:xfrm>
              <a:off x="2689027" y="3226371"/>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Device = lights</a:t>
              </a:r>
              <a:endParaRPr lang="en-US" sz="1200" dirty="0"/>
            </a:p>
          </p:txBody>
        </p:sp>
      </p:grpSp>
      <p:grpSp>
        <p:nvGrpSpPr>
          <p:cNvPr id="32" name="Group 31">
            <a:extLst>
              <a:ext uri="{FF2B5EF4-FFF2-40B4-BE49-F238E27FC236}">
                <a16:creationId xmlns:a16="http://schemas.microsoft.com/office/drawing/2014/main" id="{6B86E4A6-11CF-4757-E720-234AF1BF961B}"/>
              </a:ext>
            </a:extLst>
          </p:cNvPr>
          <p:cNvGrpSpPr/>
          <p:nvPr/>
        </p:nvGrpSpPr>
        <p:grpSpPr>
          <a:xfrm>
            <a:off x="4633987" y="3102397"/>
            <a:ext cx="1944960" cy="496044"/>
            <a:chOff x="4633987" y="3102397"/>
            <a:chExt cx="1944960" cy="496044"/>
          </a:xfrm>
        </p:grpSpPr>
        <p:sp>
          <p:nvSpPr>
            <p:cNvPr id="20" name="Shape 18"/>
            <p:cNvSpPr/>
            <p:nvPr/>
          </p:nvSpPr>
          <p:spPr>
            <a:xfrm>
              <a:off x="4633987" y="3102397"/>
              <a:ext cx="1944960" cy="496044"/>
            </a:xfrm>
            <a:prstGeom prst="roundRect">
              <a:avLst>
                <a:gd name="adj" fmla="val 3751"/>
              </a:avLst>
            </a:prstGeom>
            <a:solidFill>
              <a:srgbClr val="E9ECF2"/>
            </a:solidFill>
            <a:ln/>
          </p:spPr>
          <p:txBody>
            <a:bodyPr/>
            <a:lstStyle/>
            <a:p>
              <a:endParaRPr lang="en-IN"/>
            </a:p>
          </p:txBody>
        </p:sp>
        <p:sp>
          <p:nvSpPr>
            <p:cNvPr id="21" name="Text 19"/>
            <p:cNvSpPr/>
            <p:nvPr/>
          </p:nvSpPr>
          <p:spPr>
            <a:xfrm>
              <a:off x="4757961" y="3226371"/>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Location = living room</a:t>
              </a:r>
              <a:endParaRPr lang="en-US" sz="1200" dirty="0"/>
            </a:p>
          </p:txBody>
        </p:sp>
      </p:grpSp>
      <p:grpSp>
        <p:nvGrpSpPr>
          <p:cNvPr id="33" name="Group 32">
            <a:extLst>
              <a:ext uri="{FF2B5EF4-FFF2-40B4-BE49-F238E27FC236}">
                <a16:creationId xmlns:a16="http://schemas.microsoft.com/office/drawing/2014/main" id="{BCE39E99-57E0-ECF3-736F-92D0EDFBA4DA}"/>
              </a:ext>
            </a:extLst>
          </p:cNvPr>
          <p:cNvGrpSpPr/>
          <p:nvPr/>
        </p:nvGrpSpPr>
        <p:grpSpPr>
          <a:xfrm>
            <a:off x="6702921" y="3102397"/>
            <a:ext cx="1944960" cy="496044"/>
            <a:chOff x="6702921" y="3102397"/>
            <a:chExt cx="1944960" cy="496044"/>
          </a:xfrm>
        </p:grpSpPr>
        <p:sp>
          <p:nvSpPr>
            <p:cNvPr id="22" name="Shape 20"/>
            <p:cNvSpPr/>
            <p:nvPr/>
          </p:nvSpPr>
          <p:spPr>
            <a:xfrm>
              <a:off x="6702921" y="3102397"/>
              <a:ext cx="1944960" cy="496044"/>
            </a:xfrm>
            <a:prstGeom prst="roundRect">
              <a:avLst>
                <a:gd name="adj" fmla="val 3751"/>
              </a:avLst>
            </a:prstGeom>
            <a:solidFill>
              <a:srgbClr val="E9ECF2"/>
            </a:solidFill>
            <a:ln/>
          </p:spPr>
          <p:txBody>
            <a:bodyPr/>
            <a:lstStyle/>
            <a:p>
              <a:endParaRPr lang="en-IN"/>
            </a:p>
          </p:txBody>
        </p:sp>
        <p:sp>
          <p:nvSpPr>
            <p:cNvPr id="23" name="Text 21"/>
            <p:cNvSpPr/>
            <p:nvPr/>
          </p:nvSpPr>
          <p:spPr>
            <a:xfrm>
              <a:off x="6826895" y="3226371"/>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Action = turn off</a:t>
              </a:r>
              <a:endParaRPr lang="en-US" sz="1200" dirty="0"/>
            </a:p>
          </p:txBody>
        </p:sp>
      </p:grpSp>
      <p:grpSp>
        <p:nvGrpSpPr>
          <p:cNvPr id="34" name="Group 33">
            <a:extLst>
              <a:ext uri="{FF2B5EF4-FFF2-40B4-BE49-F238E27FC236}">
                <a16:creationId xmlns:a16="http://schemas.microsoft.com/office/drawing/2014/main" id="{7152EED6-F544-632C-79D5-565C553F1BDB}"/>
              </a:ext>
            </a:extLst>
          </p:cNvPr>
          <p:cNvGrpSpPr/>
          <p:nvPr/>
        </p:nvGrpSpPr>
        <p:grpSpPr>
          <a:xfrm>
            <a:off x="496119" y="3737967"/>
            <a:ext cx="8151763" cy="824731"/>
            <a:chOff x="496119" y="3737967"/>
            <a:chExt cx="8151763" cy="824731"/>
          </a:xfrm>
        </p:grpSpPr>
        <p:sp>
          <p:nvSpPr>
            <p:cNvPr id="24" name="Shape 22"/>
            <p:cNvSpPr/>
            <p:nvPr/>
          </p:nvSpPr>
          <p:spPr>
            <a:xfrm>
              <a:off x="496119" y="3737967"/>
              <a:ext cx="8151763" cy="824731"/>
            </a:xfrm>
            <a:prstGeom prst="roundRect">
              <a:avLst>
                <a:gd name="adj" fmla="val 2256"/>
              </a:avLst>
            </a:prstGeom>
            <a:solidFill>
              <a:srgbClr val="F2F2F2"/>
            </a:solidFill>
            <a:ln/>
          </p:spPr>
          <p:txBody>
            <a:bodyPr/>
            <a:lstStyle/>
            <a:p>
              <a:endParaRPr lang="en-IN"/>
            </a:p>
          </p:txBody>
        </p:sp>
        <p:pic>
          <p:nvPicPr>
            <p:cNvPr id="25" name="Image 0" descr="preencoded.png"/>
            <p:cNvPicPr>
              <a:picLocks noChangeAspect="1"/>
            </p:cNvPicPr>
            <p:nvPr/>
          </p:nvPicPr>
          <p:blipFill>
            <a:blip r:embed="rId3"/>
            <a:stretch>
              <a:fillRect/>
            </a:stretch>
          </p:blipFill>
          <p:spPr>
            <a:xfrm>
              <a:off x="620092" y="3933453"/>
              <a:ext cx="193774" cy="155004"/>
            </a:xfrm>
            <a:prstGeom prst="rect">
              <a:avLst/>
            </a:prstGeom>
          </p:spPr>
        </p:pic>
        <p:sp>
          <p:nvSpPr>
            <p:cNvPr id="26" name="Text 23"/>
            <p:cNvSpPr/>
            <p:nvPr/>
          </p:nvSpPr>
          <p:spPr>
            <a:xfrm>
              <a:off x="937840" y="3892897"/>
              <a:ext cx="7586067"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NLU is pattern matching, not true understanding. The AI doesn't "know" what a light is - it has learned that the words "turn off" + "lights" often appear together in commands.</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2"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996553"/>
            <a:ext cx="6653287"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Stage 3: GENERATE (NLG - Natural Language Generation)</a:t>
            </a:r>
            <a:endParaRPr lang="en-US" sz="1950" dirty="0"/>
          </a:p>
        </p:txBody>
      </p:sp>
      <p:sp>
        <p:nvSpPr>
          <p:cNvPr id="3" name="Text 1"/>
          <p:cNvSpPr/>
          <p:nvPr/>
        </p:nvSpPr>
        <p:spPr>
          <a:xfrm>
            <a:off x="496119" y="1554659"/>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16" name="Group 15">
            <a:extLst>
              <a:ext uri="{FF2B5EF4-FFF2-40B4-BE49-F238E27FC236}">
                <a16:creationId xmlns:a16="http://schemas.microsoft.com/office/drawing/2014/main" id="{6756016F-02D8-684B-79D4-D8A6C43BB19C}"/>
              </a:ext>
            </a:extLst>
          </p:cNvPr>
          <p:cNvGrpSpPr/>
          <p:nvPr/>
        </p:nvGrpSpPr>
        <p:grpSpPr>
          <a:xfrm>
            <a:off x="496119" y="1942281"/>
            <a:ext cx="1550566" cy="658937"/>
            <a:chOff x="496119" y="1942281"/>
            <a:chExt cx="1550566" cy="658937"/>
          </a:xfrm>
        </p:grpSpPr>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942281"/>
              <a:ext cx="310083" cy="310083"/>
            </a:xfrm>
            <a:prstGeom prst="rect">
              <a:avLst/>
            </a:prstGeom>
          </p:spPr>
        </p:pic>
        <p:sp>
          <p:nvSpPr>
            <p:cNvPr id="5" name="Text 2"/>
            <p:cNvSpPr/>
            <p:nvPr/>
          </p:nvSpPr>
          <p:spPr>
            <a:xfrm>
              <a:off x="496119" y="2407369"/>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A chatbot reply</a:t>
              </a:r>
              <a:endParaRPr lang="en-US" sz="1200" dirty="0"/>
            </a:p>
          </p:txBody>
        </p:sp>
      </p:grpSp>
      <p:grpSp>
        <p:nvGrpSpPr>
          <p:cNvPr id="17" name="Group 16">
            <a:extLst>
              <a:ext uri="{FF2B5EF4-FFF2-40B4-BE49-F238E27FC236}">
                <a16:creationId xmlns:a16="http://schemas.microsoft.com/office/drawing/2014/main" id="{8DBC89BF-F643-B487-9268-1D074CF8B23C}"/>
              </a:ext>
            </a:extLst>
          </p:cNvPr>
          <p:cNvGrpSpPr/>
          <p:nvPr/>
        </p:nvGrpSpPr>
        <p:grpSpPr>
          <a:xfrm>
            <a:off x="2107779" y="1942281"/>
            <a:ext cx="2166258" cy="852785"/>
            <a:chOff x="2572792" y="1942281"/>
            <a:chExt cx="1921669" cy="852785"/>
          </a:xfrm>
        </p:grpSpPr>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72792" y="1942281"/>
              <a:ext cx="310083" cy="310083"/>
            </a:xfrm>
            <a:prstGeom prst="rect">
              <a:avLst/>
            </a:prstGeom>
          </p:spPr>
        </p:pic>
        <p:sp>
          <p:nvSpPr>
            <p:cNvPr id="7" name="Text 3"/>
            <p:cNvSpPr/>
            <p:nvPr/>
          </p:nvSpPr>
          <p:spPr>
            <a:xfrm>
              <a:off x="2572792" y="2407369"/>
              <a:ext cx="1921669"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A summary of a long article</a:t>
              </a:r>
              <a:endParaRPr lang="en-US" sz="1200" dirty="0"/>
            </a:p>
          </p:txBody>
        </p:sp>
      </p:grpSp>
      <p:grpSp>
        <p:nvGrpSpPr>
          <p:cNvPr id="18" name="Group 17">
            <a:extLst>
              <a:ext uri="{FF2B5EF4-FFF2-40B4-BE49-F238E27FC236}">
                <a16:creationId xmlns:a16="http://schemas.microsoft.com/office/drawing/2014/main" id="{13E0332B-6F71-A78C-04D4-4D9CA14C6A7D}"/>
              </a:ext>
            </a:extLst>
          </p:cNvPr>
          <p:cNvGrpSpPr/>
          <p:nvPr/>
        </p:nvGrpSpPr>
        <p:grpSpPr>
          <a:xfrm>
            <a:off x="4649465" y="1942281"/>
            <a:ext cx="1595586" cy="658937"/>
            <a:chOff x="4649465" y="1942281"/>
            <a:chExt cx="1595586" cy="658937"/>
          </a:xfrm>
        </p:grpSpPr>
        <p:pic>
          <p:nvPicPr>
            <p:cNvPr id="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49465" y="1942281"/>
              <a:ext cx="310083" cy="310083"/>
            </a:xfrm>
            <a:prstGeom prst="rect">
              <a:avLst/>
            </a:prstGeom>
          </p:spPr>
        </p:pic>
        <p:sp>
          <p:nvSpPr>
            <p:cNvPr id="9" name="Text 4"/>
            <p:cNvSpPr/>
            <p:nvPr/>
          </p:nvSpPr>
          <p:spPr>
            <a:xfrm>
              <a:off x="4649465" y="2407369"/>
              <a:ext cx="159558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A translated sentence</a:t>
              </a:r>
              <a:endParaRPr lang="en-US" sz="1200" dirty="0"/>
            </a:p>
          </p:txBody>
        </p:sp>
      </p:grpSp>
      <p:grpSp>
        <p:nvGrpSpPr>
          <p:cNvPr id="19" name="Group 18">
            <a:extLst>
              <a:ext uri="{FF2B5EF4-FFF2-40B4-BE49-F238E27FC236}">
                <a16:creationId xmlns:a16="http://schemas.microsoft.com/office/drawing/2014/main" id="{FCC4DBA7-2B81-4BC3-BA2D-E3FBC2649AE0}"/>
              </a:ext>
            </a:extLst>
          </p:cNvPr>
          <p:cNvGrpSpPr/>
          <p:nvPr/>
        </p:nvGrpSpPr>
        <p:grpSpPr>
          <a:xfrm>
            <a:off x="6726138" y="1942281"/>
            <a:ext cx="1550566" cy="658937"/>
            <a:chOff x="6726138" y="1942281"/>
            <a:chExt cx="1550566" cy="658937"/>
          </a:xfrm>
        </p:grpSpPr>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26138" y="1942281"/>
              <a:ext cx="310083" cy="310083"/>
            </a:xfrm>
            <a:prstGeom prst="rect">
              <a:avLst/>
            </a:prstGeom>
          </p:spPr>
        </p:pic>
        <p:sp>
          <p:nvSpPr>
            <p:cNvPr id="11" name="Text 5"/>
            <p:cNvSpPr/>
            <p:nvPr/>
          </p:nvSpPr>
          <p:spPr>
            <a:xfrm>
              <a:off x="6726138" y="2407369"/>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A story or poem</a:t>
              </a:r>
              <a:endParaRPr lang="en-US" sz="1200" dirty="0"/>
            </a:p>
          </p:txBody>
        </p:sp>
      </p:grpSp>
      <p:sp>
        <p:nvSpPr>
          <p:cNvPr id="12" name="Text 6"/>
          <p:cNvSpPr/>
          <p:nvPr/>
        </p:nvSpPr>
        <p:spPr>
          <a:xfrm>
            <a:off x="496119" y="2934593"/>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20" name="Group 19">
            <a:extLst>
              <a:ext uri="{FF2B5EF4-FFF2-40B4-BE49-F238E27FC236}">
                <a16:creationId xmlns:a16="http://schemas.microsoft.com/office/drawing/2014/main" id="{1DC3B110-1757-20B1-96A3-93B650E4BEE9}"/>
              </a:ext>
            </a:extLst>
          </p:cNvPr>
          <p:cNvGrpSpPr/>
          <p:nvPr/>
        </p:nvGrpSpPr>
        <p:grpSpPr>
          <a:xfrm>
            <a:off x="496119" y="3322216"/>
            <a:ext cx="8151763" cy="824731"/>
            <a:chOff x="496119" y="3322216"/>
            <a:chExt cx="8151763" cy="824731"/>
          </a:xfrm>
        </p:grpSpPr>
        <p:sp>
          <p:nvSpPr>
            <p:cNvPr id="13" name="Shape 7"/>
            <p:cNvSpPr/>
            <p:nvPr/>
          </p:nvSpPr>
          <p:spPr>
            <a:xfrm>
              <a:off x="496119" y="3322216"/>
              <a:ext cx="8151763" cy="824731"/>
            </a:xfrm>
            <a:prstGeom prst="roundRect">
              <a:avLst>
                <a:gd name="adj" fmla="val 2256"/>
              </a:avLst>
            </a:prstGeom>
            <a:solidFill>
              <a:srgbClr val="F2F2F2"/>
            </a:solidFill>
            <a:ln/>
          </p:spPr>
          <p:txBody>
            <a:bodyPr/>
            <a:lstStyle/>
            <a:p>
              <a:endParaRPr lang="en-IN"/>
            </a:p>
          </p:txBody>
        </p:sp>
        <p:pic>
          <p:nvPicPr>
            <p:cNvPr id="14" name="Image 4" descr="preencoded.png"/>
            <p:cNvPicPr>
              <a:picLocks noChangeAspect="1"/>
            </p:cNvPicPr>
            <p:nvPr/>
          </p:nvPicPr>
          <p:blipFill>
            <a:blip r:embed="rId7"/>
            <a:stretch>
              <a:fillRect/>
            </a:stretch>
          </p:blipFill>
          <p:spPr>
            <a:xfrm>
              <a:off x="620092" y="3517702"/>
              <a:ext cx="193774" cy="155004"/>
            </a:xfrm>
            <a:prstGeom prst="rect">
              <a:avLst/>
            </a:prstGeom>
          </p:spPr>
        </p:pic>
        <p:sp>
          <p:nvSpPr>
            <p:cNvPr id="15" name="Text 8"/>
            <p:cNvSpPr/>
            <p:nvPr/>
          </p:nvSpPr>
          <p:spPr>
            <a:xfrm>
              <a:off x="937840" y="3477146"/>
              <a:ext cx="7586067"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NLG uses the same </a:t>
              </a:r>
              <a:r>
                <a:rPr lang="en-US" sz="1200" b="1" dirty="0">
                  <a:solidFill>
                    <a:srgbClr val="000000"/>
                  </a:solidFill>
                  <a:latin typeface="Roboto" pitchFamily="34" charset="0"/>
                  <a:ea typeface="Roboto" pitchFamily="34" charset="-122"/>
                  <a:cs typeface="Roboto" pitchFamily="34" charset="-120"/>
                </a:rPr>
                <a:t>next‑word prediction</a:t>
              </a:r>
              <a:r>
                <a:rPr lang="en-US" sz="1200" dirty="0">
                  <a:solidFill>
                    <a:srgbClr val="000000"/>
                  </a:solidFill>
                  <a:latin typeface="Roboto" pitchFamily="34" charset="0"/>
                  <a:ea typeface="Roboto" pitchFamily="34" charset="-122"/>
                  <a:cs typeface="Roboto" pitchFamily="34" charset="-120"/>
                </a:rPr>
                <a:t> you learned in Session 8. It predicts the most likely sequence of tokens based on the input and its training.</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419695"/>
            <a:ext cx="4722763" cy="620167"/>
          </a:xfrm>
          <a:prstGeom prst="rect">
            <a:avLst/>
          </a:prstGeom>
          <a:noFill/>
          <a:ln/>
        </p:spPr>
        <p:txBody>
          <a:bodyPr wrap="squar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Putting It All Together: A Complete Example</a:t>
            </a:r>
            <a:endParaRPr lang="en-US" sz="1950" dirty="0"/>
          </a:p>
        </p:txBody>
      </p:sp>
      <p:sp>
        <p:nvSpPr>
          <p:cNvPr id="4" name="Text 1"/>
          <p:cNvSpPr/>
          <p:nvPr/>
        </p:nvSpPr>
        <p:spPr>
          <a:xfrm>
            <a:off x="3925119" y="1158925"/>
            <a:ext cx="4722763"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Sentence:</a:t>
            </a:r>
            <a:r>
              <a:rPr lang="en-US" sz="950" dirty="0">
                <a:solidFill>
                  <a:srgbClr val="15213F"/>
                </a:solidFill>
                <a:latin typeface="Roboto" pitchFamily="34" charset="0"/>
                <a:ea typeface="Roboto" pitchFamily="34" charset="-122"/>
                <a:cs typeface="Roboto" pitchFamily="34" charset="-120"/>
              </a:rPr>
              <a:t> "Siri, what's the weather in Tokyo tomorrow?"</a:t>
            </a:r>
            <a:endParaRPr lang="en-US" sz="950" dirty="0"/>
          </a:p>
        </p:txBody>
      </p:sp>
      <p:sp>
        <p:nvSpPr>
          <p:cNvPr id="5" name="Shape 2"/>
          <p:cNvSpPr/>
          <p:nvPr/>
        </p:nvSpPr>
        <p:spPr>
          <a:xfrm>
            <a:off x="3925119" y="1426815"/>
            <a:ext cx="4722763" cy="2571750"/>
          </a:xfrm>
          <a:prstGeom prst="roundRect">
            <a:avLst>
              <a:gd name="adj" fmla="val 579"/>
            </a:avLst>
          </a:prstGeom>
          <a:noFill/>
          <a:ln w="4763">
            <a:solidFill>
              <a:srgbClr val="000000">
                <a:alpha val="8000"/>
              </a:srgbClr>
            </a:solidFill>
            <a:prstDash val="solid"/>
          </a:ln>
        </p:spPr>
        <p:txBody>
          <a:bodyPr/>
          <a:lstStyle/>
          <a:p>
            <a:endParaRPr lang="en-IN"/>
          </a:p>
        </p:txBody>
      </p:sp>
      <p:sp>
        <p:nvSpPr>
          <p:cNvPr id="6" name="Shape 3"/>
          <p:cNvSpPr/>
          <p:nvPr/>
        </p:nvSpPr>
        <p:spPr>
          <a:xfrm>
            <a:off x="3929881" y="1431578"/>
            <a:ext cx="4713238" cy="283369"/>
          </a:xfrm>
          <a:prstGeom prst="rect">
            <a:avLst/>
          </a:prstGeom>
          <a:solidFill>
            <a:srgbClr val="FFFFFF">
              <a:alpha val="4000"/>
            </a:srgbClr>
          </a:solidFill>
          <a:ln/>
        </p:spPr>
        <p:txBody>
          <a:bodyPr/>
          <a:lstStyle/>
          <a:p>
            <a:endParaRPr lang="en-IN"/>
          </a:p>
        </p:txBody>
      </p:sp>
      <p:grpSp>
        <p:nvGrpSpPr>
          <p:cNvPr id="22" name="Group 21">
            <a:extLst>
              <a:ext uri="{FF2B5EF4-FFF2-40B4-BE49-F238E27FC236}">
                <a16:creationId xmlns:a16="http://schemas.microsoft.com/office/drawing/2014/main" id="{542EDFCB-A994-4624-6D20-1F56BB6B9043}"/>
              </a:ext>
            </a:extLst>
          </p:cNvPr>
          <p:cNvGrpSpPr/>
          <p:nvPr/>
        </p:nvGrpSpPr>
        <p:grpSpPr>
          <a:xfrm>
            <a:off x="4029149" y="1483965"/>
            <a:ext cx="4514776" cy="178594"/>
            <a:chOff x="4029149" y="1483965"/>
            <a:chExt cx="4514776" cy="178594"/>
          </a:xfrm>
        </p:grpSpPr>
        <p:sp>
          <p:nvSpPr>
            <p:cNvPr id="7" name="Text 4"/>
            <p:cNvSpPr/>
            <p:nvPr/>
          </p:nvSpPr>
          <p:spPr>
            <a:xfrm>
              <a:off x="4029149" y="1483965"/>
              <a:ext cx="1292349"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Stage</a:t>
              </a:r>
              <a:endParaRPr lang="en-US" sz="950" dirty="0"/>
            </a:p>
          </p:txBody>
        </p:sp>
        <p:sp>
          <p:nvSpPr>
            <p:cNvPr id="8" name="Text 5"/>
            <p:cNvSpPr/>
            <p:nvPr/>
          </p:nvSpPr>
          <p:spPr>
            <a:xfrm>
              <a:off x="5524649" y="1483965"/>
              <a:ext cx="3019276"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What happens</a:t>
              </a:r>
              <a:endParaRPr lang="en-US" sz="950" dirty="0"/>
            </a:p>
          </p:txBody>
        </p:sp>
      </p:grpSp>
      <p:sp>
        <p:nvSpPr>
          <p:cNvPr id="9" name="Shape 6"/>
          <p:cNvSpPr/>
          <p:nvPr/>
        </p:nvSpPr>
        <p:spPr>
          <a:xfrm>
            <a:off x="3929881" y="1714946"/>
            <a:ext cx="4713238" cy="1354931"/>
          </a:xfrm>
          <a:prstGeom prst="rect">
            <a:avLst/>
          </a:prstGeom>
          <a:solidFill>
            <a:srgbClr val="000000">
              <a:alpha val="4000"/>
            </a:srgbClr>
          </a:solidFill>
          <a:ln/>
        </p:spPr>
        <p:txBody>
          <a:bodyPr/>
          <a:lstStyle/>
          <a:p>
            <a:endParaRPr lang="en-IN"/>
          </a:p>
        </p:txBody>
      </p:sp>
      <p:sp>
        <p:nvSpPr>
          <p:cNvPr id="11" name="Text 8"/>
          <p:cNvSpPr/>
          <p:nvPr/>
        </p:nvSpPr>
        <p:spPr>
          <a:xfrm>
            <a:off x="5524649" y="1767334"/>
            <a:ext cx="3019276" cy="1250156"/>
          </a:xfrm>
          <a:prstGeom prst="rect">
            <a:avLst/>
          </a:prstGeom>
          <a:noFill/>
          <a:ln/>
        </p:spPr>
        <p:txBody>
          <a:bodyPr wrap="squar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Tokenize:</a:t>
            </a:r>
            <a:r>
              <a:rPr lang="en-US" sz="950" dirty="0">
                <a:solidFill>
                  <a:srgbClr val="15213F"/>
                </a:solidFill>
                <a:latin typeface="Roboto" pitchFamily="34" charset="0"/>
                <a:ea typeface="Roboto" pitchFamily="34" charset="-122"/>
                <a:cs typeface="Roboto" pitchFamily="34" charset="-120"/>
              </a:rPr>
              <a:t> ["Siri", ",", "what", "'s", "the", "weather", "in", "Tokyo", "tomorrow", "?"]  </a:t>
            </a:r>
            <a:endParaRPr lang="en-US" sz="950" dirty="0"/>
          </a:p>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POS tagging: </a:t>
            </a:r>
            <a:r>
              <a:rPr lang="en-US" sz="950" dirty="0">
                <a:solidFill>
                  <a:srgbClr val="15213F"/>
                </a:solidFill>
                <a:latin typeface="Roboto" pitchFamily="34" charset="0"/>
                <a:ea typeface="Roboto" pitchFamily="34" charset="-122"/>
                <a:cs typeface="Roboto" pitchFamily="34" charset="-120"/>
              </a:rPr>
              <a:t>"Siri" (proper noun), "what" (pronoun), "weather" (noun), "Tokyo" (proper noun), "tomorrow" (adverb)  </a:t>
            </a:r>
            <a:endParaRPr lang="en-US" sz="950" dirty="0"/>
          </a:p>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NER:</a:t>
            </a:r>
            <a:r>
              <a:rPr lang="en-US" sz="950" dirty="0">
                <a:solidFill>
                  <a:srgbClr val="15213F"/>
                </a:solidFill>
                <a:latin typeface="Roboto" pitchFamily="34" charset="0"/>
                <a:ea typeface="Roboto" pitchFamily="34" charset="-122"/>
                <a:cs typeface="Roboto" pitchFamily="34" charset="-120"/>
              </a:rPr>
              <a:t> "Siri" (product), "Tokyo" (location), "tomorrow" (date)</a:t>
            </a:r>
            <a:endParaRPr lang="en-US" sz="950" dirty="0"/>
          </a:p>
        </p:txBody>
      </p:sp>
      <p:sp>
        <p:nvSpPr>
          <p:cNvPr id="12" name="Shape 9"/>
          <p:cNvSpPr/>
          <p:nvPr/>
        </p:nvSpPr>
        <p:spPr>
          <a:xfrm>
            <a:off x="3929881" y="3069878"/>
            <a:ext cx="4713238" cy="461962"/>
          </a:xfrm>
          <a:prstGeom prst="rect">
            <a:avLst/>
          </a:prstGeom>
          <a:solidFill>
            <a:srgbClr val="FFFFFF">
              <a:alpha val="4000"/>
            </a:srgbClr>
          </a:solidFill>
          <a:ln/>
        </p:spPr>
        <p:txBody>
          <a:bodyPr/>
          <a:lstStyle/>
          <a:p>
            <a:endParaRPr lang="en-IN"/>
          </a:p>
        </p:txBody>
      </p:sp>
      <p:sp>
        <p:nvSpPr>
          <p:cNvPr id="14" name="Text 11"/>
          <p:cNvSpPr/>
          <p:nvPr/>
        </p:nvSpPr>
        <p:spPr>
          <a:xfrm>
            <a:off x="5524649" y="3122265"/>
            <a:ext cx="3019276"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Intent = get weather forecast | Location = Tokyo | Time = tomorrow</a:t>
            </a:r>
            <a:endParaRPr lang="en-US" sz="950" dirty="0"/>
          </a:p>
        </p:txBody>
      </p:sp>
      <p:sp>
        <p:nvSpPr>
          <p:cNvPr id="15" name="Shape 12"/>
          <p:cNvSpPr/>
          <p:nvPr/>
        </p:nvSpPr>
        <p:spPr>
          <a:xfrm>
            <a:off x="3929881" y="3531840"/>
            <a:ext cx="4713238" cy="461962"/>
          </a:xfrm>
          <a:prstGeom prst="rect">
            <a:avLst/>
          </a:prstGeom>
          <a:solidFill>
            <a:srgbClr val="000000">
              <a:alpha val="4000"/>
            </a:srgbClr>
          </a:solidFill>
          <a:ln/>
        </p:spPr>
        <p:txBody>
          <a:bodyPr/>
          <a:lstStyle/>
          <a:p>
            <a:endParaRPr lang="en-IN"/>
          </a:p>
        </p:txBody>
      </p:sp>
      <p:grpSp>
        <p:nvGrpSpPr>
          <p:cNvPr id="23" name="Group 22">
            <a:extLst>
              <a:ext uri="{FF2B5EF4-FFF2-40B4-BE49-F238E27FC236}">
                <a16:creationId xmlns:a16="http://schemas.microsoft.com/office/drawing/2014/main" id="{DD30B734-32F1-7E38-A5C8-1172B1F278EE}"/>
              </a:ext>
            </a:extLst>
          </p:cNvPr>
          <p:cNvGrpSpPr/>
          <p:nvPr/>
        </p:nvGrpSpPr>
        <p:grpSpPr>
          <a:xfrm>
            <a:off x="4029149" y="1767334"/>
            <a:ext cx="1292349" cy="1995488"/>
            <a:chOff x="4029149" y="1767334"/>
            <a:chExt cx="1292349" cy="1995488"/>
          </a:xfrm>
        </p:grpSpPr>
        <p:sp>
          <p:nvSpPr>
            <p:cNvPr id="10" name="Text 7"/>
            <p:cNvSpPr/>
            <p:nvPr/>
          </p:nvSpPr>
          <p:spPr>
            <a:xfrm>
              <a:off x="4029149" y="1767334"/>
              <a:ext cx="1292349"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BREAK</a:t>
              </a:r>
              <a:endParaRPr lang="en-US" sz="950" dirty="0"/>
            </a:p>
          </p:txBody>
        </p:sp>
        <p:sp>
          <p:nvSpPr>
            <p:cNvPr id="13" name="Text 10"/>
            <p:cNvSpPr/>
            <p:nvPr/>
          </p:nvSpPr>
          <p:spPr>
            <a:xfrm>
              <a:off x="4029149" y="3122265"/>
              <a:ext cx="1292349"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UNDERSTAND (NLU)</a:t>
              </a:r>
              <a:endParaRPr lang="en-US" sz="950" dirty="0"/>
            </a:p>
          </p:txBody>
        </p:sp>
        <p:sp>
          <p:nvSpPr>
            <p:cNvPr id="16" name="Text 13"/>
            <p:cNvSpPr/>
            <p:nvPr/>
          </p:nvSpPr>
          <p:spPr>
            <a:xfrm>
              <a:off x="4029149" y="3584228"/>
              <a:ext cx="1292349"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GENERATE (NLG)</a:t>
              </a:r>
              <a:endParaRPr lang="en-US" sz="950" dirty="0"/>
            </a:p>
          </p:txBody>
        </p:sp>
      </p:grpSp>
      <p:sp>
        <p:nvSpPr>
          <p:cNvPr id="17" name="Text 14"/>
          <p:cNvSpPr/>
          <p:nvPr/>
        </p:nvSpPr>
        <p:spPr>
          <a:xfrm>
            <a:off x="5524649" y="3584228"/>
            <a:ext cx="3019276"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"Tomorrow in Tokyo, it will be partly cloudy with a high of 18°C."</a:t>
            </a:r>
            <a:endParaRPr lang="en-US" sz="950" dirty="0"/>
          </a:p>
        </p:txBody>
      </p:sp>
      <p:sp>
        <p:nvSpPr>
          <p:cNvPr id="18" name="Text 15"/>
          <p:cNvSpPr/>
          <p:nvPr/>
        </p:nvSpPr>
        <p:spPr>
          <a:xfrm>
            <a:off x="3925119" y="4087862"/>
            <a:ext cx="4722763" cy="142875"/>
          </a:xfrm>
          <a:prstGeom prst="rect">
            <a:avLst/>
          </a:prstGeom>
          <a:noFill/>
          <a:ln/>
        </p:spPr>
        <p:txBody>
          <a:bodyPr wrap="none" lIns="0" tIns="0" rIns="0" bIns="0" rtlCol="0" anchor="t"/>
          <a:lstStyle/>
          <a:p>
            <a:pPr marL="0" indent="0" algn="l">
              <a:lnSpc>
                <a:spcPts val="1100"/>
              </a:lnSpc>
              <a:buNone/>
            </a:pPr>
            <a:endParaRPr lang="en-US" sz="750" dirty="0"/>
          </a:p>
        </p:txBody>
      </p:sp>
      <p:grpSp>
        <p:nvGrpSpPr>
          <p:cNvPr id="24" name="Group 23">
            <a:extLst>
              <a:ext uri="{FF2B5EF4-FFF2-40B4-BE49-F238E27FC236}">
                <a16:creationId xmlns:a16="http://schemas.microsoft.com/office/drawing/2014/main" id="{0447511C-DD87-3B50-B8EC-8965398845A9}"/>
              </a:ext>
            </a:extLst>
          </p:cNvPr>
          <p:cNvGrpSpPr/>
          <p:nvPr/>
        </p:nvGrpSpPr>
        <p:grpSpPr>
          <a:xfrm>
            <a:off x="3925119" y="4320034"/>
            <a:ext cx="4722763" cy="403696"/>
            <a:chOff x="3925119" y="4320034"/>
            <a:chExt cx="4722763" cy="403696"/>
          </a:xfrm>
        </p:grpSpPr>
        <p:sp>
          <p:nvSpPr>
            <p:cNvPr id="19" name="Shape 16"/>
            <p:cNvSpPr/>
            <p:nvPr/>
          </p:nvSpPr>
          <p:spPr>
            <a:xfrm>
              <a:off x="3925119" y="4320034"/>
              <a:ext cx="4722763" cy="403696"/>
            </a:xfrm>
            <a:prstGeom prst="roundRect">
              <a:avLst>
                <a:gd name="adj" fmla="val 3687"/>
              </a:avLst>
            </a:prstGeom>
            <a:solidFill>
              <a:srgbClr val="F2F2F2"/>
            </a:solidFill>
            <a:ln/>
          </p:spPr>
          <p:txBody>
            <a:bodyPr/>
            <a:lstStyle/>
            <a:p>
              <a:endParaRPr lang="en-IN" dirty="0"/>
            </a:p>
          </p:txBody>
        </p:sp>
        <p:pic>
          <p:nvPicPr>
            <p:cNvPr id="20" name="Image 1" descr="preencoded.png"/>
            <p:cNvPicPr>
              <a:picLocks noChangeAspect="1"/>
            </p:cNvPicPr>
            <p:nvPr/>
          </p:nvPicPr>
          <p:blipFill>
            <a:blip r:embed="rId4"/>
            <a:stretch>
              <a:fillRect/>
            </a:stretch>
          </p:blipFill>
          <p:spPr>
            <a:xfrm>
              <a:off x="4024312" y="4444231"/>
              <a:ext cx="155004" cy="123974"/>
            </a:xfrm>
            <a:prstGeom prst="rect">
              <a:avLst/>
            </a:prstGeom>
          </p:spPr>
        </p:pic>
        <p:sp>
          <p:nvSpPr>
            <p:cNvPr id="21" name="Text 17"/>
            <p:cNvSpPr/>
            <p:nvPr/>
          </p:nvSpPr>
          <p:spPr>
            <a:xfrm>
              <a:off x="4278511" y="4424139"/>
              <a:ext cx="4270177" cy="178594"/>
            </a:xfrm>
            <a:prstGeom prst="rect">
              <a:avLst/>
            </a:prstGeom>
            <a:noFill/>
            <a:ln/>
          </p:spPr>
          <p:txBody>
            <a:bodyPr wrap="none" lIns="0" tIns="0" rIns="0" bIns="0" rtlCol="0" anchor="t"/>
            <a:lstStyle/>
            <a:p>
              <a:pPr marL="0" indent="0" algn="l">
                <a:lnSpc>
                  <a:spcPts val="1400"/>
                </a:lnSpc>
                <a:buNone/>
              </a:pPr>
              <a:r>
                <a:rPr lang="en-US" sz="950" b="1" dirty="0">
                  <a:solidFill>
                    <a:srgbClr val="000000"/>
                  </a:solidFill>
                  <a:latin typeface="Roboto" pitchFamily="34" charset="0"/>
                  <a:ea typeface="Roboto" pitchFamily="34" charset="-122"/>
                  <a:cs typeface="Roboto" pitchFamily="34" charset="-120"/>
                </a:rPr>
                <a:t>All of this happens in less than a second!</a:t>
              </a:r>
              <a:endParaRPr lang="en-US" sz="9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711994"/>
            <a:ext cx="6120259"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Mini Activity 1: Match the NLP Break Step</a:t>
            </a:r>
            <a:endParaRPr lang="en-US" sz="2400" dirty="0"/>
          </a:p>
        </p:txBody>
      </p:sp>
      <p:sp>
        <p:nvSpPr>
          <p:cNvPr id="3" name="Text 1"/>
          <p:cNvSpPr/>
          <p:nvPr/>
        </p:nvSpPr>
        <p:spPr>
          <a:xfrm>
            <a:off x="496119" y="1347564"/>
            <a:ext cx="815176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Instructions:</a:t>
            </a:r>
            <a:r>
              <a:rPr lang="en-US" sz="1200" dirty="0">
                <a:solidFill>
                  <a:srgbClr val="15213F"/>
                </a:solidFill>
                <a:latin typeface="Roboto" pitchFamily="34" charset="0"/>
                <a:ea typeface="Roboto" pitchFamily="34" charset="-122"/>
                <a:cs typeface="Roboto" pitchFamily="34" charset="-120"/>
              </a:rPr>
              <a:t> For each description, write which </a:t>
            </a:r>
            <a:r>
              <a:rPr lang="en-US" sz="1200" b="1" dirty="0">
                <a:solidFill>
                  <a:srgbClr val="15213F"/>
                </a:solidFill>
                <a:latin typeface="Roboto" pitchFamily="34" charset="0"/>
                <a:ea typeface="Roboto" pitchFamily="34" charset="-122"/>
                <a:cs typeface="Roboto" pitchFamily="34" charset="-120"/>
              </a:rPr>
              <a:t>Break</a:t>
            </a:r>
            <a:r>
              <a:rPr lang="en-US" sz="1200" dirty="0">
                <a:solidFill>
                  <a:srgbClr val="15213F"/>
                </a:solidFill>
                <a:latin typeface="Roboto" pitchFamily="34" charset="0"/>
                <a:ea typeface="Roboto" pitchFamily="34" charset="-122"/>
                <a:cs typeface="Roboto" pitchFamily="34" charset="-120"/>
              </a:rPr>
              <a:t> step it matches: </a:t>
            </a:r>
            <a:r>
              <a:rPr lang="en-US" sz="1200" b="1" dirty="0">
                <a:solidFill>
                  <a:srgbClr val="15213F"/>
                </a:solidFill>
                <a:latin typeface="Roboto" pitchFamily="34" charset="0"/>
                <a:ea typeface="Roboto" pitchFamily="34" charset="-122"/>
                <a:cs typeface="Roboto" pitchFamily="34" charset="-120"/>
              </a:rPr>
              <a:t>Tokenization, Stemming, Lemmatization, POS Tagging, NER</a:t>
            </a:r>
            <a:r>
              <a:rPr lang="en-US" sz="1200" dirty="0">
                <a:solidFill>
                  <a:srgbClr val="15213F"/>
                </a:solidFill>
                <a:latin typeface="Roboto" pitchFamily="34" charset="0"/>
                <a:ea typeface="Roboto" pitchFamily="34" charset="-122"/>
                <a:cs typeface="Roboto" pitchFamily="34" charset="-120"/>
              </a:rPr>
              <a:t>.</a:t>
            </a:r>
            <a:endParaRPr lang="en-US" sz="1200" dirty="0"/>
          </a:p>
        </p:txBody>
      </p:sp>
      <p:sp>
        <p:nvSpPr>
          <p:cNvPr id="4" name="Shape 2"/>
          <p:cNvSpPr/>
          <p:nvPr/>
        </p:nvSpPr>
        <p:spPr>
          <a:xfrm>
            <a:off x="496119" y="1983284"/>
            <a:ext cx="8151763" cy="2448223"/>
          </a:xfrm>
          <a:prstGeom prst="roundRect">
            <a:avLst>
              <a:gd name="adj" fmla="val 760"/>
            </a:avLst>
          </a:prstGeom>
          <a:noFill/>
          <a:ln w="4763">
            <a:solidFill>
              <a:srgbClr val="000000">
                <a:alpha val="8000"/>
              </a:srgbClr>
            </a:solidFill>
            <a:prstDash val="solid"/>
          </a:ln>
        </p:spPr>
        <p:txBody>
          <a:bodyPr/>
          <a:lstStyle/>
          <a:p>
            <a:endParaRPr lang="en-IN"/>
          </a:p>
        </p:txBody>
      </p:sp>
      <p:sp>
        <p:nvSpPr>
          <p:cNvPr id="5" name="Shape 3"/>
          <p:cNvSpPr/>
          <p:nvPr/>
        </p:nvSpPr>
        <p:spPr>
          <a:xfrm>
            <a:off x="500881" y="1988046"/>
            <a:ext cx="8142238" cy="406450"/>
          </a:xfrm>
          <a:prstGeom prst="rect">
            <a:avLst/>
          </a:prstGeom>
          <a:solidFill>
            <a:srgbClr val="FFFFFF">
              <a:alpha val="4000"/>
            </a:srgbClr>
          </a:solidFill>
          <a:ln/>
        </p:spPr>
        <p:txBody>
          <a:bodyPr/>
          <a:lstStyle/>
          <a:p>
            <a:endParaRPr lang="en-IN"/>
          </a:p>
        </p:txBody>
      </p:sp>
      <p:grpSp>
        <p:nvGrpSpPr>
          <p:cNvPr id="23" name="Group 22">
            <a:extLst>
              <a:ext uri="{FF2B5EF4-FFF2-40B4-BE49-F238E27FC236}">
                <a16:creationId xmlns:a16="http://schemas.microsoft.com/office/drawing/2014/main" id="{461ED1A0-90E7-95C1-2E1A-01A31B416651}"/>
              </a:ext>
            </a:extLst>
          </p:cNvPr>
          <p:cNvGrpSpPr/>
          <p:nvPr/>
        </p:nvGrpSpPr>
        <p:grpSpPr>
          <a:xfrm>
            <a:off x="624929" y="2067223"/>
            <a:ext cx="7894216" cy="248096"/>
            <a:chOff x="624929" y="2067223"/>
            <a:chExt cx="7894216" cy="248096"/>
          </a:xfrm>
        </p:grpSpPr>
        <p:sp>
          <p:nvSpPr>
            <p:cNvPr id="6" name="Text 4"/>
            <p:cNvSpPr/>
            <p:nvPr/>
          </p:nvSpPr>
          <p:spPr>
            <a:xfrm>
              <a:off x="624929" y="2067223"/>
              <a:ext cx="511373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Description</a:t>
              </a:r>
              <a:endParaRPr lang="en-US" sz="1200" dirty="0"/>
            </a:p>
          </p:txBody>
        </p:sp>
        <p:sp>
          <p:nvSpPr>
            <p:cNvPr id="7" name="Text 5"/>
            <p:cNvSpPr/>
            <p:nvPr/>
          </p:nvSpPr>
          <p:spPr>
            <a:xfrm>
              <a:off x="5991374" y="2067223"/>
              <a:ext cx="2527771"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Break Step</a:t>
              </a:r>
              <a:endParaRPr lang="en-US" sz="1200" dirty="0"/>
            </a:p>
          </p:txBody>
        </p:sp>
      </p:grpSp>
      <p:sp>
        <p:nvSpPr>
          <p:cNvPr id="8" name="Shape 6"/>
          <p:cNvSpPr/>
          <p:nvPr/>
        </p:nvSpPr>
        <p:spPr>
          <a:xfrm>
            <a:off x="500881" y="2394496"/>
            <a:ext cx="8142238" cy="406450"/>
          </a:xfrm>
          <a:prstGeom prst="rect">
            <a:avLst/>
          </a:prstGeom>
          <a:solidFill>
            <a:srgbClr val="000000">
              <a:alpha val="4000"/>
            </a:srgbClr>
          </a:solidFill>
          <a:ln/>
        </p:spPr>
        <p:txBody>
          <a:bodyPr/>
          <a:lstStyle/>
          <a:p>
            <a:endParaRPr lang="en-IN"/>
          </a:p>
        </p:txBody>
      </p:sp>
      <p:sp>
        <p:nvSpPr>
          <p:cNvPr id="9" name="Text 7"/>
          <p:cNvSpPr/>
          <p:nvPr/>
        </p:nvSpPr>
        <p:spPr>
          <a:xfrm>
            <a:off x="624929" y="2473672"/>
            <a:ext cx="511373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Splitting "I'm learning!" into ["I", "'m", "learning", "!"]</a:t>
            </a:r>
            <a:endParaRPr lang="en-US" sz="1200" dirty="0"/>
          </a:p>
        </p:txBody>
      </p:sp>
      <p:sp>
        <p:nvSpPr>
          <p:cNvPr id="11" name="Shape 9"/>
          <p:cNvSpPr/>
          <p:nvPr/>
        </p:nvSpPr>
        <p:spPr>
          <a:xfrm>
            <a:off x="500881" y="2800945"/>
            <a:ext cx="8142238" cy="406450"/>
          </a:xfrm>
          <a:prstGeom prst="rect">
            <a:avLst/>
          </a:prstGeom>
          <a:solidFill>
            <a:srgbClr val="FFFFFF">
              <a:alpha val="4000"/>
            </a:srgbClr>
          </a:solidFill>
          <a:ln/>
        </p:spPr>
        <p:txBody>
          <a:bodyPr/>
          <a:lstStyle/>
          <a:p>
            <a:endParaRPr lang="en-IN"/>
          </a:p>
        </p:txBody>
      </p:sp>
      <p:sp>
        <p:nvSpPr>
          <p:cNvPr id="12" name="Text 10"/>
          <p:cNvSpPr/>
          <p:nvPr/>
        </p:nvSpPr>
        <p:spPr>
          <a:xfrm>
            <a:off x="624929" y="2880122"/>
            <a:ext cx="511373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Reducing "running" to "run" (even if "run" is not the dictionary form)</a:t>
            </a:r>
            <a:endParaRPr lang="en-US" sz="1200" dirty="0"/>
          </a:p>
        </p:txBody>
      </p:sp>
      <p:sp>
        <p:nvSpPr>
          <p:cNvPr id="14" name="Shape 12"/>
          <p:cNvSpPr/>
          <p:nvPr/>
        </p:nvSpPr>
        <p:spPr>
          <a:xfrm>
            <a:off x="500881" y="3207395"/>
            <a:ext cx="8142238" cy="406450"/>
          </a:xfrm>
          <a:prstGeom prst="rect">
            <a:avLst/>
          </a:prstGeom>
          <a:solidFill>
            <a:srgbClr val="000000">
              <a:alpha val="4000"/>
            </a:srgbClr>
          </a:solidFill>
          <a:ln/>
        </p:spPr>
        <p:txBody>
          <a:bodyPr/>
          <a:lstStyle/>
          <a:p>
            <a:endParaRPr lang="en-IN"/>
          </a:p>
        </p:txBody>
      </p:sp>
      <p:sp>
        <p:nvSpPr>
          <p:cNvPr id="15" name="Text 13"/>
          <p:cNvSpPr/>
          <p:nvPr/>
        </p:nvSpPr>
        <p:spPr>
          <a:xfrm>
            <a:off x="624929" y="3286571"/>
            <a:ext cx="511373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Reducing "better" to "good" (using a dictionary)</a:t>
            </a:r>
            <a:endParaRPr lang="en-US" sz="1200" dirty="0"/>
          </a:p>
        </p:txBody>
      </p:sp>
      <p:sp>
        <p:nvSpPr>
          <p:cNvPr id="17" name="Shape 15"/>
          <p:cNvSpPr/>
          <p:nvPr/>
        </p:nvSpPr>
        <p:spPr>
          <a:xfrm>
            <a:off x="500881" y="3613845"/>
            <a:ext cx="8142238" cy="406450"/>
          </a:xfrm>
          <a:prstGeom prst="rect">
            <a:avLst/>
          </a:prstGeom>
          <a:solidFill>
            <a:srgbClr val="FFFFFF">
              <a:alpha val="4000"/>
            </a:srgbClr>
          </a:solidFill>
          <a:ln/>
        </p:spPr>
        <p:txBody>
          <a:bodyPr/>
          <a:lstStyle/>
          <a:p>
            <a:endParaRPr lang="en-IN"/>
          </a:p>
        </p:txBody>
      </p:sp>
      <p:sp>
        <p:nvSpPr>
          <p:cNvPr id="18" name="Text 16"/>
          <p:cNvSpPr/>
          <p:nvPr/>
        </p:nvSpPr>
        <p:spPr>
          <a:xfrm>
            <a:off x="624929" y="3693021"/>
            <a:ext cx="511373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Labeling "cat" as a noun and "sleeps" as a verb</a:t>
            </a:r>
            <a:endParaRPr lang="en-US" sz="1200" dirty="0"/>
          </a:p>
        </p:txBody>
      </p:sp>
      <p:sp>
        <p:nvSpPr>
          <p:cNvPr id="20" name="Shape 18"/>
          <p:cNvSpPr/>
          <p:nvPr/>
        </p:nvSpPr>
        <p:spPr>
          <a:xfrm>
            <a:off x="500881" y="4020294"/>
            <a:ext cx="8142238" cy="406450"/>
          </a:xfrm>
          <a:prstGeom prst="rect">
            <a:avLst/>
          </a:prstGeom>
          <a:solidFill>
            <a:srgbClr val="000000">
              <a:alpha val="4000"/>
            </a:srgbClr>
          </a:solidFill>
          <a:ln/>
        </p:spPr>
        <p:txBody>
          <a:bodyPr/>
          <a:lstStyle/>
          <a:p>
            <a:endParaRPr lang="en-IN"/>
          </a:p>
        </p:txBody>
      </p:sp>
      <p:sp>
        <p:nvSpPr>
          <p:cNvPr id="21" name="Text 19"/>
          <p:cNvSpPr/>
          <p:nvPr/>
        </p:nvSpPr>
        <p:spPr>
          <a:xfrm>
            <a:off x="624929" y="4099471"/>
            <a:ext cx="511373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Finding "Amazon" as a company and "Jeff Bezos" as a person</a:t>
            </a:r>
            <a:endParaRPr lang="en-US" sz="1200" dirty="0"/>
          </a:p>
        </p:txBody>
      </p:sp>
      <p:sp>
        <p:nvSpPr>
          <p:cNvPr id="10" name="Text 8"/>
          <p:cNvSpPr/>
          <p:nvPr/>
        </p:nvSpPr>
        <p:spPr>
          <a:xfrm>
            <a:off x="5991374" y="2544012"/>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3257B8"/>
                </a:solidFill>
                <a:latin typeface="Roboto Slab" pitchFamily="34" charset="0"/>
                <a:ea typeface="Roboto Slab" pitchFamily="34" charset="-122"/>
                <a:cs typeface="Roboto Slab" pitchFamily="34" charset="-120"/>
              </a:rPr>
              <a:t>Tokenization</a:t>
            </a:r>
            <a:endParaRPr lang="en-US" sz="1200" dirty="0"/>
          </a:p>
        </p:txBody>
      </p:sp>
      <p:sp>
        <p:nvSpPr>
          <p:cNvPr id="13" name="Text 11"/>
          <p:cNvSpPr/>
          <p:nvPr/>
        </p:nvSpPr>
        <p:spPr>
          <a:xfrm>
            <a:off x="5991374" y="2950462"/>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3257B8"/>
                </a:solidFill>
                <a:latin typeface="Roboto Slab" pitchFamily="34" charset="0"/>
                <a:ea typeface="Roboto Slab" pitchFamily="34" charset="-122"/>
                <a:cs typeface="Roboto Slab" pitchFamily="34" charset="-120"/>
              </a:rPr>
              <a:t>Stemming</a:t>
            </a:r>
            <a:endParaRPr lang="en-US" sz="1200" dirty="0"/>
          </a:p>
        </p:txBody>
      </p:sp>
      <p:sp>
        <p:nvSpPr>
          <p:cNvPr id="16" name="Text 14"/>
          <p:cNvSpPr/>
          <p:nvPr/>
        </p:nvSpPr>
        <p:spPr>
          <a:xfrm>
            <a:off x="5991374" y="3356911"/>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3257B8"/>
                </a:solidFill>
                <a:latin typeface="Roboto Slab" pitchFamily="34" charset="0"/>
                <a:ea typeface="Roboto Slab" pitchFamily="34" charset="-122"/>
                <a:cs typeface="Roboto Slab" pitchFamily="34" charset="-120"/>
              </a:rPr>
              <a:t>Lemmatization</a:t>
            </a:r>
            <a:endParaRPr lang="en-US" sz="1200" dirty="0"/>
          </a:p>
        </p:txBody>
      </p:sp>
      <p:sp>
        <p:nvSpPr>
          <p:cNvPr id="19" name="Text 17"/>
          <p:cNvSpPr/>
          <p:nvPr/>
        </p:nvSpPr>
        <p:spPr>
          <a:xfrm>
            <a:off x="5991374" y="3763361"/>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3257B8"/>
                </a:solidFill>
                <a:latin typeface="Roboto Slab" pitchFamily="34" charset="0"/>
                <a:ea typeface="Roboto Slab" pitchFamily="34" charset="-122"/>
                <a:cs typeface="Roboto Slab" pitchFamily="34" charset="-120"/>
              </a:rPr>
              <a:t>POS Tagging</a:t>
            </a:r>
            <a:endParaRPr lang="en-US" sz="1200" dirty="0"/>
          </a:p>
        </p:txBody>
      </p:sp>
      <p:sp>
        <p:nvSpPr>
          <p:cNvPr id="22" name="Text 20"/>
          <p:cNvSpPr/>
          <p:nvPr/>
        </p:nvSpPr>
        <p:spPr>
          <a:xfrm>
            <a:off x="5991374" y="4169811"/>
            <a:ext cx="2405211" cy="193849"/>
          </a:xfrm>
          <a:prstGeom prst="rect">
            <a:avLst/>
          </a:prstGeom>
          <a:noFill/>
          <a:ln/>
        </p:spPr>
        <p:txBody>
          <a:bodyPr wrap="none" lIns="0" tIns="0" rIns="0" bIns="0" rtlCol="0" anchor="t"/>
          <a:lstStyle/>
          <a:p>
            <a:pPr marL="0" indent="0" algn="l">
              <a:lnSpc>
                <a:spcPts val="1500"/>
              </a:lnSpc>
              <a:buNone/>
            </a:pPr>
            <a:r>
              <a:rPr lang="en-US" sz="1200" dirty="0">
                <a:solidFill>
                  <a:srgbClr val="3257B8"/>
                </a:solidFill>
                <a:latin typeface="Roboto Slab" pitchFamily="34" charset="0"/>
                <a:ea typeface="Roboto Slab" pitchFamily="34" charset="-122"/>
                <a:cs typeface="Roboto Slab" pitchFamily="34" charset="-120"/>
              </a:rPr>
              <a:t>Named Entity Recognition (NER)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2" grpId="0" animBg="1"/>
      <p:bldP spid="15" grpId="0" animBg="1"/>
      <p:bldP spid="18" grpId="0" animBg="1"/>
      <p:bldP spid="21" grpId="0" animBg="1"/>
      <p:bldP spid="10" grpId="0" animBg="1"/>
      <p:bldP spid="13" grpId="0" animBg="1"/>
      <p:bldP spid="16" grpId="0" animBg="1"/>
      <p:bldP spid="19" grpId="0" animBg="1"/>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8" y="809848"/>
            <a:ext cx="4594027" cy="620167"/>
          </a:xfrm>
          <a:prstGeom prst="rect">
            <a:avLst/>
          </a:prstGeom>
          <a:noFill/>
          <a:ln/>
        </p:spPr>
        <p:txBody>
          <a:bodyPr wrap="squar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How ChatGPT Uses </a:t>
            </a:r>
            <a:endParaRPr lang="en-US" sz="1950" dirty="0"/>
          </a:p>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"Break → Understand → Generate"</a:t>
            </a:r>
            <a:endParaRPr lang="en-US" sz="1950" dirty="0"/>
          </a:p>
        </p:txBody>
      </p:sp>
      <p:sp>
        <p:nvSpPr>
          <p:cNvPr id="4" name="Text 1"/>
          <p:cNvSpPr/>
          <p:nvPr/>
        </p:nvSpPr>
        <p:spPr>
          <a:xfrm>
            <a:off x="496119" y="1616050"/>
            <a:ext cx="4722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5" name="Shape 2"/>
          <p:cNvSpPr/>
          <p:nvPr/>
        </p:nvSpPr>
        <p:spPr>
          <a:xfrm>
            <a:off x="496119" y="1954039"/>
            <a:ext cx="4722763" cy="2379613"/>
          </a:xfrm>
          <a:prstGeom prst="roundRect">
            <a:avLst>
              <a:gd name="adj" fmla="val 782"/>
            </a:avLst>
          </a:prstGeom>
          <a:noFill/>
          <a:ln w="4763">
            <a:solidFill>
              <a:srgbClr val="000000">
                <a:alpha val="8000"/>
              </a:srgbClr>
            </a:solidFill>
            <a:prstDash val="solid"/>
          </a:ln>
        </p:spPr>
        <p:txBody>
          <a:bodyPr/>
          <a:lstStyle/>
          <a:p>
            <a:endParaRPr lang="en-IN"/>
          </a:p>
        </p:txBody>
      </p:sp>
      <p:sp>
        <p:nvSpPr>
          <p:cNvPr id="6" name="Shape 3"/>
          <p:cNvSpPr/>
          <p:nvPr/>
        </p:nvSpPr>
        <p:spPr>
          <a:xfrm>
            <a:off x="500881" y="1958801"/>
            <a:ext cx="4713238" cy="406450"/>
          </a:xfrm>
          <a:prstGeom prst="rect">
            <a:avLst/>
          </a:prstGeom>
          <a:solidFill>
            <a:srgbClr val="FFFFFF">
              <a:alpha val="4000"/>
            </a:srgbClr>
          </a:solidFill>
          <a:ln/>
        </p:spPr>
        <p:txBody>
          <a:bodyPr/>
          <a:lstStyle/>
          <a:p>
            <a:endParaRPr lang="en-IN"/>
          </a:p>
        </p:txBody>
      </p:sp>
      <p:grpSp>
        <p:nvGrpSpPr>
          <p:cNvPr id="18" name="Group 17">
            <a:extLst>
              <a:ext uri="{FF2B5EF4-FFF2-40B4-BE49-F238E27FC236}">
                <a16:creationId xmlns:a16="http://schemas.microsoft.com/office/drawing/2014/main" id="{D8037E1E-731B-E662-15F3-D1C66D428239}"/>
              </a:ext>
            </a:extLst>
          </p:cNvPr>
          <p:cNvGrpSpPr/>
          <p:nvPr/>
        </p:nvGrpSpPr>
        <p:grpSpPr>
          <a:xfrm>
            <a:off x="624929" y="2037978"/>
            <a:ext cx="4465217" cy="248096"/>
            <a:chOff x="624929" y="2037978"/>
            <a:chExt cx="4465217" cy="248096"/>
          </a:xfrm>
        </p:grpSpPr>
        <p:sp>
          <p:nvSpPr>
            <p:cNvPr id="7" name="Text 4"/>
            <p:cNvSpPr/>
            <p:nvPr/>
          </p:nvSpPr>
          <p:spPr>
            <a:xfrm>
              <a:off x="624929" y="2037978"/>
              <a:ext cx="89304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Stage</a:t>
              </a:r>
              <a:endParaRPr lang="en-US" sz="1200" dirty="0"/>
            </a:p>
          </p:txBody>
        </p:sp>
        <p:sp>
          <p:nvSpPr>
            <p:cNvPr id="8" name="Text 5"/>
            <p:cNvSpPr/>
            <p:nvPr/>
          </p:nvSpPr>
          <p:spPr>
            <a:xfrm>
              <a:off x="1770683" y="2037978"/>
              <a:ext cx="33194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ChatGPT does</a:t>
              </a:r>
              <a:endParaRPr lang="en-US" sz="1200" dirty="0"/>
            </a:p>
          </p:txBody>
        </p:sp>
      </p:grpSp>
      <p:sp>
        <p:nvSpPr>
          <p:cNvPr id="9" name="Shape 6"/>
          <p:cNvSpPr/>
          <p:nvPr/>
        </p:nvSpPr>
        <p:spPr>
          <a:xfrm>
            <a:off x="500881" y="2365251"/>
            <a:ext cx="4713238" cy="654546"/>
          </a:xfrm>
          <a:prstGeom prst="rect">
            <a:avLst/>
          </a:prstGeom>
          <a:solidFill>
            <a:srgbClr val="000000">
              <a:alpha val="4000"/>
            </a:srgbClr>
          </a:solidFill>
          <a:ln/>
        </p:spPr>
        <p:txBody>
          <a:bodyPr/>
          <a:lstStyle/>
          <a:p>
            <a:endParaRPr lang="en-IN"/>
          </a:p>
        </p:txBody>
      </p:sp>
      <p:sp>
        <p:nvSpPr>
          <p:cNvPr id="10" name="Text 7"/>
          <p:cNvSpPr/>
          <p:nvPr/>
        </p:nvSpPr>
        <p:spPr>
          <a:xfrm>
            <a:off x="624929" y="2444428"/>
            <a:ext cx="89304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Break</a:t>
            </a:r>
            <a:endParaRPr lang="en-US" sz="1200" dirty="0"/>
          </a:p>
        </p:txBody>
      </p:sp>
      <p:sp>
        <p:nvSpPr>
          <p:cNvPr id="11" name="Text 8"/>
          <p:cNvSpPr/>
          <p:nvPr/>
        </p:nvSpPr>
        <p:spPr>
          <a:xfrm>
            <a:off x="1770683" y="2444428"/>
            <a:ext cx="33194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Converts your sentence into tokens (small pieces of words)</a:t>
            </a:r>
            <a:endParaRPr lang="en-US" sz="1200" dirty="0"/>
          </a:p>
        </p:txBody>
      </p:sp>
      <p:sp>
        <p:nvSpPr>
          <p:cNvPr id="12" name="Shape 9"/>
          <p:cNvSpPr/>
          <p:nvPr/>
        </p:nvSpPr>
        <p:spPr>
          <a:xfrm>
            <a:off x="500881" y="3019797"/>
            <a:ext cx="4713238" cy="654546"/>
          </a:xfrm>
          <a:prstGeom prst="rect">
            <a:avLst/>
          </a:prstGeom>
          <a:solidFill>
            <a:srgbClr val="FFFFFF">
              <a:alpha val="4000"/>
            </a:srgbClr>
          </a:solidFill>
          <a:ln/>
        </p:spPr>
        <p:txBody>
          <a:bodyPr/>
          <a:lstStyle/>
          <a:p>
            <a:endParaRPr lang="en-IN"/>
          </a:p>
        </p:txBody>
      </p:sp>
      <p:sp>
        <p:nvSpPr>
          <p:cNvPr id="13" name="Text 10"/>
          <p:cNvSpPr/>
          <p:nvPr/>
        </p:nvSpPr>
        <p:spPr>
          <a:xfrm>
            <a:off x="624929" y="3098974"/>
            <a:ext cx="89304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Understand</a:t>
            </a:r>
            <a:endParaRPr lang="en-US" sz="1200" dirty="0"/>
          </a:p>
        </p:txBody>
      </p:sp>
      <p:sp>
        <p:nvSpPr>
          <p:cNvPr id="14" name="Text 11"/>
          <p:cNvSpPr/>
          <p:nvPr/>
        </p:nvSpPr>
        <p:spPr>
          <a:xfrm>
            <a:off x="1770683" y="3098974"/>
            <a:ext cx="33194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Uses a </a:t>
            </a:r>
            <a:r>
              <a:rPr lang="en-US" sz="1200" b="1" dirty="0">
                <a:solidFill>
                  <a:srgbClr val="15213F"/>
                </a:solidFill>
                <a:latin typeface="Roboto" pitchFamily="34" charset="0"/>
                <a:ea typeface="Roboto" pitchFamily="34" charset="-122"/>
                <a:cs typeface="Roboto" pitchFamily="34" charset="-120"/>
              </a:rPr>
              <a:t>transformer </a:t>
            </a:r>
            <a:r>
              <a:rPr lang="en-US" sz="1200" dirty="0">
                <a:solidFill>
                  <a:srgbClr val="15213F"/>
                </a:solidFill>
                <a:latin typeface="Roboto" pitchFamily="34" charset="0"/>
                <a:ea typeface="Roboto" pitchFamily="34" charset="-122"/>
                <a:cs typeface="Roboto" pitchFamily="34" charset="-120"/>
              </a:rPr>
              <a:t>to analyse the context and relationships between those tokens</a:t>
            </a:r>
            <a:endParaRPr lang="en-US" sz="1200" dirty="0"/>
          </a:p>
        </p:txBody>
      </p:sp>
      <p:sp>
        <p:nvSpPr>
          <p:cNvPr id="15" name="Shape 12"/>
          <p:cNvSpPr/>
          <p:nvPr/>
        </p:nvSpPr>
        <p:spPr>
          <a:xfrm>
            <a:off x="500881" y="3674343"/>
            <a:ext cx="4713238" cy="654546"/>
          </a:xfrm>
          <a:prstGeom prst="rect">
            <a:avLst/>
          </a:prstGeom>
          <a:solidFill>
            <a:srgbClr val="000000">
              <a:alpha val="4000"/>
            </a:srgbClr>
          </a:solidFill>
          <a:ln/>
        </p:spPr>
        <p:txBody>
          <a:bodyPr/>
          <a:lstStyle/>
          <a:p>
            <a:endParaRPr lang="en-IN"/>
          </a:p>
        </p:txBody>
      </p:sp>
      <p:sp>
        <p:nvSpPr>
          <p:cNvPr id="16" name="Text 13"/>
          <p:cNvSpPr/>
          <p:nvPr/>
        </p:nvSpPr>
        <p:spPr>
          <a:xfrm>
            <a:off x="624929" y="3753520"/>
            <a:ext cx="89304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Generate</a:t>
            </a:r>
            <a:endParaRPr lang="en-US" sz="1200" dirty="0"/>
          </a:p>
        </p:txBody>
      </p:sp>
      <p:sp>
        <p:nvSpPr>
          <p:cNvPr id="17" name="Text 14"/>
          <p:cNvSpPr/>
          <p:nvPr/>
        </p:nvSpPr>
        <p:spPr>
          <a:xfrm>
            <a:off x="1770683" y="3753520"/>
            <a:ext cx="33194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Predicts the most likely next word in the sequence, one token at a time, to build a reply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711250"/>
            <a:ext cx="6414567"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How ChatGPT Uses "Break → Understand → Generate" </a:t>
            </a:r>
            <a:endParaRPr lang="en-US" sz="1950" dirty="0"/>
          </a:p>
        </p:txBody>
      </p:sp>
      <p:sp>
        <p:nvSpPr>
          <p:cNvPr id="3" name="Shape 1"/>
          <p:cNvSpPr/>
          <p:nvPr/>
        </p:nvSpPr>
        <p:spPr>
          <a:xfrm>
            <a:off x="496119" y="1269355"/>
            <a:ext cx="8151763" cy="1810941"/>
          </a:xfrm>
          <a:prstGeom prst="roundRect">
            <a:avLst>
              <a:gd name="adj" fmla="val 1027"/>
            </a:avLst>
          </a:prstGeom>
          <a:solidFill>
            <a:srgbClr val="E9ECF2"/>
          </a:solidFill>
          <a:ln/>
        </p:spPr>
        <p:txBody>
          <a:bodyPr/>
          <a:lstStyle/>
          <a:p>
            <a:endParaRPr lang="en-IN"/>
          </a:p>
        </p:txBody>
      </p:sp>
      <p:grpSp>
        <p:nvGrpSpPr>
          <p:cNvPr id="15" name="Group 14">
            <a:extLst>
              <a:ext uri="{FF2B5EF4-FFF2-40B4-BE49-F238E27FC236}">
                <a16:creationId xmlns:a16="http://schemas.microsoft.com/office/drawing/2014/main" id="{7AE9F0EE-7D7C-78AC-7F46-0FACFCAF6F79}"/>
              </a:ext>
            </a:extLst>
          </p:cNvPr>
          <p:cNvGrpSpPr/>
          <p:nvPr/>
        </p:nvGrpSpPr>
        <p:grpSpPr>
          <a:xfrm>
            <a:off x="496119" y="1269355"/>
            <a:ext cx="4075881" cy="1810941"/>
            <a:chOff x="496119" y="1269355"/>
            <a:chExt cx="4075881" cy="1810941"/>
          </a:xfrm>
        </p:grpSpPr>
        <p:sp>
          <p:nvSpPr>
            <p:cNvPr id="4" name="Shape 2"/>
            <p:cNvSpPr/>
            <p:nvPr/>
          </p:nvSpPr>
          <p:spPr>
            <a:xfrm>
              <a:off x="496119" y="1269355"/>
              <a:ext cx="4075881" cy="1810941"/>
            </a:xfrm>
            <a:prstGeom prst="roundRect">
              <a:avLst>
                <a:gd name="adj" fmla="val 1027"/>
              </a:avLst>
            </a:prstGeom>
            <a:solidFill>
              <a:srgbClr val="E9ECF2"/>
            </a:solidFill>
            <a:ln/>
          </p:spPr>
          <p:txBody>
            <a:bodyPr/>
            <a:lstStyle/>
            <a:p>
              <a:endParaRPr lang="en-IN"/>
            </a:p>
          </p:txBody>
        </p:sp>
        <p:sp>
          <p:nvSpPr>
            <p:cNvPr id="5" name="Text 3"/>
            <p:cNvSpPr/>
            <p:nvPr/>
          </p:nvSpPr>
          <p:spPr>
            <a:xfrm>
              <a:off x="620092" y="1393329"/>
              <a:ext cx="382793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How ChatGPT works under the hood</a:t>
              </a:r>
              <a:endParaRPr lang="en-US" sz="1200" dirty="0"/>
            </a:p>
          </p:txBody>
        </p:sp>
      </p:grpSp>
      <p:sp>
        <p:nvSpPr>
          <p:cNvPr id="6" name="Text 4"/>
          <p:cNvSpPr/>
          <p:nvPr/>
        </p:nvSpPr>
        <p:spPr>
          <a:xfrm>
            <a:off x="620092" y="1715839"/>
            <a:ext cx="3827934" cy="1240482"/>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ChatGPT uses Natural Language Processing (NLP) by leveraging a transformer‑based model to convert text into tokens, analyzing context and relationships between words, and predicting the most likely next word in a sequence.</a:t>
            </a:r>
            <a:endParaRPr lang="en-US" sz="1200" dirty="0"/>
          </a:p>
        </p:txBody>
      </p:sp>
      <p:sp>
        <p:nvSpPr>
          <p:cNvPr id="8" name="Shape 6"/>
          <p:cNvSpPr/>
          <p:nvPr/>
        </p:nvSpPr>
        <p:spPr>
          <a:xfrm>
            <a:off x="4572000" y="1269355"/>
            <a:ext cx="14288" cy="1810941"/>
          </a:xfrm>
          <a:prstGeom prst="roundRect">
            <a:avLst>
              <a:gd name="adj" fmla="val 130228"/>
            </a:avLst>
          </a:prstGeom>
          <a:solidFill>
            <a:srgbClr val="CFD2D8"/>
          </a:solidFill>
          <a:ln/>
        </p:spPr>
        <p:txBody>
          <a:bodyPr/>
          <a:lstStyle/>
          <a:p>
            <a:endParaRPr lang="en-IN"/>
          </a:p>
        </p:txBody>
      </p:sp>
      <p:grpSp>
        <p:nvGrpSpPr>
          <p:cNvPr id="16" name="Group 15">
            <a:extLst>
              <a:ext uri="{FF2B5EF4-FFF2-40B4-BE49-F238E27FC236}">
                <a16:creationId xmlns:a16="http://schemas.microsoft.com/office/drawing/2014/main" id="{5A3DAFF7-7616-BFE2-E1A7-1132FA4B2EA6}"/>
              </a:ext>
            </a:extLst>
          </p:cNvPr>
          <p:cNvGrpSpPr/>
          <p:nvPr/>
        </p:nvGrpSpPr>
        <p:grpSpPr>
          <a:xfrm>
            <a:off x="4572000" y="1269355"/>
            <a:ext cx="4075881" cy="1810941"/>
            <a:chOff x="4572000" y="1269355"/>
            <a:chExt cx="4075881" cy="1810941"/>
          </a:xfrm>
        </p:grpSpPr>
        <p:sp>
          <p:nvSpPr>
            <p:cNvPr id="7" name="Shape 5"/>
            <p:cNvSpPr/>
            <p:nvPr/>
          </p:nvSpPr>
          <p:spPr>
            <a:xfrm>
              <a:off x="4572000" y="1269355"/>
              <a:ext cx="4075881" cy="1810941"/>
            </a:xfrm>
            <a:prstGeom prst="rect">
              <a:avLst/>
            </a:prstGeom>
            <a:solidFill>
              <a:srgbClr val="E9ECF2"/>
            </a:solidFill>
            <a:ln/>
          </p:spPr>
          <p:txBody>
            <a:bodyPr/>
            <a:lstStyle/>
            <a:p>
              <a:endParaRPr lang="en-IN"/>
            </a:p>
          </p:txBody>
        </p:sp>
        <p:sp>
          <p:nvSpPr>
            <p:cNvPr id="9" name="Text 7"/>
            <p:cNvSpPr/>
            <p:nvPr/>
          </p:nvSpPr>
          <p:spPr>
            <a:xfrm>
              <a:off x="4695974" y="1393329"/>
              <a:ext cx="382793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is a "transformer" in simple words?</a:t>
              </a:r>
              <a:r>
                <a:rPr lang="en-US" sz="1200" dirty="0">
                  <a:solidFill>
                    <a:srgbClr val="15213F"/>
                  </a:solidFill>
                  <a:latin typeface="Roboto" pitchFamily="34" charset="0"/>
                  <a:ea typeface="Roboto" pitchFamily="34" charset="-122"/>
                  <a:cs typeface="Roboto" pitchFamily="34" charset="-120"/>
                </a:rPr>
                <a:t> </a:t>
              </a:r>
              <a:endParaRPr lang="en-US" sz="1200" dirty="0"/>
            </a:p>
          </p:txBody>
        </p:sp>
      </p:grpSp>
      <p:sp>
        <p:nvSpPr>
          <p:cNvPr id="10" name="Text 8"/>
          <p:cNvSpPr/>
          <p:nvPr/>
        </p:nvSpPr>
        <p:spPr>
          <a:xfrm>
            <a:off x="4695974" y="1715839"/>
            <a:ext cx="3827934" cy="1240482"/>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transformer is a type of AI model that is very good at paying attention to the right words, even if they are far apart in a sentence. It looks at all the words at once, decides which ones matter most for understanding the meaning, and uses that to predict the next word</a:t>
            </a:r>
            <a:endParaRPr lang="en-US" sz="1200" dirty="0"/>
          </a:p>
        </p:txBody>
      </p:sp>
      <p:sp>
        <p:nvSpPr>
          <p:cNvPr id="11" name="Text 9"/>
          <p:cNvSpPr/>
          <p:nvPr/>
        </p:nvSpPr>
        <p:spPr>
          <a:xfrm>
            <a:off x="496119" y="3219822"/>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17" name="Group 16">
            <a:extLst>
              <a:ext uri="{FF2B5EF4-FFF2-40B4-BE49-F238E27FC236}">
                <a16:creationId xmlns:a16="http://schemas.microsoft.com/office/drawing/2014/main" id="{4930F498-52FC-230E-B1DE-D4369FCDBEE2}"/>
              </a:ext>
            </a:extLst>
          </p:cNvPr>
          <p:cNvGrpSpPr/>
          <p:nvPr/>
        </p:nvGrpSpPr>
        <p:grpSpPr>
          <a:xfrm>
            <a:off x="496119" y="3607445"/>
            <a:ext cx="8151763" cy="824731"/>
            <a:chOff x="496119" y="3607445"/>
            <a:chExt cx="8151763" cy="824731"/>
          </a:xfrm>
        </p:grpSpPr>
        <p:sp>
          <p:nvSpPr>
            <p:cNvPr id="12" name="Shape 10"/>
            <p:cNvSpPr/>
            <p:nvPr/>
          </p:nvSpPr>
          <p:spPr>
            <a:xfrm>
              <a:off x="496119" y="3607445"/>
              <a:ext cx="8151763" cy="824731"/>
            </a:xfrm>
            <a:prstGeom prst="roundRect">
              <a:avLst>
                <a:gd name="adj" fmla="val 2256"/>
              </a:avLst>
            </a:prstGeom>
            <a:solidFill>
              <a:srgbClr val="F2F2F2"/>
            </a:solidFill>
            <a:ln/>
          </p:spPr>
          <p:txBody>
            <a:bodyPr/>
            <a:lstStyle/>
            <a:p>
              <a:endParaRPr lang="en-IN"/>
            </a:p>
          </p:txBody>
        </p:sp>
        <p:pic>
          <p:nvPicPr>
            <p:cNvPr id="13" name="Image 0" descr="preencoded.png"/>
            <p:cNvPicPr>
              <a:picLocks noChangeAspect="1"/>
            </p:cNvPicPr>
            <p:nvPr/>
          </p:nvPicPr>
          <p:blipFill>
            <a:blip r:embed="rId3"/>
            <a:stretch>
              <a:fillRect/>
            </a:stretch>
          </p:blipFill>
          <p:spPr>
            <a:xfrm>
              <a:off x="620092" y="3802931"/>
              <a:ext cx="193774" cy="155004"/>
            </a:xfrm>
            <a:prstGeom prst="rect">
              <a:avLst/>
            </a:prstGeom>
          </p:spPr>
        </p:pic>
        <p:sp>
          <p:nvSpPr>
            <p:cNvPr id="14" name="Text 11"/>
            <p:cNvSpPr/>
            <p:nvPr/>
          </p:nvSpPr>
          <p:spPr>
            <a:xfrm>
              <a:off x="937840" y="3762375"/>
              <a:ext cx="7586067"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So every time you chat with ChatGPT, you are seeing the </a:t>
              </a:r>
              <a:r>
                <a:rPr lang="en-US" sz="1200" b="1" dirty="0">
                  <a:solidFill>
                    <a:srgbClr val="000000"/>
                  </a:solidFill>
                  <a:latin typeface="Roboto" pitchFamily="34" charset="0"/>
                  <a:ea typeface="Roboto" pitchFamily="34" charset="-122"/>
                  <a:cs typeface="Roboto" pitchFamily="34" charset="-120"/>
                </a:rPr>
                <a:t>"Break → Understand → Generate"</a:t>
              </a:r>
              <a:r>
                <a:rPr lang="en-US" sz="1200" dirty="0">
                  <a:solidFill>
                    <a:srgbClr val="000000"/>
                  </a:solidFill>
                  <a:latin typeface="Roboto" pitchFamily="34" charset="0"/>
                  <a:ea typeface="Roboto" pitchFamily="34" charset="-122"/>
                  <a:cs typeface="Roboto" pitchFamily="34" charset="-120"/>
                </a:rPr>
                <a:t> Framework in action. You are no longer just using the car - you are looking inside the engine.</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436117"/>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Common NLP Tasks</a:t>
            </a:r>
            <a:endParaRPr lang="en-US" sz="2400" dirty="0"/>
          </a:p>
        </p:txBody>
      </p:sp>
      <p:grpSp>
        <p:nvGrpSpPr>
          <p:cNvPr id="16" name="Group 15">
            <a:extLst>
              <a:ext uri="{FF2B5EF4-FFF2-40B4-BE49-F238E27FC236}">
                <a16:creationId xmlns:a16="http://schemas.microsoft.com/office/drawing/2014/main" id="{72FFB2E6-236E-FC95-27E4-D24FAC240AF9}"/>
              </a:ext>
            </a:extLst>
          </p:cNvPr>
          <p:cNvGrpSpPr/>
          <p:nvPr/>
        </p:nvGrpSpPr>
        <p:grpSpPr>
          <a:xfrm>
            <a:off x="3925119" y="2009701"/>
            <a:ext cx="1491555" cy="744141"/>
            <a:chOff x="3925119" y="2009701"/>
            <a:chExt cx="1491555" cy="744141"/>
          </a:xfrm>
        </p:grpSpPr>
        <p:sp>
          <p:nvSpPr>
            <p:cNvPr id="4" name="Shape 1"/>
            <p:cNvSpPr/>
            <p:nvPr/>
          </p:nvSpPr>
          <p:spPr>
            <a:xfrm>
              <a:off x="3925119" y="2009701"/>
              <a:ext cx="1491555" cy="744141"/>
            </a:xfrm>
            <a:prstGeom prst="roundRect">
              <a:avLst>
                <a:gd name="adj" fmla="val 2500"/>
              </a:avLst>
            </a:prstGeom>
            <a:solidFill>
              <a:srgbClr val="E9ECF2"/>
            </a:solidFill>
            <a:ln/>
          </p:spPr>
          <p:txBody>
            <a:bodyPr/>
            <a:lstStyle/>
            <a:p>
              <a:endParaRPr lang="en-IN"/>
            </a:p>
          </p:txBody>
        </p:sp>
        <p:sp>
          <p:nvSpPr>
            <p:cNvPr id="5" name="Text 2"/>
            <p:cNvSpPr/>
            <p:nvPr/>
          </p:nvSpPr>
          <p:spPr>
            <a:xfrm>
              <a:off x="4049092" y="2133674"/>
              <a:ext cx="1243608"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Sentiment Analysis</a:t>
              </a:r>
              <a:endParaRPr lang="en-US" sz="1200" dirty="0"/>
            </a:p>
          </p:txBody>
        </p:sp>
      </p:grpSp>
      <p:grpSp>
        <p:nvGrpSpPr>
          <p:cNvPr id="17" name="Group 16">
            <a:extLst>
              <a:ext uri="{FF2B5EF4-FFF2-40B4-BE49-F238E27FC236}">
                <a16:creationId xmlns:a16="http://schemas.microsoft.com/office/drawing/2014/main" id="{03D1D990-623B-BDBF-AF22-7513829E123A}"/>
              </a:ext>
            </a:extLst>
          </p:cNvPr>
          <p:cNvGrpSpPr/>
          <p:nvPr/>
        </p:nvGrpSpPr>
        <p:grpSpPr>
          <a:xfrm>
            <a:off x="5540648" y="2009701"/>
            <a:ext cx="1491630" cy="744141"/>
            <a:chOff x="5540648" y="2009701"/>
            <a:chExt cx="1491630" cy="744141"/>
          </a:xfrm>
        </p:grpSpPr>
        <p:sp>
          <p:nvSpPr>
            <p:cNvPr id="6" name="Shape 3"/>
            <p:cNvSpPr/>
            <p:nvPr/>
          </p:nvSpPr>
          <p:spPr>
            <a:xfrm>
              <a:off x="5540648" y="2009701"/>
              <a:ext cx="1491630" cy="744141"/>
            </a:xfrm>
            <a:prstGeom prst="roundRect">
              <a:avLst>
                <a:gd name="adj" fmla="val 2500"/>
              </a:avLst>
            </a:prstGeom>
            <a:solidFill>
              <a:srgbClr val="E9ECF2"/>
            </a:solidFill>
            <a:ln/>
          </p:spPr>
          <p:txBody>
            <a:bodyPr/>
            <a:lstStyle/>
            <a:p>
              <a:endParaRPr lang="en-IN"/>
            </a:p>
          </p:txBody>
        </p:sp>
        <p:sp>
          <p:nvSpPr>
            <p:cNvPr id="7" name="Text 4"/>
            <p:cNvSpPr/>
            <p:nvPr/>
          </p:nvSpPr>
          <p:spPr>
            <a:xfrm>
              <a:off x="5664622" y="2133674"/>
              <a:ext cx="12436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Machine Translation</a:t>
              </a:r>
              <a:endParaRPr lang="en-US" sz="1200" dirty="0"/>
            </a:p>
          </p:txBody>
        </p:sp>
      </p:grpSp>
      <p:grpSp>
        <p:nvGrpSpPr>
          <p:cNvPr id="18" name="Group 17">
            <a:extLst>
              <a:ext uri="{FF2B5EF4-FFF2-40B4-BE49-F238E27FC236}">
                <a16:creationId xmlns:a16="http://schemas.microsoft.com/office/drawing/2014/main" id="{82E17AE5-52F8-61C1-EAF7-54830BF2428E}"/>
              </a:ext>
            </a:extLst>
          </p:cNvPr>
          <p:cNvGrpSpPr/>
          <p:nvPr/>
        </p:nvGrpSpPr>
        <p:grpSpPr>
          <a:xfrm>
            <a:off x="7156252" y="2009701"/>
            <a:ext cx="1491630" cy="744141"/>
            <a:chOff x="7156252" y="2009701"/>
            <a:chExt cx="1491630" cy="744141"/>
          </a:xfrm>
        </p:grpSpPr>
        <p:sp>
          <p:nvSpPr>
            <p:cNvPr id="8" name="Shape 5"/>
            <p:cNvSpPr/>
            <p:nvPr/>
          </p:nvSpPr>
          <p:spPr>
            <a:xfrm>
              <a:off x="7156252" y="2009701"/>
              <a:ext cx="1491630" cy="744141"/>
            </a:xfrm>
            <a:prstGeom prst="roundRect">
              <a:avLst>
                <a:gd name="adj" fmla="val 2500"/>
              </a:avLst>
            </a:prstGeom>
            <a:solidFill>
              <a:srgbClr val="E9ECF2"/>
            </a:solidFill>
            <a:ln/>
          </p:spPr>
          <p:txBody>
            <a:bodyPr/>
            <a:lstStyle/>
            <a:p>
              <a:endParaRPr lang="en-IN" dirty="0"/>
            </a:p>
          </p:txBody>
        </p:sp>
        <p:sp>
          <p:nvSpPr>
            <p:cNvPr id="9" name="Text 6"/>
            <p:cNvSpPr/>
            <p:nvPr/>
          </p:nvSpPr>
          <p:spPr>
            <a:xfrm>
              <a:off x="7280225" y="2133674"/>
              <a:ext cx="124368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Summarisation</a:t>
              </a:r>
              <a:endParaRPr lang="en-US" sz="1200" dirty="0"/>
            </a:p>
          </p:txBody>
        </p:sp>
      </p:grpSp>
      <p:grpSp>
        <p:nvGrpSpPr>
          <p:cNvPr id="19" name="Group 18">
            <a:extLst>
              <a:ext uri="{FF2B5EF4-FFF2-40B4-BE49-F238E27FC236}">
                <a16:creationId xmlns:a16="http://schemas.microsoft.com/office/drawing/2014/main" id="{794D4230-EB4A-3B69-AE3A-A9858CFFD944}"/>
              </a:ext>
            </a:extLst>
          </p:cNvPr>
          <p:cNvGrpSpPr/>
          <p:nvPr/>
        </p:nvGrpSpPr>
        <p:grpSpPr>
          <a:xfrm>
            <a:off x="3925119" y="2877815"/>
            <a:ext cx="1491555" cy="829494"/>
            <a:chOff x="3925119" y="2877815"/>
            <a:chExt cx="1491555" cy="829494"/>
          </a:xfrm>
        </p:grpSpPr>
        <p:sp>
          <p:nvSpPr>
            <p:cNvPr id="10" name="Shape 7"/>
            <p:cNvSpPr/>
            <p:nvPr/>
          </p:nvSpPr>
          <p:spPr>
            <a:xfrm>
              <a:off x="3925119" y="2877815"/>
              <a:ext cx="1491555" cy="829494"/>
            </a:xfrm>
            <a:prstGeom prst="roundRect">
              <a:avLst>
                <a:gd name="adj" fmla="val 2243"/>
              </a:avLst>
            </a:prstGeom>
            <a:solidFill>
              <a:srgbClr val="E9ECF2"/>
            </a:solidFill>
            <a:ln/>
          </p:spPr>
          <p:txBody>
            <a:bodyPr/>
            <a:lstStyle/>
            <a:p>
              <a:endParaRPr lang="en-IN"/>
            </a:p>
          </p:txBody>
        </p:sp>
        <p:sp>
          <p:nvSpPr>
            <p:cNvPr id="11" name="Text 8"/>
            <p:cNvSpPr/>
            <p:nvPr/>
          </p:nvSpPr>
          <p:spPr>
            <a:xfrm>
              <a:off x="4049092" y="3001789"/>
              <a:ext cx="124360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Paraphrasing</a:t>
              </a:r>
              <a:endParaRPr lang="en-US" sz="1200" dirty="0"/>
            </a:p>
          </p:txBody>
        </p:sp>
      </p:grpSp>
      <p:grpSp>
        <p:nvGrpSpPr>
          <p:cNvPr id="20" name="Group 19">
            <a:extLst>
              <a:ext uri="{FF2B5EF4-FFF2-40B4-BE49-F238E27FC236}">
                <a16:creationId xmlns:a16="http://schemas.microsoft.com/office/drawing/2014/main" id="{9E984690-13E7-01A7-1961-EFA86F4C7E7C}"/>
              </a:ext>
            </a:extLst>
          </p:cNvPr>
          <p:cNvGrpSpPr/>
          <p:nvPr/>
        </p:nvGrpSpPr>
        <p:grpSpPr>
          <a:xfrm>
            <a:off x="5540648" y="2877815"/>
            <a:ext cx="1491630" cy="829494"/>
            <a:chOff x="5540648" y="2877815"/>
            <a:chExt cx="1491630" cy="829494"/>
          </a:xfrm>
        </p:grpSpPr>
        <p:sp>
          <p:nvSpPr>
            <p:cNvPr id="12" name="Shape 9"/>
            <p:cNvSpPr/>
            <p:nvPr/>
          </p:nvSpPr>
          <p:spPr>
            <a:xfrm>
              <a:off x="5540648" y="2877815"/>
              <a:ext cx="1491630" cy="829494"/>
            </a:xfrm>
            <a:prstGeom prst="roundRect">
              <a:avLst>
                <a:gd name="adj" fmla="val 2243"/>
              </a:avLst>
            </a:prstGeom>
            <a:solidFill>
              <a:srgbClr val="E9ECF2"/>
            </a:solidFill>
            <a:ln/>
          </p:spPr>
          <p:txBody>
            <a:bodyPr/>
            <a:lstStyle/>
            <a:p>
              <a:endParaRPr lang="en-IN"/>
            </a:p>
          </p:txBody>
        </p:sp>
        <p:sp>
          <p:nvSpPr>
            <p:cNvPr id="13" name="Text 10"/>
            <p:cNvSpPr/>
            <p:nvPr/>
          </p:nvSpPr>
          <p:spPr>
            <a:xfrm>
              <a:off x="5664622" y="3001789"/>
              <a:ext cx="124368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Question Answering</a:t>
              </a:r>
              <a:endParaRPr lang="en-US" sz="1200" dirty="0"/>
            </a:p>
          </p:txBody>
        </p:sp>
      </p:grpSp>
      <p:grpSp>
        <p:nvGrpSpPr>
          <p:cNvPr id="21" name="Group 20">
            <a:extLst>
              <a:ext uri="{FF2B5EF4-FFF2-40B4-BE49-F238E27FC236}">
                <a16:creationId xmlns:a16="http://schemas.microsoft.com/office/drawing/2014/main" id="{C0F7EFDD-1A81-9B57-FE96-D4D71F51FD9B}"/>
              </a:ext>
            </a:extLst>
          </p:cNvPr>
          <p:cNvGrpSpPr/>
          <p:nvPr/>
        </p:nvGrpSpPr>
        <p:grpSpPr>
          <a:xfrm>
            <a:off x="7156252" y="2877815"/>
            <a:ext cx="1491630" cy="829494"/>
            <a:chOff x="7156252" y="2877815"/>
            <a:chExt cx="1491630" cy="829494"/>
          </a:xfrm>
        </p:grpSpPr>
        <p:sp>
          <p:nvSpPr>
            <p:cNvPr id="14" name="Shape 11"/>
            <p:cNvSpPr/>
            <p:nvPr/>
          </p:nvSpPr>
          <p:spPr>
            <a:xfrm>
              <a:off x="7156252" y="2877815"/>
              <a:ext cx="1491630" cy="829494"/>
            </a:xfrm>
            <a:prstGeom prst="roundRect">
              <a:avLst>
                <a:gd name="adj" fmla="val 2243"/>
              </a:avLst>
            </a:prstGeom>
            <a:solidFill>
              <a:srgbClr val="E9ECF2"/>
            </a:solidFill>
            <a:ln/>
          </p:spPr>
          <p:txBody>
            <a:bodyPr/>
            <a:lstStyle/>
            <a:p>
              <a:endParaRPr lang="en-IN"/>
            </a:p>
          </p:txBody>
        </p:sp>
        <p:sp>
          <p:nvSpPr>
            <p:cNvPr id="15" name="Text 12"/>
            <p:cNvSpPr/>
            <p:nvPr/>
          </p:nvSpPr>
          <p:spPr>
            <a:xfrm>
              <a:off x="7280225" y="3001789"/>
              <a:ext cx="1243682" cy="581546"/>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Named Entity Recognition (NER)</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96119" y="875779"/>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Challenges in NLP</a:t>
            </a:r>
            <a:endParaRPr lang="en-US" sz="2400" dirty="0"/>
          </a:p>
        </p:txBody>
      </p:sp>
      <p:sp>
        <p:nvSpPr>
          <p:cNvPr id="3" name="Text 1"/>
          <p:cNvSpPr/>
          <p:nvPr/>
        </p:nvSpPr>
        <p:spPr>
          <a:xfrm>
            <a:off x="496119" y="1511350"/>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22" name="Group 21">
            <a:extLst>
              <a:ext uri="{FF2B5EF4-FFF2-40B4-BE49-F238E27FC236}">
                <a16:creationId xmlns:a16="http://schemas.microsoft.com/office/drawing/2014/main" id="{323FE10E-3ECE-ED6A-3E99-30F3F1A92F79}"/>
              </a:ext>
            </a:extLst>
          </p:cNvPr>
          <p:cNvGrpSpPr/>
          <p:nvPr/>
        </p:nvGrpSpPr>
        <p:grpSpPr>
          <a:xfrm>
            <a:off x="496119" y="1849338"/>
            <a:ext cx="1944960" cy="496044"/>
            <a:chOff x="496119" y="1849338"/>
            <a:chExt cx="1944960" cy="496044"/>
          </a:xfrm>
        </p:grpSpPr>
        <p:sp>
          <p:nvSpPr>
            <p:cNvPr id="4" name="Shape 2"/>
            <p:cNvSpPr/>
            <p:nvPr/>
          </p:nvSpPr>
          <p:spPr>
            <a:xfrm>
              <a:off x="496119" y="1849338"/>
              <a:ext cx="1944960" cy="496044"/>
            </a:xfrm>
            <a:prstGeom prst="roundRect">
              <a:avLst>
                <a:gd name="adj" fmla="val 3751"/>
              </a:avLst>
            </a:prstGeom>
            <a:solidFill>
              <a:srgbClr val="E9ECF2"/>
            </a:solidFill>
            <a:ln/>
          </p:spPr>
          <p:txBody>
            <a:bodyPr/>
            <a:lstStyle/>
            <a:p>
              <a:endParaRPr lang="en-IN"/>
            </a:p>
          </p:txBody>
        </p:sp>
        <p:sp>
          <p:nvSpPr>
            <p:cNvPr id="5" name="Text 3"/>
            <p:cNvSpPr/>
            <p:nvPr/>
          </p:nvSpPr>
          <p:spPr>
            <a:xfrm>
              <a:off x="620092" y="1973312"/>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Ambiguity</a:t>
              </a:r>
              <a:endParaRPr lang="en-US" sz="1200" dirty="0"/>
            </a:p>
          </p:txBody>
        </p:sp>
      </p:grpSp>
      <p:grpSp>
        <p:nvGrpSpPr>
          <p:cNvPr id="23" name="Group 22">
            <a:extLst>
              <a:ext uri="{FF2B5EF4-FFF2-40B4-BE49-F238E27FC236}">
                <a16:creationId xmlns:a16="http://schemas.microsoft.com/office/drawing/2014/main" id="{D59E7199-A3AB-089C-5B46-C890A6C3E691}"/>
              </a:ext>
            </a:extLst>
          </p:cNvPr>
          <p:cNvGrpSpPr/>
          <p:nvPr/>
        </p:nvGrpSpPr>
        <p:grpSpPr>
          <a:xfrm>
            <a:off x="2565053" y="1849338"/>
            <a:ext cx="1944960" cy="496044"/>
            <a:chOff x="2565053" y="1849338"/>
            <a:chExt cx="1944960" cy="496044"/>
          </a:xfrm>
        </p:grpSpPr>
        <p:sp>
          <p:nvSpPr>
            <p:cNvPr id="6" name="Shape 4"/>
            <p:cNvSpPr/>
            <p:nvPr/>
          </p:nvSpPr>
          <p:spPr>
            <a:xfrm>
              <a:off x="2565053" y="1849338"/>
              <a:ext cx="1944960" cy="496044"/>
            </a:xfrm>
            <a:prstGeom prst="roundRect">
              <a:avLst>
                <a:gd name="adj" fmla="val 3751"/>
              </a:avLst>
            </a:prstGeom>
            <a:solidFill>
              <a:srgbClr val="E9ECF2"/>
            </a:solidFill>
            <a:ln/>
          </p:spPr>
          <p:txBody>
            <a:bodyPr/>
            <a:lstStyle/>
            <a:p>
              <a:endParaRPr lang="en-IN"/>
            </a:p>
          </p:txBody>
        </p:sp>
        <p:sp>
          <p:nvSpPr>
            <p:cNvPr id="7" name="Text 5"/>
            <p:cNvSpPr/>
            <p:nvPr/>
          </p:nvSpPr>
          <p:spPr>
            <a:xfrm>
              <a:off x="2689027" y="1973312"/>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Sarcasm &amp; Irony</a:t>
              </a:r>
              <a:endParaRPr lang="en-US" sz="1200" dirty="0"/>
            </a:p>
          </p:txBody>
        </p:sp>
      </p:grpSp>
      <p:grpSp>
        <p:nvGrpSpPr>
          <p:cNvPr id="24" name="Group 23">
            <a:extLst>
              <a:ext uri="{FF2B5EF4-FFF2-40B4-BE49-F238E27FC236}">
                <a16:creationId xmlns:a16="http://schemas.microsoft.com/office/drawing/2014/main" id="{75EFE15C-81EE-E992-9C82-491B3A6F2BBD}"/>
              </a:ext>
            </a:extLst>
          </p:cNvPr>
          <p:cNvGrpSpPr/>
          <p:nvPr/>
        </p:nvGrpSpPr>
        <p:grpSpPr>
          <a:xfrm>
            <a:off x="4633987" y="1849338"/>
            <a:ext cx="1944886" cy="496044"/>
            <a:chOff x="4633987" y="1849338"/>
            <a:chExt cx="1944886" cy="496044"/>
          </a:xfrm>
        </p:grpSpPr>
        <p:sp>
          <p:nvSpPr>
            <p:cNvPr id="8" name="Shape 6"/>
            <p:cNvSpPr/>
            <p:nvPr/>
          </p:nvSpPr>
          <p:spPr>
            <a:xfrm>
              <a:off x="4633987" y="1849338"/>
              <a:ext cx="1944886" cy="496044"/>
            </a:xfrm>
            <a:prstGeom prst="roundRect">
              <a:avLst>
                <a:gd name="adj" fmla="val 3751"/>
              </a:avLst>
            </a:prstGeom>
            <a:solidFill>
              <a:srgbClr val="E9ECF2"/>
            </a:solidFill>
            <a:ln/>
          </p:spPr>
          <p:txBody>
            <a:bodyPr/>
            <a:lstStyle/>
            <a:p>
              <a:endParaRPr lang="en-IN"/>
            </a:p>
          </p:txBody>
        </p:sp>
        <p:sp>
          <p:nvSpPr>
            <p:cNvPr id="9" name="Text 7"/>
            <p:cNvSpPr/>
            <p:nvPr/>
          </p:nvSpPr>
          <p:spPr>
            <a:xfrm>
              <a:off x="4757961" y="1973312"/>
              <a:ext cx="169693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Idioms</a:t>
              </a:r>
              <a:endParaRPr lang="en-US" sz="1200" dirty="0"/>
            </a:p>
          </p:txBody>
        </p:sp>
      </p:grpSp>
      <p:grpSp>
        <p:nvGrpSpPr>
          <p:cNvPr id="25" name="Group 24">
            <a:extLst>
              <a:ext uri="{FF2B5EF4-FFF2-40B4-BE49-F238E27FC236}">
                <a16:creationId xmlns:a16="http://schemas.microsoft.com/office/drawing/2014/main" id="{454AA3AC-C396-9F61-71E4-AFC509CA0216}"/>
              </a:ext>
            </a:extLst>
          </p:cNvPr>
          <p:cNvGrpSpPr/>
          <p:nvPr/>
        </p:nvGrpSpPr>
        <p:grpSpPr>
          <a:xfrm>
            <a:off x="6702847" y="1849338"/>
            <a:ext cx="1945035" cy="496044"/>
            <a:chOff x="6702847" y="1849338"/>
            <a:chExt cx="1945035" cy="496044"/>
          </a:xfrm>
        </p:grpSpPr>
        <p:sp>
          <p:nvSpPr>
            <p:cNvPr id="10" name="Shape 8"/>
            <p:cNvSpPr/>
            <p:nvPr/>
          </p:nvSpPr>
          <p:spPr>
            <a:xfrm>
              <a:off x="6702847" y="1849338"/>
              <a:ext cx="1945035" cy="496044"/>
            </a:xfrm>
            <a:prstGeom prst="roundRect">
              <a:avLst>
                <a:gd name="adj" fmla="val 3751"/>
              </a:avLst>
            </a:prstGeom>
            <a:solidFill>
              <a:srgbClr val="E9ECF2"/>
            </a:solidFill>
            <a:ln/>
          </p:spPr>
          <p:txBody>
            <a:bodyPr/>
            <a:lstStyle/>
            <a:p>
              <a:endParaRPr lang="en-IN"/>
            </a:p>
          </p:txBody>
        </p:sp>
        <p:sp>
          <p:nvSpPr>
            <p:cNvPr id="11" name="Text 9"/>
            <p:cNvSpPr/>
            <p:nvPr/>
          </p:nvSpPr>
          <p:spPr>
            <a:xfrm>
              <a:off x="6826821" y="1973312"/>
              <a:ext cx="1697087"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Cultural Context</a:t>
              </a:r>
              <a:endParaRPr lang="en-US" sz="1200" dirty="0"/>
            </a:p>
          </p:txBody>
        </p:sp>
      </p:grpSp>
      <p:grpSp>
        <p:nvGrpSpPr>
          <p:cNvPr id="26" name="Group 25">
            <a:extLst>
              <a:ext uri="{FF2B5EF4-FFF2-40B4-BE49-F238E27FC236}">
                <a16:creationId xmlns:a16="http://schemas.microsoft.com/office/drawing/2014/main" id="{9AFA9F45-ED3F-B3DD-68DC-8735C897A661}"/>
              </a:ext>
            </a:extLst>
          </p:cNvPr>
          <p:cNvGrpSpPr/>
          <p:nvPr/>
        </p:nvGrpSpPr>
        <p:grpSpPr>
          <a:xfrm>
            <a:off x="496119" y="2469356"/>
            <a:ext cx="2634555" cy="496044"/>
            <a:chOff x="496119" y="2469356"/>
            <a:chExt cx="2634555" cy="496044"/>
          </a:xfrm>
        </p:grpSpPr>
        <p:sp>
          <p:nvSpPr>
            <p:cNvPr id="12" name="Shape 10"/>
            <p:cNvSpPr/>
            <p:nvPr/>
          </p:nvSpPr>
          <p:spPr>
            <a:xfrm>
              <a:off x="496119" y="2469356"/>
              <a:ext cx="2634555" cy="496044"/>
            </a:xfrm>
            <a:prstGeom prst="roundRect">
              <a:avLst>
                <a:gd name="adj" fmla="val 3751"/>
              </a:avLst>
            </a:prstGeom>
            <a:solidFill>
              <a:srgbClr val="E9ECF2"/>
            </a:solidFill>
            <a:ln/>
          </p:spPr>
          <p:txBody>
            <a:bodyPr/>
            <a:lstStyle/>
            <a:p>
              <a:endParaRPr lang="en-IN"/>
            </a:p>
          </p:txBody>
        </p:sp>
        <p:sp>
          <p:nvSpPr>
            <p:cNvPr id="13" name="Text 11"/>
            <p:cNvSpPr/>
            <p:nvPr/>
          </p:nvSpPr>
          <p:spPr>
            <a:xfrm>
              <a:off x="620092" y="2593330"/>
              <a:ext cx="238660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Bias</a:t>
              </a:r>
              <a:endParaRPr lang="en-US" sz="1200" dirty="0"/>
            </a:p>
          </p:txBody>
        </p:sp>
      </p:grpSp>
      <p:grpSp>
        <p:nvGrpSpPr>
          <p:cNvPr id="27" name="Group 26">
            <a:extLst>
              <a:ext uri="{FF2B5EF4-FFF2-40B4-BE49-F238E27FC236}">
                <a16:creationId xmlns:a16="http://schemas.microsoft.com/office/drawing/2014/main" id="{77CF7DFC-E684-7704-5130-2B240CA02F36}"/>
              </a:ext>
            </a:extLst>
          </p:cNvPr>
          <p:cNvGrpSpPr/>
          <p:nvPr/>
        </p:nvGrpSpPr>
        <p:grpSpPr>
          <a:xfrm>
            <a:off x="3254648" y="2469356"/>
            <a:ext cx="2634630" cy="496044"/>
            <a:chOff x="3254648" y="2469356"/>
            <a:chExt cx="2634630" cy="496044"/>
          </a:xfrm>
        </p:grpSpPr>
        <p:sp>
          <p:nvSpPr>
            <p:cNvPr id="14" name="Shape 12"/>
            <p:cNvSpPr/>
            <p:nvPr/>
          </p:nvSpPr>
          <p:spPr>
            <a:xfrm>
              <a:off x="3254648" y="2469356"/>
              <a:ext cx="2634630" cy="496044"/>
            </a:xfrm>
            <a:prstGeom prst="roundRect">
              <a:avLst>
                <a:gd name="adj" fmla="val 3751"/>
              </a:avLst>
            </a:prstGeom>
            <a:solidFill>
              <a:srgbClr val="E9ECF2"/>
            </a:solidFill>
            <a:ln/>
          </p:spPr>
          <p:txBody>
            <a:bodyPr/>
            <a:lstStyle/>
            <a:p>
              <a:endParaRPr lang="en-IN"/>
            </a:p>
          </p:txBody>
        </p:sp>
        <p:sp>
          <p:nvSpPr>
            <p:cNvPr id="15" name="Text 13"/>
            <p:cNvSpPr/>
            <p:nvPr/>
          </p:nvSpPr>
          <p:spPr>
            <a:xfrm>
              <a:off x="3378622" y="2593330"/>
              <a:ext cx="1865635"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Low‑Resource Languages</a:t>
              </a:r>
              <a:endParaRPr lang="en-US" sz="1200" dirty="0"/>
            </a:p>
          </p:txBody>
        </p:sp>
      </p:grpSp>
      <p:grpSp>
        <p:nvGrpSpPr>
          <p:cNvPr id="28" name="Group 27">
            <a:extLst>
              <a:ext uri="{FF2B5EF4-FFF2-40B4-BE49-F238E27FC236}">
                <a16:creationId xmlns:a16="http://schemas.microsoft.com/office/drawing/2014/main" id="{6FDAC62A-5AEC-38EC-E918-3A541B8A0612}"/>
              </a:ext>
            </a:extLst>
          </p:cNvPr>
          <p:cNvGrpSpPr/>
          <p:nvPr/>
        </p:nvGrpSpPr>
        <p:grpSpPr>
          <a:xfrm>
            <a:off x="6013252" y="2469356"/>
            <a:ext cx="2634630" cy="496044"/>
            <a:chOff x="6013252" y="2469356"/>
            <a:chExt cx="2634630" cy="496044"/>
          </a:xfrm>
        </p:grpSpPr>
        <p:sp>
          <p:nvSpPr>
            <p:cNvPr id="16" name="Shape 14"/>
            <p:cNvSpPr/>
            <p:nvPr/>
          </p:nvSpPr>
          <p:spPr>
            <a:xfrm>
              <a:off x="6013252" y="2469356"/>
              <a:ext cx="2634630" cy="496044"/>
            </a:xfrm>
            <a:prstGeom prst="roundRect">
              <a:avLst>
                <a:gd name="adj" fmla="val 3751"/>
              </a:avLst>
            </a:prstGeom>
            <a:solidFill>
              <a:srgbClr val="E9ECF2"/>
            </a:solidFill>
            <a:ln/>
          </p:spPr>
          <p:txBody>
            <a:bodyPr/>
            <a:lstStyle/>
            <a:p>
              <a:endParaRPr lang="en-IN"/>
            </a:p>
          </p:txBody>
        </p:sp>
        <p:sp>
          <p:nvSpPr>
            <p:cNvPr id="17" name="Text 15"/>
            <p:cNvSpPr/>
            <p:nvPr/>
          </p:nvSpPr>
          <p:spPr>
            <a:xfrm>
              <a:off x="6137225" y="2593330"/>
              <a:ext cx="193595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Long‑Range Dependencies</a:t>
              </a:r>
              <a:endParaRPr lang="en-US" sz="1200" dirty="0"/>
            </a:p>
          </p:txBody>
        </p:sp>
      </p:grpSp>
      <p:sp>
        <p:nvSpPr>
          <p:cNvPr id="18" name="Text 16"/>
          <p:cNvSpPr/>
          <p:nvPr/>
        </p:nvSpPr>
        <p:spPr>
          <a:xfrm>
            <a:off x="496119" y="3104927"/>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29" name="Group 28">
            <a:extLst>
              <a:ext uri="{FF2B5EF4-FFF2-40B4-BE49-F238E27FC236}">
                <a16:creationId xmlns:a16="http://schemas.microsoft.com/office/drawing/2014/main" id="{2EB9CF3A-0D4D-4205-3E4B-83672999E984}"/>
              </a:ext>
            </a:extLst>
          </p:cNvPr>
          <p:cNvGrpSpPr/>
          <p:nvPr/>
        </p:nvGrpSpPr>
        <p:grpSpPr>
          <a:xfrm>
            <a:off x="496119" y="3442915"/>
            <a:ext cx="8151763" cy="824731"/>
            <a:chOff x="496119" y="3442915"/>
            <a:chExt cx="8151763" cy="824731"/>
          </a:xfrm>
        </p:grpSpPr>
        <p:sp>
          <p:nvSpPr>
            <p:cNvPr id="19" name="Shape 17"/>
            <p:cNvSpPr/>
            <p:nvPr/>
          </p:nvSpPr>
          <p:spPr>
            <a:xfrm>
              <a:off x="496119" y="3442915"/>
              <a:ext cx="8151763" cy="824731"/>
            </a:xfrm>
            <a:prstGeom prst="roundRect">
              <a:avLst>
                <a:gd name="adj" fmla="val 2256"/>
              </a:avLst>
            </a:prstGeom>
            <a:solidFill>
              <a:srgbClr val="F2F2F2"/>
            </a:solidFill>
            <a:ln/>
          </p:spPr>
          <p:txBody>
            <a:bodyPr/>
            <a:lstStyle/>
            <a:p>
              <a:endParaRPr lang="en-IN"/>
            </a:p>
          </p:txBody>
        </p:sp>
        <p:pic>
          <p:nvPicPr>
            <p:cNvPr id="20" name="Image 0" descr="preencoded.png"/>
            <p:cNvPicPr>
              <a:picLocks noChangeAspect="1"/>
            </p:cNvPicPr>
            <p:nvPr/>
          </p:nvPicPr>
          <p:blipFill>
            <a:blip r:embed="rId3"/>
            <a:stretch>
              <a:fillRect/>
            </a:stretch>
          </p:blipFill>
          <p:spPr>
            <a:xfrm>
              <a:off x="620092" y="3638401"/>
              <a:ext cx="193774" cy="155004"/>
            </a:xfrm>
            <a:prstGeom prst="rect">
              <a:avLst/>
            </a:prstGeom>
          </p:spPr>
        </p:pic>
        <p:sp>
          <p:nvSpPr>
            <p:cNvPr id="21" name="Text 18"/>
            <p:cNvSpPr/>
            <p:nvPr/>
          </p:nvSpPr>
          <p:spPr>
            <a:xfrm>
              <a:off x="937840" y="3597846"/>
              <a:ext cx="7586067"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NLP is powerful, but it's not perfect.</a:t>
              </a:r>
            </a:p>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Always verify important information, especially when sarcasm or ambiguity might be involved.</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8379" y="516136"/>
            <a:ext cx="5673700" cy="381521"/>
          </a:xfrm>
          <a:prstGeom prst="rect">
            <a:avLst/>
          </a:prstGeom>
          <a:noFill/>
          <a:ln/>
        </p:spPr>
        <p:txBody>
          <a:bodyPr wrap="none" lIns="0" tIns="0" rIns="0" bIns="0" rtlCol="0" anchor="t"/>
          <a:lstStyle/>
          <a:p>
            <a:pPr marL="0" indent="0" algn="l">
              <a:lnSpc>
                <a:spcPts val="3000"/>
              </a:lnSpc>
              <a:buNone/>
            </a:pPr>
            <a:r>
              <a:rPr lang="en-US" sz="2400" dirty="0">
                <a:solidFill>
                  <a:srgbClr val="3257B8"/>
                </a:solidFill>
                <a:latin typeface="Roboto Slab" pitchFamily="34" charset="0"/>
                <a:ea typeface="Roboto Slab" pitchFamily="34" charset="-122"/>
                <a:cs typeface="Roboto Slab" pitchFamily="34" charset="-120"/>
              </a:rPr>
              <a:t>Mini Activity 2: Spot the NLP Challenge</a:t>
            </a:r>
            <a:endParaRPr lang="en-US" sz="2400" dirty="0"/>
          </a:p>
        </p:txBody>
      </p:sp>
      <p:sp>
        <p:nvSpPr>
          <p:cNvPr id="3" name="Text 1"/>
          <p:cNvSpPr/>
          <p:nvPr/>
        </p:nvSpPr>
        <p:spPr>
          <a:xfrm>
            <a:off x="488379" y="1138014"/>
            <a:ext cx="8167241" cy="484436"/>
          </a:xfrm>
          <a:prstGeom prst="rect">
            <a:avLst/>
          </a:prstGeom>
          <a:noFill/>
          <a:ln/>
        </p:spPr>
        <p:txBody>
          <a:bodyPr wrap="squar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Instructions:</a:t>
            </a:r>
            <a:r>
              <a:rPr lang="en-US" sz="1200" dirty="0">
                <a:solidFill>
                  <a:srgbClr val="15213F"/>
                </a:solidFill>
                <a:latin typeface="Roboto" pitchFamily="34" charset="0"/>
                <a:ea typeface="Roboto" pitchFamily="34" charset="-122"/>
                <a:cs typeface="Roboto" pitchFamily="34" charset="-120"/>
              </a:rPr>
              <a:t> For each sentence, identify which </a:t>
            </a:r>
            <a:r>
              <a:rPr lang="en-US" sz="1200" b="1" dirty="0">
                <a:solidFill>
                  <a:srgbClr val="15213F"/>
                </a:solidFill>
                <a:latin typeface="Roboto" pitchFamily="34" charset="0"/>
                <a:ea typeface="Roboto" pitchFamily="34" charset="-122"/>
                <a:cs typeface="Roboto" pitchFamily="34" charset="-120"/>
              </a:rPr>
              <a:t>NLP challenge</a:t>
            </a:r>
            <a:r>
              <a:rPr lang="en-US" sz="1200" dirty="0">
                <a:solidFill>
                  <a:srgbClr val="15213F"/>
                </a:solidFill>
                <a:latin typeface="Roboto" pitchFamily="34" charset="0"/>
                <a:ea typeface="Roboto" pitchFamily="34" charset="-122"/>
                <a:cs typeface="Roboto" pitchFamily="34" charset="-120"/>
              </a:rPr>
              <a:t> is present. </a:t>
            </a:r>
          </a:p>
          <a:p>
            <a:pPr marL="0" indent="0" algn="l">
              <a:lnSpc>
                <a:spcPts val="1900"/>
              </a:lnSpc>
              <a:buNone/>
            </a:pPr>
            <a:r>
              <a:rPr lang="en-US" sz="1200" dirty="0">
                <a:solidFill>
                  <a:srgbClr val="15213F"/>
                </a:solidFill>
                <a:latin typeface="Roboto" pitchFamily="34" charset="0"/>
                <a:ea typeface="Roboto" pitchFamily="34" charset="-122"/>
                <a:cs typeface="Roboto" pitchFamily="34" charset="-120"/>
              </a:rPr>
              <a:t>Choose from: </a:t>
            </a:r>
            <a:r>
              <a:rPr lang="en-US" sz="1200" b="1" dirty="0">
                <a:solidFill>
                  <a:srgbClr val="15213F"/>
                </a:solidFill>
                <a:latin typeface="Roboto" pitchFamily="34" charset="0"/>
                <a:ea typeface="Roboto" pitchFamily="34" charset="-122"/>
                <a:cs typeface="Roboto" pitchFamily="34" charset="-120"/>
              </a:rPr>
              <a:t>Ambiguity, Sarcasm/irony, Idiom, Cultural context, Bias</a:t>
            </a:r>
            <a:r>
              <a:rPr lang="en-US" sz="1200" dirty="0">
                <a:solidFill>
                  <a:srgbClr val="15213F"/>
                </a:solidFill>
                <a:latin typeface="Roboto" pitchFamily="34" charset="0"/>
                <a:ea typeface="Roboto" pitchFamily="34" charset="-122"/>
                <a:cs typeface="Roboto" pitchFamily="34" charset="-120"/>
              </a:rPr>
              <a:t>.</a:t>
            </a:r>
            <a:endParaRPr lang="en-US" sz="1200" dirty="0"/>
          </a:p>
        </p:txBody>
      </p:sp>
      <p:sp>
        <p:nvSpPr>
          <p:cNvPr id="4" name="Shape 2"/>
          <p:cNvSpPr/>
          <p:nvPr/>
        </p:nvSpPr>
        <p:spPr>
          <a:xfrm>
            <a:off x="488379" y="1757660"/>
            <a:ext cx="8167241" cy="2869704"/>
          </a:xfrm>
          <a:prstGeom prst="roundRect">
            <a:avLst>
              <a:gd name="adj" fmla="val 638"/>
            </a:avLst>
          </a:prstGeom>
          <a:noFill/>
          <a:ln w="4763">
            <a:solidFill>
              <a:srgbClr val="000000">
                <a:alpha val="8000"/>
              </a:srgbClr>
            </a:solidFill>
            <a:prstDash val="solid"/>
          </a:ln>
        </p:spPr>
        <p:txBody>
          <a:bodyPr/>
          <a:lstStyle/>
          <a:p>
            <a:endParaRPr lang="en-IN"/>
          </a:p>
        </p:txBody>
      </p:sp>
      <p:sp>
        <p:nvSpPr>
          <p:cNvPr id="5" name="Shape 3"/>
          <p:cNvSpPr/>
          <p:nvPr/>
        </p:nvSpPr>
        <p:spPr>
          <a:xfrm>
            <a:off x="493142" y="1762423"/>
            <a:ext cx="8157716" cy="395957"/>
          </a:xfrm>
          <a:prstGeom prst="rect">
            <a:avLst/>
          </a:prstGeom>
          <a:solidFill>
            <a:srgbClr val="FFFFFF">
              <a:alpha val="4000"/>
            </a:srgbClr>
          </a:solidFill>
          <a:ln/>
        </p:spPr>
        <p:txBody>
          <a:bodyPr/>
          <a:lstStyle/>
          <a:p>
            <a:endParaRPr lang="en-IN"/>
          </a:p>
        </p:txBody>
      </p:sp>
      <p:grpSp>
        <p:nvGrpSpPr>
          <p:cNvPr id="23" name="Group 22">
            <a:extLst>
              <a:ext uri="{FF2B5EF4-FFF2-40B4-BE49-F238E27FC236}">
                <a16:creationId xmlns:a16="http://schemas.microsoft.com/office/drawing/2014/main" id="{7A5086AD-C977-B225-0595-9B7D8F6695A5}"/>
              </a:ext>
            </a:extLst>
          </p:cNvPr>
          <p:cNvGrpSpPr/>
          <p:nvPr/>
        </p:nvGrpSpPr>
        <p:grpSpPr>
          <a:xfrm>
            <a:off x="615255" y="1839292"/>
            <a:ext cx="7913563" cy="242218"/>
            <a:chOff x="615255" y="1839292"/>
            <a:chExt cx="7913563" cy="242218"/>
          </a:xfrm>
        </p:grpSpPr>
        <p:sp>
          <p:nvSpPr>
            <p:cNvPr id="6" name="Text 4"/>
            <p:cNvSpPr/>
            <p:nvPr/>
          </p:nvSpPr>
          <p:spPr>
            <a:xfrm>
              <a:off x="615255" y="1839292"/>
              <a:ext cx="5644976" cy="242218"/>
            </a:xfrm>
            <a:prstGeom prst="rect">
              <a:avLst/>
            </a:prstGeom>
            <a:noFill/>
            <a:ln/>
          </p:spPr>
          <p:txBody>
            <a:bodyPr wrap="non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Sentence</a:t>
              </a:r>
              <a:endParaRPr lang="en-US" sz="1200" dirty="0"/>
            </a:p>
          </p:txBody>
        </p:sp>
        <p:sp>
          <p:nvSpPr>
            <p:cNvPr id="7" name="Text 5"/>
            <p:cNvSpPr/>
            <p:nvPr/>
          </p:nvSpPr>
          <p:spPr>
            <a:xfrm>
              <a:off x="6509072" y="1839292"/>
              <a:ext cx="2019746" cy="242218"/>
            </a:xfrm>
            <a:prstGeom prst="rect">
              <a:avLst/>
            </a:prstGeom>
            <a:noFill/>
            <a:ln/>
          </p:spPr>
          <p:txBody>
            <a:bodyPr wrap="non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NLP Challenge</a:t>
              </a:r>
              <a:endParaRPr lang="en-US" sz="1200" dirty="0"/>
            </a:p>
          </p:txBody>
        </p:sp>
      </p:grpSp>
      <p:sp>
        <p:nvSpPr>
          <p:cNvPr id="8" name="Shape 6"/>
          <p:cNvSpPr/>
          <p:nvPr/>
        </p:nvSpPr>
        <p:spPr>
          <a:xfrm>
            <a:off x="493142" y="2158380"/>
            <a:ext cx="8157716" cy="395957"/>
          </a:xfrm>
          <a:prstGeom prst="rect">
            <a:avLst/>
          </a:prstGeom>
          <a:solidFill>
            <a:srgbClr val="000000">
              <a:alpha val="4000"/>
            </a:srgbClr>
          </a:solidFill>
          <a:ln/>
        </p:spPr>
        <p:txBody>
          <a:bodyPr/>
          <a:lstStyle/>
          <a:p>
            <a:endParaRPr lang="en-IN"/>
          </a:p>
        </p:txBody>
      </p:sp>
      <p:sp>
        <p:nvSpPr>
          <p:cNvPr id="9" name="Text 7"/>
          <p:cNvSpPr/>
          <p:nvPr/>
        </p:nvSpPr>
        <p:spPr>
          <a:xfrm>
            <a:off x="615255" y="2235250"/>
            <a:ext cx="5644976" cy="242218"/>
          </a:xfrm>
          <a:prstGeom prst="rect">
            <a:avLst/>
          </a:prstGeom>
          <a:noFill/>
          <a:ln/>
        </p:spPr>
        <p:txBody>
          <a:bodyPr wrap="none" lIns="0" tIns="0" rIns="0" bIns="0" rtlCol="0" anchor="t"/>
          <a:lstStyle/>
          <a:p>
            <a:pPr marL="0" indent="0" algn="l">
              <a:lnSpc>
                <a:spcPts val="1900"/>
              </a:lnSpc>
              <a:buNone/>
            </a:pPr>
            <a:r>
              <a:rPr lang="en-US" sz="1200" dirty="0">
                <a:solidFill>
                  <a:srgbClr val="15213F"/>
                </a:solidFill>
                <a:latin typeface="Roboto" pitchFamily="34" charset="0"/>
                <a:ea typeface="Roboto" pitchFamily="34" charset="-122"/>
                <a:cs typeface="Roboto" pitchFamily="34" charset="-120"/>
              </a:rPr>
              <a:t>"The bank was steep, so we had to climb carefully." (bank = river side, not money)</a:t>
            </a:r>
            <a:endParaRPr lang="en-US" sz="1200" dirty="0"/>
          </a:p>
        </p:txBody>
      </p:sp>
      <p:sp>
        <p:nvSpPr>
          <p:cNvPr id="10" name="Text 8"/>
          <p:cNvSpPr/>
          <p:nvPr/>
        </p:nvSpPr>
        <p:spPr>
          <a:xfrm>
            <a:off x="6509072" y="2235250"/>
            <a:ext cx="2019746" cy="242218"/>
          </a:xfrm>
          <a:prstGeom prst="rect">
            <a:avLst/>
          </a:prstGeom>
          <a:noFill/>
          <a:ln/>
        </p:spPr>
        <p:txBody>
          <a:bodyPr wrap="non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Ambiguity</a:t>
            </a:r>
            <a:endParaRPr lang="en-US" sz="1200" dirty="0"/>
          </a:p>
        </p:txBody>
      </p:sp>
      <p:sp>
        <p:nvSpPr>
          <p:cNvPr id="11" name="Shape 9"/>
          <p:cNvSpPr/>
          <p:nvPr/>
        </p:nvSpPr>
        <p:spPr>
          <a:xfrm>
            <a:off x="493142" y="2554337"/>
            <a:ext cx="8157716" cy="395957"/>
          </a:xfrm>
          <a:prstGeom prst="rect">
            <a:avLst/>
          </a:prstGeom>
          <a:solidFill>
            <a:srgbClr val="FFFFFF">
              <a:alpha val="4000"/>
            </a:srgbClr>
          </a:solidFill>
          <a:ln/>
        </p:spPr>
        <p:txBody>
          <a:bodyPr/>
          <a:lstStyle/>
          <a:p>
            <a:endParaRPr lang="en-IN"/>
          </a:p>
        </p:txBody>
      </p:sp>
      <p:sp>
        <p:nvSpPr>
          <p:cNvPr id="12" name="Text 10"/>
          <p:cNvSpPr/>
          <p:nvPr/>
        </p:nvSpPr>
        <p:spPr>
          <a:xfrm>
            <a:off x="615255" y="2631207"/>
            <a:ext cx="5644976" cy="242218"/>
          </a:xfrm>
          <a:prstGeom prst="rect">
            <a:avLst/>
          </a:prstGeom>
          <a:noFill/>
          <a:ln/>
        </p:spPr>
        <p:txBody>
          <a:bodyPr wrap="none" lIns="0" tIns="0" rIns="0" bIns="0" rtlCol="0" anchor="t"/>
          <a:lstStyle/>
          <a:p>
            <a:pPr marL="0" indent="0" algn="l">
              <a:lnSpc>
                <a:spcPts val="1900"/>
              </a:lnSpc>
              <a:buNone/>
            </a:pPr>
            <a:r>
              <a:rPr lang="en-US" sz="1200" dirty="0">
                <a:solidFill>
                  <a:srgbClr val="15213F"/>
                </a:solidFill>
                <a:latin typeface="Roboto" pitchFamily="34" charset="0"/>
                <a:ea typeface="Roboto" pitchFamily="34" charset="-122"/>
                <a:cs typeface="Roboto" pitchFamily="34" charset="-120"/>
              </a:rPr>
              <a:t>"Break a leg!" (said to a performer before a show)</a:t>
            </a:r>
            <a:endParaRPr lang="en-US" sz="1200" dirty="0"/>
          </a:p>
        </p:txBody>
      </p:sp>
      <p:sp>
        <p:nvSpPr>
          <p:cNvPr id="13" name="Text 11"/>
          <p:cNvSpPr/>
          <p:nvPr/>
        </p:nvSpPr>
        <p:spPr>
          <a:xfrm>
            <a:off x="6509072" y="2631207"/>
            <a:ext cx="2019746" cy="242218"/>
          </a:xfrm>
          <a:prstGeom prst="rect">
            <a:avLst/>
          </a:prstGeom>
          <a:noFill/>
          <a:ln/>
        </p:spPr>
        <p:txBody>
          <a:bodyPr wrap="non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Idiom</a:t>
            </a:r>
            <a:endParaRPr lang="en-US" sz="1200" dirty="0"/>
          </a:p>
        </p:txBody>
      </p:sp>
      <p:sp>
        <p:nvSpPr>
          <p:cNvPr id="14" name="Shape 12"/>
          <p:cNvSpPr/>
          <p:nvPr/>
        </p:nvSpPr>
        <p:spPr>
          <a:xfrm>
            <a:off x="493142" y="2950294"/>
            <a:ext cx="8157716" cy="395957"/>
          </a:xfrm>
          <a:prstGeom prst="rect">
            <a:avLst/>
          </a:prstGeom>
          <a:solidFill>
            <a:srgbClr val="000000">
              <a:alpha val="4000"/>
            </a:srgbClr>
          </a:solidFill>
          <a:ln/>
        </p:spPr>
        <p:txBody>
          <a:bodyPr/>
          <a:lstStyle/>
          <a:p>
            <a:endParaRPr lang="en-IN"/>
          </a:p>
        </p:txBody>
      </p:sp>
      <p:sp>
        <p:nvSpPr>
          <p:cNvPr id="15" name="Text 13"/>
          <p:cNvSpPr/>
          <p:nvPr/>
        </p:nvSpPr>
        <p:spPr>
          <a:xfrm>
            <a:off x="615255" y="3027164"/>
            <a:ext cx="5644976" cy="242218"/>
          </a:xfrm>
          <a:prstGeom prst="rect">
            <a:avLst/>
          </a:prstGeom>
          <a:noFill/>
          <a:ln/>
        </p:spPr>
        <p:txBody>
          <a:bodyPr wrap="none" lIns="0" tIns="0" rIns="0" bIns="0" rtlCol="0" anchor="t"/>
          <a:lstStyle/>
          <a:p>
            <a:pPr marL="0" indent="0" algn="l">
              <a:lnSpc>
                <a:spcPts val="1900"/>
              </a:lnSpc>
              <a:buNone/>
            </a:pPr>
            <a:r>
              <a:rPr lang="en-US" sz="1200" dirty="0">
                <a:solidFill>
                  <a:srgbClr val="15213F"/>
                </a:solidFill>
                <a:latin typeface="Roboto" pitchFamily="34" charset="0"/>
                <a:ea typeface="Roboto" pitchFamily="34" charset="-122"/>
                <a:cs typeface="Roboto" pitchFamily="34" charset="-120"/>
              </a:rPr>
              <a:t>"That's just what I needed – another pop quiz." (said after a pop quiz is announced)</a:t>
            </a:r>
            <a:endParaRPr lang="en-US" sz="1200" dirty="0"/>
          </a:p>
        </p:txBody>
      </p:sp>
      <p:sp>
        <p:nvSpPr>
          <p:cNvPr id="16" name="Text 14"/>
          <p:cNvSpPr/>
          <p:nvPr/>
        </p:nvSpPr>
        <p:spPr>
          <a:xfrm>
            <a:off x="6509072" y="3027164"/>
            <a:ext cx="2019746" cy="242218"/>
          </a:xfrm>
          <a:prstGeom prst="rect">
            <a:avLst/>
          </a:prstGeom>
          <a:noFill/>
          <a:ln/>
        </p:spPr>
        <p:txBody>
          <a:bodyPr wrap="non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Sarcasm/irony</a:t>
            </a:r>
            <a:endParaRPr lang="en-US" sz="1200" dirty="0"/>
          </a:p>
        </p:txBody>
      </p:sp>
      <p:sp>
        <p:nvSpPr>
          <p:cNvPr id="17" name="Shape 15"/>
          <p:cNvSpPr/>
          <p:nvPr/>
        </p:nvSpPr>
        <p:spPr>
          <a:xfrm>
            <a:off x="493142" y="3346252"/>
            <a:ext cx="8157716" cy="638175"/>
          </a:xfrm>
          <a:prstGeom prst="rect">
            <a:avLst/>
          </a:prstGeom>
          <a:solidFill>
            <a:srgbClr val="FFFFFF">
              <a:alpha val="4000"/>
            </a:srgbClr>
          </a:solidFill>
          <a:ln/>
        </p:spPr>
        <p:txBody>
          <a:bodyPr/>
          <a:lstStyle/>
          <a:p>
            <a:endParaRPr lang="en-IN"/>
          </a:p>
        </p:txBody>
      </p:sp>
      <p:sp>
        <p:nvSpPr>
          <p:cNvPr id="18" name="Text 16"/>
          <p:cNvSpPr/>
          <p:nvPr/>
        </p:nvSpPr>
        <p:spPr>
          <a:xfrm>
            <a:off x="615255" y="3423121"/>
            <a:ext cx="5644976" cy="484436"/>
          </a:xfrm>
          <a:prstGeom prst="rect">
            <a:avLst/>
          </a:prstGeom>
          <a:noFill/>
          <a:ln/>
        </p:spPr>
        <p:txBody>
          <a:bodyPr wrap="square" lIns="0" tIns="0" rIns="0" bIns="0" rtlCol="0" anchor="t"/>
          <a:lstStyle/>
          <a:p>
            <a:pPr marL="0" indent="0" algn="l">
              <a:lnSpc>
                <a:spcPts val="1900"/>
              </a:lnSpc>
              <a:buNone/>
            </a:pPr>
            <a:r>
              <a:rPr lang="en-US" sz="1200" dirty="0">
                <a:solidFill>
                  <a:srgbClr val="15213F"/>
                </a:solidFill>
                <a:latin typeface="Roboto" pitchFamily="34" charset="0"/>
                <a:ea typeface="Roboto" pitchFamily="34" charset="-122"/>
                <a:cs typeface="Roboto" pitchFamily="34" charset="-120"/>
              </a:rPr>
              <a:t>A chatbot trained on American English tells a British user to "put your sweater in the trunk" (instead of "boot").</a:t>
            </a:r>
            <a:endParaRPr lang="en-US" sz="1200" dirty="0"/>
          </a:p>
        </p:txBody>
      </p:sp>
      <p:sp>
        <p:nvSpPr>
          <p:cNvPr id="19" name="Text 17"/>
          <p:cNvSpPr/>
          <p:nvPr/>
        </p:nvSpPr>
        <p:spPr>
          <a:xfrm>
            <a:off x="6509072" y="3423121"/>
            <a:ext cx="2019746" cy="242218"/>
          </a:xfrm>
          <a:prstGeom prst="rect">
            <a:avLst/>
          </a:prstGeom>
          <a:noFill/>
          <a:ln/>
        </p:spPr>
        <p:txBody>
          <a:bodyPr wrap="non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Cultural context</a:t>
            </a:r>
            <a:endParaRPr lang="en-US" sz="1200" dirty="0"/>
          </a:p>
        </p:txBody>
      </p:sp>
      <p:sp>
        <p:nvSpPr>
          <p:cNvPr id="20" name="Shape 18"/>
          <p:cNvSpPr/>
          <p:nvPr/>
        </p:nvSpPr>
        <p:spPr>
          <a:xfrm>
            <a:off x="493142" y="3984427"/>
            <a:ext cx="8157716" cy="638175"/>
          </a:xfrm>
          <a:prstGeom prst="rect">
            <a:avLst/>
          </a:prstGeom>
          <a:solidFill>
            <a:srgbClr val="000000">
              <a:alpha val="4000"/>
            </a:srgbClr>
          </a:solidFill>
          <a:ln/>
        </p:spPr>
        <p:txBody>
          <a:bodyPr/>
          <a:lstStyle/>
          <a:p>
            <a:endParaRPr lang="en-IN"/>
          </a:p>
        </p:txBody>
      </p:sp>
      <p:sp>
        <p:nvSpPr>
          <p:cNvPr id="21" name="Text 19"/>
          <p:cNvSpPr/>
          <p:nvPr/>
        </p:nvSpPr>
        <p:spPr>
          <a:xfrm>
            <a:off x="615255" y="4061296"/>
            <a:ext cx="5644976" cy="484436"/>
          </a:xfrm>
          <a:prstGeom prst="rect">
            <a:avLst/>
          </a:prstGeom>
          <a:noFill/>
          <a:ln/>
        </p:spPr>
        <p:txBody>
          <a:bodyPr wrap="square" lIns="0" tIns="0" rIns="0" bIns="0" rtlCol="0" anchor="t"/>
          <a:lstStyle/>
          <a:p>
            <a:pPr marL="0" indent="0" algn="l">
              <a:lnSpc>
                <a:spcPts val="1900"/>
              </a:lnSpc>
              <a:buNone/>
            </a:pPr>
            <a:r>
              <a:rPr lang="en-US" sz="1200" dirty="0">
                <a:solidFill>
                  <a:srgbClr val="15213F"/>
                </a:solidFill>
                <a:latin typeface="Roboto" pitchFamily="34" charset="0"/>
                <a:ea typeface="Roboto" pitchFamily="34" charset="-122"/>
                <a:cs typeface="Roboto" pitchFamily="34" charset="-120"/>
              </a:rPr>
              <a:t>An image captioning AI always labels people with darker skin as "cook" and lighter skin as "chef".</a:t>
            </a:r>
            <a:endParaRPr lang="en-US" sz="1200" dirty="0"/>
          </a:p>
        </p:txBody>
      </p:sp>
      <p:sp>
        <p:nvSpPr>
          <p:cNvPr id="22" name="Text 20"/>
          <p:cNvSpPr/>
          <p:nvPr/>
        </p:nvSpPr>
        <p:spPr>
          <a:xfrm>
            <a:off x="6509072" y="4061296"/>
            <a:ext cx="2019746" cy="242218"/>
          </a:xfrm>
          <a:prstGeom prst="rect">
            <a:avLst/>
          </a:prstGeom>
          <a:noFill/>
          <a:ln/>
        </p:spPr>
        <p:txBody>
          <a:bodyPr wrap="none" lIns="0" tIns="0" rIns="0" bIns="0" rtlCol="0" anchor="t"/>
          <a:lstStyle/>
          <a:p>
            <a:pPr marL="0" indent="0" algn="l">
              <a:lnSpc>
                <a:spcPts val="1900"/>
              </a:lnSpc>
              <a:buNone/>
            </a:pPr>
            <a:r>
              <a:rPr lang="en-US" sz="1200" b="1" dirty="0">
                <a:solidFill>
                  <a:srgbClr val="15213F"/>
                </a:solidFill>
                <a:latin typeface="Roboto" pitchFamily="34" charset="0"/>
                <a:ea typeface="Roboto" pitchFamily="34" charset="-122"/>
                <a:cs typeface="Roboto" pitchFamily="34" charset="-120"/>
              </a:rPr>
              <a:t>Bias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P spid="15" grpId="0" animBg="1"/>
      <p:bldP spid="16" grpId="0" animBg="1"/>
      <p:bldP spid="18" grpId="0" animBg="1"/>
      <p:bldP spid="19" grpId="0" animBg="1"/>
      <p:bldP spid="21" grpId="0" animBg="1"/>
      <p:bldP spid="2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512540"/>
            <a:ext cx="3231207"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NLP in the Real World</a:t>
            </a:r>
            <a:endParaRPr lang="en-US" sz="2400" dirty="0"/>
          </a:p>
        </p:txBody>
      </p:sp>
      <p:sp>
        <p:nvSpPr>
          <p:cNvPr id="3" name="Text 1"/>
          <p:cNvSpPr/>
          <p:nvPr/>
        </p:nvSpPr>
        <p:spPr>
          <a:xfrm>
            <a:off x="496119" y="2148111"/>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20" name="Group 19">
            <a:extLst>
              <a:ext uri="{FF2B5EF4-FFF2-40B4-BE49-F238E27FC236}">
                <a16:creationId xmlns:a16="http://schemas.microsoft.com/office/drawing/2014/main" id="{9003B03C-D2F5-9177-367B-E75BD5E0DC52}"/>
              </a:ext>
            </a:extLst>
          </p:cNvPr>
          <p:cNvGrpSpPr/>
          <p:nvPr/>
        </p:nvGrpSpPr>
        <p:grpSpPr>
          <a:xfrm>
            <a:off x="496119" y="2486099"/>
            <a:ext cx="1944960" cy="1144786"/>
            <a:chOff x="496119" y="2486099"/>
            <a:chExt cx="1944960" cy="1144786"/>
          </a:xfrm>
        </p:grpSpPr>
        <p:sp>
          <p:nvSpPr>
            <p:cNvPr id="4" name="Shape 2"/>
            <p:cNvSpPr/>
            <p:nvPr/>
          </p:nvSpPr>
          <p:spPr>
            <a:xfrm>
              <a:off x="496119" y="2486099"/>
              <a:ext cx="1944960" cy="1144786"/>
            </a:xfrm>
            <a:prstGeom prst="roundRect">
              <a:avLst>
                <a:gd name="adj" fmla="val 1625"/>
              </a:avLst>
            </a:prstGeom>
            <a:solidFill>
              <a:srgbClr val="FBFCFE"/>
            </a:solidFill>
            <a:ln w="14288">
              <a:solidFill>
                <a:srgbClr val="CFD2D8"/>
              </a:solidFill>
              <a:prstDash val="solid"/>
            </a:ln>
          </p:spPr>
          <p:txBody>
            <a:bodyPr/>
            <a:lstStyle/>
            <a:p>
              <a:endParaRPr lang="en-IN"/>
            </a:p>
          </p:txBody>
        </p:sp>
        <p:sp>
          <p:nvSpPr>
            <p:cNvPr id="5" name="Shape 3"/>
            <p:cNvSpPr/>
            <p:nvPr/>
          </p:nvSpPr>
          <p:spPr>
            <a:xfrm>
              <a:off x="510406" y="2500387"/>
              <a:ext cx="1916385" cy="372070"/>
            </a:xfrm>
            <a:prstGeom prst="roundRect">
              <a:avLst>
                <a:gd name="adj" fmla="val 393"/>
              </a:avLst>
            </a:prstGeom>
            <a:solidFill>
              <a:srgbClr val="E9ECF2"/>
            </a:solidFill>
            <a:ln/>
          </p:spPr>
          <p:txBody>
            <a:bodyPr/>
            <a:lstStyle/>
            <a:p>
              <a:endParaRPr lang="en-IN"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75544" y="2593330"/>
              <a:ext cx="186035" cy="186035"/>
            </a:xfrm>
            <a:prstGeom prst="rect">
              <a:avLst/>
            </a:prstGeom>
          </p:spPr>
        </p:pic>
        <p:sp>
          <p:nvSpPr>
            <p:cNvPr id="7" name="Text 4"/>
            <p:cNvSpPr/>
            <p:nvPr/>
          </p:nvSpPr>
          <p:spPr>
            <a:xfrm>
              <a:off x="634380" y="2996431"/>
              <a:ext cx="1668438" cy="248096"/>
            </a:xfrm>
            <a:prstGeom prst="rect">
              <a:avLst/>
            </a:prstGeom>
            <a:noFill/>
            <a:ln/>
          </p:spPr>
          <p:txBody>
            <a:bodyPr wrap="none" lIns="0" tIns="0" rIns="0" bIns="0" rtlCol="0" anchor="t"/>
            <a:lstStyle/>
            <a:p>
              <a:pPr marL="0" indent="0" algn="ctr">
                <a:lnSpc>
                  <a:spcPts val="1950"/>
                </a:lnSpc>
                <a:buNone/>
              </a:pPr>
              <a:r>
                <a:rPr lang="en-US" sz="1200" b="1" dirty="0">
                  <a:solidFill>
                    <a:srgbClr val="15213F"/>
                  </a:solidFill>
                  <a:latin typeface="Roboto" pitchFamily="34" charset="0"/>
                  <a:ea typeface="Roboto" pitchFamily="34" charset="-122"/>
                  <a:cs typeface="Roboto" pitchFamily="34" charset="-120"/>
                </a:rPr>
                <a:t>Grammar Checkers</a:t>
              </a:r>
              <a:endParaRPr lang="en-US" sz="1200" dirty="0"/>
            </a:p>
          </p:txBody>
        </p:sp>
      </p:grpSp>
      <p:grpSp>
        <p:nvGrpSpPr>
          <p:cNvPr id="21" name="Group 20">
            <a:extLst>
              <a:ext uri="{FF2B5EF4-FFF2-40B4-BE49-F238E27FC236}">
                <a16:creationId xmlns:a16="http://schemas.microsoft.com/office/drawing/2014/main" id="{D3B365D9-223B-96C8-2C05-679353627782}"/>
              </a:ext>
            </a:extLst>
          </p:cNvPr>
          <p:cNvGrpSpPr/>
          <p:nvPr/>
        </p:nvGrpSpPr>
        <p:grpSpPr>
          <a:xfrm>
            <a:off x="2565053" y="2486099"/>
            <a:ext cx="1944960" cy="1144786"/>
            <a:chOff x="2565053" y="2486099"/>
            <a:chExt cx="1944960" cy="1144786"/>
          </a:xfrm>
        </p:grpSpPr>
        <p:sp>
          <p:nvSpPr>
            <p:cNvPr id="8" name="Shape 5"/>
            <p:cNvSpPr/>
            <p:nvPr/>
          </p:nvSpPr>
          <p:spPr>
            <a:xfrm>
              <a:off x="2565053" y="2486099"/>
              <a:ext cx="1944960" cy="1144786"/>
            </a:xfrm>
            <a:prstGeom prst="roundRect">
              <a:avLst>
                <a:gd name="adj" fmla="val 1625"/>
              </a:avLst>
            </a:prstGeom>
            <a:solidFill>
              <a:srgbClr val="FBFCFE"/>
            </a:solidFill>
            <a:ln w="14288">
              <a:solidFill>
                <a:srgbClr val="CFD2D8"/>
              </a:solidFill>
              <a:prstDash val="solid"/>
            </a:ln>
          </p:spPr>
          <p:txBody>
            <a:bodyPr/>
            <a:lstStyle/>
            <a:p>
              <a:endParaRPr lang="en-IN"/>
            </a:p>
          </p:txBody>
        </p:sp>
        <p:sp>
          <p:nvSpPr>
            <p:cNvPr id="9" name="Shape 6"/>
            <p:cNvSpPr/>
            <p:nvPr/>
          </p:nvSpPr>
          <p:spPr>
            <a:xfrm>
              <a:off x="2579340" y="2500387"/>
              <a:ext cx="1916385" cy="372070"/>
            </a:xfrm>
            <a:prstGeom prst="roundRect">
              <a:avLst>
                <a:gd name="adj" fmla="val 393"/>
              </a:avLst>
            </a:prstGeom>
            <a:solidFill>
              <a:srgbClr val="E9ECF2"/>
            </a:solidFill>
            <a:ln/>
          </p:spPr>
          <p:txBody>
            <a:bodyPr/>
            <a:lstStyle/>
            <a:p>
              <a:endParaRPr lang="en-IN"/>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44478" y="2593330"/>
              <a:ext cx="186035" cy="186035"/>
            </a:xfrm>
            <a:prstGeom prst="rect">
              <a:avLst/>
            </a:prstGeom>
          </p:spPr>
        </p:pic>
        <p:sp>
          <p:nvSpPr>
            <p:cNvPr id="11" name="Text 7"/>
            <p:cNvSpPr/>
            <p:nvPr/>
          </p:nvSpPr>
          <p:spPr>
            <a:xfrm>
              <a:off x="2703314" y="2996431"/>
              <a:ext cx="1668438" cy="496193"/>
            </a:xfrm>
            <a:prstGeom prst="rect">
              <a:avLst/>
            </a:prstGeom>
            <a:noFill/>
            <a:ln/>
          </p:spPr>
          <p:txBody>
            <a:bodyPr wrap="square" lIns="0" tIns="0" rIns="0" bIns="0" rtlCol="0" anchor="t"/>
            <a:lstStyle/>
            <a:p>
              <a:pPr marL="0" indent="0" algn="ctr">
                <a:lnSpc>
                  <a:spcPts val="1950"/>
                </a:lnSpc>
                <a:buNone/>
              </a:pPr>
              <a:r>
                <a:rPr lang="en-US" sz="1200" b="1" dirty="0">
                  <a:solidFill>
                    <a:srgbClr val="15213F"/>
                  </a:solidFill>
                  <a:latin typeface="Roboto" pitchFamily="34" charset="0"/>
                  <a:ea typeface="Roboto" pitchFamily="34" charset="-122"/>
                  <a:cs typeface="Roboto" pitchFamily="34" charset="-120"/>
                </a:rPr>
                <a:t>Customer Support Chatbots</a:t>
              </a:r>
              <a:endParaRPr lang="en-US" sz="1200" dirty="0"/>
            </a:p>
          </p:txBody>
        </p:sp>
      </p:grpSp>
      <p:grpSp>
        <p:nvGrpSpPr>
          <p:cNvPr id="23" name="Group 22">
            <a:extLst>
              <a:ext uri="{FF2B5EF4-FFF2-40B4-BE49-F238E27FC236}">
                <a16:creationId xmlns:a16="http://schemas.microsoft.com/office/drawing/2014/main" id="{F132AB35-8A1C-CAD3-2AD4-54544B4AE2AF}"/>
              </a:ext>
            </a:extLst>
          </p:cNvPr>
          <p:cNvGrpSpPr/>
          <p:nvPr/>
        </p:nvGrpSpPr>
        <p:grpSpPr>
          <a:xfrm>
            <a:off x="4633987" y="2486099"/>
            <a:ext cx="1944960" cy="1144786"/>
            <a:chOff x="4633987" y="2486099"/>
            <a:chExt cx="1944960" cy="1144786"/>
          </a:xfrm>
        </p:grpSpPr>
        <p:sp>
          <p:nvSpPr>
            <p:cNvPr id="12" name="Shape 8"/>
            <p:cNvSpPr/>
            <p:nvPr/>
          </p:nvSpPr>
          <p:spPr>
            <a:xfrm>
              <a:off x="4633987" y="2486099"/>
              <a:ext cx="1944960" cy="1144786"/>
            </a:xfrm>
            <a:prstGeom prst="roundRect">
              <a:avLst>
                <a:gd name="adj" fmla="val 1625"/>
              </a:avLst>
            </a:prstGeom>
            <a:solidFill>
              <a:srgbClr val="FBFCFE"/>
            </a:solidFill>
            <a:ln w="14288">
              <a:solidFill>
                <a:srgbClr val="CFD2D8"/>
              </a:solidFill>
              <a:prstDash val="solid"/>
            </a:ln>
          </p:spPr>
          <p:txBody>
            <a:bodyPr/>
            <a:lstStyle/>
            <a:p>
              <a:endParaRPr lang="en-IN"/>
            </a:p>
          </p:txBody>
        </p:sp>
        <p:grpSp>
          <p:nvGrpSpPr>
            <p:cNvPr id="22" name="Group 21">
              <a:extLst>
                <a:ext uri="{FF2B5EF4-FFF2-40B4-BE49-F238E27FC236}">
                  <a16:creationId xmlns:a16="http://schemas.microsoft.com/office/drawing/2014/main" id="{159428F7-A8DB-03DC-E812-E69617DAF882}"/>
                </a:ext>
              </a:extLst>
            </p:cNvPr>
            <p:cNvGrpSpPr/>
            <p:nvPr/>
          </p:nvGrpSpPr>
          <p:grpSpPr>
            <a:xfrm>
              <a:off x="4648274" y="2500387"/>
              <a:ext cx="1916385" cy="744140"/>
              <a:chOff x="4648274" y="2500387"/>
              <a:chExt cx="1916385" cy="744140"/>
            </a:xfrm>
          </p:grpSpPr>
          <p:sp>
            <p:nvSpPr>
              <p:cNvPr id="13" name="Shape 9"/>
              <p:cNvSpPr/>
              <p:nvPr/>
            </p:nvSpPr>
            <p:spPr>
              <a:xfrm>
                <a:off x="4648274" y="2500387"/>
                <a:ext cx="1916385" cy="372070"/>
              </a:xfrm>
              <a:prstGeom prst="roundRect">
                <a:avLst>
                  <a:gd name="adj" fmla="val 393"/>
                </a:avLst>
              </a:prstGeom>
              <a:solidFill>
                <a:srgbClr val="E9ECF2"/>
              </a:solidFill>
              <a:ln/>
            </p:spPr>
            <p:txBody>
              <a:bodyPr/>
              <a:lstStyle/>
              <a:p>
                <a:endParaRPr lang="en-IN" dirty="0"/>
              </a:p>
            </p:txBody>
          </p:sp>
          <p:pic>
            <p:nvPicPr>
              <p:cNvPr id="1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13412" y="2593330"/>
                <a:ext cx="186035" cy="186035"/>
              </a:xfrm>
              <a:prstGeom prst="rect">
                <a:avLst/>
              </a:prstGeom>
            </p:spPr>
          </p:pic>
          <p:sp>
            <p:nvSpPr>
              <p:cNvPr id="15" name="Text 10"/>
              <p:cNvSpPr/>
              <p:nvPr/>
            </p:nvSpPr>
            <p:spPr>
              <a:xfrm>
                <a:off x="4772248" y="2996431"/>
                <a:ext cx="1668438" cy="248096"/>
              </a:xfrm>
              <a:prstGeom prst="rect">
                <a:avLst/>
              </a:prstGeom>
              <a:noFill/>
              <a:ln/>
            </p:spPr>
            <p:txBody>
              <a:bodyPr wrap="none" lIns="0" tIns="0" rIns="0" bIns="0" rtlCol="0" anchor="t"/>
              <a:lstStyle/>
              <a:p>
                <a:pPr marL="0" indent="0" algn="ctr">
                  <a:lnSpc>
                    <a:spcPts val="1950"/>
                  </a:lnSpc>
                  <a:buNone/>
                </a:pPr>
                <a:r>
                  <a:rPr lang="en-US" sz="1200" b="1" dirty="0">
                    <a:solidFill>
                      <a:srgbClr val="15213F"/>
                    </a:solidFill>
                    <a:latin typeface="Roboto" pitchFamily="34" charset="0"/>
                    <a:ea typeface="Roboto" pitchFamily="34" charset="-122"/>
                    <a:cs typeface="Roboto" pitchFamily="34" charset="-120"/>
                  </a:rPr>
                  <a:t>Smart Reply in Email</a:t>
                </a:r>
                <a:endParaRPr lang="en-US" sz="1200" dirty="0"/>
              </a:p>
            </p:txBody>
          </p:sp>
        </p:grpSp>
      </p:grpSp>
      <p:grpSp>
        <p:nvGrpSpPr>
          <p:cNvPr id="24" name="Group 23">
            <a:extLst>
              <a:ext uri="{FF2B5EF4-FFF2-40B4-BE49-F238E27FC236}">
                <a16:creationId xmlns:a16="http://schemas.microsoft.com/office/drawing/2014/main" id="{41367972-EFCB-50C7-1362-198401267DE4}"/>
              </a:ext>
            </a:extLst>
          </p:cNvPr>
          <p:cNvGrpSpPr/>
          <p:nvPr/>
        </p:nvGrpSpPr>
        <p:grpSpPr>
          <a:xfrm>
            <a:off x="6702921" y="2486099"/>
            <a:ext cx="1944960" cy="1144786"/>
            <a:chOff x="6702921" y="2486099"/>
            <a:chExt cx="1944960" cy="1144786"/>
          </a:xfrm>
        </p:grpSpPr>
        <p:sp>
          <p:nvSpPr>
            <p:cNvPr id="16" name="Shape 11"/>
            <p:cNvSpPr/>
            <p:nvPr/>
          </p:nvSpPr>
          <p:spPr>
            <a:xfrm>
              <a:off x="6702921" y="2486099"/>
              <a:ext cx="1944960" cy="1144786"/>
            </a:xfrm>
            <a:prstGeom prst="roundRect">
              <a:avLst>
                <a:gd name="adj" fmla="val 1625"/>
              </a:avLst>
            </a:prstGeom>
            <a:solidFill>
              <a:srgbClr val="FBFCFE"/>
            </a:solidFill>
            <a:ln w="14288">
              <a:solidFill>
                <a:srgbClr val="CFD2D8"/>
              </a:solidFill>
              <a:prstDash val="solid"/>
            </a:ln>
          </p:spPr>
          <p:txBody>
            <a:bodyPr/>
            <a:lstStyle/>
            <a:p>
              <a:endParaRPr lang="en-IN"/>
            </a:p>
          </p:txBody>
        </p:sp>
        <p:sp>
          <p:nvSpPr>
            <p:cNvPr id="17" name="Shape 12"/>
            <p:cNvSpPr/>
            <p:nvPr/>
          </p:nvSpPr>
          <p:spPr>
            <a:xfrm>
              <a:off x="6717209" y="2500387"/>
              <a:ext cx="1916385" cy="372070"/>
            </a:xfrm>
            <a:prstGeom prst="roundRect">
              <a:avLst>
                <a:gd name="adj" fmla="val 393"/>
              </a:avLst>
            </a:prstGeom>
            <a:solidFill>
              <a:srgbClr val="E9ECF2"/>
            </a:solidFill>
            <a:ln/>
          </p:spPr>
          <p:txBody>
            <a:bodyPr/>
            <a:lstStyle/>
            <a:p>
              <a:endParaRPr lang="en-IN"/>
            </a:p>
          </p:txBody>
        </p:sp>
        <p:pic>
          <p:nvPicPr>
            <p:cNvPr id="1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582346" y="2593330"/>
              <a:ext cx="186035" cy="186035"/>
            </a:xfrm>
            <a:prstGeom prst="rect">
              <a:avLst/>
            </a:prstGeom>
          </p:spPr>
        </p:pic>
        <p:sp>
          <p:nvSpPr>
            <p:cNvPr id="19" name="Text 13"/>
            <p:cNvSpPr/>
            <p:nvPr/>
          </p:nvSpPr>
          <p:spPr>
            <a:xfrm>
              <a:off x="6841182" y="2996431"/>
              <a:ext cx="1668438" cy="496193"/>
            </a:xfrm>
            <a:prstGeom prst="rect">
              <a:avLst/>
            </a:prstGeom>
            <a:noFill/>
            <a:ln/>
          </p:spPr>
          <p:txBody>
            <a:bodyPr wrap="square" lIns="0" tIns="0" rIns="0" bIns="0" rtlCol="0" anchor="t"/>
            <a:lstStyle/>
            <a:p>
              <a:pPr marL="0" indent="0" algn="ctr">
                <a:lnSpc>
                  <a:spcPts val="1950"/>
                </a:lnSpc>
                <a:buNone/>
              </a:pPr>
              <a:r>
                <a:rPr lang="en-US" sz="1200" b="1" dirty="0">
                  <a:solidFill>
                    <a:srgbClr val="15213F"/>
                  </a:solidFill>
                  <a:latin typeface="Roboto" pitchFamily="34" charset="0"/>
                  <a:ea typeface="Roboto" pitchFamily="34" charset="-122"/>
                  <a:cs typeface="Roboto" pitchFamily="34" charset="-120"/>
                </a:rPr>
                <a:t>Voice Search on Smart Speakers</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96119" y="804267"/>
            <a:ext cx="3308300"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NLP in the Real World </a:t>
            </a:r>
            <a:endParaRPr lang="en-US" sz="2400" dirty="0"/>
          </a:p>
        </p:txBody>
      </p:sp>
      <p:sp>
        <p:nvSpPr>
          <p:cNvPr id="3" name="Text 1"/>
          <p:cNvSpPr/>
          <p:nvPr/>
        </p:nvSpPr>
        <p:spPr>
          <a:xfrm>
            <a:off x="496119" y="1439838"/>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20" name="Group 19">
            <a:extLst>
              <a:ext uri="{FF2B5EF4-FFF2-40B4-BE49-F238E27FC236}">
                <a16:creationId xmlns:a16="http://schemas.microsoft.com/office/drawing/2014/main" id="{C2615A03-4532-C273-EE51-734A31D898E1}"/>
              </a:ext>
            </a:extLst>
          </p:cNvPr>
          <p:cNvGrpSpPr/>
          <p:nvPr/>
        </p:nvGrpSpPr>
        <p:grpSpPr>
          <a:xfrm>
            <a:off x="496119" y="1777826"/>
            <a:ext cx="3998341" cy="263574"/>
            <a:chOff x="496119" y="1777826"/>
            <a:chExt cx="3998341" cy="263574"/>
          </a:xfrm>
        </p:grpSpPr>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777826"/>
              <a:ext cx="248022" cy="248022"/>
            </a:xfrm>
            <a:prstGeom prst="rect">
              <a:avLst/>
            </a:prstGeom>
          </p:spPr>
        </p:pic>
        <p:sp>
          <p:nvSpPr>
            <p:cNvPr id="5" name="Text 2"/>
            <p:cNvSpPr/>
            <p:nvPr/>
          </p:nvSpPr>
          <p:spPr>
            <a:xfrm>
              <a:off x="899145" y="1793304"/>
              <a:ext cx="359531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Plagiarism Detection</a:t>
              </a:r>
              <a:endParaRPr lang="en-US" sz="1200" dirty="0"/>
            </a:p>
          </p:txBody>
        </p:sp>
      </p:grpSp>
      <p:sp>
        <p:nvSpPr>
          <p:cNvPr id="6" name="Text 3"/>
          <p:cNvSpPr/>
          <p:nvPr/>
        </p:nvSpPr>
        <p:spPr>
          <a:xfrm>
            <a:off x="899145" y="2115815"/>
            <a:ext cx="359531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e.g., Turnitin</a:t>
            </a:r>
            <a:r>
              <a:rPr lang="en-US" sz="1200" dirty="0">
                <a:solidFill>
                  <a:srgbClr val="15213F"/>
                </a:solidFill>
                <a:latin typeface="Roboto" pitchFamily="34" charset="0"/>
                <a:ea typeface="Roboto" pitchFamily="34" charset="-122"/>
                <a:cs typeface="Roboto" pitchFamily="34" charset="-120"/>
              </a:rPr>
              <a:t> - </a:t>
            </a:r>
            <a:r>
              <a:rPr lang="en-US" sz="1200" i="1" dirty="0">
                <a:solidFill>
                  <a:srgbClr val="15213F"/>
                </a:solidFill>
                <a:latin typeface="Roboto" pitchFamily="34" charset="0"/>
                <a:ea typeface="Roboto" pitchFamily="34" charset="-122"/>
                <a:cs typeface="Roboto" pitchFamily="34" charset="-120"/>
              </a:rPr>
              <a:t>Text matching, tokenization</a:t>
            </a:r>
            <a:endParaRPr lang="en-US" sz="1200" dirty="0"/>
          </a:p>
        </p:txBody>
      </p:sp>
      <p:sp>
        <p:nvSpPr>
          <p:cNvPr id="7" name="Text 4"/>
          <p:cNvSpPr/>
          <p:nvPr/>
        </p:nvSpPr>
        <p:spPr>
          <a:xfrm>
            <a:off x="899145" y="2438326"/>
            <a:ext cx="3595315"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Compares student essays against billions of web pages</a:t>
            </a:r>
            <a:endParaRPr lang="en-US" sz="1200" dirty="0"/>
          </a:p>
        </p:txBody>
      </p:sp>
      <p:grpSp>
        <p:nvGrpSpPr>
          <p:cNvPr id="21" name="Group 20">
            <a:extLst>
              <a:ext uri="{FF2B5EF4-FFF2-40B4-BE49-F238E27FC236}">
                <a16:creationId xmlns:a16="http://schemas.microsoft.com/office/drawing/2014/main" id="{ED7E56E1-2880-ABEB-9495-774B75663BB5}"/>
              </a:ext>
            </a:extLst>
          </p:cNvPr>
          <p:cNvGrpSpPr/>
          <p:nvPr/>
        </p:nvGrpSpPr>
        <p:grpSpPr>
          <a:xfrm>
            <a:off x="4649465" y="1777826"/>
            <a:ext cx="3998417" cy="263574"/>
            <a:chOff x="4649465" y="1777826"/>
            <a:chExt cx="3998417" cy="263574"/>
          </a:xfrm>
        </p:grpSpPr>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9465" y="1777826"/>
              <a:ext cx="248022" cy="248022"/>
            </a:xfrm>
            <a:prstGeom prst="rect">
              <a:avLst/>
            </a:prstGeom>
          </p:spPr>
        </p:pic>
        <p:sp>
          <p:nvSpPr>
            <p:cNvPr id="9" name="Text 5"/>
            <p:cNvSpPr/>
            <p:nvPr/>
          </p:nvSpPr>
          <p:spPr>
            <a:xfrm>
              <a:off x="5052492" y="1793304"/>
              <a:ext cx="35953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Medical Record Analysis</a:t>
              </a:r>
              <a:endParaRPr lang="en-US" sz="1200" dirty="0"/>
            </a:p>
          </p:txBody>
        </p:sp>
      </p:grpSp>
      <p:sp>
        <p:nvSpPr>
          <p:cNvPr id="10" name="Text 6"/>
          <p:cNvSpPr/>
          <p:nvPr/>
        </p:nvSpPr>
        <p:spPr>
          <a:xfrm>
            <a:off x="5052492" y="2115815"/>
            <a:ext cx="3595390"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NER, classification</a:t>
            </a:r>
            <a:endParaRPr lang="en-US" sz="1200" dirty="0"/>
          </a:p>
        </p:txBody>
      </p:sp>
      <p:sp>
        <p:nvSpPr>
          <p:cNvPr id="11" name="Text 7"/>
          <p:cNvSpPr/>
          <p:nvPr/>
        </p:nvSpPr>
        <p:spPr>
          <a:xfrm>
            <a:off x="5052492" y="2438326"/>
            <a:ext cx="3595390"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Extracts </a:t>
            </a:r>
            <a:r>
              <a:rPr lang="en-US" sz="1200" b="1" dirty="0">
                <a:solidFill>
                  <a:srgbClr val="15213F"/>
                </a:solidFill>
                <a:latin typeface="Roboto" pitchFamily="34" charset="0"/>
                <a:ea typeface="Roboto" pitchFamily="34" charset="-122"/>
                <a:cs typeface="Roboto" pitchFamily="34" charset="-120"/>
              </a:rPr>
              <a:t>"patient name"</a:t>
            </a:r>
            <a:r>
              <a:rPr lang="en-US" sz="1200" dirty="0">
                <a:solidFill>
                  <a:srgbClr val="15213F"/>
                </a:solidFill>
                <a:latin typeface="Roboto" pitchFamily="34" charset="0"/>
                <a:ea typeface="Roboto" pitchFamily="34" charset="-122"/>
                <a:cs typeface="Roboto" pitchFamily="34" charset="-120"/>
              </a:rPr>
              <a:t>, </a:t>
            </a:r>
            <a:r>
              <a:rPr lang="en-US" sz="1200" b="1" dirty="0">
                <a:solidFill>
                  <a:srgbClr val="15213F"/>
                </a:solidFill>
                <a:latin typeface="Roboto" pitchFamily="34" charset="0"/>
                <a:ea typeface="Roboto" pitchFamily="34" charset="-122"/>
                <a:cs typeface="Roboto" pitchFamily="34" charset="-120"/>
              </a:rPr>
              <a:t>"diagnosis"</a:t>
            </a:r>
            <a:r>
              <a:rPr lang="en-US" sz="1200" dirty="0">
                <a:solidFill>
                  <a:srgbClr val="15213F"/>
                </a:solidFill>
                <a:latin typeface="Roboto" pitchFamily="34" charset="0"/>
                <a:ea typeface="Roboto" pitchFamily="34" charset="-122"/>
                <a:cs typeface="Roboto" pitchFamily="34" charset="-120"/>
              </a:rPr>
              <a:t>, </a:t>
            </a:r>
            <a:r>
              <a:rPr lang="en-US" sz="1200" b="1" dirty="0">
                <a:solidFill>
                  <a:srgbClr val="15213F"/>
                </a:solidFill>
                <a:latin typeface="Roboto" pitchFamily="34" charset="0"/>
                <a:ea typeface="Roboto" pitchFamily="34" charset="-122"/>
                <a:cs typeface="Roboto" pitchFamily="34" charset="-120"/>
              </a:rPr>
              <a:t>"medication"</a:t>
            </a:r>
            <a:r>
              <a:rPr lang="en-US" sz="1200" dirty="0">
                <a:solidFill>
                  <a:srgbClr val="15213F"/>
                </a:solidFill>
                <a:latin typeface="Roboto" pitchFamily="34" charset="0"/>
                <a:ea typeface="Roboto" pitchFamily="34" charset="-122"/>
                <a:cs typeface="Roboto" pitchFamily="34" charset="-120"/>
              </a:rPr>
              <a:t> from doctor's notes</a:t>
            </a:r>
            <a:endParaRPr lang="en-US" sz="1200" dirty="0"/>
          </a:p>
        </p:txBody>
      </p:sp>
      <p:grpSp>
        <p:nvGrpSpPr>
          <p:cNvPr id="22" name="Group 21">
            <a:extLst>
              <a:ext uri="{FF2B5EF4-FFF2-40B4-BE49-F238E27FC236}">
                <a16:creationId xmlns:a16="http://schemas.microsoft.com/office/drawing/2014/main" id="{2859CF3D-2482-3205-8577-59A7A669F5DE}"/>
              </a:ext>
            </a:extLst>
          </p:cNvPr>
          <p:cNvGrpSpPr/>
          <p:nvPr/>
        </p:nvGrpSpPr>
        <p:grpSpPr>
          <a:xfrm>
            <a:off x="496119" y="3182541"/>
            <a:ext cx="3998341" cy="263574"/>
            <a:chOff x="496119" y="3182541"/>
            <a:chExt cx="3998341" cy="263574"/>
          </a:xfrm>
        </p:grpSpPr>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182541"/>
              <a:ext cx="248022" cy="248022"/>
            </a:xfrm>
            <a:prstGeom prst="rect">
              <a:avLst/>
            </a:prstGeom>
          </p:spPr>
        </p:pic>
        <p:sp>
          <p:nvSpPr>
            <p:cNvPr id="13" name="Text 8"/>
            <p:cNvSpPr/>
            <p:nvPr/>
          </p:nvSpPr>
          <p:spPr>
            <a:xfrm>
              <a:off x="899145" y="3198019"/>
              <a:ext cx="359531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Social Media Moderation</a:t>
              </a:r>
              <a:endParaRPr lang="en-US" sz="1200" dirty="0"/>
            </a:p>
          </p:txBody>
        </p:sp>
      </p:grpSp>
      <p:sp>
        <p:nvSpPr>
          <p:cNvPr id="14" name="Text 9"/>
          <p:cNvSpPr/>
          <p:nvPr/>
        </p:nvSpPr>
        <p:spPr>
          <a:xfrm>
            <a:off x="899145" y="3520529"/>
            <a:ext cx="3595315"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Sentiment analysis, classification</a:t>
            </a:r>
            <a:endParaRPr lang="en-US" sz="1200" dirty="0"/>
          </a:p>
        </p:txBody>
      </p:sp>
      <p:sp>
        <p:nvSpPr>
          <p:cNvPr id="15" name="Text 10"/>
          <p:cNvSpPr/>
          <p:nvPr/>
        </p:nvSpPr>
        <p:spPr>
          <a:xfrm>
            <a:off x="899145" y="3843040"/>
            <a:ext cx="3595315"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Flags a comment containing hate speech or bullying</a:t>
            </a:r>
            <a:endParaRPr lang="en-US" sz="1200" dirty="0"/>
          </a:p>
        </p:txBody>
      </p:sp>
      <p:grpSp>
        <p:nvGrpSpPr>
          <p:cNvPr id="23" name="Group 22">
            <a:extLst>
              <a:ext uri="{FF2B5EF4-FFF2-40B4-BE49-F238E27FC236}">
                <a16:creationId xmlns:a16="http://schemas.microsoft.com/office/drawing/2014/main" id="{C794C18B-2A31-3ADB-B052-4C158DC09CBC}"/>
              </a:ext>
            </a:extLst>
          </p:cNvPr>
          <p:cNvGrpSpPr/>
          <p:nvPr/>
        </p:nvGrpSpPr>
        <p:grpSpPr>
          <a:xfrm>
            <a:off x="4649465" y="3182541"/>
            <a:ext cx="3998417" cy="263574"/>
            <a:chOff x="4649465" y="3182541"/>
            <a:chExt cx="3998417" cy="263574"/>
          </a:xfrm>
        </p:grpSpPr>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49465" y="3182541"/>
              <a:ext cx="248022" cy="248022"/>
            </a:xfrm>
            <a:prstGeom prst="rect">
              <a:avLst/>
            </a:prstGeom>
          </p:spPr>
        </p:pic>
        <p:sp>
          <p:nvSpPr>
            <p:cNvPr id="17" name="Text 11"/>
            <p:cNvSpPr/>
            <p:nvPr/>
          </p:nvSpPr>
          <p:spPr>
            <a:xfrm>
              <a:off x="5052492" y="3198019"/>
              <a:ext cx="35953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Personalised News Feed</a:t>
              </a:r>
              <a:endParaRPr lang="en-US" sz="1200" dirty="0"/>
            </a:p>
          </p:txBody>
        </p:sp>
      </p:grpSp>
      <p:sp>
        <p:nvSpPr>
          <p:cNvPr id="18" name="Text 12"/>
          <p:cNvSpPr/>
          <p:nvPr/>
        </p:nvSpPr>
        <p:spPr>
          <a:xfrm>
            <a:off x="5052492" y="3520529"/>
            <a:ext cx="3595390"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Text classification, summarisation</a:t>
            </a:r>
            <a:endParaRPr lang="en-US" sz="1200" dirty="0"/>
          </a:p>
        </p:txBody>
      </p:sp>
      <p:sp>
        <p:nvSpPr>
          <p:cNvPr id="19" name="Text 13"/>
          <p:cNvSpPr/>
          <p:nvPr/>
        </p:nvSpPr>
        <p:spPr>
          <a:xfrm>
            <a:off x="5052492" y="3843040"/>
            <a:ext cx="3595390"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Groups articles by topic (sports, politics, tech) and shows you a summary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4" grpId="0" animBg="1"/>
      <p:bldP spid="15" grpId="0" animBg="1"/>
      <p:bldP spid="18" grpId="0" animBg="1"/>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425997"/>
            <a:ext cx="4251127"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Hands‑On Activity: </a:t>
            </a:r>
            <a:endParaRPr lang="en-US" sz="2400" dirty="0"/>
          </a:p>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Perform Common NLP Tasks</a:t>
            </a:r>
            <a:endParaRPr lang="en-US" sz="2400" dirty="0"/>
          </a:p>
        </p:txBody>
      </p:sp>
      <p:sp>
        <p:nvSpPr>
          <p:cNvPr id="4" name="Text 1"/>
          <p:cNvSpPr/>
          <p:nvPr/>
        </p:nvSpPr>
        <p:spPr>
          <a:xfrm>
            <a:off x="3925119" y="2387129"/>
            <a:ext cx="4722763" cy="992386"/>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Goal:</a:t>
            </a:r>
            <a:r>
              <a:rPr lang="en-US" sz="1200" dirty="0">
                <a:solidFill>
                  <a:srgbClr val="15213F"/>
                </a:solidFill>
                <a:latin typeface="Roboto" pitchFamily="34" charset="0"/>
                <a:ea typeface="Roboto" pitchFamily="34" charset="-122"/>
                <a:cs typeface="Roboto" pitchFamily="34" charset="-120"/>
              </a:rPr>
              <a:t> Perform five common NLP tasks using the tools we've focused on: </a:t>
            </a:r>
            <a:r>
              <a:rPr lang="en-US" sz="1200" b="1" dirty="0">
                <a:solidFill>
                  <a:srgbClr val="15213F"/>
                </a:solidFill>
                <a:latin typeface="Roboto" pitchFamily="34" charset="0"/>
                <a:ea typeface="Roboto" pitchFamily="34" charset="-122"/>
                <a:cs typeface="Roboto" pitchFamily="34" charset="-120"/>
              </a:rPr>
              <a:t>QuillBot, Google Translate, ChatGPT/Gemini, and </a:t>
            </a:r>
            <a:r>
              <a:rPr lang="en-US" sz="1200" b="1" dirty="0" err="1">
                <a:solidFill>
                  <a:srgbClr val="15213F"/>
                </a:solidFill>
                <a:latin typeface="Roboto" pitchFamily="34" charset="0"/>
                <a:ea typeface="Roboto" pitchFamily="34" charset="-122"/>
                <a:cs typeface="Roboto" pitchFamily="34" charset="-120"/>
              </a:rPr>
              <a:t>NotebookLM</a:t>
            </a:r>
            <a:r>
              <a:rPr lang="en-US" sz="1200" dirty="0">
                <a:solidFill>
                  <a:srgbClr val="15213F"/>
                </a:solidFill>
                <a:latin typeface="Roboto" pitchFamily="34" charset="0"/>
                <a:ea typeface="Roboto" pitchFamily="34" charset="-122"/>
                <a:cs typeface="Roboto" pitchFamily="34" charset="-120"/>
              </a:rPr>
              <a:t>.</a:t>
            </a:r>
          </a:p>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You'll experience sentiment analysis, translation, summarisation, paraphrasing, and named entity recognition.</a:t>
            </a:r>
            <a:endParaRPr lang="en-US" sz="1200" dirty="0"/>
          </a:p>
        </p:txBody>
      </p:sp>
      <p:sp>
        <p:nvSpPr>
          <p:cNvPr id="5" name="Text 2"/>
          <p:cNvSpPr/>
          <p:nvPr/>
        </p:nvSpPr>
        <p:spPr>
          <a:xfrm>
            <a:off x="3925119" y="3519041"/>
            <a:ext cx="4722763" cy="198462"/>
          </a:xfrm>
          <a:prstGeom prst="rect">
            <a:avLst/>
          </a:prstGeom>
          <a:noFill/>
          <a:ln/>
        </p:spPr>
        <p:txBody>
          <a:bodyPr wrap="none" lIns="0" tIns="0" rIns="0" bIns="0" rtlCol="0" anchor="t"/>
          <a:lstStyle/>
          <a:p>
            <a:pPr marL="0" indent="0" algn="l">
              <a:lnSpc>
                <a:spcPts val="1550"/>
              </a:lnSpc>
              <a:buNone/>
            </a:pP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96119" y="712812"/>
            <a:ext cx="7106171"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Hands‑On Activity: Perform Common NLP Tasks</a:t>
            </a:r>
            <a:endParaRPr lang="en-US" sz="24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2412" y="1574602"/>
            <a:ext cx="167432" cy="167432"/>
          </a:xfrm>
          <a:prstGeom prst="rect">
            <a:avLst/>
          </a:prstGeom>
        </p:spPr>
      </p:pic>
      <p:grpSp>
        <p:nvGrpSpPr>
          <p:cNvPr id="25" name="Group 24">
            <a:extLst>
              <a:ext uri="{FF2B5EF4-FFF2-40B4-BE49-F238E27FC236}">
                <a16:creationId xmlns:a16="http://schemas.microsoft.com/office/drawing/2014/main" id="{F1159585-7663-AC95-1A4A-49AFBAF1F8B3}"/>
              </a:ext>
            </a:extLst>
          </p:cNvPr>
          <p:cNvGrpSpPr/>
          <p:nvPr/>
        </p:nvGrpSpPr>
        <p:grpSpPr>
          <a:xfrm>
            <a:off x="496119" y="1348383"/>
            <a:ext cx="1944960" cy="1562695"/>
            <a:chOff x="496119" y="1348383"/>
            <a:chExt cx="1944960" cy="1562695"/>
          </a:xfrm>
        </p:grpSpPr>
        <p:sp>
          <p:nvSpPr>
            <p:cNvPr id="3" name="Shape 1"/>
            <p:cNvSpPr/>
            <p:nvPr/>
          </p:nvSpPr>
          <p:spPr>
            <a:xfrm>
              <a:off x="496119" y="1348383"/>
              <a:ext cx="1944960" cy="1562695"/>
            </a:xfrm>
            <a:prstGeom prst="roundRect">
              <a:avLst>
                <a:gd name="adj" fmla="val 1191"/>
              </a:avLst>
            </a:prstGeom>
            <a:solidFill>
              <a:srgbClr val="E9ECF2"/>
            </a:solidFill>
            <a:ln/>
          </p:spPr>
          <p:txBody>
            <a:bodyPr/>
            <a:lstStyle/>
            <a:p>
              <a:endParaRPr lang="en-IN"/>
            </a:p>
          </p:txBody>
        </p:sp>
        <p:pic>
          <p:nvPicPr>
            <p:cNvPr id="4" name="Image 0" descr="preencoded.png"/>
            <p:cNvPicPr>
              <a:picLocks noChangeAspect="1"/>
            </p:cNvPicPr>
            <p:nvPr/>
          </p:nvPicPr>
          <p:blipFill>
            <a:blip r:embed="rId4"/>
            <a:stretch>
              <a:fillRect/>
            </a:stretch>
          </p:blipFill>
          <p:spPr>
            <a:xfrm>
              <a:off x="620092" y="1472357"/>
              <a:ext cx="372070" cy="372070"/>
            </a:xfrm>
            <a:prstGeom prst="rect">
              <a:avLst/>
            </a:prstGeom>
          </p:spPr>
        </p:pic>
        <p:sp>
          <p:nvSpPr>
            <p:cNvPr id="6" name="Text 2"/>
            <p:cNvSpPr/>
            <p:nvPr/>
          </p:nvSpPr>
          <p:spPr>
            <a:xfrm>
              <a:off x="620092" y="1968401"/>
              <a:ext cx="169701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QuillBot</a:t>
              </a:r>
              <a:endParaRPr lang="en-US" sz="1200" dirty="0"/>
            </a:p>
          </p:txBody>
        </p:sp>
      </p:grpSp>
      <p:sp>
        <p:nvSpPr>
          <p:cNvPr id="7" name="Text 3"/>
          <p:cNvSpPr/>
          <p:nvPr/>
        </p:nvSpPr>
        <p:spPr>
          <a:xfrm>
            <a:off x="620092" y="2290911"/>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hlinkClick r:id="rId5"/>
              </a:rPr>
              <a:t>quillbot.com</a:t>
            </a:r>
            <a:endParaRPr lang="en-US" sz="12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91346" y="1574602"/>
            <a:ext cx="167432" cy="167432"/>
          </a:xfrm>
          <a:prstGeom prst="rect">
            <a:avLst/>
          </a:prstGeom>
        </p:spPr>
      </p:pic>
      <p:grpSp>
        <p:nvGrpSpPr>
          <p:cNvPr id="26" name="Group 25">
            <a:extLst>
              <a:ext uri="{FF2B5EF4-FFF2-40B4-BE49-F238E27FC236}">
                <a16:creationId xmlns:a16="http://schemas.microsoft.com/office/drawing/2014/main" id="{61415DD3-4B99-2107-394B-A0FA2363A108}"/>
              </a:ext>
            </a:extLst>
          </p:cNvPr>
          <p:cNvGrpSpPr/>
          <p:nvPr/>
        </p:nvGrpSpPr>
        <p:grpSpPr>
          <a:xfrm>
            <a:off x="2565053" y="1348383"/>
            <a:ext cx="1944960" cy="1562695"/>
            <a:chOff x="2565053" y="1348383"/>
            <a:chExt cx="1944960" cy="1562695"/>
          </a:xfrm>
        </p:grpSpPr>
        <p:sp>
          <p:nvSpPr>
            <p:cNvPr id="8" name="Shape 4"/>
            <p:cNvSpPr/>
            <p:nvPr/>
          </p:nvSpPr>
          <p:spPr>
            <a:xfrm>
              <a:off x="2565053" y="1348383"/>
              <a:ext cx="1944960" cy="1562695"/>
            </a:xfrm>
            <a:prstGeom prst="roundRect">
              <a:avLst>
                <a:gd name="adj" fmla="val 1191"/>
              </a:avLst>
            </a:prstGeom>
            <a:solidFill>
              <a:srgbClr val="E9ECF2"/>
            </a:solidFill>
            <a:ln/>
          </p:spPr>
          <p:txBody>
            <a:bodyPr/>
            <a:lstStyle/>
            <a:p>
              <a:endParaRPr lang="en-IN"/>
            </a:p>
          </p:txBody>
        </p:sp>
        <p:pic>
          <p:nvPicPr>
            <p:cNvPr id="9" name="Image 2" descr="preencoded.png"/>
            <p:cNvPicPr>
              <a:picLocks noChangeAspect="1"/>
            </p:cNvPicPr>
            <p:nvPr/>
          </p:nvPicPr>
          <p:blipFill>
            <a:blip r:embed="rId7"/>
            <a:stretch>
              <a:fillRect/>
            </a:stretch>
          </p:blipFill>
          <p:spPr>
            <a:xfrm>
              <a:off x="2689027" y="1472357"/>
              <a:ext cx="372070" cy="372070"/>
            </a:xfrm>
            <a:prstGeom prst="rect">
              <a:avLst/>
            </a:prstGeom>
          </p:spPr>
        </p:pic>
        <p:sp>
          <p:nvSpPr>
            <p:cNvPr id="11" name="Text 5"/>
            <p:cNvSpPr/>
            <p:nvPr/>
          </p:nvSpPr>
          <p:spPr>
            <a:xfrm>
              <a:off x="2689027" y="1968401"/>
              <a:ext cx="169701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Google Translate</a:t>
              </a:r>
              <a:endParaRPr lang="en-US" sz="1200" dirty="0"/>
            </a:p>
          </p:txBody>
        </p:sp>
      </p:grpSp>
      <p:sp>
        <p:nvSpPr>
          <p:cNvPr id="12" name="Text 6"/>
          <p:cNvSpPr/>
          <p:nvPr/>
        </p:nvSpPr>
        <p:spPr>
          <a:xfrm>
            <a:off x="2689027" y="2290911"/>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hlinkClick r:id="rId8"/>
              </a:rPr>
              <a:t>translate.google.com</a:t>
            </a:r>
            <a:endParaRPr lang="en-US" sz="1200" dirty="0"/>
          </a:p>
        </p:txBody>
      </p:sp>
      <p:pic>
        <p:nvPicPr>
          <p:cNvPr id="15"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60280" y="1574602"/>
            <a:ext cx="167432" cy="167432"/>
          </a:xfrm>
          <a:prstGeom prst="rect">
            <a:avLst/>
          </a:prstGeom>
        </p:spPr>
      </p:pic>
      <p:grpSp>
        <p:nvGrpSpPr>
          <p:cNvPr id="27" name="Group 26">
            <a:extLst>
              <a:ext uri="{FF2B5EF4-FFF2-40B4-BE49-F238E27FC236}">
                <a16:creationId xmlns:a16="http://schemas.microsoft.com/office/drawing/2014/main" id="{79C32F14-E982-28E7-E03C-294CAD64DBAE}"/>
              </a:ext>
            </a:extLst>
          </p:cNvPr>
          <p:cNvGrpSpPr/>
          <p:nvPr/>
        </p:nvGrpSpPr>
        <p:grpSpPr>
          <a:xfrm>
            <a:off x="4633987" y="1348383"/>
            <a:ext cx="1944960" cy="1562695"/>
            <a:chOff x="4633987" y="1348383"/>
            <a:chExt cx="1944960" cy="1562695"/>
          </a:xfrm>
        </p:grpSpPr>
        <p:sp>
          <p:nvSpPr>
            <p:cNvPr id="13" name="Shape 7"/>
            <p:cNvSpPr/>
            <p:nvPr/>
          </p:nvSpPr>
          <p:spPr>
            <a:xfrm>
              <a:off x="4633987" y="1348383"/>
              <a:ext cx="1944960" cy="1562695"/>
            </a:xfrm>
            <a:prstGeom prst="roundRect">
              <a:avLst>
                <a:gd name="adj" fmla="val 1191"/>
              </a:avLst>
            </a:prstGeom>
            <a:solidFill>
              <a:srgbClr val="E9ECF2"/>
            </a:solidFill>
            <a:ln/>
          </p:spPr>
          <p:txBody>
            <a:bodyPr/>
            <a:lstStyle/>
            <a:p>
              <a:endParaRPr lang="en-IN"/>
            </a:p>
          </p:txBody>
        </p:sp>
        <p:pic>
          <p:nvPicPr>
            <p:cNvPr id="14" name="Image 4" descr="preencoded.png"/>
            <p:cNvPicPr>
              <a:picLocks noChangeAspect="1"/>
            </p:cNvPicPr>
            <p:nvPr/>
          </p:nvPicPr>
          <p:blipFill>
            <a:blip r:embed="rId10"/>
            <a:stretch>
              <a:fillRect/>
            </a:stretch>
          </p:blipFill>
          <p:spPr>
            <a:xfrm>
              <a:off x="4757961" y="1472357"/>
              <a:ext cx="372070" cy="372070"/>
            </a:xfrm>
            <a:prstGeom prst="rect">
              <a:avLst/>
            </a:prstGeom>
          </p:spPr>
        </p:pic>
        <p:sp>
          <p:nvSpPr>
            <p:cNvPr id="16" name="Text 8"/>
            <p:cNvSpPr/>
            <p:nvPr/>
          </p:nvSpPr>
          <p:spPr>
            <a:xfrm>
              <a:off x="4757961" y="1968401"/>
              <a:ext cx="169701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ChatGPT / Gemini</a:t>
              </a:r>
              <a:endParaRPr lang="en-US" sz="1200" dirty="0"/>
            </a:p>
          </p:txBody>
        </p:sp>
      </p:grpSp>
      <p:sp>
        <p:nvSpPr>
          <p:cNvPr id="17" name="Text 9"/>
          <p:cNvSpPr/>
          <p:nvPr/>
        </p:nvSpPr>
        <p:spPr>
          <a:xfrm>
            <a:off x="4757961" y="2290911"/>
            <a:ext cx="169701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hlinkClick r:id="rId11"/>
              </a:rPr>
              <a:t>chat.openai.com </a:t>
            </a:r>
            <a:r>
              <a:rPr lang="en-US" sz="1200" dirty="0">
                <a:solidFill>
                  <a:srgbClr val="15213F"/>
                </a:solidFill>
                <a:latin typeface="Roboto" pitchFamily="34" charset="0"/>
                <a:ea typeface="Roboto" pitchFamily="34" charset="-122"/>
                <a:cs typeface="Roboto" pitchFamily="34" charset="-120"/>
              </a:rPr>
              <a:t>or </a:t>
            </a:r>
            <a:r>
              <a:rPr lang="en-US" sz="1200" dirty="0">
                <a:solidFill>
                  <a:srgbClr val="15213F"/>
                </a:solidFill>
                <a:latin typeface="Roboto" pitchFamily="34" charset="0"/>
                <a:ea typeface="Roboto" pitchFamily="34" charset="-122"/>
                <a:cs typeface="Roboto" pitchFamily="34" charset="-120"/>
                <a:hlinkClick r:id="rId12"/>
              </a:rPr>
              <a:t>gemini.google.com</a:t>
            </a:r>
            <a:endParaRPr lang="en-US" sz="1200" dirty="0"/>
          </a:p>
        </p:txBody>
      </p:sp>
      <p:pic>
        <p:nvPicPr>
          <p:cNvPr id="20" name="Image 7" descr="preencoded.png"/>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29214" y="1574602"/>
            <a:ext cx="167432" cy="167432"/>
          </a:xfrm>
          <a:prstGeom prst="rect">
            <a:avLst/>
          </a:prstGeom>
        </p:spPr>
      </p:pic>
      <p:grpSp>
        <p:nvGrpSpPr>
          <p:cNvPr id="29" name="Group 28">
            <a:extLst>
              <a:ext uri="{FF2B5EF4-FFF2-40B4-BE49-F238E27FC236}">
                <a16:creationId xmlns:a16="http://schemas.microsoft.com/office/drawing/2014/main" id="{0B7C1831-1CF9-7403-3139-0FED0B63AC63}"/>
              </a:ext>
            </a:extLst>
          </p:cNvPr>
          <p:cNvGrpSpPr/>
          <p:nvPr/>
        </p:nvGrpSpPr>
        <p:grpSpPr>
          <a:xfrm>
            <a:off x="6702921" y="1348383"/>
            <a:ext cx="1944960" cy="1562695"/>
            <a:chOff x="6702921" y="1348383"/>
            <a:chExt cx="1944960" cy="1562695"/>
          </a:xfrm>
        </p:grpSpPr>
        <p:sp>
          <p:nvSpPr>
            <p:cNvPr id="18" name="Shape 10"/>
            <p:cNvSpPr/>
            <p:nvPr/>
          </p:nvSpPr>
          <p:spPr>
            <a:xfrm>
              <a:off x="6702921" y="1348383"/>
              <a:ext cx="1944960" cy="1562695"/>
            </a:xfrm>
            <a:prstGeom prst="roundRect">
              <a:avLst>
                <a:gd name="adj" fmla="val 1191"/>
              </a:avLst>
            </a:prstGeom>
            <a:solidFill>
              <a:srgbClr val="E9ECF2"/>
            </a:solidFill>
            <a:ln/>
          </p:spPr>
          <p:txBody>
            <a:bodyPr/>
            <a:lstStyle/>
            <a:p>
              <a:endParaRPr lang="en-IN"/>
            </a:p>
          </p:txBody>
        </p:sp>
        <p:grpSp>
          <p:nvGrpSpPr>
            <p:cNvPr id="28" name="Group 27">
              <a:extLst>
                <a:ext uri="{FF2B5EF4-FFF2-40B4-BE49-F238E27FC236}">
                  <a16:creationId xmlns:a16="http://schemas.microsoft.com/office/drawing/2014/main" id="{2E3D6F36-06D8-C969-E344-91B715AC5684}"/>
                </a:ext>
              </a:extLst>
            </p:cNvPr>
            <p:cNvGrpSpPr/>
            <p:nvPr/>
          </p:nvGrpSpPr>
          <p:grpSpPr>
            <a:xfrm>
              <a:off x="6826895" y="1472357"/>
              <a:ext cx="1697013" cy="744140"/>
              <a:chOff x="6826895" y="1472357"/>
              <a:chExt cx="1697013" cy="744140"/>
            </a:xfrm>
          </p:grpSpPr>
          <p:pic>
            <p:nvPicPr>
              <p:cNvPr id="19" name="Image 6" descr="preencoded.png"/>
              <p:cNvPicPr>
                <a:picLocks noChangeAspect="1"/>
              </p:cNvPicPr>
              <p:nvPr/>
            </p:nvPicPr>
            <p:blipFill>
              <a:blip r:embed="rId14"/>
              <a:stretch>
                <a:fillRect/>
              </a:stretch>
            </p:blipFill>
            <p:spPr>
              <a:xfrm>
                <a:off x="6826895" y="1472357"/>
                <a:ext cx="372070" cy="372070"/>
              </a:xfrm>
              <a:prstGeom prst="rect">
                <a:avLst/>
              </a:prstGeom>
            </p:spPr>
          </p:pic>
          <p:sp>
            <p:nvSpPr>
              <p:cNvPr id="21" name="Text 11"/>
              <p:cNvSpPr/>
              <p:nvPr/>
            </p:nvSpPr>
            <p:spPr>
              <a:xfrm>
                <a:off x="6826895" y="1968401"/>
                <a:ext cx="169701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NotebookLM</a:t>
                </a:r>
                <a:endParaRPr lang="en-US" sz="1200" dirty="0"/>
              </a:p>
            </p:txBody>
          </p:sp>
        </p:grpSp>
      </p:grpSp>
      <p:sp>
        <p:nvSpPr>
          <p:cNvPr id="22" name="Text 12"/>
          <p:cNvSpPr/>
          <p:nvPr/>
        </p:nvSpPr>
        <p:spPr>
          <a:xfrm>
            <a:off x="6826895" y="2290911"/>
            <a:ext cx="16970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hlinkClick r:id="rId15"/>
              </a:rPr>
              <a:t>notebooklm.google.com </a:t>
            </a:r>
            <a:endParaRPr lang="en-US" sz="1200" dirty="0"/>
          </a:p>
        </p:txBody>
      </p:sp>
      <p:sp>
        <p:nvSpPr>
          <p:cNvPr id="23" name="Text 13"/>
          <p:cNvSpPr/>
          <p:nvPr/>
        </p:nvSpPr>
        <p:spPr>
          <a:xfrm>
            <a:off x="496119" y="3050604"/>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24" name="Text 14"/>
          <p:cNvSpPr/>
          <p:nvPr/>
        </p:nvSpPr>
        <p:spPr>
          <a:xfrm>
            <a:off x="496119" y="3438227"/>
            <a:ext cx="8151763" cy="992386"/>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Sample text (use for multiple tasks):</a:t>
            </a:r>
            <a:r>
              <a:rPr lang="en-US" sz="1200" dirty="0">
                <a:solidFill>
                  <a:srgbClr val="15213F"/>
                </a:solidFill>
                <a:latin typeface="Roboto" pitchFamily="34" charset="0"/>
                <a:ea typeface="Roboto" pitchFamily="34" charset="-122"/>
                <a:cs typeface="Roboto" pitchFamily="34" charset="-120"/>
              </a:rPr>
              <a:t> </a:t>
            </a:r>
            <a:r>
              <a:rPr lang="en-US" sz="1200" i="1" dirty="0">
                <a:solidFill>
                  <a:srgbClr val="15213F"/>
                </a:solidFill>
                <a:latin typeface="Roboto" pitchFamily="34" charset="0"/>
                <a:ea typeface="Roboto" pitchFamily="34" charset="-122"/>
                <a:cs typeface="Roboto" pitchFamily="34" charset="-120"/>
              </a:rPr>
              <a:t>"Starfish, also known as sea stars, are marine invertebrates found in oceans all over the world. They have five or more arms and can regenerate lost limbs. Starfish use tiny tube feet to move and to open shellfish like clams and mussels. They do not have a brain or blood; instead, they use seawater to pump nutrients through their bodies."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7"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96119" y="542776"/>
            <a:ext cx="5092824" cy="294531"/>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Task 1: Sentiment Analysis (ChatGPT/Gemini)</a:t>
            </a:r>
            <a:endParaRPr lang="en-US" sz="1850" dirty="0"/>
          </a:p>
        </p:txBody>
      </p:sp>
      <p:sp>
        <p:nvSpPr>
          <p:cNvPr id="3" name="Text 1"/>
          <p:cNvSpPr/>
          <p:nvPr/>
        </p:nvSpPr>
        <p:spPr>
          <a:xfrm>
            <a:off x="496119" y="1061145"/>
            <a:ext cx="815176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Goal:</a:t>
            </a:r>
            <a:r>
              <a:rPr lang="en-US" sz="1150" dirty="0">
                <a:solidFill>
                  <a:srgbClr val="15213F"/>
                </a:solidFill>
                <a:latin typeface="Roboto" pitchFamily="34" charset="0"/>
                <a:ea typeface="Roboto" pitchFamily="34" charset="-122"/>
                <a:cs typeface="Roboto" pitchFamily="34" charset="-120"/>
              </a:rPr>
              <a:t> Determine if a piece of text is positive, negative, or neutral.</a:t>
            </a:r>
            <a:endParaRPr lang="en-US" sz="1150" dirty="0"/>
          </a:p>
        </p:txBody>
      </p:sp>
      <p:sp>
        <p:nvSpPr>
          <p:cNvPr id="4" name="Text 2"/>
          <p:cNvSpPr/>
          <p:nvPr/>
        </p:nvSpPr>
        <p:spPr>
          <a:xfrm>
            <a:off x="496119" y="1416844"/>
            <a:ext cx="8151763" cy="229791"/>
          </a:xfrm>
          <a:prstGeom prst="rect">
            <a:avLst/>
          </a:prstGeom>
          <a:noFill/>
          <a:ln/>
        </p:spPr>
        <p:txBody>
          <a:bodyPr wrap="none" lIns="0" tIns="0" rIns="0" bIns="0" rtlCol="0" anchor="t"/>
          <a:lstStyle/>
          <a:p>
            <a:pPr marL="0" indent="0" algn="l">
              <a:lnSpc>
                <a:spcPts val="1800"/>
              </a:lnSpc>
              <a:buNone/>
            </a:pPr>
            <a:endParaRPr lang="en-US" sz="1150" dirty="0"/>
          </a:p>
        </p:txBody>
      </p:sp>
      <p:grpSp>
        <p:nvGrpSpPr>
          <p:cNvPr id="26" name="Group 25">
            <a:extLst>
              <a:ext uri="{FF2B5EF4-FFF2-40B4-BE49-F238E27FC236}">
                <a16:creationId xmlns:a16="http://schemas.microsoft.com/office/drawing/2014/main" id="{6766E1E2-E482-DA7B-6F98-0AA7D1B25495}"/>
              </a:ext>
            </a:extLst>
          </p:cNvPr>
          <p:cNvGrpSpPr/>
          <p:nvPr/>
        </p:nvGrpSpPr>
        <p:grpSpPr>
          <a:xfrm>
            <a:off x="496119" y="1772543"/>
            <a:ext cx="2623989" cy="1163613"/>
            <a:chOff x="496119" y="1772543"/>
            <a:chExt cx="2623989" cy="1163613"/>
          </a:xfrm>
        </p:grpSpPr>
        <p:grpSp>
          <p:nvGrpSpPr>
            <p:cNvPr id="24" name="Group 23">
              <a:extLst>
                <a:ext uri="{FF2B5EF4-FFF2-40B4-BE49-F238E27FC236}">
                  <a16:creationId xmlns:a16="http://schemas.microsoft.com/office/drawing/2014/main" id="{8695279E-A5E0-3CF1-5DAC-E61268315894}"/>
                </a:ext>
              </a:extLst>
            </p:cNvPr>
            <p:cNvGrpSpPr/>
            <p:nvPr/>
          </p:nvGrpSpPr>
          <p:grpSpPr>
            <a:xfrm>
              <a:off x="496119" y="1772543"/>
              <a:ext cx="2623989" cy="1163613"/>
              <a:chOff x="496119" y="1772543"/>
              <a:chExt cx="2623989" cy="1163613"/>
            </a:xfrm>
          </p:grpSpPr>
          <p:sp>
            <p:nvSpPr>
              <p:cNvPr id="5" name="Shape 3"/>
              <p:cNvSpPr/>
              <p:nvPr/>
            </p:nvSpPr>
            <p:spPr>
              <a:xfrm>
                <a:off x="496119" y="1772543"/>
                <a:ext cx="265137" cy="265137"/>
              </a:xfrm>
              <a:prstGeom prst="roundRect">
                <a:avLst>
                  <a:gd name="adj" fmla="val 6667"/>
                </a:avLst>
              </a:prstGeom>
              <a:solidFill>
                <a:srgbClr val="E9ECF2"/>
              </a:solidFill>
              <a:ln/>
            </p:spPr>
            <p:txBody>
              <a:bodyPr/>
              <a:lstStyle/>
              <a:p>
                <a:endParaRPr lang="en-IN"/>
              </a:p>
            </p:txBody>
          </p:sp>
          <p:sp>
            <p:nvSpPr>
              <p:cNvPr id="7" name="Text 5"/>
              <p:cNvSpPr/>
              <p:nvPr/>
            </p:nvSpPr>
            <p:spPr>
              <a:xfrm>
                <a:off x="873175" y="1787203"/>
                <a:ext cx="2246933" cy="1148953"/>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In ChatGPT or Gemini, type: </a:t>
                </a:r>
                <a:r>
                  <a:rPr lang="en-US" sz="1150" i="1" dirty="0">
                    <a:solidFill>
                      <a:srgbClr val="15213F"/>
                    </a:solidFill>
                    <a:latin typeface="Roboto" pitchFamily="34" charset="0"/>
                    <a:ea typeface="Roboto" pitchFamily="34" charset="-122"/>
                    <a:cs typeface="Roboto" pitchFamily="34" charset="-120"/>
                  </a:rPr>
                  <a:t>"Perform sentiment analysis on the following text. Tell me if it is positive, negative, or neutral, and explain why in one sentence."</a:t>
                </a:r>
                <a:endParaRPr lang="en-US" sz="1150" dirty="0"/>
              </a:p>
            </p:txBody>
          </p:sp>
        </p:grpSp>
        <p:sp>
          <p:nvSpPr>
            <p:cNvPr id="6" name="Text 4"/>
            <p:cNvSpPr/>
            <p:nvPr/>
          </p:nvSpPr>
          <p:spPr>
            <a:xfrm>
              <a:off x="540283" y="179460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1</a:t>
              </a:r>
              <a:endParaRPr lang="en-US" sz="1350" dirty="0"/>
            </a:p>
          </p:txBody>
        </p:sp>
      </p:grpSp>
      <p:grpSp>
        <p:nvGrpSpPr>
          <p:cNvPr id="31" name="Group 30">
            <a:extLst>
              <a:ext uri="{FF2B5EF4-FFF2-40B4-BE49-F238E27FC236}">
                <a16:creationId xmlns:a16="http://schemas.microsoft.com/office/drawing/2014/main" id="{3DB775CF-ACE4-92DB-F90D-0D26EA49E77F}"/>
              </a:ext>
            </a:extLst>
          </p:cNvPr>
          <p:cNvGrpSpPr/>
          <p:nvPr/>
        </p:nvGrpSpPr>
        <p:grpSpPr>
          <a:xfrm>
            <a:off x="3260006" y="1772543"/>
            <a:ext cx="2623989" cy="1163613"/>
            <a:chOff x="3260006" y="1772543"/>
            <a:chExt cx="2623989" cy="1163613"/>
          </a:xfrm>
        </p:grpSpPr>
        <p:sp>
          <p:nvSpPr>
            <p:cNvPr id="8" name="Shape 6"/>
            <p:cNvSpPr/>
            <p:nvPr/>
          </p:nvSpPr>
          <p:spPr>
            <a:xfrm>
              <a:off x="3260006" y="1772543"/>
              <a:ext cx="265137" cy="265137"/>
            </a:xfrm>
            <a:prstGeom prst="roundRect">
              <a:avLst>
                <a:gd name="adj" fmla="val 6667"/>
              </a:avLst>
            </a:prstGeom>
            <a:solidFill>
              <a:srgbClr val="E9ECF2"/>
            </a:solidFill>
            <a:ln/>
          </p:spPr>
          <p:txBody>
            <a:bodyPr/>
            <a:lstStyle/>
            <a:p>
              <a:endParaRPr lang="en-IN"/>
            </a:p>
          </p:txBody>
        </p:sp>
        <p:grpSp>
          <p:nvGrpSpPr>
            <p:cNvPr id="25" name="Group 24">
              <a:extLst>
                <a:ext uri="{FF2B5EF4-FFF2-40B4-BE49-F238E27FC236}">
                  <a16:creationId xmlns:a16="http://schemas.microsoft.com/office/drawing/2014/main" id="{E38381E8-8F86-85A9-172D-DEEA33B3101C}"/>
                </a:ext>
              </a:extLst>
            </p:cNvPr>
            <p:cNvGrpSpPr/>
            <p:nvPr/>
          </p:nvGrpSpPr>
          <p:grpSpPr>
            <a:xfrm>
              <a:off x="3304170" y="1787203"/>
              <a:ext cx="2579825" cy="1148953"/>
              <a:chOff x="3304170" y="1787203"/>
              <a:chExt cx="2579825" cy="1148953"/>
            </a:xfrm>
          </p:grpSpPr>
          <p:sp>
            <p:nvSpPr>
              <p:cNvPr id="9" name="Text 7"/>
              <p:cNvSpPr/>
              <p:nvPr/>
            </p:nvSpPr>
            <p:spPr>
              <a:xfrm>
                <a:off x="3304170" y="179460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2</a:t>
                </a:r>
                <a:endParaRPr lang="en-US" sz="1350" dirty="0"/>
              </a:p>
            </p:txBody>
          </p:sp>
          <p:sp>
            <p:nvSpPr>
              <p:cNvPr id="10" name="Text 8"/>
              <p:cNvSpPr/>
              <p:nvPr/>
            </p:nvSpPr>
            <p:spPr>
              <a:xfrm>
                <a:off x="3637062" y="1787203"/>
                <a:ext cx="2246933" cy="1148953"/>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Paste this sentence: </a:t>
                </a:r>
                <a:r>
                  <a:rPr lang="en-US" sz="1150" i="1" dirty="0">
                    <a:solidFill>
                      <a:srgbClr val="15213F"/>
                    </a:solidFill>
                    <a:latin typeface="Roboto" pitchFamily="34" charset="0"/>
                    <a:ea typeface="Roboto" pitchFamily="34" charset="-122"/>
                    <a:cs typeface="Roboto" pitchFamily="34" charset="-120"/>
                  </a:rPr>
                  <a:t>"I tried the new blueberry muffin from the school cafeteria, and it was absolutely delicious – best one yet!"</a:t>
                </a:r>
                <a:endParaRPr lang="en-US" sz="1150" dirty="0"/>
              </a:p>
            </p:txBody>
          </p:sp>
        </p:grpSp>
      </p:grpSp>
      <p:grpSp>
        <p:nvGrpSpPr>
          <p:cNvPr id="27" name="Group 26">
            <a:extLst>
              <a:ext uri="{FF2B5EF4-FFF2-40B4-BE49-F238E27FC236}">
                <a16:creationId xmlns:a16="http://schemas.microsoft.com/office/drawing/2014/main" id="{6AC2D901-72AA-88CB-84DF-E8A6AEDF2E57}"/>
              </a:ext>
            </a:extLst>
          </p:cNvPr>
          <p:cNvGrpSpPr/>
          <p:nvPr/>
        </p:nvGrpSpPr>
        <p:grpSpPr>
          <a:xfrm>
            <a:off x="6023893" y="1772543"/>
            <a:ext cx="2623989" cy="265137"/>
            <a:chOff x="6023893" y="1772543"/>
            <a:chExt cx="2623989" cy="265137"/>
          </a:xfrm>
        </p:grpSpPr>
        <p:sp>
          <p:nvSpPr>
            <p:cNvPr id="11" name="Shape 9"/>
            <p:cNvSpPr/>
            <p:nvPr/>
          </p:nvSpPr>
          <p:spPr>
            <a:xfrm>
              <a:off x="6023893" y="1772543"/>
              <a:ext cx="265137" cy="265137"/>
            </a:xfrm>
            <a:prstGeom prst="roundRect">
              <a:avLst>
                <a:gd name="adj" fmla="val 6667"/>
              </a:avLst>
            </a:prstGeom>
            <a:solidFill>
              <a:srgbClr val="E9ECF2"/>
            </a:solidFill>
            <a:ln/>
          </p:spPr>
          <p:txBody>
            <a:bodyPr/>
            <a:lstStyle/>
            <a:p>
              <a:endParaRPr lang="en-IN"/>
            </a:p>
          </p:txBody>
        </p:sp>
        <p:sp>
          <p:nvSpPr>
            <p:cNvPr id="12" name="Text 10"/>
            <p:cNvSpPr/>
            <p:nvPr/>
          </p:nvSpPr>
          <p:spPr>
            <a:xfrm>
              <a:off x="6068058" y="179460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3</a:t>
              </a:r>
              <a:endParaRPr lang="en-US" sz="1350" dirty="0"/>
            </a:p>
          </p:txBody>
        </p:sp>
        <p:sp>
          <p:nvSpPr>
            <p:cNvPr id="13" name="Text 11"/>
            <p:cNvSpPr/>
            <p:nvPr/>
          </p:nvSpPr>
          <p:spPr>
            <a:xfrm>
              <a:off x="6400949" y="1787203"/>
              <a:ext cx="2246933"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Write down the AI's answer.</a:t>
              </a:r>
              <a:endParaRPr lang="en-US" sz="1150" dirty="0"/>
            </a:p>
          </p:txBody>
        </p:sp>
      </p:grpSp>
      <p:grpSp>
        <p:nvGrpSpPr>
          <p:cNvPr id="28" name="Group 27">
            <a:extLst>
              <a:ext uri="{FF2B5EF4-FFF2-40B4-BE49-F238E27FC236}">
                <a16:creationId xmlns:a16="http://schemas.microsoft.com/office/drawing/2014/main" id="{87A36D19-53AB-4341-D7B4-CD417692BE41}"/>
              </a:ext>
            </a:extLst>
          </p:cNvPr>
          <p:cNvGrpSpPr/>
          <p:nvPr/>
        </p:nvGrpSpPr>
        <p:grpSpPr>
          <a:xfrm>
            <a:off x="496119" y="3159993"/>
            <a:ext cx="4005932" cy="474241"/>
            <a:chOff x="496119" y="3159993"/>
            <a:chExt cx="4005932" cy="474241"/>
          </a:xfrm>
        </p:grpSpPr>
        <p:sp>
          <p:nvSpPr>
            <p:cNvPr id="14" name="Shape 12"/>
            <p:cNvSpPr/>
            <p:nvPr/>
          </p:nvSpPr>
          <p:spPr>
            <a:xfrm>
              <a:off x="496119" y="3159993"/>
              <a:ext cx="265137" cy="265137"/>
            </a:xfrm>
            <a:prstGeom prst="roundRect">
              <a:avLst>
                <a:gd name="adj" fmla="val 6667"/>
              </a:avLst>
            </a:prstGeom>
            <a:solidFill>
              <a:srgbClr val="E9ECF2"/>
            </a:solidFill>
            <a:ln/>
          </p:spPr>
          <p:txBody>
            <a:bodyPr/>
            <a:lstStyle/>
            <a:p>
              <a:endParaRPr lang="en-IN"/>
            </a:p>
          </p:txBody>
        </p:sp>
        <p:sp>
          <p:nvSpPr>
            <p:cNvPr id="15" name="Text 13"/>
            <p:cNvSpPr/>
            <p:nvPr/>
          </p:nvSpPr>
          <p:spPr>
            <a:xfrm>
              <a:off x="540283" y="318205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4</a:t>
              </a:r>
              <a:endParaRPr lang="en-US" sz="1350" dirty="0"/>
            </a:p>
          </p:txBody>
        </p:sp>
        <p:sp>
          <p:nvSpPr>
            <p:cNvPr id="16" name="Text 14"/>
            <p:cNvSpPr/>
            <p:nvPr/>
          </p:nvSpPr>
          <p:spPr>
            <a:xfrm>
              <a:off x="873175" y="3174653"/>
              <a:ext cx="362887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Now try a negative sentence: </a:t>
              </a:r>
              <a:r>
                <a:rPr lang="en-US" sz="1150" i="1" dirty="0">
                  <a:solidFill>
                    <a:srgbClr val="15213F"/>
                  </a:solidFill>
                  <a:latin typeface="Roboto" pitchFamily="34" charset="0"/>
                  <a:ea typeface="Roboto" pitchFamily="34" charset="-122"/>
                  <a:cs typeface="Roboto" pitchFamily="34" charset="-120"/>
                </a:rPr>
                <a:t>"The math homework took me two hours and I still don't understand half of it."</a:t>
              </a:r>
              <a:endParaRPr lang="en-US" sz="1150" dirty="0"/>
            </a:p>
          </p:txBody>
        </p:sp>
      </p:grpSp>
      <p:grpSp>
        <p:nvGrpSpPr>
          <p:cNvPr id="29" name="Group 28">
            <a:extLst>
              <a:ext uri="{FF2B5EF4-FFF2-40B4-BE49-F238E27FC236}">
                <a16:creationId xmlns:a16="http://schemas.microsoft.com/office/drawing/2014/main" id="{A766C132-F9AB-4B53-BC6C-31D20F59B239}"/>
              </a:ext>
            </a:extLst>
          </p:cNvPr>
          <p:cNvGrpSpPr/>
          <p:nvPr/>
        </p:nvGrpSpPr>
        <p:grpSpPr>
          <a:xfrm>
            <a:off x="4641949" y="3159993"/>
            <a:ext cx="4005932" cy="265137"/>
            <a:chOff x="4641949" y="3159993"/>
            <a:chExt cx="4005932" cy="265137"/>
          </a:xfrm>
        </p:grpSpPr>
        <p:sp>
          <p:nvSpPr>
            <p:cNvPr id="17" name="Shape 15"/>
            <p:cNvSpPr/>
            <p:nvPr/>
          </p:nvSpPr>
          <p:spPr>
            <a:xfrm>
              <a:off x="4641949" y="3159993"/>
              <a:ext cx="265137" cy="265137"/>
            </a:xfrm>
            <a:prstGeom prst="roundRect">
              <a:avLst>
                <a:gd name="adj" fmla="val 6667"/>
              </a:avLst>
            </a:prstGeom>
            <a:solidFill>
              <a:srgbClr val="E9ECF2"/>
            </a:solidFill>
            <a:ln/>
          </p:spPr>
          <p:txBody>
            <a:bodyPr/>
            <a:lstStyle/>
            <a:p>
              <a:endParaRPr lang="en-IN"/>
            </a:p>
          </p:txBody>
        </p:sp>
        <p:sp>
          <p:nvSpPr>
            <p:cNvPr id="18" name="Text 16"/>
            <p:cNvSpPr/>
            <p:nvPr/>
          </p:nvSpPr>
          <p:spPr>
            <a:xfrm>
              <a:off x="4686114" y="318205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5</a:t>
              </a:r>
              <a:endParaRPr lang="en-US" sz="1350" dirty="0"/>
            </a:p>
          </p:txBody>
        </p:sp>
        <p:sp>
          <p:nvSpPr>
            <p:cNvPr id="19" name="Text 17"/>
            <p:cNvSpPr/>
            <p:nvPr/>
          </p:nvSpPr>
          <p:spPr>
            <a:xfrm>
              <a:off x="5019005" y="3174653"/>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Compare the two responses.</a:t>
              </a:r>
              <a:endParaRPr lang="en-US" sz="1150" dirty="0"/>
            </a:p>
          </p:txBody>
        </p:sp>
      </p:grpSp>
      <p:sp>
        <p:nvSpPr>
          <p:cNvPr id="20" name="Text 18"/>
          <p:cNvSpPr/>
          <p:nvPr/>
        </p:nvSpPr>
        <p:spPr>
          <a:xfrm>
            <a:off x="496119" y="3760143"/>
            <a:ext cx="8151763" cy="183877"/>
          </a:xfrm>
          <a:prstGeom prst="rect">
            <a:avLst/>
          </a:prstGeom>
          <a:noFill/>
          <a:ln/>
        </p:spPr>
        <p:txBody>
          <a:bodyPr wrap="none" lIns="0" tIns="0" rIns="0" bIns="0" rtlCol="0" anchor="t"/>
          <a:lstStyle/>
          <a:p>
            <a:pPr marL="0" indent="0" algn="l">
              <a:lnSpc>
                <a:spcPts val="1400"/>
              </a:lnSpc>
              <a:buNone/>
            </a:pPr>
            <a:endParaRPr lang="en-US" sz="900" dirty="0"/>
          </a:p>
        </p:txBody>
      </p:sp>
      <p:grpSp>
        <p:nvGrpSpPr>
          <p:cNvPr id="30" name="Group 29">
            <a:extLst>
              <a:ext uri="{FF2B5EF4-FFF2-40B4-BE49-F238E27FC236}">
                <a16:creationId xmlns:a16="http://schemas.microsoft.com/office/drawing/2014/main" id="{A8D20229-29D4-8623-7FAB-0DDE7A01D32F}"/>
              </a:ext>
            </a:extLst>
          </p:cNvPr>
          <p:cNvGrpSpPr/>
          <p:nvPr/>
        </p:nvGrpSpPr>
        <p:grpSpPr>
          <a:xfrm>
            <a:off x="496119" y="4069928"/>
            <a:ext cx="8151763" cy="530721"/>
            <a:chOff x="496119" y="4069928"/>
            <a:chExt cx="8151763" cy="530721"/>
          </a:xfrm>
        </p:grpSpPr>
        <p:sp>
          <p:nvSpPr>
            <p:cNvPr id="21" name="Shape 19"/>
            <p:cNvSpPr/>
            <p:nvPr/>
          </p:nvSpPr>
          <p:spPr>
            <a:xfrm>
              <a:off x="496119" y="4069928"/>
              <a:ext cx="8151763" cy="530721"/>
            </a:xfrm>
            <a:prstGeom prst="roundRect">
              <a:avLst>
                <a:gd name="adj" fmla="val 3331"/>
              </a:avLst>
            </a:prstGeom>
            <a:solidFill>
              <a:srgbClr val="F2F2F2"/>
            </a:solidFill>
            <a:ln/>
          </p:spPr>
          <p:txBody>
            <a:bodyPr/>
            <a:lstStyle/>
            <a:p>
              <a:endParaRPr lang="en-IN"/>
            </a:p>
          </p:txBody>
        </p:sp>
        <p:pic>
          <p:nvPicPr>
            <p:cNvPr id="22" name="Image 0" descr="preencoded.png"/>
            <p:cNvPicPr>
              <a:picLocks noChangeAspect="1"/>
            </p:cNvPicPr>
            <p:nvPr/>
          </p:nvPicPr>
          <p:blipFill>
            <a:blip r:embed="rId3"/>
            <a:stretch>
              <a:fillRect/>
            </a:stretch>
          </p:blipFill>
          <p:spPr>
            <a:xfrm>
              <a:off x="613916" y="4244280"/>
              <a:ext cx="184100" cy="147265"/>
            </a:xfrm>
            <a:prstGeom prst="rect">
              <a:avLst/>
            </a:prstGeom>
          </p:spPr>
        </p:pic>
        <p:sp>
          <p:nvSpPr>
            <p:cNvPr id="23" name="Text 20"/>
            <p:cNvSpPr/>
            <p:nvPr/>
          </p:nvSpPr>
          <p:spPr>
            <a:xfrm>
              <a:off x="915814" y="4211241"/>
              <a:ext cx="7614270" cy="229791"/>
            </a:xfrm>
            <a:prstGeom prst="rect">
              <a:avLst/>
            </a:prstGeom>
            <a:noFill/>
            <a:ln/>
          </p:spPr>
          <p:txBody>
            <a:bodyPr wrap="none" lIns="0" tIns="0" rIns="0" bIns="0" rtlCol="0" anchor="t"/>
            <a:lstStyle/>
            <a:p>
              <a:pPr marL="0" indent="0" algn="l">
                <a:lnSpc>
                  <a:spcPts val="1800"/>
                </a:lnSpc>
                <a:buNone/>
              </a:pPr>
              <a:r>
                <a:rPr lang="en-US" sz="1150" b="1" dirty="0">
                  <a:solidFill>
                    <a:srgbClr val="000000"/>
                  </a:solidFill>
                  <a:latin typeface="Roboto" pitchFamily="34" charset="0"/>
                  <a:ea typeface="Roboto" pitchFamily="34" charset="-122"/>
                  <a:cs typeface="Roboto" pitchFamily="34" charset="-120"/>
                </a:rPr>
                <a:t>Reflection:</a:t>
              </a:r>
              <a:r>
                <a:rPr lang="en-US" sz="1150" dirty="0">
                  <a:solidFill>
                    <a:srgbClr val="000000"/>
                  </a:solidFill>
                  <a:latin typeface="Roboto" pitchFamily="34" charset="0"/>
                  <a:ea typeface="Roboto" pitchFamily="34" charset="-122"/>
                  <a:cs typeface="Roboto" pitchFamily="34" charset="-120"/>
                </a:rPr>
                <a:t> Did the AI correctly identify the sentiment? Was it ever unsure?</a:t>
              </a:r>
              <a:endParaRPr lang="en-US" sz="11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96119" y="400571"/>
            <a:ext cx="5265837" cy="294531"/>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Task 2: Machine Translation (Google Translate)</a:t>
            </a:r>
            <a:endParaRPr lang="en-US" sz="1850" dirty="0"/>
          </a:p>
        </p:txBody>
      </p:sp>
      <p:sp>
        <p:nvSpPr>
          <p:cNvPr id="3" name="Text 1"/>
          <p:cNvSpPr/>
          <p:nvPr/>
        </p:nvSpPr>
        <p:spPr>
          <a:xfrm>
            <a:off x="496119" y="918939"/>
            <a:ext cx="815176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Goal:</a:t>
            </a:r>
            <a:r>
              <a:rPr lang="en-US" sz="1150" dirty="0">
                <a:solidFill>
                  <a:srgbClr val="15213F"/>
                </a:solidFill>
                <a:latin typeface="Roboto" pitchFamily="34" charset="0"/>
                <a:ea typeface="Roboto" pitchFamily="34" charset="-122"/>
                <a:cs typeface="Roboto" pitchFamily="34" charset="-120"/>
              </a:rPr>
              <a:t> Translate text from English to another language and back.</a:t>
            </a:r>
            <a:endParaRPr lang="en-US" sz="1150" dirty="0"/>
          </a:p>
        </p:txBody>
      </p:sp>
      <p:sp>
        <p:nvSpPr>
          <p:cNvPr id="4" name="Text 2"/>
          <p:cNvSpPr/>
          <p:nvPr/>
        </p:nvSpPr>
        <p:spPr>
          <a:xfrm>
            <a:off x="496119" y="1274638"/>
            <a:ext cx="8151763" cy="229791"/>
          </a:xfrm>
          <a:prstGeom prst="rect">
            <a:avLst/>
          </a:prstGeom>
          <a:noFill/>
          <a:ln/>
        </p:spPr>
        <p:txBody>
          <a:bodyPr wrap="none" lIns="0" tIns="0" rIns="0" bIns="0" rtlCol="0" anchor="t"/>
          <a:lstStyle/>
          <a:p>
            <a:pPr marL="0" indent="0" algn="l">
              <a:lnSpc>
                <a:spcPts val="1800"/>
              </a:lnSpc>
              <a:buNone/>
            </a:pPr>
            <a:endParaRPr lang="en-US" sz="1150" dirty="0"/>
          </a:p>
        </p:txBody>
      </p:sp>
      <p:grpSp>
        <p:nvGrpSpPr>
          <p:cNvPr id="27" name="Group 26">
            <a:extLst>
              <a:ext uri="{FF2B5EF4-FFF2-40B4-BE49-F238E27FC236}">
                <a16:creationId xmlns:a16="http://schemas.microsoft.com/office/drawing/2014/main" id="{9DBC45C4-9C9B-1719-860E-66C2DC902EFD}"/>
              </a:ext>
            </a:extLst>
          </p:cNvPr>
          <p:cNvGrpSpPr/>
          <p:nvPr/>
        </p:nvGrpSpPr>
        <p:grpSpPr>
          <a:xfrm>
            <a:off x="496119" y="1630338"/>
            <a:ext cx="4005932" cy="265137"/>
            <a:chOff x="496119" y="1630338"/>
            <a:chExt cx="4005932" cy="265137"/>
          </a:xfrm>
        </p:grpSpPr>
        <p:sp>
          <p:nvSpPr>
            <p:cNvPr id="5" name="Shape 3"/>
            <p:cNvSpPr/>
            <p:nvPr/>
          </p:nvSpPr>
          <p:spPr>
            <a:xfrm>
              <a:off x="496119" y="1630338"/>
              <a:ext cx="265137" cy="265137"/>
            </a:xfrm>
            <a:prstGeom prst="roundRect">
              <a:avLst>
                <a:gd name="adj" fmla="val 6667"/>
              </a:avLst>
            </a:prstGeom>
            <a:solidFill>
              <a:srgbClr val="E9ECF2"/>
            </a:solidFill>
            <a:ln/>
          </p:spPr>
          <p:txBody>
            <a:bodyPr/>
            <a:lstStyle/>
            <a:p>
              <a:endParaRPr lang="en-IN" dirty="0"/>
            </a:p>
          </p:txBody>
        </p:sp>
        <p:sp>
          <p:nvSpPr>
            <p:cNvPr id="6" name="Text 4"/>
            <p:cNvSpPr/>
            <p:nvPr/>
          </p:nvSpPr>
          <p:spPr>
            <a:xfrm>
              <a:off x="540283" y="1652401"/>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1</a:t>
              </a:r>
              <a:endParaRPr lang="en-US" sz="1350" dirty="0"/>
            </a:p>
          </p:txBody>
        </p:sp>
        <p:sp>
          <p:nvSpPr>
            <p:cNvPr id="7" name="Text 5"/>
            <p:cNvSpPr/>
            <p:nvPr/>
          </p:nvSpPr>
          <p:spPr>
            <a:xfrm>
              <a:off x="873175" y="1644997"/>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Open Google Translate.</a:t>
              </a:r>
              <a:endParaRPr lang="en-US" sz="1150" dirty="0"/>
            </a:p>
          </p:txBody>
        </p:sp>
      </p:grpSp>
      <p:grpSp>
        <p:nvGrpSpPr>
          <p:cNvPr id="28" name="Group 27">
            <a:extLst>
              <a:ext uri="{FF2B5EF4-FFF2-40B4-BE49-F238E27FC236}">
                <a16:creationId xmlns:a16="http://schemas.microsoft.com/office/drawing/2014/main" id="{B715349F-6EF7-15CA-1916-B559ED6C23EC}"/>
              </a:ext>
            </a:extLst>
          </p:cNvPr>
          <p:cNvGrpSpPr/>
          <p:nvPr/>
        </p:nvGrpSpPr>
        <p:grpSpPr>
          <a:xfrm>
            <a:off x="4641949" y="1630338"/>
            <a:ext cx="4005932" cy="474240"/>
            <a:chOff x="4641949" y="1630338"/>
            <a:chExt cx="4005932" cy="474240"/>
          </a:xfrm>
        </p:grpSpPr>
        <p:sp>
          <p:nvSpPr>
            <p:cNvPr id="8" name="Shape 6"/>
            <p:cNvSpPr/>
            <p:nvPr/>
          </p:nvSpPr>
          <p:spPr>
            <a:xfrm>
              <a:off x="4641949" y="1630338"/>
              <a:ext cx="265137" cy="265137"/>
            </a:xfrm>
            <a:prstGeom prst="roundRect">
              <a:avLst>
                <a:gd name="adj" fmla="val 6667"/>
              </a:avLst>
            </a:prstGeom>
            <a:solidFill>
              <a:srgbClr val="E9ECF2"/>
            </a:solidFill>
            <a:ln/>
          </p:spPr>
          <p:txBody>
            <a:bodyPr/>
            <a:lstStyle/>
            <a:p>
              <a:endParaRPr lang="en-IN"/>
            </a:p>
          </p:txBody>
        </p:sp>
        <p:sp>
          <p:nvSpPr>
            <p:cNvPr id="9" name="Text 7"/>
            <p:cNvSpPr/>
            <p:nvPr/>
          </p:nvSpPr>
          <p:spPr>
            <a:xfrm>
              <a:off x="4686114" y="1652401"/>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2</a:t>
              </a:r>
              <a:endParaRPr lang="en-US" sz="1350" dirty="0"/>
            </a:p>
          </p:txBody>
        </p:sp>
        <p:sp>
          <p:nvSpPr>
            <p:cNvPr id="10" name="Text 8"/>
            <p:cNvSpPr/>
            <p:nvPr/>
          </p:nvSpPr>
          <p:spPr>
            <a:xfrm>
              <a:off x="5019005" y="1644997"/>
              <a:ext cx="362887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Set source language to "English" and target language to "Spanish".</a:t>
              </a:r>
              <a:endParaRPr lang="en-US" sz="1150" dirty="0"/>
            </a:p>
          </p:txBody>
        </p:sp>
      </p:grpSp>
      <p:grpSp>
        <p:nvGrpSpPr>
          <p:cNvPr id="29" name="Group 28">
            <a:extLst>
              <a:ext uri="{FF2B5EF4-FFF2-40B4-BE49-F238E27FC236}">
                <a16:creationId xmlns:a16="http://schemas.microsoft.com/office/drawing/2014/main" id="{CB6C20CA-562D-AAA4-6BFC-B75523E7B817}"/>
              </a:ext>
            </a:extLst>
          </p:cNvPr>
          <p:cNvGrpSpPr/>
          <p:nvPr/>
        </p:nvGrpSpPr>
        <p:grpSpPr>
          <a:xfrm>
            <a:off x="496119" y="2328416"/>
            <a:ext cx="4005932" cy="474241"/>
            <a:chOff x="496119" y="2328416"/>
            <a:chExt cx="4005932" cy="474241"/>
          </a:xfrm>
        </p:grpSpPr>
        <p:sp>
          <p:nvSpPr>
            <p:cNvPr id="11" name="Shape 9"/>
            <p:cNvSpPr/>
            <p:nvPr/>
          </p:nvSpPr>
          <p:spPr>
            <a:xfrm>
              <a:off x="496119" y="2328416"/>
              <a:ext cx="265137" cy="265137"/>
            </a:xfrm>
            <a:prstGeom prst="roundRect">
              <a:avLst>
                <a:gd name="adj" fmla="val 6667"/>
              </a:avLst>
            </a:prstGeom>
            <a:solidFill>
              <a:srgbClr val="E9ECF2"/>
            </a:solidFill>
            <a:ln/>
          </p:spPr>
          <p:txBody>
            <a:bodyPr/>
            <a:lstStyle/>
            <a:p>
              <a:endParaRPr lang="en-IN"/>
            </a:p>
          </p:txBody>
        </p:sp>
        <p:sp>
          <p:nvSpPr>
            <p:cNvPr id="12" name="Text 10"/>
            <p:cNvSpPr/>
            <p:nvPr/>
          </p:nvSpPr>
          <p:spPr>
            <a:xfrm>
              <a:off x="540283" y="2350480"/>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3</a:t>
              </a:r>
              <a:endParaRPr lang="en-US" sz="1350" dirty="0"/>
            </a:p>
          </p:txBody>
        </p:sp>
        <p:sp>
          <p:nvSpPr>
            <p:cNvPr id="13" name="Text 11"/>
            <p:cNvSpPr/>
            <p:nvPr/>
          </p:nvSpPr>
          <p:spPr>
            <a:xfrm>
              <a:off x="873175" y="2343076"/>
              <a:ext cx="362887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Type or paste: </a:t>
              </a:r>
              <a:r>
                <a:rPr lang="en-US" sz="1150" i="1" dirty="0">
                  <a:solidFill>
                    <a:srgbClr val="15213F"/>
                  </a:solidFill>
                  <a:latin typeface="Roboto" pitchFamily="34" charset="0"/>
                  <a:ea typeface="Roboto" pitchFamily="34" charset="-122"/>
                  <a:cs typeface="Roboto" pitchFamily="34" charset="-120"/>
                </a:rPr>
                <a:t>"Where can I find a good book about space exploration?"</a:t>
              </a:r>
              <a:endParaRPr lang="en-US" sz="1150" dirty="0"/>
            </a:p>
          </p:txBody>
        </p:sp>
      </p:grpSp>
      <p:grpSp>
        <p:nvGrpSpPr>
          <p:cNvPr id="30" name="Group 29">
            <a:extLst>
              <a:ext uri="{FF2B5EF4-FFF2-40B4-BE49-F238E27FC236}">
                <a16:creationId xmlns:a16="http://schemas.microsoft.com/office/drawing/2014/main" id="{58D9842B-DC1B-797B-4151-96FBA4FFC1DF}"/>
              </a:ext>
            </a:extLst>
          </p:cNvPr>
          <p:cNvGrpSpPr/>
          <p:nvPr/>
        </p:nvGrpSpPr>
        <p:grpSpPr>
          <a:xfrm>
            <a:off x="4641949" y="2328416"/>
            <a:ext cx="4005932" cy="265137"/>
            <a:chOff x="4641949" y="2328416"/>
            <a:chExt cx="4005932" cy="265137"/>
          </a:xfrm>
        </p:grpSpPr>
        <p:sp>
          <p:nvSpPr>
            <p:cNvPr id="14" name="Shape 12"/>
            <p:cNvSpPr/>
            <p:nvPr/>
          </p:nvSpPr>
          <p:spPr>
            <a:xfrm>
              <a:off x="4641949" y="2328416"/>
              <a:ext cx="265137" cy="265137"/>
            </a:xfrm>
            <a:prstGeom prst="roundRect">
              <a:avLst>
                <a:gd name="adj" fmla="val 6667"/>
              </a:avLst>
            </a:prstGeom>
            <a:solidFill>
              <a:srgbClr val="E9ECF2"/>
            </a:solidFill>
            <a:ln/>
          </p:spPr>
          <p:txBody>
            <a:bodyPr/>
            <a:lstStyle/>
            <a:p>
              <a:endParaRPr lang="en-IN"/>
            </a:p>
          </p:txBody>
        </p:sp>
        <p:sp>
          <p:nvSpPr>
            <p:cNvPr id="15" name="Text 13"/>
            <p:cNvSpPr/>
            <p:nvPr/>
          </p:nvSpPr>
          <p:spPr>
            <a:xfrm>
              <a:off x="4686114" y="2350480"/>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4</a:t>
              </a:r>
              <a:endParaRPr lang="en-US" sz="1350" dirty="0"/>
            </a:p>
          </p:txBody>
        </p:sp>
        <p:sp>
          <p:nvSpPr>
            <p:cNvPr id="16" name="Text 14"/>
            <p:cNvSpPr/>
            <p:nvPr/>
          </p:nvSpPr>
          <p:spPr>
            <a:xfrm>
              <a:off x="5019005" y="2343076"/>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Write down the Spanish translation.</a:t>
              </a:r>
              <a:endParaRPr lang="en-US" sz="1150" dirty="0"/>
            </a:p>
          </p:txBody>
        </p:sp>
      </p:grpSp>
      <p:grpSp>
        <p:nvGrpSpPr>
          <p:cNvPr id="31" name="Group 30">
            <a:extLst>
              <a:ext uri="{FF2B5EF4-FFF2-40B4-BE49-F238E27FC236}">
                <a16:creationId xmlns:a16="http://schemas.microsoft.com/office/drawing/2014/main" id="{49CBA8BB-8CB4-2D84-BAA4-7CE653ACEBC5}"/>
              </a:ext>
            </a:extLst>
          </p:cNvPr>
          <p:cNvGrpSpPr/>
          <p:nvPr/>
        </p:nvGrpSpPr>
        <p:grpSpPr>
          <a:xfrm>
            <a:off x="496119" y="3026494"/>
            <a:ext cx="4005932" cy="704032"/>
            <a:chOff x="496119" y="3026494"/>
            <a:chExt cx="4005932" cy="704032"/>
          </a:xfrm>
        </p:grpSpPr>
        <p:sp>
          <p:nvSpPr>
            <p:cNvPr id="17" name="Shape 15"/>
            <p:cNvSpPr/>
            <p:nvPr/>
          </p:nvSpPr>
          <p:spPr>
            <a:xfrm>
              <a:off x="496119" y="3026494"/>
              <a:ext cx="265137" cy="265137"/>
            </a:xfrm>
            <a:prstGeom prst="roundRect">
              <a:avLst>
                <a:gd name="adj" fmla="val 6667"/>
              </a:avLst>
            </a:prstGeom>
            <a:solidFill>
              <a:srgbClr val="E9ECF2"/>
            </a:solidFill>
            <a:ln/>
          </p:spPr>
          <p:txBody>
            <a:bodyPr/>
            <a:lstStyle/>
            <a:p>
              <a:endParaRPr lang="en-IN"/>
            </a:p>
          </p:txBody>
        </p:sp>
        <p:sp>
          <p:nvSpPr>
            <p:cNvPr id="18" name="Text 16"/>
            <p:cNvSpPr/>
            <p:nvPr/>
          </p:nvSpPr>
          <p:spPr>
            <a:xfrm>
              <a:off x="540283" y="3048558"/>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5</a:t>
              </a:r>
              <a:endParaRPr lang="en-US" sz="1350" dirty="0"/>
            </a:p>
          </p:txBody>
        </p:sp>
        <p:sp>
          <p:nvSpPr>
            <p:cNvPr id="19" name="Text 17"/>
            <p:cNvSpPr/>
            <p:nvPr/>
          </p:nvSpPr>
          <p:spPr>
            <a:xfrm>
              <a:off x="873175" y="3041154"/>
              <a:ext cx="3628876" cy="689372"/>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Now copy the Spanish translation and paste it back into Google Translate, changing the source to "Spanish" and target to "English".</a:t>
              </a:r>
              <a:endParaRPr lang="en-US" sz="1150" dirty="0"/>
            </a:p>
          </p:txBody>
        </p:sp>
      </p:grpSp>
      <p:grpSp>
        <p:nvGrpSpPr>
          <p:cNvPr id="32" name="Group 31">
            <a:extLst>
              <a:ext uri="{FF2B5EF4-FFF2-40B4-BE49-F238E27FC236}">
                <a16:creationId xmlns:a16="http://schemas.microsoft.com/office/drawing/2014/main" id="{E53A08F8-FC90-5488-3610-CE5C49844601}"/>
              </a:ext>
            </a:extLst>
          </p:cNvPr>
          <p:cNvGrpSpPr/>
          <p:nvPr/>
        </p:nvGrpSpPr>
        <p:grpSpPr>
          <a:xfrm>
            <a:off x="4641949" y="3026494"/>
            <a:ext cx="4005932" cy="474241"/>
            <a:chOff x="4641949" y="3026494"/>
            <a:chExt cx="4005932" cy="474241"/>
          </a:xfrm>
        </p:grpSpPr>
        <p:sp>
          <p:nvSpPr>
            <p:cNvPr id="20" name="Shape 18"/>
            <p:cNvSpPr/>
            <p:nvPr/>
          </p:nvSpPr>
          <p:spPr>
            <a:xfrm>
              <a:off x="4641949" y="3026494"/>
              <a:ext cx="265137" cy="265137"/>
            </a:xfrm>
            <a:prstGeom prst="roundRect">
              <a:avLst>
                <a:gd name="adj" fmla="val 6667"/>
              </a:avLst>
            </a:prstGeom>
            <a:solidFill>
              <a:srgbClr val="E9ECF2"/>
            </a:solidFill>
            <a:ln/>
          </p:spPr>
          <p:txBody>
            <a:bodyPr/>
            <a:lstStyle/>
            <a:p>
              <a:endParaRPr lang="en-IN"/>
            </a:p>
          </p:txBody>
        </p:sp>
        <p:sp>
          <p:nvSpPr>
            <p:cNvPr id="21" name="Text 19"/>
            <p:cNvSpPr/>
            <p:nvPr/>
          </p:nvSpPr>
          <p:spPr>
            <a:xfrm>
              <a:off x="4686114" y="3048558"/>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6</a:t>
              </a:r>
              <a:endParaRPr lang="en-US" sz="1350" dirty="0"/>
            </a:p>
          </p:txBody>
        </p:sp>
        <p:sp>
          <p:nvSpPr>
            <p:cNvPr id="22" name="Text 20"/>
            <p:cNvSpPr/>
            <p:nvPr/>
          </p:nvSpPr>
          <p:spPr>
            <a:xfrm>
              <a:off x="5019005" y="3041154"/>
              <a:ext cx="362887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Compare the back‑translated English with the original sentence.</a:t>
              </a:r>
              <a:endParaRPr lang="en-US" sz="1150" dirty="0"/>
            </a:p>
          </p:txBody>
        </p:sp>
      </p:grpSp>
      <p:sp>
        <p:nvSpPr>
          <p:cNvPr id="23" name="Text 21"/>
          <p:cNvSpPr/>
          <p:nvPr/>
        </p:nvSpPr>
        <p:spPr>
          <a:xfrm>
            <a:off x="496119" y="3856434"/>
            <a:ext cx="8151763" cy="229791"/>
          </a:xfrm>
          <a:prstGeom prst="rect">
            <a:avLst/>
          </a:prstGeom>
          <a:noFill/>
          <a:ln/>
        </p:spPr>
        <p:txBody>
          <a:bodyPr wrap="none" lIns="0" tIns="0" rIns="0" bIns="0" rtlCol="0" anchor="t"/>
          <a:lstStyle/>
          <a:p>
            <a:pPr marL="0" indent="0" algn="l">
              <a:lnSpc>
                <a:spcPts val="1800"/>
              </a:lnSpc>
              <a:buNone/>
            </a:pPr>
            <a:endParaRPr lang="en-US" sz="1150" dirty="0"/>
          </a:p>
        </p:txBody>
      </p:sp>
      <p:grpSp>
        <p:nvGrpSpPr>
          <p:cNvPr id="33" name="Group 32">
            <a:extLst>
              <a:ext uri="{FF2B5EF4-FFF2-40B4-BE49-F238E27FC236}">
                <a16:creationId xmlns:a16="http://schemas.microsoft.com/office/drawing/2014/main" id="{32F9F496-0B7F-3306-29F6-817058B54DC3}"/>
              </a:ext>
            </a:extLst>
          </p:cNvPr>
          <p:cNvGrpSpPr/>
          <p:nvPr/>
        </p:nvGrpSpPr>
        <p:grpSpPr>
          <a:xfrm>
            <a:off x="496119" y="4212134"/>
            <a:ext cx="8151763" cy="530721"/>
            <a:chOff x="496119" y="4212134"/>
            <a:chExt cx="8151763" cy="530721"/>
          </a:xfrm>
        </p:grpSpPr>
        <p:sp>
          <p:nvSpPr>
            <p:cNvPr id="24" name="Shape 22"/>
            <p:cNvSpPr/>
            <p:nvPr/>
          </p:nvSpPr>
          <p:spPr>
            <a:xfrm>
              <a:off x="496119" y="4212134"/>
              <a:ext cx="8151763" cy="530721"/>
            </a:xfrm>
            <a:prstGeom prst="roundRect">
              <a:avLst>
                <a:gd name="adj" fmla="val 3331"/>
              </a:avLst>
            </a:prstGeom>
            <a:solidFill>
              <a:srgbClr val="F2F2F2"/>
            </a:solidFill>
            <a:ln/>
          </p:spPr>
          <p:txBody>
            <a:bodyPr/>
            <a:lstStyle/>
            <a:p>
              <a:endParaRPr lang="en-IN"/>
            </a:p>
          </p:txBody>
        </p:sp>
        <p:pic>
          <p:nvPicPr>
            <p:cNvPr id="25" name="Image 0" descr="preencoded.png"/>
            <p:cNvPicPr>
              <a:picLocks noChangeAspect="1"/>
            </p:cNvPicPr>
            <p:nvPr/>
          </p:nvPicPr>
          <p:blipFill>
            <a:blip r:embed="rId3"/>
            <a:stretch>
              <a:fillRect/>
            </a:stretch>
          </p:blipFill>
          <p:spPr>
            <a:xfrm>
              <a:off x="613916" y="4386486"/>
              <a:ext cx="184100" cy="147265"/>
            </a:xfrm>
            <a:prstGeom prst="rect">
              <a:avLst/>
            </a:prstGeom>
          </p:spPr>
        </p:pic>
        <p:sp>
          <p:nvSpPr>
            <p:cNvPr id="26" name="Text 23"/>
            <p:cNvSpPr/>
            <p:nvPr/>
          </p:nvSpPr>
          <p:spPr>
            <a:xfrm>
              <a:off x="915814" y="4353446"/>
              <a:ext cx="7614270" cy="229791"/>
            </a:xfrm>
            <a:prstGeom prst="rect">
              <a:avLst/>
            </a:prstGeom>
            <a:noFill/>
            <a:ln/>
          </p:spPr>
          <p:txBody>
            <a:bodyPr wrap="none" lIns="0" tIns="0" rIns="0" bIns="0" rtlCol="0" anchor="t"/>
            <a:lstStyle/>
            <a:p>
              <a:pPr marL="0" indent="0" algn="l">
                <a:lnSpc>
                  <a:spcPts val="1800"/>
                </a:lnSpc>
                <a:buNone/>
              </a:pPr>
              <a:r>
                <a:rPr lang="en-US" sz="1150" b="1" dirty="0">
                  <a:solidFill>
                    <a:srgbClr val="000000"/>
                  </a:solidFill>
                  <a:latin typeface="Roboto" pitchFamily="34" charset="0"/>
                  <a:ea typeface="Roboto" pitchFamily="34" charset="-122"/>
                  <a:cs typeface="Roboto" pitchFamily="34" charset="-120"/>
                </a:rPr>
                <a:t>Reflection:</a:t>
              </a:r>
              <a:r>
                <a:rPr lang="en-US" sz="1150" dirty="0">
                  <a:solidFill>
                    <a:srgbClr val="000000"/>
                  </a:solidFill>
                  <a:latin typeface="Roboto" pitchFamily="34" charset="0"/>
                  <a:ea typeface="Roboto" pitchFamily="34" charset="-122"/>
                  <a:cs typeface="Roboto" pitchFamily="34" charset="-120"/>
                </a:rPr>
                <a:t> Did the meaning change? Try the same with an idiom: </a:t>
              </a:r>
              <a:r>
                <a:rPr lang="en-US" sz="1150" i="1" dirty="0">
                  <a:solidFill>
                    <a:srgbClr val="000000"/>
                  </a:solidFill>
                  <a:latin typeface="Roboto" pitchFamily="34" charset="0"/>
                  <a:ea typeface="Roboto" pitchFamily="34" charset="-122"/>
                  <a:cs typeface="Roboto" pitchFamily="34" charset="-120"/>
                </a:rPr>
                <a:t>"It's raining cats and dogs."</a:t>
              </a:r>
              <a:r>
                <a:rPr lang="en-US" sz="1150" dirty="0">
                  <a:solidFill>
                    <a:srgbClr val="000000"/>
                  </a:solidFill>
                  <a:latin typeface="Roboto" pitchFamily="34" charset="0"/>
                  <a:ea typeface="Roboto" pitchFamily="34" charset="-122"/>
                  <a:cs typeface="Roboto" pitchFamily="34" charset="-120"/>
                </a:rPr>
                <a:t> What happens?</a:t>
              </a:r>
              <a:endParaRPr lang="en-US" sz="11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96119" y="469404"/>
            <a:ext cx="4427637"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Task 3: Summarisation (NotebookLM)</a:t>
            </a:r>
            <a:endParaRPr lang="en-US" sz="1950" dirty="0"/>
          </a:p>
        </p:txBody>
      </p:sp>
      <p:sp>
        <p:nvSpPr>
          <p:cNvPr id="3" name="Text 1"/>
          <p:cNvSpPr/>
          <p:nvPr/>
        </p:nvSpPr>
        <p:spPr>
          <a:xfrm>
            <a:off x="496119" y="1027509"/>
            <a:ext cx="8151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Goal:</a:t>
            </a:r>
            <a:r>
              <a:rPr lang="en-US" sz="1200" dirty="0">
                <a:solidFill>
                  <a:srgbClr val="15213F"/>
                </a:solidFill>
                <a:latin typeface="Roboto" pitchFamily="34" charset="0"/>
                <a:ea typeface="Roboto" pitchFamily="34" charset="-122"/>
                <a:cs typeface="Roboto" pitchFamily="34" charset="-120"/>
              </a:rPr>
              <a:t> Create a short summary of a longer text using a source‑grounded tool.</a:t>
            </a:r>
            <a:endParaRPr lang="en-US" sz="1200" dirty="0"/>
          </a:p>
        </p:txBody>
      </p:sp>
      <p:sp>
        <p:nvSpPr>
          <p:cNvPr id="4" name="Text 2"/>
          <p:cNvSpPr/>
          <p:nvPr/>
        </p:nvSpPr>
        <p:spPr>
          <a:xfrm>
            <a:off x="496119" y="1415132"/>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24" name="Group 23">
            <a:extLst>
              <a:ext uri="{FF2B5EF4-FFF2-40B4-BE49-F238E27FC236}">
                <a16:creationId xmlns:a16="http://schemas.microsoft.com/office/drawing/2014/main" id="{6D128CA6-BD5F-C24F-C77C-CA7A9215C380}"/>
              </a:ext>
            </a:extLst>
          </p:cNvPr>
          <p:cNvGrpSpPr/>
          <p:nvPr/>
        </p:nvGrpSpPr>
        <p:grpSpPr>
          <a:xfrm>
            <a:off x="496119" y="1802755"/>
            <a:ext cx="2613868" cy="511671"/>
            <a:chOff x="496119" y="1802755"/>
            <a:chExt cx="2613868" cy="511671"/>
          </a:xfrm>
        </p:grpSpPr>
        <p:sp>
          <p:nvSpPr>
            <p:cNvPr id="5" name="Shape 3"/>
            <p:cNvSpPr/>
            <p:nvPr/>
          </p:nvSpPr>
          <p:spPr>
            <a:xfrm>
              <a:off x="496119" y="1802755"/>
              <a:ext cx="279053" cy="279053"/>
            </a:xfrm>
            <a:prstGeom prst="roundRect">
              <a:avLst>
                <a:gd name="adj" fmla="val 6668"/>
              </a:avLst>
            </a:prstGeom>
            <a:solidFill>
              <a:srgbClr val="E9ECF2"/>
            </a:solidFill>
            <a:ln/>
          </p:spPr>
          <p:txBody>
            <a:bodyPr/>
            <a:lstStyle/>
            <a:p>
              <a:endParaRPr lang="en-IN"/>
            </a:p>
          </p:txBody>
        </p:sp>
        <p:sp>
          <p:nvSpPr>
            <p:cNvPr id="6" name="Text 4"/>
            <p:cNvSpPr/>
            <p:nvPr/>
          </p:nvSpPr>
          <p:spPr>
            <a:xfrm>
              <a:off x="542627" y="1826009"/>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15213F"/>
                  </a:solidFill>
                  <a:latin typeface="Roboto Slab" pitchFamily="34" charset="0"/>
                  <a:ea typeface="Roboto Slab" pitchFamily="34" charset="-122"/>
                  <a:cs typeface="Roboto Slab" pitchFamily="34" charset="-120"/>
                </a:rPr>
                <a:t>1</a:t>
              </a:r>
              <a:endParaRPr lang="en-US" sz="1450" dirty="0"/>
            </a:p>
          </p:txBody>
        </p:sp>
        <p:sp>
          <p:nvSpPr>
            <p:cNvPr id="7" name="Text 5"/>
            <p:cNvSpPr/>
            <p:nvPr/>
          </p:nvSpPr>
          <p:spPr>
            <a:xfrm>
              <a:off x="899145" y="1818233"/>
              <a:ext cx="221084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 NotebookLM, create a new notebook called "NLP Tasks".</a:t>
              </a:r>
              <a:endParaRPr lang="en-US" sz="1200" dirty="0"/>
            </a:p>
          </p:txBody>
        </p:sp>
      </p:grpSp>
      <p:grpSp>
        <p:nvGrpSpPr>
          <p:cNvPr id="25" name="Group 24">
            <a:extLst>
              <a:ext uri="{FF2B5EF4-FFF2-40B4-BE49-F238E27FC236}">
                <a16:creationId xmlns:a16="http://schemas.microsoft.com/office/drawing/2014/main" id="{8083FB29-1B21-6387-C2EE-9E9C01216FB4}"/>
              </a:ext>
            </a:extLst>
          </p:cNvPr>
          <p:cNvGrpSpPr/>
          <p:nvPr/>
        </p:nvGrpSpPr>
        <p:grpSpPr>
          <a:xfrm>
            <a:off x="3264991" y="1802755"/>
            <a:ext cx="2613943" cy="759767"/>
            <a:chOff x="3264991" y="1802755"/>
            <a:chExt cx="2613943" cy="759767"/>
          </a:xfrm>
        </p:grpSpPr>
        <p:sp>
          <p:nvSpPr>
            <p:cNvPr id="8" name="Shape 6"/>
            <p:cNvSpPr/>
            <p:nvPr/>
          </p:nvSpPr>
          <p:spPr>
            <a:xfrm>
              <a:off x="3264991" y="1802755"/>
              <a:ext cx="279053" cy="279053"/>
            </a:xfrm>
            <a:prstGeom prst="roundRect">
              <a:avLst>
                <a:gd name="adj" fmla="val 6668"/>
              </a:avLst>
            </a:prstGeom>
            <a:solidFill>
              <a:srgbClr val="E9ECF2"/>
            </a:solidFill>
            <a:ln/>
          </p:spPr>
          <p:txBody>
            <a:bodyPr/>
            <a:lstStyle/>
            <a:p>
              <a:endParaRPr lang="en-IN"/>
            </a:p>
          </p:txBody>
        </p:sp>
        <p:sp>
          <p:nvSpPr>
            <p:cNvPr id="9" name="Text 7"/>
            <p:cNvSpPr/>
            <p:nvPr/>
          </p:nvSpPr>
          <p:spPr>
            <a:xfrm>
              <a:off x="3311500" y="1826009"/>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15213F"/>
                  </a:solidFill>
                  <a:latin typeface="Roboto Slab" pitchFamily="34" charset="0"/>
                  <a:ea typeface="Roboto Slab" pitchFamily="34" charset="-122"/>
                  <a:cs typeface="Roboto Slab" pitchFamily="34" charset="-120"/>
                </a:rPr>
                <a:t>2</a:t>
              </a:r>
              <a:endParaRPr lang="en-US" sz="1450" dirty="0"/>
            </a:p>
          </p:txBody>
        </p:sp>
        <p:sp>
          <p:nvSpPr>
            <p:cNvPr id="10" name="Text 8"/>
            <p:cNvSpPr/>
            <p:nvPr/>
          </p:nvSpPr>
          <p:spPr>
            <a:xfrm>
              <a:off x="3668018" y="1818233"/>
              <a:ext cx="2210916"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Add the </a:t>
              </a:r>
              <a:r>
                <a:rPr lang="en-US" sz="1200" b="1" dirty="0">
                  <a:solidFill>
                    <a:srgbClr val="15213F"/>
                  </a:solidFill>
                  <a:latin typeface="Roboto" pitchFamily="34" charset="0"/>
                  <a:ea typeface="Roboto" pitchFamily="34" charset="-122"/>
                  <a:cs typeface="Roboto" pitchFamily="34" charset="-120"/>
                </a:rPr>
                <a:t>sample text about starfish</a:t>
              </a:r>
              <a:r>
                <a:rPr lang="en-US" sz="1200" dirty="0">
                  <a:solidFill>
                    <a:srgbClr val="15213F"/>
                  </a:solidFill>
                  <a:latin typeface="Roboto" pitchFamily="34" charset="0"/>
                  <a:ea typeface="Roboto" pitchFamily="34" charset="-122"/>
                  <a:cs typeface="Roboto" pitchFamily="34" charset="-120"/>
                </a:rPr>
                <a:t> as a source (copy‑paste as text source).</a:t>
              </a:r>
              <a:endParaRPr lang="en-US" sz="1200" dirty="0"/>
            </a:p>
          </p:txBody>
        </p:sp>
      </p:grpSp>
      <p:grpSp>
        <p:nvGrpSpPr>
          <p:cNvPr id="26" name="Group 25">
            <a:extLst>
              <a:ext uri="{FF2B5EF4-FFF2-40B4-BE49-F238E27FC236}">
                <a16:creationId xmlns:a16="http://schemas.microsoft.com/office/drawing/2014/main" id="{1EC1DCC2-0A68-5911-1C15-C7B1FC815CD5}"/>
              </a:ext>
            </a:extLst>
          </p:cNvPr>
          <p:cNvGrpSpPr/>
          <p:nvPr/>
        </p:nvGrpSpPr>
        <p:grpSpPr>
          <a:xfrm>
            <a:off x="6033939" y="1802755"/>
            <a:ext cx="2613942" cy="759767"/>
            <a:chOff x="6033939" y="1802755"/>
            <a:chExt cx="2613942" cy="759767"/>
          </a:xfrm>
        </p:grpSpPr>
        <p:sp>
          <p:nvSpPr>
            <p:cNvPr id="11" name="Shape 9"/>
            <p:cNvSpPr/>
            <p:nvPr/>
          </p:nvSpPr>
          <p:spPr>
            <a:xfrm>
              <a:off x="6033939" y="1802755"/>
              <a:ext cx="279053" cy="279053"/>
            </a:xfrm>
            <a:prstGeom prst="roundRect">
              <a:avLst>
                <a:gd name="adj" fmla="val 6668"/>
              </a:avLst>
            </a:prstGeom>
            <a:solidFill>
              <a:srgbClr val="E9ECF2"/>
            </a:solidFill>
            <a:ln/>
          </p:spPr>
          <p:txBody>
            <a:bodyPr/>
            <a:lstStyle/>
            <a:p>
              <a:endParaRPr lang="en-IN"/>
            </a:p>
          </p:txBody>
        </p:sp>
        <p:sp>
          <p:nvSpPr>
            <p:cNvPr id="12" name="Text 10"/>
            <p:cNvSpPr/>
            <p:nvPr/>
          </p:nvSpPr>
          <p:spPr>
            <a:xfrm>
              <a:off x="6080447" y="1826009"/>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15213F"/>
                  </a:solidFill>
                  <a:latin typeface="Roboto Slab" pitchFamily="34" charset="0"/>
                  <a:ea typeface="Roboto Slab" pitchFamily="34" charset="-122"/>
                  <a:cs typeface="Roboto Slab" pitchFamily="34" charset="-120"/>
                </a:rPr>
                <a:t>3</a:t>
              </a:r>
              <a:endParaRPr lang="en-US" sz="1450" dirty="0"/>
            </a:p>
          </p:txBody>
        </p:sp>
        <p:sp>
          <p:nvSpPr>
            <p:cNvPr id="13" name="Text 11"/>
            <p:cNvSpPr/>
            <p:nvPr/>
          </p:nvSpPr>
          <p:spPr>
            <a:xfrm>
              <a:off x="6436965" y="1818233"/>
              <a:ext cx="2210916"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 the chat box, ask: </a:t>
              </a:r>
              <a:r>
                <a:rPr lang="en-US" sz="1200" i="1" dirty="0">
                  <a:solidFill>
                    <a:srgbClr val="15213F"/>
                  </a:solidFill>
                  <a:latin typeface="Roboto" pitchFamily="34" charset="0"/>
                  <a:ea typeface="Roboto" pitchFamily="34" charset="-122"/>
                  <a:cs typeface="Roboto" pitchFamily="34" charset="-120"/>
                </a:rPr>
                <a:t>"Summarise this text in two sentences for a 5th grader."</a:t>
              </a:r>
              <a:endParaRPr lang="en-US" sz="1200" dirty="0"/>
            </a:p>
          </p:txBody>
        </p:sp>
      </p:grpSp>
      <p:grpSp>
        <p:nvGrpSpPr>
          <p:cNvPr id="31" name="Group 30">
            <a:extLst>
              <a:ext uri="{FF2B5EF4-FFF2-40B4-BE49-F238E27FC236}">
                <a16:creationId xmlns:a16="http://schemas.microsoft.com/office/drawing/2014/main" id="{1B7BA07B-F2AD-31B1-308D-3D2E4D36F7D2}"/>
              </a:ext>
            </a:extLst>
          </p:cNvPr>
          <p:cNvGrpSpPr/>
          <p:nvPr/>
        </p:nvGrpSpPr>
        <p:grpSpPr>
          <a:xfrm>
            <a:off x="508739" y="2814723"/>
            <a:ext cx="4373270" cy="279053"/>
            <a:chOff x="508739" y="2814723"/>
            <a:chExt cx="4373270" cy="279053"/>
          </a:xfrm>
        </p:grpSpPr>
        <p:sp>
          <p:nvSpPr>
            <p:cNvPr id="30" name="Shape 3">
              <a:extLst>
                <a:ext uri="{FF2B5EF4-FFF2-40B4-BE49-F238E27FC236}">
                  <a16:creationId xmlns:a16="http://schemas.microsoft.com/office/drawing/2014/main" id="{93C2C37D-11A2-32FC-3344-5CD030AEC67F}"/>
                </a:ext>
              </a:extLst>
            </p:cNvPr>
            <p:cNvSpPr/>
            <p:nvPr/>
          </p:nvSpPr>
          <p:spPr>
            <a:xfrm>
              <a:off x="508739" y="2814723"/>
              <a:ext cx="279053" cy="279053"/>
            </a:xfrm>
            <a:prstGeom prst="roundRect">
              <a:avLst>
                <a:gd name="adj" fmla="val 6668"/>
              </a:avLst>
            </a:prstGeom>
            <a:solidFill>
              <a:srgbClr val="E9ECF2"/>
            </a:solidFill>
            <a:ln/>
          </p:spPr>
          <p:txBody>
            <a:bodyPr/>
            <a:lstStyle/>
            <a:p>
              <a:endParaRPr lang="en-IN"/>
            </a:p>
          </p:txBody>
        </p:sp>
        <p:sp>
          <p:nvSpPr>
            <p:cNvPr id="15" name="Text 13"/>
            <p:cNvSpPr/>
            <p:nvPr/>
          </p:nvSpPr>
          <p:spPr>
            <a:xfrm>
              <a:off x="547135" y="2833799"/>
              <a:ext cx="204067" cy="232544"/>
            </a:xfrm>
            <a:prstGeom prst="rect">
              <a:avLst/>
            </a:prstGeom>
            <a:noFill/>
            <a:ln/>
          </p:spPr>
          <p:txBody>
            <a:bodyPr wrap="none" lIns="0" tIns="0" rIns="0" bIns="0" rtlCol="0" anchor="ctr"/>
            <a:lstStyle/>
            <a:p>
              <a:pPr marL="0" indent="0" algn="ctr">
                <a:lnSpc>
                  <a:spcPct val="100000"/>
                </a:lnSpc>
                <a:buNone/>
              </a:pPr>
              <a:r>
                <a:rPr lang="en-US" sz="1450" dirty="0">
                  <a:solidFill>
                    <a:srgbClr val="15213F"/>
                  </a:solidFill>
                  <a:latin typeface="Roboto Slab" pitchFamily="34" charset="0"/>
                  <a:ea typeface="Roboto Slab" pitchFamily="34" charset="-122"/>
                  <a:cs typeface="Roboto Slab" pitchFamily="34" charset="-120"/>
                </a:rPr>
                <a:t>4</a:t>
              </a:r>
              <a:endParaRPr lang="en-US" sz="1450" dirty="0"/>
            </a:p>
          </p:txBody>
        </p:sp>
        <p:sp>
          <p:nvSpPr>
            <p:cNvPr id="16" name="Text 14"/>
            <p:cNvSpPr/>
            <p:nvPr/>
          </p:nvSpPr>
          <p:spPr>
            <a:xfrm>
              <a:off x="938209" y="2826023"/>
              <a:ext cx="394380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Write down the summary.</a:t>
              </a:r>
              <a:endParaRPr lang="en-US" sz="1200" dirty="0"/>
            </a:p>
          </p:txBody>
        </p:sp>
      </p:grpSp>
      <p:grpSp>
        <p:nvGrpSpPr>
          <p:cNvPr id="32" name="Group 31">
            <a:extLst>
              <a:ext uri="{FF2B5EF4-FFF2-40B4-BE49-F238E27FC236}">
                <a16:creationId xmlns:a16="http://schemas.microsoft.com/office/drawing/2014/main" id="{B0BA5EC6-C633-9E5D-A37B-1444735C93FC}"/>
              </a:ext>
            </a:extLst>
          </p:cNvPr>
          <p:cNvGrpSpPr/>
          <p:nvPr/>
        </p:nvGrpSpPr>
        <p:grpSpPr>
          <a:xfrm>
            <a:off x="3264991" y="2791960"/>
            <a:ext cx="5382895" cy="778352"/>
            <a:chOff x="3264991" y="2791960"/>
            <a:chExt cx="5382895" cy="778352"/>
          </a:xfrm>
        </p:grpSpPr>
        <p:sp>
          <p:nvSpPr>
            <p:cNvPr id="29" name="Shape 3">
              <a:extLst>
                <a:ext uri="{FF2B5EF4-FFF2-40B4-BE49-F238E27FC236}">
                  <a16:creationId xmlns:a16="http://schemas.microsoft.com/office/drawing/2014/main" id="{0495BCC2-C4C4-676D-DDAA-E93F5EC08380}"/>
                </a:ext>
              </a:extLst>
            </p:cNvPr>
            <p:cNvSpPr/>
            <p:nvPr/>
          </p:nvSpPr>
          <p:spPr>
            <a:xfrm>
              <a:off x="3264991" y="2791960"/>
              <a:ext cx="279053" cy="279053"/>
            </a:xfrm>
            <a:prstGeom prst="roundRect">
              <a:avLst>
                <a:gd name="adj" fmla="val 6668"/>
              </a:avLst>
            </a:prstGeom>
            <a:solidFill>
              <a:srgbClr val="E9ECF2"/>
            </a:solidFill>
            <a:ln/>
          </p:spPr>
          <p:txBody>
            <a:bodyPr/>
            <a:lstStyle/>
            <a:p>
              <a:endParaRPr lang="en-IN" dirty="0"/>
            </a:p>
          </p:txBody>
        </p:sp>
        <p:grpSp>
          <p:nvGrpSpPr>
            <p:cNvPr id="28" name="Group 27">
              <a:extLst>
                <a:ext uri="{FF2B5EF4-FFF2-40B4-BE49-F238E27FC236}">
                  <a16:creationId xmlns:a16="http://schemas.microsoft.com/office/drawing/2014/main" id="{9B4BA29B-3E56-95EB-7EBC-8E9BC4362D32}"/>
                </a:ext>
              </a:extLst>
            </p:cNvPr>
            <p:cNvGrpSpPr/>
            <p:nvPr/>
          </p:nvGrpSpPr>
          <p:grpSpPr>
            <a:xfrm>
              <a:off x="3276369" y="2823333"/>
              <a:ext cx="5371517" cy="746979"/>
              <a:chOff x="4623140" y="2823333"/>
              <a:chExt cx="4024742" cy="746979"/>
            </a:xfrm>
          </p:grpSpPr>
          <p:sp>
            <p:nvSpPr>
              <p:cNvPr id="18" name="Text 16"/>
              <p:cNvSpPr/>
              <p:nvPr/>
            </p:nvSpPr>
            <p:spPr>
              <a:xfrm>
                <a:off x="4623140" y="2823333"/>
                <a:ext cx="186035" cy="232544"/>
              </a:xfrm>
              <a:prstGeom prst="rect">
                <a:avLst/>
              </a:prstGeom>
              <a:noFill/>
              <a:ln/>
            </p:spPr>
            <p:txBody>
              <a:bodyPr wrap="none" lIns="0" tIns="0" rIns="0" bIns="0" rtlCol="0" anchor="ctr"/>
              <a:lstStyle/>
              <a:p>
                <a:pPr marL="0" indent="0" algn="ctr">
                  <a:lnSpc>
                    <a:spcPct val="100000"/>
                  </a:lnSpc>
                  <a:buNone/>
                </a:pPr>
                <a:r>
                  <a:rPr lang="en-US" sz="1450" dirty="0">
                    <a:solidFill>
                      <a:srgbClr val="15213F"/>
                    </a:solidFill>
                    <a:latin typeface="Roboto Slab" pitchFamily="34" charset="0"/>
                    <a:ea typeface="Roboto Slab" pitchFamily="34" charset="-122"/>
                    <a:cs typeface="Roboto Slab" pitchFamily="34" charset="-120"/>
                  </a:rPr>
                  <a:t>5</a:t>
                </a:r>
                <a:endParaRPr lang="en-US" sz="1450" dirty="0"/>
              </a:p>
            </p:txBody>
          </p:sp>
          <p:sp>
            <p:nvSpPr>
              <p:cNvPr id="19" name="Text 17"/>
              <p:cNvSpPr/>
              <p:nvPr/>
            </p:nvSpPr>
            <p:spPr>
              <a:xfrm>
                <a:off x="4916593" y="2826023"/>
                <a:ext cx="3731289"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Now ask a more specific question: </a:t>
                </a:r>
                <a:r>
                  <a:rPr lang="en-US" sz="1200" i="1" dirty="0">
                    <a:solidFill>
                      <a:srgbClr val="15213F"/>
                    </a:solidFill>
                    <a:latin typeface="Roboto" pitchFamily="34" charset="0"/>
                    <a:ea typeface="Roboto" pitchFamily="34" charset="-122"/>
                    <a:cs typeface="Roboto" pitchFamily="34" charset="-120"/>
                  </a:rPr>
                  <a:t>"What are tube feet and what do starfish use them for? Answer in one sentence."</a:t>
                </a:r>
                <a:endParaRPr lang="en-US" sz="1200" dirty="0"/>
              </a:p>
            </p:txBody>
          </p:sp>
        </p:grpSp>
      </p:grpSp>
      <p:sp>
        <p:nvSpPr>
          <p:cNvPr id="20" name="Text 18"/>
          <p:cNvSpPr/>
          <p:nvPr/>
        </p:nvSpPr>
        <p:spPr>
          <a:xfrm>
            <a:off x="496119" y="3709839"/>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33" name="Group 32">
            <a:extLst>
              <a:ext uri="{FF2B5EF4-FFF2-40B4-BE49-F238E27FC236}">
                <a16:creationId xmlns:a16="http://schemas.microsoft.com/office/drawing/2014/main" id="{8A122D81-607A-1BD3-BF8B-A7F83E996F27}"/>
              </a:ext>
            </a:extLst>
          </p:cNvPr>
          <p:cNvGrpSpPr/>
          <p:nvPr/>
        </p:nvGrpSpPr>
        <p:grpSpPr>
          <a:xfrm>
            <a:off x="496119" y="4097462"/>
            <a:ext cx="8151763" cy="576635"/>
            <a:chOff x="496119" y="4097462"/>
            <a:chExt cx="8151763" cy="576635"/>
          </a:xfrm>
        </p:grpSpPr>
        <p:sp>
          <p:nvSpPr>
            <p:cNvPr id="21" name="Shape 19"/>
            <p:cNvSpPr/>
            <p:nvPr/>
          </p:nvSpPr>
          <p:spPr>
            <a:xfrm>
              <a:off x="496119" y="4097462"/>
              <a:ext cx="8151763" cy="576635"/>
            </a:xfrm>
            <a:prstGeom prst="roundRect">
              <a:avLst>
                <a:gd name="adj" fmla="val 3227"/>
              </a:avLst>
            </a:prstGeom>
            <a:solidFill>
              <a:srgbClr val="F2F2F2"/>
            </a:solidFill>
            <a:ln/>
          </p:spPr>
          <p:txBody>
            <a:bodyPr/>
            <a:lstStyle/>
            <a:p>
              <a:endParaRPr lang="en-IN"/>
            </a:p>
          </p:txBody>
        </p:sp>
        <p:pic>
          <p:nvPicPr>
            <p:cNvPr id="22" name="Image 0" descr="preencoded.png"/>
            <p:cNvPicPr>
              <a:picLocks noChangeAspect="1"/>
            </p:cNvPicPr>
            <p:nvPr/>
          </p:nvPicPr>
          <p:blipFill>
            <a:blip r:embed="rId3"/>
            <a:stretch>
              <a:fillRect/>
            </a:stretch>
          </p:blipFill>
          <p:spPr>
            <a:xfrm>
              <a:off x="620092" y="4292947"/>
              <a:ext cx="193774" cy="155004"/>
            </a:xfrm>
            <a:prstGeom prst="rect">
              <a:avLst/>
            </a:prstGeom>
          </p:spPr>
        </p:pic>
        <p:sp>
          <p:nvSpPr>
            <p:cNvPr id="23" name="Text 20"/>
            <p:cNvSpPr/>
            <p:nvPr/>
          </p:nvSpPr>
          <p:spPr>
            <a:xfrm>
              <a:off x="937840" y="4252392"/>
              <a:ext cx="7586067" cy="248096"/>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Roboto" pitchFamily="34" charset="0"/>
                  <a:ea typeface="Roboto" pitchFamily="34" charset="-122"/>
                  <a:cs typeface="Roboto" pitchFamily="34" charset="-120"/>
                </a:rPr>
                <a:t>Reflection:</a:t>
              </a:r>
              <a:r>
                <a:rPr lang="en-US" sz="1200" dirty="0">
                  <a:solidFill>
                    <a:srgbClr val="000000"/>
                  </a:solidFill>
                  <a:latin typeface="Roboto" pitchFamily="34" charset="0"/>
                  <a:ea typeface="Roboto" pitchFamily="34" charset="-122"/>
                  <a:cs typeface="Roboto" pitchFamily="34" charset="-120"/>
                </a:rPr>
                <a:t> How is NotebookLM's summary different from what ChatGPT might produce without the source? </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96119" y="505123"/>
            <a:ext cx="3450431" cy="294531"/>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Task 4: Paraphrasing (QuillBot)</a:t>
            </a:r>
            <a:endParaRPr lang="en-US" sz="1850" dirty="0"/>
          </a:p>
        </p:txBody>
      </p:sp>
      <p:sp>
        <p:nvSpPr>
          <p:cNvPr id="3" name="Text 1"/>
          <p:cNvSpPr/>
          <p:nvPr/>
        </p:nvSpPr>
        <p:spPr>
          <a:xfrm>
            <a:off x="496119" y="1023491"/>
            <a:ext cx="815176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Goal:</a:t>
            </a:r>
            <a:r>
              <a:rPr lang="en-US" sz="1150" dirty="0">
                <a:solidFill>
                  <a:srgbClr val="15213F"/>
                </a:solidFill>
                <a:latin typeface="Roboto" pitchFamily="34" charset="0"/>
                <a:ea typeface="Roboto" pitchFamily="34" charset="-122"/>
                <a:cs typeface="Roboto" pitchFamily="34" charset="-120"/>
              </a:rPr>
              <a:t> Rewrite a sentence while keeping the same meaning.</a:t>
            </a:r>
            <a:endParaRPr lang="en-US" sz="1150" dirty="0"/>
          </a:p>
        </p:txBody>
      </p:sp>
      <p:sp>
        <p:nvSpPr>
          <p:cNvPr id="4" name="Text 2"/>
          <p:cNvSpPr/>
          <p:nvPr/>
        </p:nvSpPr>
        <p:spPr>
          <a:xfrm>
            <a:off x="496119" y="1379190"/>
            <a:ext cx="8151763" cy="229791"/>
          </a:xfrm>
          <a:prstGeom prst="rect">
            <a:avLst/>
          </a:prstGeom>
          <a:noFill/>
          <a:ln/>
        </p:spPr>
        <p:txBody>
          <a:bodyPr wrap="none" lIns="0" tIns="0" rIns="0" bIns="0" rtlCol="0" anchor="t"/>
          <a:lstStyle/>
          <a:p>
            <a:pPr marL="0" indent="0" algn="l">
              <a:lnSpc>
                <a:spcPts val="1800"/>
              </a:lnSpc>
              <a:buNone/>
            </a:pPr>
            <a:endParaRPr lang="en-US" sz="1150" dirty="0"/>
          </a:p>
        </p:txBody>
      </p:sp>
      <p:grpSp>
        <p:nvGrpSpPr>
          <p:cNvPr id="27" name="Group 26">
            <a:extLst>
              <a:ext uri="{FF2B5EF4-FFF2-40B4-BE49-F238E27FC236}">
                <a16:creationId xmlns:a16="http://schemas.microsoft.com/office/drawing/2014/main" id="{A6858FA2-2A67-92FF-F14B-5DB262D80460}"/>
              </a:ext>
            </a:extLst>
          </p:cNvPr>
          <p:cNvGrpSpPr/>
          <p:nvPr/>
        </p:nvGrpSpPr>
        <p:grpSpPr>
          <a:xfrm>
            <a:off x="496119" y="1734889"/>
            <a:ext cx="4005932" cy="265137"/>
            <a:chOff x="496119" y="1734889"/>
            <a:chExt cx="4005932" cy="265137"/>
          </a:xfrm>
        </p:grpSpPr>
        <p:sp>
          <p:nvSpPr>
            <p:cNvPr id="5" name="Shape 3"/>
            <p:cNvSpPr/>
            <p:nvPr/>
          </p:nvSpPr>
          <p:spPr>
            <a:xfrm>
              <a:off x="496119" y="1734889"/>
              <a:ext cx="265137" cy="265137"/>
            </a:xfrm>
            <a:prstGeom prst="roundRect">
              <a:avLst>
                <a:gd name="adj" fmla="val 6667"/>
              </a:avLst>
            </a:prstGeom>
            <a:solidFill>
              <a:srgbClr val="E9ECF2"/>
            </a:solidFill>
            <a:ln/>
          </p:spPr>
          <p:txBody>
            <a:bodyPr/>
            <a:lstStyle/>
            <a:p>
              <a:endParaRPr lang="en-IN"/>
            </a:p>
          </p:txBody>
        </p:sp>
        <p:sp>
          <p:nvSpPr>
            <p:cNvPr id="6" name="Text 4"/>
            <p:cNvSpPr/>
            <p:nvPr/>
          </p:nvSpPr>
          <p:spPr>
            <a:xfrm>
              <a:off x="540283" y="1756953"/>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1</a:t>
              </a:r>
              <a:endParaRPr lang="en-US" sz="1350" dirty="0"/>
            </a:p>
          </p:txBody>
        </p:sp>
        <p:sp>
          <p:nvSpPr>
            <p:cNvPr id="7" name="Text 5"/>
            <p:cNvSpPr/>
            <p:nvPr/>
          </p:nvSpPr>
          <p:spPr>
            <a:xfrm>
              <a:off x="873175" y="1749549"/>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Open QuillBot.</a:t>
              </a:r>
              <a:endParaRPr lang="en-US" sz="1150" dirty="0"/>
            </a:p>
          </p:txBody>
        </p:sp>
      </p:grpSp>
      <p:grpSp>
        <p:nvGrpSpPr>
          <p:cNvPr id="33" name="Group 32">
            <a:extLst>
              <a:ext uri="{FF2B5EF4-FFF2-40B4-BE49-F238E27FC236}">
                <a16:creationId xmlns:a16="http://schemas.microsoft.com/office/drawing/2014/main" id="{63012997-B54D-66F7-7CEB-07E5213DAC11}"/>
              </a:ext>
            </a:extLst>
          </p:cNvPr>
          <p:cNvGrpSpPr/>
          <p:nvPr/>
        </p:nvGrpSpPr>
        <p:grpSpPr>
          <a:xfrm>
            <a:off x="4641949" y="1734889"/>
            <a:ext cx="4005932" cy="704032"/>
            <a:chOff x="4641949" y="1734889"/>
            <a:chExt cx="4005932" cy="704032"/>
          </a:xfrm>
        </p:grpSpPr>
        <p:grpSp>
          <p:nvGrpSpPr>
            <p:cNvPr id="28" name="Group 27">
              <a:extLst>
                <a:ext uri="{FF2B5EF4-FFF2-40B4-BE49-F238E27FC236}">
                  <a16:creationId xmlns:a16="http://schemas.microsoft.com/office/drawing/2014/main" id="{CCBA57D3-F0AF-8C5C-C0E4-019DA4CA8668}"/>
                </a:ext>
              </a:extLst>
            </p:cNvPr>
            <p:cNvGrpSpPr/>
            <p:nvPr/>
          </p:nvGrpSpPr>
          <p:grpSpPr>
            <a:xfrm>
              <a:off x="4641949" y="1734889"/>
              <a:ext cx="265137" cy="265137"/>
              <a:chOff x="4641949" y="1734889"/>
              <a:chExt cx="265137" cy="265137"/>
            </a:xfrm>
          </p:grpSpPr>
          <p:sp>
            <p:nvSpPr>
              <p:cNvPr id="8" name="Shape 6"/>
              <p:cNvSpPr/>
              <p:nvPr/>
            </p:nvSpPr>
            <p:spPr>
              <a:xfrm>
                <a:off x="4641949" y="1734889"/>
                <a:ext cx="265137" cy="265137"/>
              </a:xfrm>
              <a:prstGeom prst="roundRect">
                <a:avLst>
                  <a:gd name="adj" fmla="val 6667"/>
                </a:avLst>
              </a:prstGeom>
              <a:solidFill>
                <a:srgbClr val="E9ECF2"/>
              </a:solidFill>
              <a:ln/>
            </p:spPr>
            <p:txBody>
              <a:bodyPr/>
              <a:lstStyle/>
              <a:p>
                <a:endParaRPr lang="en-IN"/>
              </a:p>
            </p:txBody>
          </p:sp>
          <p:sp>
            <p:nvSpPr>
              <p:cNvPr id="9" name="Text 7"/>
              <p:cNvSpPr/>
              <p:nvPr/>
            </p:nvSpPr>
            <p:spPr>
              <a:xfrm>
                <a:off x="4686114" y="1756953"/>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2</a:t>
                </a:r>
                <a:endParaRPr lang="en-US" sz="1350" dirty="0"/>
              </a:p>
            </p:txBody>
          </p:sp>
        </p:grpSp>
        <p:sp>
          <p:nvSpPr>
            <p:cNvPr id="10" name="Text 8"/>
            <p:cNvSpPr/>
            <p:nvPr/>
          </p:nvSpPr>
          <p:spPr>
            <a:xfrm>
              <a:off x="5019005" y="1749549"/>
              <a:ext cx="3628876" cy="689372"/>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Copy the first sentence of the sample text: </a:t>
              </a:r>
              <a:r>
                <a:rPr lang="en-US" sz="1150" i="1" dirty="0">
                  <a:solidFill>
                    <a:srgbClr val="15213F"/>
                  </a:solidFill>
                  <a:latin typeface="Roboto" pitchFamily="34" charset="0"/>
                  <a:ea typeface="Roboto" pitchFamily="34" charset="-122"/>
                  <a:cs typeface="Roboto" pitchFamily="34" charset="-120"/>
                </a:rPr>
                <a:t>"Starfish, also known as sea stars, are marine invertebrates found in oceans all over the world."</a:t>
              </a:r>
              <a:endParaRPr lang="en-US" sz="1150" dirty="0"/>
            </a:p>
          </p:txBody>
        </p:sp>
      </p:grpSp>
      <p:grpSp>
        <p:nvGrpSpPr>
          <p:cNvPr id="29" name="Group 28">
            <a:extLst>
              <a:ext uri="{FF2B5EF4-FFF2-40B4-BE49-F238E27FC236}">
                <a16:creationId xmlns:a16="http://schemas.microsoft.com/office/drawing/2014/main" id="{B84EDFB8-6DAB-D0DB-11E0-01B25B2EAAA6}"/>
              </a:ext>
            </a:extLst>
          </p:cNvPr>
          <p:cNvGrpSpPr/>
          <p:nvPr/>
        </p:nvGrpSpPr>
        <p:grpSpPr>
          <a:xfrm>
            <a:off x="496119" y="2662758"/>
            <a:ext cx="4005932" cy="265137"/>
            <a:chOff x="496119" y="2662758"/>
            <a:chExt cx="4005932" cy="265137"/>
          </a:xfrm>
        </p:grpSpPr>
        <p:sp>
          <p:nvSpPr>
            <p:cNvPr id="11" name="Shape 9"/>
            <p:cNvSpPr/>
            <p:nvPr/>
          </p:nvSpPr>
          <p:spPr>
            <a:xfrm>
              <a:off x="496119" y="2662758"/>
              <a:ext cx="265137" cy="265137"/>
            </a:xfrm>
            <a:prstGeom prst="roundRect">
              <a:avLst>
                <a:gd name="adj" fmla="val 6667"/>
              </a:avLst>
            </a:prstGeom>
            <a:solidFill>
              <a:srgbClr val="E9ECF2"/>
            </a:solidFill>
            <a:ln/>
          </p:spPr>
          <p:txBody>
            <a:bodyPr/>
            <a:lstStyle/>
            <a:p>
              <a:endParaRPr lang="en-IN"/>
            </a:p>
          </p:txBody>
        </p:sp>
        <p:sp>
          <p:nvSpPr>
            <p:cNvPr id="12" name="Text 10"/>
            <p:cNvSpPr/>
            <p:nvPr/>
          </p:nvSpPr>
          <p:spPr>
            <a:xfrm>
              <a:off x="540283" y="2684822"/>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3</a:t>
              </a:r>
              <a:endParaRPr lang="en-US" sz="1350" dirty="0"/>
            </a:p>
          </p:txBody>
        </p:sp>
        <p:sp>
          <p:nvSpPr>
            <p:cNvPr id="13" name="Text 11"/>
            <p:cNvSpPr/>
            <p:nvPr/>
          </p:nvSpPr>
          <p:spPr>
            <a:xfrm>
              <a:off x="873175" y="2677418"/>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Paste it into QuillBot and click "Paraphrase".</a:t>
              </a:r>
              <a:endParaRPr lang="en-US" sz="1150" dirty="0"/>
            </a:p>
          </p:txBody>
        </p:sp>
      </p:grpSp>
      <p:grpSp>
        <p:nvGrpSpPr>
          <p:cNvPr id="35" name="Group 34">
            <a:extLst>
              <a:ext uri="{FF2B5EF4-FFF2-40B4-BE49-F238E27FC236}">
                <a16:creationId xmlns:a16="http://schemas.microsoft.com/office/drawing/2014/main" id="{6DBBDD43-AFB1-2BFD-ABD3-23D7D0539001}"/>
              </a:ext>
            </a:extLst>
          </p:cNvPr>
          <p:cNvGrpSpPr/>
          <p:nvPr/>
        </p:nvGrpSpPr>
        <p:grpSpPr>
          <a:xfrm>
            <a:off x="4641949" y="2662758"/>
            <a:ext cx="4005932" cy="474241"/>
            <a:chOff x="4641949" y="2662758"/>
            <a:chExt cx="4005932" cy="474241"/>
          </a:xfrm>
        </p:grpSpPr>
        <p:sp>
          <p:nvSpPr>
            <p:cNvPr id="14" name="Shape 12"/>
            <p:cNvSpPr/>
            <p:nvPr/>
          </p:nvSpPr>
          <p:spPr>
            <a:xfrm>
              <a:off x="4641949" y="2662758"/>
              <a:ext cx="265137" cy="265137"/>
            </a:xfrm>
            <a:prstGeom prst="roundRect">
              <a:avLst>
                <a:gd name="adj" fmla="val 6667"/>
              </a:avLst>
            </a:prstGeom>
            <a:solidFill>
              <a:srgbClr val="E9ECF2"/>
            </a:solidFill>
            <a:ln/>
          </p:spPr>
          <p:txBody>
            <a:bodyPr/>
            <a:lstStyle/>
            <a:p>
              <a:endParaRPr lang="en-IN"/>
            </a:p>
          </p:txBody>
        </p:sp>
        <p:grpSp>
          <p:nvGrpSpPr>
            <p:cNvPr id="30" name="Group 29">
              <a:extLst>
                <a:ext uri="{FF2B5EF4-FFF2-40B4-BE49-F238E27FC236}">
                  <a16:creationId xmlns:a16="http://schemas.microsoft.com/office/drawing/2014/main" id="{7A267098-83D9-F701-405C-FB45DF4BFD1B}"/>
                </a:ext>
              </a:extLst>
            </p:cNvPr>
            <p:cNvGrpSpPr/>
            <p:nvPr/>
          </p:nvGrpSpPr>
          <p:grpSpPr>
            <a:xfrm>
              <a:off x="4686114" y="2677418"/>
              <a:ext cx="3961767" cy="459581"/>
              <a:chOff x="4686114" y="2677418"/>
              <a:chExt cx="3961767" cy="459581"/>
            </a:xfrm>
          </p:grpSpPr>
          <p:sp>
            <p:nvSpPr>
              <p:cNvPr id="15" name="Text 13"/>
              <p:cNvSpPr/>
              <p:nvPr/>
            </p:nvSpPr>
            <p:spPr>
              <a:xfrm>
                <a:off x="4686114" y="2684822"/>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4</a:t>
                </a:r>
                <a:endParaRPr lang="en-US" sz="1350" dirty="0"/>
              </a:p>
            </p:txBody>
          </p:sp>
          <p:sp>
            <p:nvSpPr>
              <p:cNvPr id="16" name="Text 14"/>
              <p:cNvSpPr/>
              <p:nvPr/>
            </p:nvSpPr>
            <p:spPr>
              <a:xfrm>
                <a:off x="5019005" y="2677418"/>
                <a:ext cx="362887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Try at least two different modes: "Standard", "Fluency", "Creative".</a:t>
                </a:r>
                <a:endParaRPr lang="en-US" sz="1150" dirty="0"/>
              </a:p>
            </p:txBody>
          </p:sp>
        </p:grpSp>
      </p:grpSp>
      <p:grpSp>
        <p:nvGrpSpPr>
          <p:cNvPr id="31" name="Group 30">
            <a:extLst>
              <a:ext uri="{FF2B5EF4-FFF2-40B4-BE49-F238E27FC236}">
                <a16:creationId xmlns:a16="http://schemas.microsoft.com/office/drawing/2014/main" id="{742BED84-3453-1B97-B566-6F2156BAD7F3}"/>
              </a:ext>
            </a:extLst>
          </p:cNvPr>
          <p:cNvGrpSpPr/>
          <p:nvPr/>
        </p:nvGrpSpPr>
        <p:grpSpPr>
          <a:xfrm>
            <a:off x="496119" y="3360837"/>
            <a:ext cx="4005932" cy="265137"/>
            <a:chOff x="496119" y="3360837"/>
            <a:chExt cx="4005932" cy="265137"/>
          </a:xfrm>
        </p:grpSpPr>
        <p:sp>
          <p:nvSpPr>
            <p:cNvPr id="17" name="Shape 15"/>
            <p:cNvSpPr/>
            <p:nvPr/>
          </p:nvSpPr>
          <p:spPr>
            <a:xfrm>
              <a:off x="496119" y="3360837"/>
              <a:ext cx="265137" cy="265137"/>
            </a:xfrm>
            <a:prstGeom prst="roundRect">
              <a:avLst>
                <a:gd name="adj" fmla="val 6667"/>
              </a:avLst>
            </a:prstGeom>
            <a:solidFill>
              <a:srgbClr val="E9ECF2"/>
            </a:solidFill>
            <a:ln/>
          </p:spPr>
          <p:txBody>
            <a:bodyPr/>
            <a:lstStyle/>
            <a:p>
              <a:endParaRPr lang="en-IN"/>
            </a:p>
          </p:txBody>
        </p:sp>
        <p:sp>
          <p:nvSpPr>
            <p:cNvPr id="18" name="Text 16"/>
            <p:cNvSpPr/>
            <p:nvPr/>
          </p:nvSpPr>
          <p:spPr>
            <a:xfrm>
              <a:off x="540283" y="3382900"/>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5</a:t>
              </a:r>
              <a:endParaRPr lang="en-US" sz="1350" dirty="0"/>
            </a:p>
          </p:txBody>
        </p:sp>
        <p:sp>
          <p:nvSpPr>
            <p:cNvPr id="19" name="Text 17"/>
            <p:cNvSpPr/>
            <p:nvPr/>
          </p:nvSpPr>
          <p:spPr>
            <a:xfrm>
              <a:off x="873175" y="3375496"/>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Write down your favourite paraphrased version.</a:t>
              </a:r>
              <a:endParaRPr lang="en-US" sz="1150" dirty="0"/>
            </a:p>
          </p:txBody>
        </p:sp>
      </p:grpSp>
      <p:grpSp>
        <p:nvGrpSpPr>
          <p:cNvPr id="32" name="Group 31">
            <a:extLst>
              <a:ext uri="{FF2B5EF4-FFF2-40B4-BE49-F238E27FC236}">
                <a16:creationId xmlns:a16="http://schemas.microsoft.com/office/drawing/2014/main" id="{FE767634-1B0F-F66A-58E7-241C90D64959}"/>
              </a:ext>
            </a:extLst>
          </p:cNvPr>
          <p:cNvGrpSpPr/>
          <p:nvPr/>
        </p:nvGrpSpPr>
        <p:grpSpPr>
          <a:xfrm>
            <a:off x="4641949" y="3360837"/>
            <a:ext cx="4005932" cy="265137"/>
            <a:chOff x="4641949" y="3360837"/>
            <a:chExt cx="4005932" cy="265137"/>
          </a:xfrm>
        </p:grpSpPr>
        <p:sp>
          <p:nvSpPr>
            <p:cNvPr id="20" name="Shape 18"/>
            <p:cNvSpPr/>
            <p:nvPr/>
          </p:nvSpPr>
          <p:spPr>
            <a:xfrm>
              <a:off x="4641949" y="3360837"/>
              <a:ext cx="265137" cy="265137"/>
            </a:xfrm>
            <a:prstGeom prst="roundRect">
              <a:avLst>
                <a:gd name="adj" fmla="val 6667"/>
              </a:avLst>
            </a:prstGeom>
            <a:solidFill>
              <a:srgbClr val="E9ECF2"/>
            </a:solidFill>
            <a:ln/>
          </p:spPr>
          <p:txBody>
            <a:bodyPr/>
            <a:lstStyle/>
            <a:p>
              <a:endParaRPr lang="en-IN"/>
            </a:p>
          </p:txBody>
        </p:sp>
        <p:sp>
          <p:nvSpPr>
            <p:cNvPr id="21" name="Text 19"/>
            <p:cNvSpPr/>
            <p:nvPr/>
          </p:nvSpPr>
          <p:spPr>
            <a:xfrm>
              <a:off x="4686114" y="3382900"/>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6</a:t>
              </a:r>
              <a:endParaRPr lang="en-US" sz="1350" dirty="0"/>
            </a:p>
          </p:txBody>
        </p:sp>
        <p:sp>
          <p:nvSpPr>
            <p:cNvPr id="22" name="Text 20"/>
            <p:cNvSpPr/>
            <p:nvPr/>
          </p:nvSpPr>
          <p:spPr>
            <a:xfrm>
              <a:off x="5019005" y="3375496"/>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Compare it with the original. Did the meaning change?</a:t>
              </a:r>
              <a:endParaRPr lang="en-US" sz="1150" dirty="0"/>
            </a:p>
          </p:txBody>
        </p:sp>
      </p:grpSp>
      <p:sp>
        <p:nvSpPr>
          <p:cNvPr id="23" name="Text 21"/>
          <p:cNvSpPr/>
          <p:nvPr/>
        </p:nvSpPr>
        <p:spPr>
          <a:xfrm>
            <a:off x="496119" y="3751883"/>
            <a:ext cx="8151763" cy="229791"/>
          </a:xfrm>
          <a:prstGeom prst="rect">
            <a:avLst/>
          </a:prstGeom>
          <a:noFill/>
          <a:ln/>
        </p:spPr>
        <p:txBody>
          <a:bodyPr wrap="none" lIns="0" tIns="0" rIns="0" bIns="0" rtlCol="0" anchor="t"/>
          <a:lstStyle/>
          <a:p>
            <a:pPr marL="0" indent="0" algn="l">
              <a:lnSpc>
                <a:spcPts val="1800"/>
              </a:lnSpc>
              <a:buNone/>
            </a:pPr>
            <a:endParaRPr lang="en-US" sz="1150" dirty="0"/>
          </a:p>
        </p:txBody>
      </p:sp>
      <p:grpSp>
        <p:nvGrpSpPr>
          <p:cNvPr id="34" name="Group 33">
            <a:extLst>
              <a:ext uri="{FF2B5EF4-FFF2-40B4-BE49-F238E27FC236}">
                <a16:creationId xmlns:a16="http://schemas.microsoft.com/office/drawing/2014/main" id="{38C5D098-693A-F33B-3361-A6009714A931}"/>
              </a:ext>
            </a:extLst>
          </p:cNvPr>
          <p:cNvGrpSpPr/>
          <p:nvPr/>
        </p:nvGrpSpPr>
        <p:grpSpPr>
          <a:xfrm>
            <a:off x="496119" y="4107582"/>
            <a:ext cx="8151763" cy="530721"/>
            <a:chOff x="496119" y="4107582"/>
            <a:chExt cx="8151763" cy="530721"/>
          </a:xfrm>
        </p:grpSpPr>
        <p:sp>
          <p:nvSpPr>
            <p:cNvPr id="24" name="Shape 22"/>
            <p:cNvSpPr/>
            <p:nvPr/>
          </p:nvSpPr>
          <p:spPr>
            <a:xfrm>
              <a:off x="496119" y="4107582"/>
              <a:ext cx="8151763" cy="530721"/>
            </a:xfrm>
            <a:prstGeom prst="roundRect">
              <a:avLst>
                <a:gd name="adj" fmla="val 3331"/>
              </a:avLst>
            </a:prstGeom>
            <a:solidFill>
              <a:srgbClr val="F2F2F2"/>
            </a:solidFill>
            <a:ln/>
          </p:spPr>
          <p:txBody>
            <a:bodyPr/>
            <a:lstStyle/>
            <a:p>
              <a:endParaRPr lang="en-IN" dirty="0"/>
            </a:p>
          </p:txBody>
        </p:sp>
        <p:pic>
          <p:nvPicPr>
            <p:cNvPr id="25" name="Image 0" descr="preencoded.png"/>
            <p:cNvPicPr>
              <a:picLocks noChangeAspect="1"/>
            </p:cNvPicPr>
            <p:nvPr/>
          </p:nvPicPr>
          <p:blipFill>
            <a:blip r:embed="rId3"/>
            <a:stretch>
              <a:fillRect/>
            </a:stretch>
          </p:blipFill>
          <p:spPr>
            <a:xfrm>
              <a:off x="613916" y="4281934"/>
              <a:ext cx="184100" cy="147265"/>
            </a:xfrm>
            <a:prstGeom prst="rect">
              <a:avLst/>
            </a:prstGeom>
          </p:spPr>
        </p:pic>
        <p:sp>
          <p:nvSpPr>
            <p:cNvPr id="26" name="Text 23"/>
            <p:cNvSpPr/>
            <p:nvPr/>
          </p:nvSpPr>
          <p:spPr>
            <a:xfrm>
              <a:off x="915814" y="4248894"/>
              <a:ext cx="7614270" cy="229791"/>
            </a:xfrm>
            <a:prstGeom prst="rect">
              <a:avLst/>
            </a:prstGeom>
            <a:noFill/>
            <a:ln/>
          </p:spPr>
          <p:txBody>
            <a:bodyPr wrap="none" lIns="0" tIns="0" rIns="0" bIns="0" rtlCol="0" anchor="t"/>
            <a:lstStyle/>
            <a:p>
              <a:pPr marL="0" indent="0" algn="l">
                <a:lnSpc>
                  <a:spcPts val="1800"/>
                </a:lnSpc>
                <a:buNone/>
              </a:pPr>
              <a:r>
                <a:rPr lang="en-US" sz="1150" b="1" dirty="0">
                  <a:solidFill>
                    <a:srgbClr val="000000"/>
                  </a:solidFill>
                  <a:latin typeface="Roboto" pitchFamily="34" charset="0"/>
                  <a:ea typeface="Roboto" pitchFamily="34" charset="-122"/>
                  <a:cs typeface="Roboto" pitchFamily="34" charset="-120"/>
                </a:rPr>
                <a:t>Reflection:</a:t>
              </a:r>
              <a:r>
                <a:rPr lang="en-US" sz="1150" dirty="0">
                  <a:solidFill>
                    <a:srgbClr val="000000"/>
                  </a:solidFill>
                  <a:latin typeface="Roboto" pitchFamily="34" charset="0"/>
                  <a:ea typeface="Roboto" pitchFamily="34" charset="-122"/>
                  <a:cs typeface="Roboto" pitchFamily="34" charset="-120"/>
                </a:rPr>
                <a:t> When would paraphrasing be useful? (e.g., avoiding repetition, simplifying language, improving clarity.)</a:t>
              </a:r>
              <a:endParaRPr lang="en-US" sz="11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96119" y="519857"/>
            <a:ext cx="5883697" cy="294531"/>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Task 5: Named Entity Recognition (ChatGPT/Gemini)</a:t>
            </a:r>
            <a:endParaRPr lang="en-US" sz="1850" dirty="0"/>
          </a:p>
        </p:txBody>
      </p:sp>
      <p:sp>
        <p:nvSpPr>
          <p:cNvPr id="3" name="Text 1"/>
          <p:cNvSpPr/>
          <p:nvPr/>
        </p:nvSpPr>
        <p:spPr>
          <a:xfrm>
            <a:off x="496119" y="1038225"/>
            <a:ext cx="815176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Goal:</a:t>
            </a:r>
            <a:r>
              <a:rPr lang="en-US" sz="1150" dirty="0">
                <a:solidFill>
                  <a:srgbClr val="15213F"/>
                </a:solidFill>
                <a:latin typeface="Roboto" pitchFamily="34" charset="0"/>
                <a:ea typeface="Roboto" pitchFamily="34" charset="-122"/>
                <a:cs typeface="Roboto" pitchFamily="34" charset="-120"/>
              </a:rPr>
              <a:t> Extract people, places, organisations, and dates from a sentence.</a:t>
            </a:r>
            <a:endParaRPr lang="en-US" sz="1150" dirty="0"/>
          </a:p>
        </p:txBody>
      </p:sp>
      <p:sp>
        <p:nvSpPr>
          <p:cNvPr id="4" name="Text 2"/>
          <p:cNvSpPr/>
          <p:nvPr/>
        </p:nvSpPr>
        <p:spPr>
          <a:xfrm>
            <a:off x="496119" y="1393924"/>
            <a:ext cx="8151763" cy="229791"/>
          </a:xfrm>
          <a:prstGeom prst="rect">
            <a:avLst/>
          </a:prstGeom>
          <a:noFill/>
          <a:ln/>
        </p:spPr>
        <p:txBody>
          <a:bodyPr wrap="none" lIns="0" tIns="0" rIns="0" bIns="0" rtlCol="0" anchor="t"/>
          <a:lstStyle/>
          <a:p>
            <a:pPr marL="0" indent="0" algn="l">
              <a:lnSpc>
                <a:spcPts val="1800"/>
              </a:lnSpc>
              <a:buNone/>
            </a:pPr>
            <a:endParaRPr lang="en-US" sz="1150" dirty="0"/>
          </a:p>
        </p:txBody>
      </p:sp>
      <p:grpSp>
        <p:nvGrpSpPr>
          <p:cNvPr id="21" name="Group 20">
            <a:extLst>
              <a:ext uri="{FF2B5EF4-FFF2-40B4-BE49-F238E27FC236}">
                <a16:creationId xmlns:a16="http://schemas.microsoft.com/office/drawing/2014/main" id="{053A73EB-EDC4-168B-3EE8-41FE97FD425E}"/>
              </a:ext>
            </a:extLst>
          </p:cNvPr>
          <p:cNvGrpSpPr/>
          <p:nvPr/>
        </p:nvGrpSpPr>
        <p:grpSpPr>
          <a:xfrm>
            <a:off x="496119" y="1749623"/>
            <a:ext cx="4005932" cy="933823"/>
            <a:chOff x="496119" y="1749623"/>
            <a:chExt cx="4005932" cy="933823"/>
          </a:xfrm>
        </p:grpSpPr>
        <p:sp>
          <p:nvSpPr>
            <p:cNvPr id="5" name="Shape 3"/>
            <p:cNvSpPr/>
            <p:nvPr/>
          </p:nvSpPr>
          <p:spPr>
            <a:xfrm>
              <a:off x="496119" y="1749623"/>
              <a:ext cx="265137" cy="265137"/>
            </a:xfrm>
            <a:prstGeom prst="roundRect">
              <a:avLst>
                <a:gd name="adj" fmla="val 6667"/>
              </a:avLst>
            </a:prstGeom>
            <a:solidFill>
              <a:srgbClr val="E9ECF2"/>
            </a:solidFill>
            <a:ln/>
          </p:spPr>
          <p:txBody>
            <a:bodyPr/>
            <a:lstStyle/>
            <a:p>
              <a:endParaRPr lang="en-IN"/>
            </a:p>
          </p:txBody>
        </p:sp>
        <p:sp>
          <p:nvSpPr>
            <p:cNvPr id="6" name="Text 4"/>
            <p:cNvSpPr/>
            <p:nvPr/>
          </p:nvSpPr>
          <p:spPr>
            <a:xfrm>
              <a:off x="540283" y="177168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1</a:t>
              </a:r>
              <a:endParaRPr lang="en-US" sz="1350" dirty="0"/>
            </a:p>
          </p:txBody>
        </p:sp>
        <p:sp>
          <p:nvSpPr>
            <p:cNvPr id="7" name="Text 5"/>
            <p:cNvSpPr/>
            <p:nvPr/>
          </p:nvSpPr>
          <p:spPr>
            <a:xfrm>
              <a:off x="873175" y="1764283"/>
              <a:ext cx="3628876" cy="919163"/>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In ChatGPT or Gemini, type: </a:t>
              </a:r>
              <a:r>
                <a:rPr lang="en-US" sz="1150" i="1" dirty="0">
                  <a:solidFill>
                    <a:srgbClr val="15213F"/>
                  </a:solidFill>
                  <a:latin typeface="Roboto" pitchFamily="34" charset="0"/>
                  <a:ea typeface="Roboto" pitchFamily="34" charset="-122"/>
                  <a:cs typeface="Roboto" pitchFamily="34" charset="-120"/>
                </a:rPr>
                <a:t>"Perform named entity recognition (NER) on the following sentence. List each entity and its type (person, location, organisation, date, etc.)."</a:t>
              </a:r>
              <a:endParaRPr lang="en-US" sz="1150" dirty="0"/>
            </a:p>
          </p:txBody>
        </p:sp>
      </p:grpSp>
      <p:grpSp>
        <p:nvGrpSpPr>
          <p:cNvPr id="22" name="Group 21">
            <a:extLst>
              <a:ext uri="{FF2B5EF4-FFF2-40B4-BE49-F238E27FC236}">
                <a16:creationId xmlns:a16="http://schemas.microsoft.com/office/drawing/2014/main" id="{DD15C0CF-26F7-E329-D190-AEA40CE44FE7}"/>
              </a:ext>
            </a:extLst>
          </p:cNvPr>
          <p:cNvGrpSpPr/>
          <p:nvPr/>
        </p:nvGrpSpPr>
        <p:grpSpPr>
          <a:xfrm>
            <a:off x="4641949" y="1749623"/>
            <a:ext cx="4005932" cy="704032"/>
            <a:chOff x="4641949" y="1749623"/>
            <a:chExt cx="4005932" cy="704032"/>
          </a:xfrm>
        </p:grpSpPr>
        <p:sp>
          <p:nvSpPr>
            <p:cNvPr id="8" name="Shape 6"/>
            <p:cNvSpPr/>
            <p:nvPr/>
          </p:nvSpPr>
          <p:spPr>
            <a:xfrm>
              <a:off x="4641949" y="1749623"/>
              <a:ext cx="265137" cy="265137"/>
            </a:xfrm>
            <a:prstGeom prst="roundRect">
              <a:avLst>
                <a:gd name="adj" fmla="val 6667"/>
              </a:avLst>
            </a:prstGeom>
            <a:solidFill>
              <a:srgbClr val="E9ECF2"/>
            </a:solidFill>
            <a:ln/>
          </p:spPr>
          <p:txBody>
            <a:bodyPr/>
            <a:lstStyle/>
            <a:p>
              <a:endParaRPr lang="en-IN"/>
            </a:p>
          </p:txBody>
        </p:sp>
        <p:sp>
          <p:nvSpPr>
            <p:cNvPr id="9" name="Text 7"/>
            <p:cNvSpPr/>
            <p:nvPr/>
          </p:nvSpPr>
          <p:spPr>
            <a:xfrm>
              <a:off x="4686114" y="177168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2</a:t>
              </a:r>
              <a:endParaRPr lang="en-US" sz="1350" dirty="0"/>
            </a:p>
          </p:txBody>
        </p:sp>
        <p:sp>
          <p:nvSpPr>
            <p:cNvPr id="10" name="Text 8"/>
            <p:cNvSpPr/>
            <p:nvPr/>
          </p:nvSpPr>
          <p:spPr>
            <a:xfrm>
              <a:off x="5019005" y="1764283"/>
              <a:ext cx="3628876" cy="689372"/>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Paste this sentence: </a:t>
              </a:r>
              <a:r>
                <a:rPr lang="en-US" sz="1150" i="1" dirty="0">
                  <a:solidFill>
                    <a:srgbClr val="15213F"/>
                  </a:solidFill>
                  <a:latin typeface="Roboto" pitchFamily="34" charset="0"/>
                  <a:ea typeface="Roboto" pitchFamily="34" charset="-122"/>
                  <a:cs typeface="Roboto" pitchFamily="34" charset="-120"/>
                </a:rPr>
                <a:t>"Marie Curie was born in Warsaw, Poland in 1867. She later moved to Paris, France, where she discovered radium and polonium."</a:t>
              </a:r>
              <a:endParaRPr lang="en-US" sz="1150" dirty="0"/>
            </a:p>
          </p:txBody>
        </p:sp>
      </p:grpSp>
      <p:grpSp>
        <p:nvGrpSpPr>
          <p:cNvPr id="23" name="Group 22">
            <a:extLst>
              <a:ext uri="{FF2B5EF4-FFF2-40B4-BE49-F238E27FC236}">
                <a16:creationId xmlns:a16="http://schemas.microsoft.com/office/drawing/2014/main" id="{B965C8F1-E1D9-73B7-0838-E8C8EAEACB48}"/>
              </a:ext>
            </a:extLst>
          </p:cNvPr>
          <p:cNvGrpSpPr/>
          <p:nvPr/>
        </p:nvGrpSpPr>
        <p:grpSpPr>
          <a:xfrm>
            <a:off x="496119" y="2907283"/>
            <a:ext cx="4005932" cy="265137"/>
            <a:chOff x="496119" y="2907283"/>
            <a:chExt cx="4005932" cy="265137"/>
          </a:xfrm>
        </p:grpSpPr>
        <p:sp>
          <p:nvSpPr>
            <p:cNvPr id="11" name="Shape 9"/>
            <p:cNvSpPr/>
            <p:nvPr/>
          </p:nvSpPr>
          <p:spPr>
            <a:xfrm>
              <a:off x="496119" y="2907283"/>
              <a:ext cx="265137" cy="265137"/>
            </a:xfrm>
            <a:prstGeom prst="roundRect">
              <a:avLst>
                <a:gd name="adj" fmla="val 6667"/>
              </a:avLst>
            </a:prstGeom>
            <a:solidFill>
              <a:srgbClr val="E9ECF2"/>
            </a:solidFill>
            <a:ln/>
          </p:spPr>
          <p:txBody>
            <a:bodyPr/>
            <a:lstStyle/>
            <a:p>
              <a:endParaRPr lang="en-IN"/>
            </a:p>
          </p:txBody>
        </p:sp>
        <p:sp>
          <p:nvSpPr>
            <p:cNvPr id="12" name="Text 10"/>
            <p:cNvSpPr/>
            <p:nvPr/>
          </p:nvSpPr>
          <p:spPr>
            <a:xfrm>
              <a:off x="540283" y="292934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3</a:t>
              </a:r>
              <a:endParaRPr lang="en-US" sz="1350" dirty="0"/>
            </a:p>
          </p:txBody>
        </p:sp>
        <p:sp>
          <p:nvSpPr>
            <p:cNvPr id="13" name="Text 11"/>
            <p:cNvSpPr/>
            <p:nvPr/>
          </p:nvSpPr>
          <p:spPr>
            <a:xfrm>
              <a:off x="873175" y="2921943"/>
              <a:ext cx="362887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Write down the entities the AI finds.</a:t>
              </a:r>
              <a:endParaRPr lang="en-US" sz="1150" dirty="0"/>
            </a:p>
          </p:txBody>
        </p:sp>
      </p:grpSp>
      <p:grpSp>
        <p:nvGrpSpPr>
          <p:cNvPr id="24" name="Group 23">
            <a:extLst>
              <a:ext uri="{FF2B5EF4-FFF2-40B4-BE49-F238E27FC236}">
                <a16:creationId xmlns:a16="http://schemas.microsoft.com/office/drawing/2014/main" id="{157628E8-CAEB-E8A5-3256-CAF53CA96D68}"/>
              </a:ext>
            </a:extLst>
          </p:cNvPr>
          <p:cNvGrpSpPr/>
          <p:nvPr/>
        </p:nvGrpSpPr>
        <p:grpSpPr>
          <a:xfrm>
            <a:off x="4641949" y="2907283"/>
            <a:ext cx="4005932" cy="474241"/>
            <a:chOff x="4641949" y="2907283"/>
            <a:chExt cx="4005932" cy="474241"/>
          </a:xfrm>
        </p:grpSpPr>
        <p:sp>
          <p:nvSpPr>
            <p:cNvPr id="14" name="Shape 12"/>
            <p:cNvSpPr/>
            <p:nvPr/>
          </p:nvSpPr>
          <p:spPr>
            <a:xfrm>
              <a:off x="4641949" y="2907283"/>
              <a:ext cx="265137" cy="265137"/>
            </a:xfrm>
            <a:prstGeom prst="roundRect">
              <a:avLst>
                <a:gd name="adj" fmla="val 6667"/>
              </a:avLst>
            </a:prstGeom>
            <a:solidFill>
              <a:srgbClr val="E9ECF2"/>
            </a:solidFill>
            <a:ln/>
          </p:spPr>
          <p:txBody>
            <a:bodyPr/>
            <a:lstStyle/>
            <a:p>
              <a:endParaRPr lang="en-IN"/>
            </a:p>
          </p:txBody>
        </p:sp>
        <p:sp>
          <p:nvSpPr>
            <p:cNvPr id="15" name="Text 13"/>
            <p:cNvSpPr/>
            <p:nvPr/>
          </p:nvSpPr>
          <p:spPr>
            <a:xfrm>
              <a:off x="4686114" y="2929347"/>
              <a:ext cx="176733" cy="220935"/>
            </a:xfrm>
            <a:prstGeom prst="rect">
              <a:avLst/>
            </a:prstGeom>
            <a:noFill/>
            <a:ln/>
          </p:spPr>
          <p:txBody>
            <a:bodyPr wrap="none" lIns="0" tIns="0" rIns="0" bIns="0" rtlCol="0" anchor="ctr"/>
            <a:lstStyle/>
            <a:p>
              <a:pPr marL="0" indent="0" algn="ctr">
                <a:lnSpc>
                  <a:spcPct val="100000"/>
                </a:lnSpc>
                <a:buNone/>
              </a:pPr>
              <a:r>
                <a:rPr lang="en-US" sz="1350" dirty="0">
                  <a:solidFill>
                    <a:srgbClr val="15213F"/>
                  </a:solidFill>
                  <a:latin typeface="Roboto Slab" pitchFamily="34" charset="0"/>
                  <a:ea typeface="Roboto Slab" pitchFamily="34" charset="-122"/>
                  <a:cs typeface="Roboto Slab" pitchFamily="34" charset="-120"/>
                </a:rPr>
                <a:t>4</a:t>
              </a:r>
              <a:endParaRPr lang="en-US" sz="1350" dirty="0"/>
            </a:p>
          </p:txBody>
        </p:sp>
        <p:sp>
          <p:nvSpPr>
            <p:cNvPr id="16" name="Text 14"/>
            <p:cNvSpPr/>
            <p:nvPr/>
          </p:nvSpPr>
          <p:spPr>
            <a:xfrm>
              <a:off x="5019005" y="2921943"/>
              <a:ext cx="362887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Try your own sentence: </a:t>
              </a:r>
              <a:r>
                <a:rPr lang="en-US" sz="1150" i="1" dirty="0">
                  <a:solidFill>
                    <a:srgbClr val="15213F"/>
                  </a:solidFill>
                  <a:latin typeface="Roboto" pitchFamily="34" charset="0"/>
                  <a:ea typeface="Roboto" pitchFamily="34" charset="-122"/>
                  <a:cs typeface="Roboto" pitchFamily="34" charset="-120"/>
                </a:rPr>
                <a:t>"My family is planning a trip to Tokyo, Japan next summer to visit the Ghibli Museum."</a:t>
              </a:r>
              <a:endParaRPr lang="en-US" sz="1150" dirty="0"/>
            </a:p>
          </p:txBody>
        </p:sp>
      </p:grpSp>
      <p:sp>
        <p:nvSpPr>
          <p:cNvPr id="17" name="Text 15"/>
          <p:cNvSpPr/>
          <p:nvPr/>
        </p:nvSpPr>
        <p:spPr>
          <a:xfrm>
            <a:off x="496119" y="3507432"/>
            <a:ext cx="8151763" cy="229791"/>
          </a:xfrm>
          <a:prstGeom prst="rect">
            <a:avLst/>
          </a:prstGeom>
          <a:noFill/>
          <a:ln/>
        </p:spPr>
        <p:txBody>
          <a:bodyPr wrap="none" lIns="0" tIns="0" rIns="0" bIns="0" rtlCol="0" anchor="t"/>
          <a:lstStyle/>
          <a:p>
            <a:pPr marL="0" indent="0" algn="l">
              <a:lnSpc>
                <a:spcPts val="1800"/>
              </a:lnSpc>
              <a:buNone/>
            </a:pPr>
            <a:endParaRPr lang="en-US" sz="1150" dirty="0"/>
          </a:p>
        </p:txBody>
      </p:sp>
      <p:grpSp>
        <p:nvGrpSpPr>
          <p:cNvPr id="25" name="Group 24">
            <a:extLst>
              <a:ext uri="{FF2B5EF4-FFF2-40B4-BE49-F238E27FC236}">
                <a16:creationId xmlns:a16="http://schemas.microsoft.com/office/drawing/2014/main" id="{6579CAF0-A299-A910-B580-9629B46CD25E}"/>
              </a:ext>
            </a:extLst>
          </p:cNvPr>
          <p:cNvGrpSpPr/>
          <p:nvPr/>
        </p:nvGrpSpPr>
        <p:grpSpPr>
          <a:xfrm>
            <a:off x="496119" y="3863132"/>
            <a:ext cx="8151763" cy="760512"/>
            <a:chOff x="496119" y="3863132"/>
            <a:chExt cx="8151763" cy="760512"/>
          </a:xfrm>
        </p:grpSpPr>
        <p:sp>
          <p:nvSpPr>
            <p:cNvPr id="18" name="Shape 16"/>
            <p:cNvSpPr/>
            <p:nvPr/>
          </p:nvSpPr>
          <p:spPr>
            <a:xfrm>
              <a:off x="496119" y="3863132"/>
              <a:ext cx="8151763" cy="760512"/>
            </a:xfrm>
            <a:prstGeom prst="roundRect">
              <a:avLst>
                <a:gd name="adj" fmla="val 2324"/>
              </a:avLst>
            </a:prstGeom>
            <a:solidFill>
              <a:srgbClr val="F2F2F2"/>
            </a:solidFill>
            <a:ln/>
          </p:spPr>
          <p:txBody>
            <a:bodyPr/>
            <a:lstStyle/>
            <a:p>
              <a:endParaRPr lang="en-IN"/>
            </a:p>
          </p:txBody>
        </p:sp>
        <p:pic>
          <p:nvPicPr>
            <p:cNvPr id="19" name="Image 0" descr="preencoded.png"/>
            <p:cNvPicPr>
              <a:picLocks noChangeAspect="1"/>
            </p:cNvPicPr>
            <p:nvPr/>
          </p:nvPicPr>
          <p:blipFill>
            <a:blip r:embed="rId3"/>
            <a:stretch>
              <a:fillRect/>
            </a:stretch>
          </p:blipFill>
          <p:spPr>
            <a:xfrm>
              <a:off x="613916" y="4037484"/>
              <a:ext cx="184100" cy="147265"/>
            </a:xfrm>
            <a:prstGeom prst="rect">
              <a:avLst/>
            </a:prstGeom>
          </p:spPr>
        </p:pic>
        <p:sp>
          <p:nvSpPr>
            <p:cNvPr id="20" name="Text 17"/>
            <p:cNvSpPr/>
            <p:nvPr/>
          </p:nvSpPr>
          <p:spPr>
            <a:xfrm>
              <a:off x="915814" y="4004444"/>
              <a:ext cx="7614270" cy="459581"/>
            </a:xfrm>
            <a:prstGeom prst="rect">
              <a:avLst/>
            </a:prstGeom>
            <a:noFill/>
            <a:ln/>
          </p:spPr>
          <p:txBody>
            <a:bodyPr wrap="square" lIns="0" tIns="0" rIns="0" bIns="0" rtlCol="0" anchor="t"/>
            <a:lstStyle/>
            <a:p>
              <a:pPr marL="0" indent="0" algn="l">
                <a:lnSpc>
                  <a:spcPts val="1800"/>
                </a:lnSpc>
                <a:buNone/>
              </a:pPr>
              <a:r>
                <a:rPr lang="en-US" sz="1150" b="1" dirty="0">
                  <a:solidFill>
                    <a:srgbClr val="000000"/>
                  </a:solidFill>
                  <a:latin typeface="Roboto" pitchFamily="34" charset="0"/>
                  <a:ea typeface="Roboto" pitchFamily="34" charset="-122"/>
                  <a:cs typeface="Roboto" pitchFamily="34" charset="-120"/>
                </a:rPr>
                <a:t>Reflection:</a:t>
              </a:r>
              <a:r>
                <a:rPr lang="en-US" sz="1150" dirty="0">
                  <a:solidFill>
                    <a:srgbClr val="000000"/>
                  </a:solidFill>
                  <a:latin typeface="Roboto" pitchFamily="34" charset="0"/>
                  <a:ea typeface="Roboto" pitchFamily="34" charset="-122"/>
                  <a:cs typeface="Roboto" pitchFamily="34" charset="-120"/>
                </a:rPr>
                <a:t> Did the AI correctly identify all entities? What about "Ghibli Museum" - is that an organisation or a location?</a:t>
              </a:r>
              <a:endParaRPr lang="en-US" sz="115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96119" y="547464"/>
            <a:ext cx="4035475"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Step 6: Add to Your Prompt Library</a:t>
            </a:r>
            <a:endParaRPr lang="en-US" sz="1950" dirty="0"/>
          </a:p>
        </p:txBody>
      </p:sp>
      <p:sp>
        <p:nvSpPr>
          <p:cNvPr id="3" name="Text 1"/>
          <p:cNvSpPr/>
          <p:nvPr/>
        </p:nvSpPr>
        <p:spPr>
          <a:xfrm>
            <a:off x="496119" y="1105570"/>
            <a:ext cx="81517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Choose </a:t>
            </a:r>
            <a:r>
              <a:rPr lang="en-US" sz="1200" b="1" dirty="0">
                <a:solidFill>
                  <a:srgbClr val="15213F"/>
                </a:solidFill>
                <a:latin typeface="Roboto" pitchFamily="34" charset="0"/>
                <a:ea typeface="Roboto" pitchFamily="34" charset="-122"/>
                <a:cs typeface="Roboto" pitchFamily="34" charset="-120"/>
              </a:rPr>
              <a:t>one</a:t>
            </a:r>
            <a:r>
              <a:rPr lang="en-US" sz="1200" dirty="0">
                <a:solidFill>
                  <a:srgbClr val="15213F"/>
                </a:solidFill>
                <a:latin typeface="Roboto" pitchFamily="34" charset="0"/>
                <a:ea typeface="Roboto" pitchFamily="34" charset="-122"/>
                <a:cs typeface="Roboto" pitchFamily="34" charset="-120"/>
              </a:rPr>
              <a:t> of the prompts you used today (from sentiment analysis, NER, summarisation, etc.) and add it to your Prompt Library. Use the flexible format:</a:t>
            </a:r>
            <a:endParaRPr lang="en-US" sz="1200" dirty="0"/>
          </a:p>
        </p:txBody>
      </p:sp>
      <p:sp>
        <p:nvSpPr>
          <p:cNvPr id="4" name="Shape 2"/>
          <p:cNvSpPr/>
          <p:nvPr/>
        </p:nvSpPr>
        <p:spPr>
          <a:xfrm>
            <a:off x="496119" y="1741289"/>
            <a:ext cx="8151763" cy="2854672"/>
          </a:xfrm>
          <a:prstGeom prst="roundRect">
            <a:avLst>
              <a:gd name="adj" fmla="val 652"/>
            </a:avLst>
          </a:prstGeom>
          <a:noFill/>
          <a:ln w="4763">
            <a:solidFill>
              <a:srgbClr val="000000">
                <a:alpha val="8000"/>
              </a:srgbClr>
            </a:solidFill>
            <a:prstDash val="solid"/>
          </a:ln>
        </p:spPr>
        <p:txBody>
          <a:bodyPr/>
          <a:lstStyle/>
          <a:p>
            <a:endParaRPr lang="en-IN"/>
          </a:p>
        </p:txBody>
      </p:sp>
      <p:sp>
        <p:nvSpPr>
          <p:cNvPr id="5" name="Shape 3"/>
          <p:cNvSpPr/>
          <p:nvPr/>
        </p:nvSpPr>
        <p:spPr>
          <a:xfrm>
            <a:off x="500881" y="1746052"/>
            <a:ext cx="8142238" cy="406450"/>
          </a:xfrm>
          <a:prstGeom prst="rect">
            <a:avLst/>
          </a:prstGeom>
          <a:solidFill>
            <a:srgbClr val="FFFFFF">
              <a:alpha val="4000"/>
            </a:srgbClr>
          </a:solidFill>
          <a:ln/>
        </p:spPr>
        <p:txBody>
          <a:bodyPr/>
          <a:lstStyle/>
          <a:p>
            <a:endParaRPr lang="en-IN"/>
          </a:p>
        </p:txBody>
      </p:sp>
      <p:sp>
        <p:nvSpPr>
          <p:cNvPr id="6" name="Text 4"/>
          <p:cNvSpPr/>
          <p:nvPr/>
        </p:nvSpPr>
        <p:spPr>
          <a:xfrm>
            <a:off x="624929" y="1825228"/>
            <a:ext cx="219231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Field</a:t>
            </a:r>
            <a:endParaRPr lang="en-US" sz="1200" dirty="0"/>
          </a:p>
        </p:txBody>
      </p:sp>
      <p:sp>
        <p:nvSpPr>
          <p:cNvPr id="7" name="Text 5"/>
          <p:cNvSpPr/>
          <p:nvPr/>
        </p:nvSpPr>
        <p:spPr>
          <a:xfrm>
            <a:off x="3069952" y="1825228"/>
            <a:ext cx="544919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Your Entry</a:t>
            </a:r>
            <a:endParaRPr lang="en-US" sz="1200" dirty="0"/>
          </a:p>
        </p:txBody>
      </p:sp>
      <p:sp>
        <p:nvSpPr>
          <p:cNvPr id="8" name="Shape 6"/>
          <p:cNvSpPr/>
          <p:nvPr/>
        </p:nvSpPr>
        <p:spPr>
          <a:xfrm>
            <a:off x="500881" y="2152501"/>
            <a:ext cx="8142238" cy="406450"/>
          </a:xfrm>
          <a:prstGeom prst="rect">
            <a:avLst/>
          </a:prstGeom>
          <a:solidFill>
            <a:srgbClr val="000000">
              <a:alpha val="4000"/>
            </a:srgbClr>
          </a:solidFill>
          <a:ln/>
        </p:spPr>
        <p:txBody>
          <a:bodyPr/>
          <a:lstStyle/>
          <a:p>
            <a:endParaRPr lang="en-IN"/>
          </a:p>
        </p:txBody>
      </p:sp>
      <p:sp>
        <p:nvSpPr>
          <p:cNvPr id="9" name="Text 7"/>
          <p:cNvSpPr/>
          <p:nvPr/>
        </p:nvSpPr>
        <p:spPr>
          <a:xfrm>
            <a:off x="624929" y="2231678"/>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Date</a:t>
            </a:r>
            <a:endParaRPr lang="en-US" sz="1200" dirty="0"/>
          </a:p>
        </p:txBody>
      </p:sp>
      <p:sp>
        <p:nvSpPr>
          <p:cNvPr id="10" name="Text 8"/>
          <p:cNvSpPr/>
          <p:nvPr/>
        </p:nvSpPr>
        <p:spPr>
          <a:xfrm>
            <a:off x="3069952" y="2231678"/>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Today's date</a:t>
            </a:r>
            <a:endParaRPr lang="en-US" sz="1200" dirty="0"/>
          </a:p>
        </p:txBody>
      </p:sp>
      <p:sp>
        <p:nvSpPr>
          <p:cNvPr id="11" name="Shape 9"/>
          <p:cNvSpPr/>
          <p:nvPr/>
        </p:nvSpPr>
        <p:spPr>
          <a:xfrm>
            <a:off x="500881" y="2558951"/>
            <a:ext cx="8142238" cy="406450"/>
          </a:xfrm>
          <a:prstGeom prst="rect">
            <a:avLst/>
          </a:prstGeom>
          <a:solidFill>
            <a:srgbClr val="FFFFFF">
              <a:alpha val="4000"/>
            </a:srgbClr>
          </a:solidFill>
          <a:ln/>
        </p:spPr>
        <p:txBody>
          <a:bodyPr/>
          <a:lstStyle/>
          <a:p>
            <a:endParaRPr lang="en-IN"/>
          </a:p>
        </p:txBody>
      </p:sp>
      <p:sp>
        <p:nvSpPr>
          <p:cNvPr id="12" name="Text 10"/>
          <p:cNvSpPr/>
          <p:nvPr/>
        </p:nvSpPr>
        <p:spPr>
          <a:xfrm>
            <a:off x="624929" y="2638127"/>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Goal</a:t>
            </a:r>
            <a:endParaRPr lang="en-US" sz="1200" dirty="0"/>
          </a:p>
        </p:txBody>
      </p:sp>
      <p:sp>
        <p:nvSpPr>
          <p:cNvPr id="13" name="Text 11"/>
          <p:cNvSpPr/>
          <p:nvPr/>
        </p:nvSpPr>
        <p:spPr>
          <a:xfrm>
            <a:off x="3069952" y="2638127"/>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(e.g., "Perform named entity recognition on a historical sentence")</a:t>
            </a:r>
            <a:endParaRPr lang="en-US" sz="1200" dirty="0"/>
          </a:p>
        </p:txBody>
      </p:sp>
      <p:sp>
        <p:nvSpPr>
          <p:cNvPr id="14" name="Shape 12"/>
          <p:cNvSpPr/>
          <p:nvPr/>
        </p:nvSpPr>
        <p:spPr>
          <a:xfrm>
            <a:off x="500881" y="2965400"/>
            <a:ext cx="8142238" cy="406450"/>
          </a:xfrm>
          <a:prstGeom prst="rect">
            <a:avLst/>
          </a:prstGeom>
          <a:solidFill>
            <a:srgbClr val="000000">
              <a:alpha val="4000"/>
            </a:srgbClr>
          </a:solidFill>
          <a:ln/>
        </p:spPr>
        <p:txBody>
          <a:bodyPr/>
          <a:lstStyle/>
          <a:p>
            <a:endParaRPr lang="en-IN"/>
          </a:p>
        </p:txBody>
      </p:sp>
      <p:sp>
        <p:nvSpPr>
          <p:cNvPr id="15" name="Text 13"/>
          <p:cNvSpPr/>
          <p:nvPr/>
        </p:nvSpPr>
        <p:spPr>
          <a:xfrm>
            <a:off x="624929" y="3044577"/>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Tools Used</a:t>
            </a:r>
            <a:endParaRPr lang="en-US" sz="1200" dirty="0"/>
          </a:p>
        </p:txBody>
      </p:sp>
      <p:sp>
        <p:nvSpPr>
          <p:cNvPr id="16" name="Text 14"/>
          <p:cNvSpPr/>
          <p:nvPr/>
        </p:nvSpPr>
        <p:spPr>
          <a:xfrm>
            <a:off x="3069952" y="3044577"/>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(e.g., ChatGPT)</a:t>
            </a:r>
            <a:endParaRPr lang="en-US" sz="1200" dirty="0"/>
          </a:p>
        </p:txBody>
      </p:sp>
      <p:sp>
        <p:nvSpPr>
          <p:cNvPr id="17" name="Shape 15"/>
          <p:cNvSpPr/>
          <p:nvPr/>
        </p:nvSpPr>
        <p:spPr>
          <a:xfrm>
            <a:off x="500881" y="3371850"/>
            <a:ext cx="8142238" cy="406450"/>
          </a:xfrm>
          <a:prstGeom prst="rect">
            <a:avLst/>
          </a:prstGeom>
          <a:solidFill>
            <a:srgbClr val="FFFFFF">
              <a:alpha val="4000"/>
            </a:srgbClr>
          </a:solidFill>
          <a:ln/>
        </p:spPr>
        <p:txBody>
          <a:bodyPr/>
          <a:lstStyle/>
          <a:p>
            <a:endParaRPr lang="en-IN"/>
          </a:p>
        </p:txBody>
      </p:sp>
      <p:sp>
        <p:nvSpPr>
          <p:cNvPr id="18" name="Text 16"/>
          <p:cNvSpPr/>
          <p:nvPr/>
        </p:nvSpPr>
        <p:spPr>
          <a:xfrm>
            <a:off x="624929" y="3451027"/>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Final Prompt</a:t>
            </a:r>
            <a:endParaRPr lang="en-US" sz="1200" dirty="0"/>
          </a:p>
        </p:txBody>
      </p:sp>
      <p:sp>
        <p:nvSpPr>
          <p:cNvPr id="19" name="Text 17"/>
          <p:cNvSpPr/>
          <p:nvPr/>
        </p:nvSpPr>
        <p:spPr>
          <a:xfrm>
            <a:off x="3069952" y="3451027"/>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(copy the exact prompt you used)</a:t>
            </a:r>
            <a:endParaRPr lang="en-US" sz="1200" dirty="0"/>
          </a:p>
        </p:txBody>
      </p:sp>
      <p:sp>
        <p:nvSpPr>
          <p:cNvPr id="20" name="Shape 18"/>
          <p:cNvSpPr/>
          <p:nvPr/>
        </p:nvSpPr>
        <p:spPr>
          <a:xfrm>
            <a:off x="500881" y="3778300"/>
            <a:ext cx="8142238" cy="406450"/>
          </a:xfrm>
          <a:prstGeom prst="rect">
            <a:avLst/>
          </a:prstGeom>
          <a:solidFill>
            <a:srgbClr val="000000">
              <a:alpha val="4000"/>
            </a:srgbClr>
          </a:solidFill>
          <a:ln/>
        </p:spPr>
        <p:txBody>
          <a:bodyPr/>
          <a:lstStyle/>
          <a:p>
            <a:endParaRPr lang="en-IN"/>
          </a:p>
        </p:txBody>
      </p:sp>
      <p:sp>
        <p:nvSpPr>
          <p:cNvPr id="21" name="Text 19"/>
          <p:cNvSpPr/>
          <p:nvPr/>
        </p:nvSpPr>
        <p:spPr>
          <a:xfrm>
            <a:off x="624929" y="3857476"/>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Elements Used</a:t>
            </a:r>
            <a:endParaRPr lang="en-US" sz="1200" dirty="0"/>
          </a:p>
        </p:txBody>
      </p:sp>
      <p:sp>
        <p:nvSpPr>
          <p:cNvPr id="22" name="Text 20"/>
          <p:cNvSpPr/>
          <p:nvPr/>
        </p:nvSpPr>
        <p:spPr>
          <a:xfrm>
            <a:off x="3069952" y="3857476"/>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(e.g., role‑based, zero‑shot)</a:t>
            </a:r>
            <a:endParaRPr lang="en-US" sz="1200" dirty="0"/>
          </a:p>
        </p:txBody>
      </p:sp>
      <p:sp>
        <p:nvSpPr>
          <p:cNvPr id="23" name="Shape 21"/>
          <p:cNvSpPr/>
          <p:nvPr/>
        </p:nvSpPr>
        <p:spPr>
          <a:xfrm>
            <a:off x="500881" y="4184749"/>
            <a:ext cx="8142238" cy="406450"/>
          </a:xfrm>
          <a:prstGeom prst="rect">
            <a:avLst/>
          </a:prstGeom>
          <a:solidFill>
            <a:srgbClr val="FFFFFF">
              <a:alpha val="4000"/>
            </a:srgbClr>
          </a:solidFill>
          <a:ln/>
        </p:spPr>
        <p:txBody>
          <a:bodyPr/>
          <a:lstStyle/>
          <a:p>
            <a:endParaRPr lang="en-IN"/>
          </a:p>
        </p:txBody>
      </p:sp>
      <p:sp>
        <p:nvSpPr>
          <p:cNvPr id="24" name="Text 22"/>
          <p:cNvSpPr/>
          <p:nvPr/>
        </p:nvSpPr>
        <p:spPr>
          <a:xfrm>
            <a:off x="624929" y="4263926"/>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What Worked</a:t>
            </a:r>
            <a:endParaRPr lang="en-US" sz="1200" dirty="0"/>
          </a:p>
        </p:txBody>
      </p:sp>
      <p:sp>
        <p:nvSpPr>
          <p:cNvPr id="25" name="Text 23"/>
          <p:cNvSpPr/>
          <p:nvPr/>
        </p:nvSpPr>
        <p:spPr>
          <a:xfrm>
            <a:off x="3069952" y="4263926"/>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(your observation)</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96119" y="905768"/>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Summary:</a:t>
            </a:r>
            <a:endParaRPr lang="en-US" sz="2400" dirty="0"/>
          </a:p>
        </p:txBody>
      </p:sp>
      <p:sp>
        <p:nvSpPr>
          <p:cNvPr id="3" name="Shape 1"/>
          <p:cNvSpPr/>
          <p:nvPr/>
        </p:nvSpPr>
        <p:spPr>
          <a:xfrm>
            <a:off x="496119" y="1541338"/>
            <a:ext cx="8151763" cy="2696319"/>
          </a:xfrm>
          <a:prstGeom prst="roundRect">
            <a:avLst>
              <a:gd name="adj" fmla="val 690"/>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546101"/>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625278"/>
            <a:ext cx="259943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Key Term</a:t>
            </a:r>
            <a:endParaRPr lang="en-US" sz="1200" dirty="0"/>
          </a:p>
        </p:txBody>
      </p:sp>
      <p:sp>
        <p:nvSpPr>
          <p:cNvPr id="6" name="Text 4"/>
          <p:cNvSpPr/>
          <p:nvPr/>
        </p:nvSpPr>
        <p:spPr>
          <a:xfrm>
            <a:off x="3477071" y="1625278"/>
            <a:ext cx="504207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It Means</a:t>
            </a:r>
            <a:endParaRPr lang="en-US" sz="1200" dirty="0"/>
          </a:p>
        </p:txBody>
      </p:sp>
      <p:sp>
        <p:nvSpPr>
          <p:cNvPr id="7" name="Shape 5"/>
          <p:cNvSpPr/>
          <p:nvPr/>
        </p:nvSpPr>
        <p:spPr>
          <a:xfrm>
            <a:off x="500881" y="1952551"/>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2031727"/>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Natural Language Processing (NLP)</a:t>
            </a:r>
            <a:endParaRPr lang="en-US" sz="1200" dirty="0"/>
          </a:p>
        </p:txBody>
      </p:sp>
      <p:sp>
        <p:nvSpPr>
          <p:cNvPr id="9" name="Text 7"/>
          <p:cNvSpPr/>
          <p:nvPr/>
        </p:nvSpPr>
        <p:spPr>
          <a:xfrm>
            <a:off x="3477071" y="2031727"/>
            <a:ext cx="504207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AI that works with human language – reading, understanding, generating.</a:t>
            </a:r>
            <a:endParaRPr lang="en-US" sz="1200" dirty="0"/>
          </a:p>
        </p:txBody>
      </p:sp>
      <p:sp>
        <p:nvSpPr>
          <p:cNvPr id="10" name="Shape 8"/>
          <p:cNvSpPr/>
          <p:nvPr/>
        </p:nvSpPr>
        <p:spPr>
          <a:xfrm>
            <a:off x="500881" y="2359000"/>
            <a:ext cx="8142238" cy="654546"/>
          </a:xfrm>
          <a:prstGeom prst="rect">
            <a:avLst/>
          </a:prstGeom>
          <a:solidFill>
            <a:srgbClr val="FFFFFF">
              <a:alpha val="4000"/>
            </a:srgbClr>
          </a:solidFill>
          <a:ln/>
        </p:spPr>
        <p:txBody>
          <a:bodyPr/>
          <a:lstStyle/>
          <a:p>
            <a:endParaRPr lang="en-IN"/>
          </a:p>
        </p:txBody>
      </p:sp>
      <p:sp>
        <p:nvSpPr>
          <p:cNvPr id="11" name="Text 9"/>
          <p:cNvSpPr/>
          <p:nvPr/>
        </p:nvSpPr>
        <p:spPr>
          <a:xfrm>
            <a:off x="624929" y="2438177"/>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Break → Understand → Generate</a:t>
            </a:r>
            <a:endParaRPr lang="en-US" sz="1200" dirty="0"/>
          </a:p>
        </p:txBody>
      </p:sp>
      <p:sp>
        <p:nvSpPr>
          <p:cNvPr id="12" name="Text 10"/>
          <p:cNvSpPr/>
          <p:nvPr/>
        </p:nvSpPr>
        <p:spPr>
          <a:xfrm>
            <a:off x="3477071" y="2438177"/>
            <a:ext cx="504207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three‑stage pipeline of NLP (tokenization, stemming, lemmatization, POS tagging, NER → NLU → NLG).</a:t>
            </a:r>
            <a:endParaRPr lang="en-US" sz="1200" dirty="0"/>
          </a:p>
        </p:txBody>
      </p:sp>
      <p:sp>
        <p:nvSpPr>
          <p:cNvPr id="13" name="Shape 11"/>
          <p:cNvSpPr/>
          <p:nvPr/>
        </p:nvSpPr>
        <p:spPr>
          <a:xfrm>
            <a:off x="500881" y="3013546"/>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3092723"/>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Tokenization</a:t>
            </a:r>
            <a:endParaRPr lang="en-US" sz="1200" dirty="0"/>
          </a:p>
        </p:txBody>
      </p:sp>
      <p:sp>
        <p:nvSpPr>
          <p:cNvPr id="15" name="Text 13"/>
          <p:cNvSpPr/>
          <p:nvPr/>
        </p:nvSpPr>
        <p:spPr>
          <a:xfrm>
            <a:off x="3477071" y="3092723"/>
            <a:ext cx="504207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Splitting text into small pieces (tokens).</a:t>
            </a:r>
            <a:endParaRPr lang="en-US" sz="1200" dirty="0"/>
          </a:p>
        </p:txBody>
      </p:sp>
      <p:sp>
        <p:nvSpPr>
          <p:cNvPr id="16" name="Shape 14"/>
          <p:cNvSpPr/>
          <p:nvPr/>
        </p:nvSpPr>
        <p:spPr>
          <a:xfrm>
            <a:off x="500881" y="3419996"/>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929" y="3499172"/>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Stemming</a:t>
            </a:r>
            <a:endParaRPr lang="en-US" sz="1200" dirty="0"/>
          </a:p>
        </p:txBody>
      </p:sp>
      <p:sp>
        <p:nvSpPr>
          <p:cNvPr id="18" name="Text 16"/>
          <p:cNvSpPr/>
          <p:nvPr/>
        </p:nvSpPr>
        <p:spPr>
          <a:xfrm>
            <a:off x="3477071" y="3499172"/>
            <a:ext cx="504207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Crudely chopping word endings to get a root.</a:t>
            </a:r>
            <a:endParaRPr lang="en-US" sz="1200" dirty="0"/>
          </a:p>
        </p:txBody>
      </p:sp>
      <p:sp>
        <p:nvSpPr>
          <p:cNvPr id="19" name="Shape 17"/>
          <p:cNvSpPr/>
          <p:nvPr/>
        </p:nvSpPr>
        <p:spPr>
          <a:xfrm>
            <a:off x="500881" y="3826446"/>
            <a:ext cx="8142238" cy="406450"/>
          </a:xfrm>
          <a:prstGeom prst="rect">
            <a:avLst/>
          </a:prstGeom>
          <a:solidFill>
            <a:srgbClr val="000000">
              <a:alpha val="4000"/>
            </a:srgbClr>
          </a:solidFill>
          <a:ln/>
        </p:spPr>
        <p:txBody>
          <a:bodyPr/>
          <a:lstStyle/>
          <a:p>
            <a:endParaRPr lang="en-IN"/>
          </a:p>
        </p:txBody>
      </p:sp>
      <p:sp>
        <p:nvSpPr>
          <p:cNvPr id="20" name="Text 18"/>
          <p:cNvSpPr/>
          <p:nvPr/>
        </p:nvSpPr>
        <p:spPr>
          <a:xfrm>
            <a:off x="624929" y="3905622"/>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Lemmatization</a:t>
            </a:r>
            <a:endParaRPr lang="en-US" sz="1200" dirty="0"/>
          </a:p>
        </p:txBody>
      </p:sp>
      <p:sp>
        <p:nvSpPr>
          <p:cNvPr id="21" name="Text 19"/>
          <p:cNvSpPr/>
          <p:nvPr/>
        </p:nvSpPr>
        <p:spPr>
          <a:xfrm>
            <a:off x="3477071" y="3905622"/>
            <a:ext cx="504207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Reducing a word to its dictionary form.</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96119" y="437257"/>
            <a:ext cx="2946053" cy="368201"/>
          </a:xfrm>
          <a:prstGeom prst="rect">
            <a:avLst/>
          </a:prstGeom>
          <a:noFill/>
          <a:ln/>
        </p:spPr>
        <p:txBody>
          <a:bodyPr wrap="none" lIns="0" tIns="0" rIns="0" bIns="0" rtlCol="0" anchor="t"/>
          <a:lstStyle/>
          <a:p>
            <a:pPr marL="0" indent="0" algn="l">
              <a:lnSpc>
                <a:spcPts val="2850"/>
              </a:lnSpc>
              <a:buNone/>
            </a:pPr>
            <a:r>
              <a:rPr lang="en-US" sz="2300" dirty="0">
                <a:solidFill>
                  <a:srgbClr val="3257B8"/>
                </a:solidFill>
                <a:latin typeface="Roboto Slab" pitchFamily="34" charset="0"/>
                <a:ea typeface="Roboto Slab" pitchFamily="34" charset="-122"/>
                <a:cs typeface="Roboto Slab" pitchFamily="34" charset="-120"/>
              </a:rPr>
              <a:t>Summary:</a:t>
            </a:r>
            <a:endParaRPr lang="en-US" sz="2300" dirty="0"/>
          </a:p>
        </p:txBody>
      </p:sp>
      <p:sp>
        <p:nvSpPr>
          <p:cNvPr id="3" name="Shape 1"/>
          <p:cNvSpPr/>
          <p:nvPr/>
        </p:nvSpPr>
        <p:spPr>
          <a:xfrm>
            <a:off x="496119" y="1029295"/>
            <a:ext cx="8151763" cy="2250877"/>
          </a:xfrm>
          <a:prstGeom prst="roundRect">
            <a:avLst>
              <a:gd name="adj" fmla="val 785"/>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034058"/>
            <a:ext cx="8142238" cy="373559"/>
          </a:xfrm>
          <a:prstGeom prst="rect">
            <a:avLst/>
          </a:prstGeom>
          <a:solidFill>
            <a:srgbClr val="FFFFFF">
              <a:alpha val="4000"/>
            </a:srgbClr>
          </a:solidFill>
          <a:ln/>
        </p:spPr>
        <p:txBody>
          <a:bodyPr/>
          <a:lstStyle/>
          <a:p>
            <a:endParaRPr lang="en-IN"/>
          </a:p>
        </p:txBody>
      </p:sp>
      <p:sp>
        <p:nvSpPr>
          <p:cNvPr id="5" name="Text 3"/>
          <p:cNvSpPr/>
          <p:nvPr/>
        </p:nvSpPr>
        <p:spPr>
          <a:xfrm>
            <a:off x="618753" y="1105942"/>
            <a:ext cx="261178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Key Term</a:t>
            </a:r>
            <a:endParaRPr lang="en-US" sz="1150" dirty="0"/>
          </a:p>
        </p:txBody>
      </p:sp>
      <p:sp>
        <p:nvSpPr>
          <p:cNvPr id="6" name="Text 4"/>
          <p:cNvSpPr/>
          <p:nvPr/>
        </p:nvSpPr>
        <p:spPr>
          <a:xfrm>
            <a:off x="3470895" y="1105942"/>
            <a:ext cx="5054426"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What It Means</a:t>
            </a:r>
            <a:endParaRPr lang="en-US" sz="1150" dirty="0"/>
          </a:p>
        </p:txBody>
      </p:sp>
      <p:sp>
        <p:nvSpPr>
          <p:cNvPr id="7" name="Shape 5"/>
          <p:cNvSpPr/>
          <p:nvPr/>
        </p:nvSpPr>
        <p:spPr>
          <a:xfrm>
            <a:off x="500881" y="1407616"/>
            <a:ext cx="8142238" cy="373559"/>
          </a:xfrm>
          <a:prstGeom prst="rect">
            <a:avLst/>
          </a:prstGeom>
          <a:solidFill>
            <a:srgbClr val="000000">
              <a:alpha val="4000"/>
            </a:srgbClr>
          </a:solidFill>
          <a:ln/>
        </p:spPr>
        <p:txBody>
          <a:bodyPr/>
          <a:lstStyle/>
          <a:p>
            <a:endParaRPr lang="en-IN"/>
          </a:p>
        </p:txBody>
      </p:sp>
      <p:sp>
        <p:nvSpPr>
          <p:cNvPr id="8" name="Text 6"/>
          <p:cNvSpPr/>
          <p:nvPr/>
        </p:nvSpPr>
        <p:spPr>
          <a:xfrm>
            <a:off x="618753" y="1479500"/>
            <a:ext cx="261178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POS Tagging</a:t>
            </a:r>
            <a:endParaRPr lang="en-US" sz="1150" dirty="0"/>
          </a:p>
        </p:txBody>
      </p:sp>
      <p:sp>
        <p:nvSpPr>
          <p:cNvPr id="9" name="Text 7"/>
          <p:cNvSpPr/>
          <p:nvPr/>
        </p:nvSpPr>
        <p:spPr>
          <a:xfrm>
            <a:off x="3470895" y="1479500"/>
            <a:ext cx="505442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Labelling words as noun, verb, adjective, etc.</a:t>
            </a:r>
            <a:endParaRPr lang="en-US" sz="1150" dirty="0"/>
          </a:p>
        </p:txBody>
      </p:sp>
      <p:sp>
        <p:nvSpPr>
          <p:cNvPr id="10" name="Shape 8"/>
          <p:cNvSpPr/>
          <p:nvPr/>
        </p:nvSpPr>
        <p:spPr>
          <a:xfrm>
            <a:off x="500881" y="1781175"/>
            <a:ext cx="8142238" cy="373559"/>
          </a:xfrm>
          <a:prstGeom prst="rect">
            <a:avLst/>
          </a:prstGeom>
          <a:solidFill>
            <a:srgbClr val="FFFFFF">
              <a:alpha val="4000"/>
            </a:srgbClr>
          </a:solidFill>
          <a:ln/>
        </p:spPr>
        <p:txBody>
          <a:bodyPr/>
          <a:lstStyle/>
          <a:p>
            <a:endParaRPr lang="en-IN"/>
          </a:p>
        </p:txBody>
      </p:sp>
      <p:sp>
        <p:nvSpPr>
          <p:cNvPr id="11" name="Text 9"/>
          <p:cNvSpPr/>
          <p:nvPr/>
        </p:nvSpPr>
        <p:spPr>
          <a:xfrm>
            <a:off x="618753" y="1853059"/>
            <a:ext cx="261178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Named Entity Recognition (NER)</a:t>
            </a:r>
            <a:endParaRPr lang="en-US" sz="1150" dirty="0"/>
          </a:p>
        </p:txBody>
      </p:sp>
      <p:sp>
        <p:nvSpPr>
          <p:cNvPr id="12" name="Text 10"/>
          <p:cNvSpPr/>
          <p:nvPr/>
        </p:nvSpPr>
        <p:spPr>
          <a:xfrm>
            <a:off x="3470895" y="1853059"/>
            <a:ext cx="505442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Finding and classifying names, places, dates, etc.</a:t>
            </a:r>
            <a:endParaRPr lang="en-US" sz="1150" dirty="0"/>
          </a:p>
        </p:txBody>
      </p:sp>
      <p:sp>
        <p:nvSpPr>
          <p:cNvPr id="13" name="Shape 11"/>
          <p:cNvSpPr/>
          <p:nvPr/>
        </p:nvSpPr>
        <p:spPr>
          <a:xfrm>
            <a:off x="500881" y="2154734"/>
            <a:ext cx="8142238" cy="373559"/>
          </a:xfrm>
          <a:prstGeom prst="rect">
            <a:avLst/>
          </a:prstGeom>
          <a:solidFill>
            <a:srgbClr val="000000">
              <a:alpha val="4000"/>
            </a:srgbClr>
          </a:solidFill>
          <a:ln/>
        </p:spPr>
        <p:txBody>
          <a:bodyPr/>
          <a:lstStyle/>
          <a:p>
            <a:endParaRPr lang="en-IN"/>
          </a:p>
        </p:txBody>
      </p:sp>
      <p:sp>
        <p:nvSpPr>
          <p:cNvPr id="14" name="Text 12"/>
          <p:cNvSpPr/>
          <p:nvPr/>
        </p:nvSpPr>
        <p:spPr>
          <a:xfrm>
            <a:off x="618753" y="2226618"/>
            <a:ext cx="261178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NLU (Natural Language Understanding)</a:t>
            </a:r>
            <a:endParaRPr lang="en-US" sz="1150" dirty="0"/>
          </a:p>
        </p:txBody>
      </p:sp>
      <p:sp>
        <p:nvSpPr>
          <p:cNvPr id="15" name="Text 13"/>
          <p:cNvSpPr/>
          <p:nvPr/>
        </p:nvSpPr>
        <p:spPr>
          <a:xfrm>
            <a:off x="3470895" y="2226618"/>
            <a:ext cx="505442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Figuring out intent, sentiment, and meaning.</a:t>
            </a:r>
            <a:endParaRPr lang="en-US" sz="1150" dirty="0"/>
          </a:p>
        </p:txBody>
      </p:sp>
      <p:sp>
        <p:nvSpPr>
          <p:cNvPr id="16" name="Shape 14"/>
          <p:cNvSpPr/>
          <p:nvPr/>
        </p:nvSpPr>
        <p:spPr>
          <a:xfrm>
            <a:off x="500881" y="2528292"/>
            <a:ext cx="8142238" cy="373559"/>
          </a:xfrm>
          <a:prstGeom prst="rect">
            <a:avLst/>
          </a:prstGeom>
          <a:solidFill>
            <a:srgbClr val="FFFFFF">
              <a:alpha val="4000"/>
            </a:srgbClr>
          </a:solidFill>
          <a:ln/>
        </p:spPr>
        <p:txBody>
          <a:bodyPr/>
          <a:lstStyle/>
          <a:p>
            <a:endParaRPr lang="en-IN"/>
          </a:p>
        </p:txBody>
      </p:sp>
      <p:sp>
        <p:nvSpPr>
          <p:cNvPr id="17" name="Text 15"/>
          <p:cNvSpPr/>
          <p:nvPr/>
        </p:nvSpPr>
        <p:spPr>
          <a:xfrm>
            <a:off x="618753" y="2600176"/>
            <a:ext cx="261178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NLG (Natural Language Generation)</a:t>
            </a:r>
            <a:endParaRPr lang="en-US" sz="1150" dirty="0"/>
          </a:p>
        </p:txBody>
      </p:sp>
      <p:sp>
        <p:nvSpPr>
          <p:cNvPr id="18" name="Text 16"/>
          <p:cNvSpPr/>
          <p:nvPr/>
        </p:nvSpPr>
        <p:spPr>
          <a:xfrm>
            <a:off x="3470895" y="2600176"/>
            <a:ext cx="505442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Producing new text.</a:t>
            </a:r>
            <a:endParaRPr lang="en-US" sz="1150" dirty="0"/>
          </a:p>
        </p:txBody>
      </p:sp>
      <p:sp>
        <p:nvSpPr>
          <p:cNvPr id="19" name="Shape 17"/>
          <p:cNvSpPr/>
          <p:nvPr/>
        </p:nvSpPr>
        <p:spPr>
          <a:xfrm>
            <a:off x="500881" y="2901851"/>
            <a:ext cx="8142238" cy="373559"/>
          </a:xfrm>
          <a:prstGeom prst="rect">
            <a:avLst/>
          </a:prstGeom>
          <a:solidFill>
            <a:srgbClr val="000000">
              <a:alpha val="4000"/>
            </a:srgbClr>
          </a:solidFill>
          <a:ln/>
        </p:spPr>
        <p:txBody>
          <a:bodyPr/>
          <a:lstStyle/>
          <a:p>
            <a:endParaRPr lang="en-IN"/>
          </a:p>
        </p:txBody>
      </p:sp>
      <p:sp>
        <p:nvSpPr>
          <p:cNvPr id="20" name="Text 18"/>
          <p:cNvSpPr/>
          <p:nvPr/>
        </p:nvSpPr>
        <p:spPr>
          <a:xfrm>
            <a:off x="618753" y="2973735"/>
            <a:ext cx="261178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Challenges in NLP</a:t>
            </a:r>
            <a:endParaRPr lang="en-US" sz="1150" dirty="0"/>
          </a:p>
        </p:txBody>
      </p:sp>
      <p:sp>
        <p:nvSpPr>
          <p:cNvPr id="21" name="Text 19"/>
          <p:cNvSpPr/>
          <p:nvPr/>
        </p:nvSpPr>
        <p:spPr>
          <a:xfrm>
            <a:off x="3470895" y="2973735"/>
            <a:ext cx="505442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Ambiguity, sarcasm, idioms, cultural context, bias.</a:t>
            </a:r>
            <a:endParaRPr lang="en-US" sz="1150" dirty="0"/>
          </a:p>
        </p:txBody>
      </p:sp>
      <p:sp>
        <p:nvSpPr>
          <p:cNvPr id="22" name="Text 20"/>
          <p:cNvSpPr/>
          <p:nvPr/>
        </p:nvSpPr>
        <p:spPr>
          <a:xfrm>
            <a:off x="496119" y="3406080"/>
            <a:ext cx="8151763" cy="183877"/>
          </a:xfrm>
          <a:prstGeom prst="rect">
            <a:avLst/>
          </a:prstGeom>
          <a:noFill/>
          <a:ln/>
        </p:spPr>
        <p:txBody>
          <a:bodyPr wrap="none" lIns="0" tIns="0" rIns="0" bIns="0" rtlCol="0" anchor="t"/>
          <a:lstStyle/>
          <a:p>
            <a:pPr marL="0" indent="0" algn="l">
              <a:lnSpc>
                <a:spcPts val="1400"/>
              </a:lnSpc>
              <a:buNone/>
            </a:pPr>
            <a:endParaRPr lang="en-US" sz="900" dirty="0"/>
          </a:p>
        </p:txBody>
      </p:sp>
      <p:sp>
        <p:nvSpPr>
          <p:cNvPr id="23" name="Shape 21"/>
          <p:cNvSpPr/>
          <p:nvPr/>
        </p:nvSpPr>
        <p:spPr>
          <a:xfrm>
            <a:off x="496119" y="3715866"/>
            <a:ext cx="8151763" cy="990302"/>
          </a:xfrm>
          <a:prstGeom prst="roundRect">
            <a:avLst>
              <a:gd name="adj" fmla="val 1785"/>
            </a:avLst>
          </a:prstGeom>
          <a:solidFill>
            <a:srgbClr val="F2F2F2"/>
          </a:solidFill>
          <a:ln/>
        </p:spPr>
        <p:txBody>
          <a:bodyPr/>
          <a:lstStyle/>
          <a:p>
            <a:endParaRPr lang="en-IN"/>
          </a:p>
        </p:txBody>
      </p:sp>
      <p:pic>
        <p:nvPicPr>
          <p:cNvPr id="24" name="Image 0" descr="preencoded.png"/>
          <p:cNvPicPr>
            <a:picLocks noChangeAspect="1"/>
          </p:cNvPicPr>
          <p:nvPr/>
        </p:nvPicPr>
        <p:blipFill>
          <a:blip r:embed="rId3"/>
          <a:stretch>
            <a:fillRect/>
          </a:stretch>
        </p:blipFill>
        <p:spPr>
          <a:xfrm>
            <a:off x="613916" y="3890218"/>
            <a:ext cx="184100" cy="147265"/>
          </a:xfrm>
          <a:prstGeom prst="rect">
            <a:avLst/>
          </a:prstGeom>
        </p:spPr>
      </p:pic>
      <p:sp>
        <p:nvSpPr>
          <p:cNvPr id="25" name="Text 22"/>
          <p:cNvSpPr/>
          <p:nvPr/>
        </p:nvSpPr>
        <p:spPr>
          <a:xfrm>
            <a:off x="915814" y="3857179"/>
            <a:ext cx="7614270" cy="689372"/>
          </a:xfrm>
          <a:prstGeom prst="rect">
            <a:avLst/>
          </a:prstGeom>
          <a:noFill/>
          <a:ln/>
        </p:spPr>
        <p:txBody>
          <a:bodyPr wrap="square" lIns="0" tIns="0" rIns="0" bIns="0" rtlCol="0" anchor="t"/>
          <a:lstStyle/>
          <a:p>
            <a:pPr marL="0" indent="0" algn="l">
              <a:lnSpc>
                <a:spcPts val="1800"/>
              </a:lnSpc>
              <a:buNone/>
            </a:pPr>
            <a:r>
              <a:rPr lang="en-US" sz="1150" b="1" dirty="0">
                <a:solidFill>
                  <a:srgbClr val="000000"/>
                </a:solidFill>
                <a:latin typeface="Roboto" pitchFamily="34" charset="0"/>
                <a:ea typeface="Roboto" pitchFamily="34" charset="-122"/>
                <a:cs typeface="Roboto" pitchFamily="34" charset="-120"/>
              </a:rPr>
              <a:t>The most important idea from Session 14:</a:t>
            </a:r>
            <a:r>
              <a:rPr lang="en-US" sz="1150" dirty="0">
                <a:solidFill>
                  <a:srgbClr val="000000"/>
                </a:solidFill>
                <a:latin typeface="Roboto" pitchFamily="34" charset="0"/>
                <a:ea typeface="Roboto" pitchFamily="34" charset="-122"/>
                <a:cs typeface="Roboto" pitchFamily="34" charset="-120"/>
              </a:rPr>
              <a:t> NLP is a pipeline that </a:t>
            </a:r>
            <a:r>
              <a:rPr lang="en-US" sz="1150" b="1" dirty="0">
                <a:solidFill>
                  <a:srgbClr val="000000"/>
                </a:solidFill>
                <a:latin typeface="Roboto" pitchFamily="34" charset="0"/>
                <a:ea typeface="Roboto" pitchFamily="34" charset="-122"/>
                <a:cs typeface="Roboto" pitchFamily="34" charset="-120"/>
              </a:rPr>
              <a:t>breaks</a:t>
            </a:r>
            <a:r>
              <a:rPr lang="en-US" sz="1150" dirty="0">
                <a:solidFill>
                  <a:srgbClr val="000000"/>
                </a:solidFill>
                <a:latin typeface="Roboto" pitchFamily="34" charset="0"/>
                <a:ea typeface="Roboto" pitchFamily="34" charset="-122"/>
                <a:cs typeface="Roboto" pitchFamily="34" charset="-120"/>
              </a:rPr>
              <a:t> language into pieces, </a:t>
            </a:r>
            <a:r>
              <a:rPr lang="en-US" sz="1150" b="1" dirty="0">
                <a:solidFill>
                  <a:srgbClr val="000000"/>
                </a:solidFill>
                <a:latin typeface="Roboto" pitchFamily="34" charset="0"/>
                <a:ea typeface="Roboto" pitchFamily="34" charset="-122"/>
                <a:cs typeface="Roboto" pitchFamily="34" charset="-120"/>
              </a:rPr>
              <a:t>understands</a:t>
            </a:r>
            <a:r>
              <a:rPr lang="en-US" sz="1150" dirty="0">
                <a:solidFill>
                  <a:srgbClr val="000000"/>
                </a:solidFill>
                <a:latin typeface="Roboto" pitchFamily="34" charset="0"/>
                <a:ea typeface="Roboto" pitchFamily="34" charset="-122"/>
                <a:cs typeface="Roboto" pitchFamily="34" charset="-120"/>
              </a:rPr>
              <a:t> patterns, and </a:t>
            </a:r>
            <a:r>
              <a:rPr lang="en-US" sz="1150" b="1" dirty="0">
                <a:solidFill>
                  <a:srgbClr val="000000"/>
                </a:solidFill>
                <a:latin typeface="Roboto" pitchFamily="34" charset="0"/>
                <a:ea typeface="Roboto" pitchFamily="34" charset="-122"/>
                <a:cs typeface="Roboto" pitchFamily="34" charset="-120"/>
              </a:rPr>
              <a:t>generates</a:t>
            </a:r>
            <a:r>
              <a:rPr lang="en-US" sz="1150" dirty="0">
                <a:solidFill>
                  <a:srgbClr val="000000"/>
                </a:solidFill>
                <a:latin typeface="Roboto" pitchFamily="34" charset="0"/>
                <a:ea typeface="Roboto" pitchFamily="34" charset="-122"/>
                <a:cs typeface="Roboto" pitchFamily="34" charset="-120"/>
              </a:rPr>
              <a:t> responses but it's all pattern matching, not true understanding. That's why you must always verify, especially for sarcasm, idioms, and important facts.</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356741"/>
            <a:ext cx="3211934" cy="736402"/>
          </a:xfrm>
          <a:prstGeom prst="rect">
            <a:avLst/>
          </a:prstGeom>
          <a:noFill/>
          <a:ln/>
        </p:spPr>
        <p:txBody>
          <a:bodyPr wrap="square" lIns="0" tIns="0" rIns="0" bIns="0" rtlCol="0" anchor="t"/>
          <a:lstStyle/>
          <a:p>
            <a:pPr marL="0" indent="0" algn="l">
              <a:lnSpc>
                <a:spcPts val="2850"/>
              </a:lnSpc>
              <a:buNone/>
            </a:pPr>
            <a:r>
              <a:rPr lang="en-US" sz="2300" dirty="0">
                <a:solidFill>
                  <a:srgbClr val="3257B8"/>
                </a:solidFill>
                <a:latin typeface="Roboto Slab" pitchFamily="34" charset="0"/>
                <a:ea typeface="Roboto Slab" pitchFamily="34" charset="-122"/>
                <a:cs typeface="Roboto Slab" pitchFamily="34" charset="-120"/>
              </a:rPr>
              <a:t>Homework  </a:t>
            </a:r>
            <a:endParaRPr lang="en-US" sz="2300" dirty="0"/>
          </a:p>
          <a:p>
            <a:pPr marL="0" indent="0" algn="l">
              <a:lnSpc>
                <a:spcPts val="2850"/>
              </a:lnSpc>
              <a:buNone/>
            </a:pPr>
            <a:r>
              <a:rPr lang="en-US" sz="2300" dirty="0">
                <a:solidFill>
                  <a:srgbClr val="3257B8"/>
                </a:solidFill>
                <a:latin typeface="Roboto Slab" pitchFamily="34" charset="0"/>
                <a:ea typeface="Roboto Slab" pitchFamily="34" charset="-122"/>
                <a:cs typeface="Roboto Slab" pitchFamily="34" charset="-120"/>
              </a:rPr>
              <a:t>Part 1: Quick Matching </a:t>
            </a:r>
            <a:endParaRPr lang="en-US" sz="2300" dirty="0"/>
          </a:p>
        </p:txBody>
      </p:sp>
      <p:sp>
        <p:nvSpPr>
          <p:cNvPr id="4" name="Text 1"/>
          <p:cNvSpPr/>
          <p:nvPr/>
        </p:nvSpPr>
        <p:spPr>
          <a:xfrm>
            <a:off x="3925119" y="1261021"/>
            <a:ext cx="4722763"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Match each term to its correct description.</a:t>
            </a:r>
            <a:endParaRPr lang="en-US" sz="1150" dirty="0"/>
          </a:p>
        </p:txBody>
      </p:sp>
      <p:sp>
        <p:nvSpPr>
          <p:cNvPr id="5" name="Shape 2"/>
          <p:cNvSpPr/>
          <p:nvPr/>
        </p:nvSpPr>
        <p:spPr>
          <a:xfrm>
            <a:off x="3925119" y="1616720"/>
            <a:ext cx="4722763" cy="3170039"/>
          </a:xfrm>
          <a:prstGeom prst="roundRect">
            <a:avLst>
              <a:gd name="adj" fmla="val 558"/>
            </a:avLst>
          </a:prstGeom>
          <a:noFill/>
          <a:ln w="4763">
            <a:solidFill>
              <a:srgbClr val="000000">
                <a:alpha val="8000"/>
              </a:srgbClr>
            </a:solidFill>
            <a:prstDash val="solid"/>
          </a:ln>
        </p:spPr>
        <p:txBody>
          <a:bodyPr/>
          <a:lstStyle/>
          <a:p>
            <a:endParaRPr lang="en-IN"/>
          </a:p>
        </p:txBody>
      </p:sp>
      <p:sp>
        <p:nvSpPr>
          <p:cNvPr id="6" name="Shape 3"/>
          <p:cNvSpPr/>
          <p:nvPr/>
        </p:nvSpPr>
        <p:spPr>
          <a:xfrm>
            <a:off x="3929881" y="1621482"/>
            <a:ext cx="4713238" cy="603349"/>
          </a:xfrm>
          <a:prstGeom prst="rect">
            <a:avLst/>
          </a:prstGeom>
          <a:solidFill>
            <a:srgbClr val="FFFFFF">
              <a:alpha val="4000"/>
            </a:srgbClr>
          </a:solidFill>
          <a:ln/>
        </p:spPr>
        <p:txBody>
          <a:bodyPr/>
          <a:lstStyle/>
          <a:p>
            <a:endParaRPr lang="en-IN"/>
          </a:p>
        </p:txBody>
      </p:sp>
      <p:sp>
        <p:nvSpPr>
          <p:cNvPr id="7" name="Text 4"/>
          <p:cNvSpPr/>
          <p:nvPr/>
        </p:nvSpPr>
        <p:spPr>
          <a:xfrm>
            <a:off x="4047827" y="1693366"/>
            <a:ext cx="233288"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a:t>
            </a:r>
            <a:endParaRPr lang="en-US" sz="1150" dirty="0"/>
          </a:p>
        </p:txBody>
      </p:sp>
      <p:sp>
        <p:nvSpPr>
          <p:cNvPr id="8" name="Text 5"/>
          <p:cNvSpPr/>
          <p:nvPr/>
        </p:nvSpPr>
        <p:spPr>
          <a:xfrm>
            <a:off x="4521473" y="1693366"/>
            <a:ext cx="1173584"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Term</a:t>
            </a:r>
            <a:endParaRPr lang="en-US" sz="1150" dirty="0"/>
          </a:p>
        </p:txBody>
      </p:sp>
      <p:sp>
        <p:nvSpPr>
          <p:cNvPr id="9" name="Text 6"/>
          <p:cNvSpPr/>
          <p:nvPr/>
        </p:nvSpPr>
        <p:spPr>
          <a:xfrm>
            <a:off x="5759564" y="1693366"/>
            <a:ext cx="466502" cy="459581"/>
          </a:xfrm>
          <a:prstGeom prst="rect">
            <a:avLst/>
          </a:prstGeom>
          <a:noFill/>
          <a:ln/>
        </p:spPr>
        <p:txBody>
          <a:bodyPr wrap="squar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Letter</a:t>
            </a:r>
            <a:endParaRPr lang="en-US" sz="1150" dirty="0"/>
          </a:p>
        </p:txBody>
      </p:sp>
      <p:sp>
        <p:nvSpPr>
          <p:cNvPr id="10" name="Text 7"/>
          <p:cNvSpPr/>
          <p:nvPr/>
        </p:nvSpPr>
        <p:spPr>
          <a:xfrm>
            <a:off x="6406679" y="1693366"/>
            <a:ext cx="2118643"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Description</a:t>
            </a:r>
            <a:endParaRPr lang="en-US" sz="1150" dirty="0"/>
          </a:p>
        </p:txBody>
      </p:sp>
      <p:sp>
        <p:nvSpPr>
          <p:cNvPr id="11" name="Shape 8"/>
          <p:cNvSpPr/>
          <p:nvPr/>
        </p:nvSpPr>
        <p:spPr>
          <a:xfrm>
            <a:off x="3929881" y="2224832"/>
            <a:ext cx="4713238" cy="603349"/>
          </a:xfrm>
          <a:prstGeom prst="rect">
            <a:avLst/>
          </a:prstGeom>
          <a:solidFill>
            <a:srgbClr val="000000">
              <a:alpha val="4000"/>
            </a:srgbClr>
          </a:solidFill>
          <a:ln/>
        </p:spPr>
        <p:txBody>
          <a:bodyPr/>
          <a:lstStyle/>
          <a:p>
            <a:endParaRPr lang="en-IN"/>
          </a:p>
        </p:txBody>
      </p:sp>
      <p:sp>
        <p:nvSpPr>
          <p:cNvPr id="12" name="Text 9"/>
          <p:cNvSpPr/>
          <p:nvPr/>
        </p:nvSpPr>
        <p:spPr>
          <a:xfrm>
            <a:off x="4047827" y="2296716"/>
            <a:ext cx="233288"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1</a:t>
            </a:r>
            <a:endParaRPr lang="en-US" sz="1150" dirty="0"/>
          </a:p>
        </p:txBody>
      </p:sp>
      <p:sp>
        <p:nvSpPr>
          <p:cNvPr id="13" name="Text 10"/>
          <p:cNvSpPr/>
          <p:nvPr/>
        </p:nvSpPr>
        <p:spPr>
          <a:xfrm>
            <a:off x="4521473" y="2296716"/>
            <a:ext cx="1173584"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Tokenization</a:t>
            </a:r>
            <a:endParaRPr lang="en-US" sz="1150" dirty="0"/>
          </a:p>
        </p:txBody>
      </p:sp>
      <p:sp>
        <p:nvSpPr>
          <p:cNvPr id="14" name="Text 11"/>
          <p:cNvSpPr/>
          <p:nvPr/>
        </p:nvSpPr>
        <p:spPr>
          <a:xfrm>
            <a:off x="5935414" y="2296716"/>
            <a:ext cx="23090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A</a:t>
            </a:r>
            <a:endParaRPr lang="en-US" sz="1150" dirty="0"/>
          </a:p>
        </p:txBody>
      </p:sp>
      <p:sp>
        <p:nvSpPr>
          <p:cNvPr id="15" name="Text 12"/>
          <p:cNvSpPr/>
          <p:nvPr/>
        </p:nvSpPr>
        <p:spPr>
          <a:xfrm>
            <a:off x="6406679" y="2296716"/>
            <a:ext cx="2118643"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Labelling words as noun, verb, etc.</a:t>
            </a:r>
            <a:endParaRPr lang="en-US" sz="1150" dirty="0"/>
          </a:p>
        </p:txBody>
      </p:sp>
      <p:sp>
        <p:nvSpPr>
          <p:cNvPr id="16" name="Shape 13"/>
          <p:cNvSpPr/>
          <p:nvPr/>
        </p:nvSpPr>
        <p:spPr>
          <a:xfrm>
            <a:off x="3929881" y="2828181"/>
            <a:ext cx="4713238" cy="373559"/>
          </a:xfrm>
          <a:prstGeom prst="rect">
            <a:avLst/>
          </a:prstGeom>
          <a:solidFill>
            <a:srgbClr val="FFFFFF">
              <a:alpha val="4000"/>
            </a:srgbClr>
          </a:solidFill>
          <a:ln/>
        </p:spPr>
        <p:txBody>
          <a:bodyPr/>
          <a:lstStyle/>
          <a:p>
            <a:endParaRPr lang="en-IN"/>
          </a:p>
        </p:txBody>
      </p:sp>
      <p:sp>
        <p:nvSpPr>
          <p:cNvPr id="17" name="Text 14"/>
          <p:cNvSpPr/>
          <p:nvPr/>
        </p:nvSpPr>
        <p:spPr>
          <a:xfrm>
            <a:off x="4047827" y="2900065"/>
            <a:ext cx="233288"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2</a:t>
            </a:r>
            <a:endParaRPr lang="en-US" sz="1150" dirty="0"/>
          </a:p>
        </p:txBody>
      </p:sp>
      <p:sp>
        <p:nvSpPr>
          <p:cNvPr id="18" name="Text 15"/>
          <p:cNvSpPr/>
          <p:nvPr/>
        </p:nvSpPr>
        <p:spPr>
          <a:xfrm>
            <a:off x="4521473" y="2900065"/>
            <a:ext cx="1173584"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NER</a:t>
            </a:r>
            <a:endParaRPr lang="en-US" sz="1150" dirty="0"/>
          </a:p>
        </p:txBody>
      </p:sp>
      <p:sp>
        <p:nvSpPr>
          <p:cNvPr id="19" name="Text 16"/>
          <p:cNvSpPr/>
          <p:nvPr/>
        </p:nvSpPr>
        <p:spPr>
          <a:xfrm>
            <a:off x="5935414" y="2900065"/>
            <a:ext cx="23090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B</a:t>
            </a:r>
            <a:endParaRPr lang="en-US" sz="1150" dirty="0"/>
          </a:p>
        </p:txBody>
      </p:sp>
      <p:sp>
        <p:nvSpPr>
          <p:cNvPr id="20" name="Text 17"/>
          <p:cNvSpPr/>
          <p:nvPr/>
        </p:nvSpPr>
        <p:spPr>
          <a:xfrm>
            <a:off x="6406679" y="2900065"/>
            <a:ext cx="2118643"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Splitting text into small pieces</a:t>
            </a:r>
            <a:endParaRPr lang="en-US" sz="1150" dirty="0"/>
          </a:p>
        </p:txBody>
      </p:sp>
      <p:sp>
        <p:nvSpPr>
          <p:cNvPr id="21" name="Shape 18"/>
          <p:cNvSpPr/>
          <p:nvPr/>
        </p:nvSpPr>
        <p:spPr>
          <a:xfrm>
            <a:off x="3929881" y="3201739"/>
            <a:ext cx="4713238" cy="603349"/>
          </a:xfrm>
          <a:prstGeom prst="rect">
            <a:avLst/>
          </a:prstGeom>
          <a:solidFill>
            <a:srgbClr val="000000">
              <a:alpha val="4000"/>
            </a:srgbClr>
          </a:solidFill>
          <a:ln/>
        </p:spPr>
        <p:txBody>
          <a:bodyPr/>
          <a:lstStyle/>
          <a:p>
            <a:endParaRPr lang="en-IN"/>
          </a:p>
        </p:txBody>
      </p:sp>
      <p:sp>
        <p:nvSpPr>
          <p:cNvPr id="22" name="Text 19"/>
          <p:cNvSpPr/>
          <p:nvPr/>
        </p:nvSpPr>
        <p:spPr>
          <a:xfrm>
            <a:off x="4047827" y="3273623"/>
            <a:ext cx="233288"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3</a:t>
            </a:r>
            <a:endParaRPr lang="en-US" sz="1150" dirty="0"/>
          </a:p>
        </p:txBody>
      </p:sp>
      <p:sp>
        <p:nvSpPr>
          <p:cNvPr id="23" name="Text 20"/>
          <p:cNvSpPr/>
          <p:nvPr/>
        </p:nvSpPr>
        <p:spPr>
          <a:xfrm>
            <a:off x="4521473" y="3273623"/>
            <a:ext cx="1173584"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POS Tagging</a:t>
            </a:r>
            <a:endParaRPr lang="en-US" sz="1150" dirty="0"/>
          </a:p>
        </p:txBody>
      </p:sp>
      <p:sp>
        <p:nvSpPr>
          <p:cNvPr id="24" name="Text 21"/>
          <p:cNvSpPr/>
          <p:nvPr/>
        </p:nvSpPr>
        <p:spPr>
          <a:xfrm>
            <a:off x="5935414" y="3273623"/>
            <a:ext cx="23090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C</a:t>
            </a:r>
            <a:endParaRPr lang="en-US" sz="1150" dirty="0"/>
          </a:p>
        </p:txBody>
      </p:sp>
      <p:sp>
        <p:nvSpPr>
          <p:cNvPr id="25" name="Text 22"/>
          <p:cNvSpPr/>
          <p:nvPr/>
        </p:nvSpPr>
        <p:spPr>
          <a:xfrm>
            <a:off x="6406679" y="3273623"/>
            <a:ext cx="2118643"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Finding people, places, and dates</a:t>
            </a:r>
            <a:endParaRPr lang="en-US" sz="1150" dirty="0"/>
          </a:p>
        </p:txBody>
      </p:sp>
      <p:sp>
        <p:nvSpPr>
          <p:cNvPr id="26" name="Shape 23"/>
          <p:cNvSpPr/>
          <p:nvPr/>
        </p:nvSpPr>
        <p:spPr>
          <a:xfrm>
            <a:off x="3929881" y="3805089"/>
            <a:ext cx="4713238" cy="373559"/>
          </a:xfrm>
          <a:prstGeom prst="rect">
            <a:avLst/>
          </a:prstGeom>
          <a:solidFill>
            <a:srgbClr val="FFFFFF">
              <a:alpha val="4000"/>
            </a:srgbClr>
          </a:solidFill>
          <a:ln/>
        </p:spPr>
        <p:txBody>
          <a:bodyPr/>
          <a:lstStyle/>
          <a:p>
            <a:endParaRPr lang="en-IN"/>
          </a:p>
        </p:txBody>
      </p:sp>
      <p:sp>
        <p:nvSpPr>
          <p:cNvPr id="27" name="Text 24"/>
          <p:cNvSpPr/>
          <p:nvPr/>
        </p:nvSpPr>
        <p:spPr>
          <a:xfrm>
            <a:off x="4047827" y="3876973"/>
            <a:ext cx="233288"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4</a:t>
            </a:r>
            <a:endParaRPr lang="en-US" sz="1150" dirty="0"/>
          </a:p>
        </p:txBody>
      </p:sp>
      <p:sp>
        <p:nvSpPr>
          <p:cNvPr id="28" name="Text 25"/>
          <p:cNvSpPr/>
          <p:nvPr/>
        </p:nvSpPr>
        <p:spPr>
          <a:xfrm>
            <a:off x="4521473" y="3876973"/>
            <a:ext cx="1173584"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Lemmatization</a:t>
            </a:r>
            <a:endParaRPr lang="en-US" sz="1150" dirty="0"/>
          </a:p>
        </p:txBody>
      </p:sp>
      <p:sp>
        <p:nvSpPr>
          <p:cNvPr id="29" name="Text 26"/>
          <p:cNvSpPr/>
          <p:nvPr/>
        </p:nvSpPr>
        <p:spPr>
          <a:xfrm>
            <a:off x="5935414" y="3876973"/>
            <a:ext cx="23090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D</a:t>
            </a:r>
            <a:endParaRPr lang="en-US" sz="1150" dirty="0"/>
          </a:p>
        </p:txBody>
      </p:sp>
      <p:sp>
        <p:nvSpPr>
          <p:cNvPr id="30" name="Text 27"/>
          <p:cNvSpPr/>
          <p:nvPr/>
        </p:nvSpPr>
        <p:spPr>
          <a:xfrm>
            <a:off x="6406679" y="3876973"/>
            <a:ext cx="2118643"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Reducing "better" to "good"</a:t>
            </a:r>
            <a:endParaRPr lang="en-US" sz="1150" dirty="0"/>
          </a:p>
        </p:txBody>
      </p:sp>
      <p:sp>
        <p:nvSpPr>
          <p:cNvPr id="31" name="Shape 28"/>
          <p:cNvSpPr/>
          <p:nvPr/>
        </p:nvSpPr>
        <p:spPr>
          <a:xfrm>
            <a:off x="3929881" y="4178647"/>
            <a:ext cx="4713238" cy="603349"/>
          </a:xfrm>
          <a:prstGeom prst="rect">
            <a:avLst/>
          </a:prstGeom>
          <a:solidFill>
            <a:srgbClr val="000000">
              <a:alpha val="4000"/>
            </a:srgbClr>
          </a:solidFill>
          <a:ln/>
        </p:spPr>
        <p:txBody>
          <a:bodyPr/>
          <a:lstStyle/>
          <a:p>
            <a:endParaRPr lang="en-IN"/>
          </a:p>
        </p:txBody>
      </p:sp>
      <p:sp>
        <p:nvSpPr>
          <p:cNvPr id="32" name="Text 29"/>
          <p:cNvSpPr/>
          <p:nvPr/>
        </p:nvSpPr>
        <p:spPr>
          <a:xfrm>
            <a:off x="4047827" y="4250531"/>
            <a:ext cx="233288"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5</a:t>
            </a:r>
            <a:endParaRPr lang="en-US" sz="1150" dirty="0"/>
          </a:p>
        </p:txBody>
      </p:sp>
      <p:sp>
        <p:nvSpPr>
          <p:cNvPr id="33" name="Text 30"/>
          <p:cNvSpPr/>
          <p:nvPr/>
        </p:nvSpPr>
        <p:spPr>
          <a:xfrm>
            <a:off x="4521473" y="4250531"/>
            <a:ext cx="1173584"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Stemming</a:t>
            </a:r>
            <a:endParaRPr lang="en-US" sz="1150" dirty="0"/>
          </a:p>
        </p:txBody>
      </p:sp>
      <p:sp>
        <p:nvSpPr>
          <p:cNvPr id="34" name="Text 31"/>
          <p:cNvSpPr/>
          <p:nvPr/>
        </p:nvSpPr>
        <p:spPr>
          <a:xfrm>
            <a:off x="5935414" y="4250531"/>
            <a:ext cx="230907"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E</a:t>
            </a:r>
            <a:endParaRPr lang="en-US" sz="1150" dirty="0"/>
          </a:p>
        </p:txBody>
      </p:sp>
      <p:sp>
        <p:nvSpPr>
          <p:cNvPr id="35" name="Text 32"/>
          <p:cNvSpPr/>
          <p:nvPr/>
        </p:nvSpPr>
        <p:spPr>
          <a:xfrm>
            <a:off x="6406679" y="4250531"/>
            <a:ext cx="2118643"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Reducing "running" to "run" (crude)</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96119" y="527745"/>
            <a:ext cx="3101132"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Homework </a:t>
            </a:r>
            <a:endParaRPr lang="en-US" sz="2400" dirty="0"/>
          </a:p>
        </p:txBody>
      </p:sp>
      <p:sp>
        <p:nvSpPr>
          <p:cNvPr id="3" name="Text 1"/>
          <p:cNvSpPr/>
          <p:nvPr/>
        </p:nvSpPr>
        <p:spPr>
          <a:xfrm>
            <a:off x="496119" y="1352401"/>
            <a:ext cx="3409727"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Part 2: Identify the NLP Stage</a:t>
            </a:r>
            <a:endParaRPr lang="en-US" sz="1950" dirty="0"/>
          </a:p>
        </p:txBody>
      </p:sp>
      <p:sp>
        <p:nvSpPr>
          <p:cNvPr id="4" name="Text 2"/>
          <p:cNvSpPr/>
          <p:nvPr/>
        </p:nvSpPr>
        <p:spPr>
          <a:xfrm>
            <a:off x="496119" y="1848520"/>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For each scenario, write whether it belongs to </a:t>
            </a:r>
            <a:r>
              <a:rPr lang="en-US" sz="1200" b="1" dirty="0">
                <a:solidFill>
                  <a:srgbClr val="15213F"/>
                </a:solidFill>
                <a:latin typeface="Roboto" pitchFamily="34" charset="0"/>
                <a:ea typeface="Roboto" pitchFamily="34" charset="-122"/>
                <a:cs typeface="Roboto" pitchFamily="34" charset="-120"/>
              </a:rPr>
              <a:t>Break</a:t>
            </a:r>
            <a:r>
              <a:rPr lang="en-US" sz="1200" dirty="0">
                <a:solidFill>
                  <a:srgbClr val="15213F"/>
                </a:solidFill>
                <a:latin typeface="Roboto" pitchFamily="34" charset="0"/>
                <a:ea typeface="Roboto" pitchFamily="34" charset="-122"/>
                <a:cs typeface="Roboto" pitchFamily="34" charset="-120"/>
              </a:rPr>
              <a:t>, </a:t>
            </a:r>
            <a:r>
              <a:rPr lang="en-US" sz="1200" b="1" dirty="0">
                <a:solidFill>
                  <a:srgbClr val="15213F"/>
                </a:solidFill>
                <a:latin typeface="Roboto" pitchFamily="34" charset="0"/>
                <a:ea typeface="Roboto" pitchFamily="34" charset="-122"/>
                <a:cs typeface="Roboto" pitchFamily="34" charset="-120"/>
              </a:rPr>
              <a:t>Understand (NLU)</a:t>
            </a:r>
            <a:r>
              <a:rPr lang="en-US" sz="1200" dirty="0">
                <a:solidFill>
                  <a:srgbClr val="15213F"/>
                </a:solidFill>
                <a:latin typeface="Roboto" pitchFamily="34" charset="0"/>
                <a:ea typeface="Roboto" pitchFamily="34" charset="-122"/>
                <a:cs typeface="Roboto" pitchFamily="34" charset="-120"/>
              </a:rPr>
              <a:t>, or </a:t>
            </a:r>
            <a:r>
              <a:rPr lang="en-US" sz="1200" b="1" dirty="0">
                <a:solidFill>
                  <a:srgbClr val="15213F"/>
                </a:solidFill>
                <a:latin typeface="Roboto" pitchFamily="34" charset="0"/>
                <a:ea typeface="Roboto" pitchFamily="34" charset="-122"/>
                <a:cs typeface="Roboto" pitchFamily="34" charset="-120"/>
              </a:rPr>
              <a:t>Generate (NLG)</a:t>
            </a:r>
            <a:r>
              <a:rPr lang="en-US" sz="1200" dirty="0">
                <a:solidFill>
                  <a:srgbClr val="15213F"/>
                </a:solidFill>
                <a:latin typeface="Roboto" pitchFamily="34" charset="0"/>
                <a:ea typeface="Roboto" pitchFamily="34" charset="-122"/>
                <a:cs typeface="Roboto" pitchFamily="34" charset="-120"/>
              </a:rPr>
              <a:t>.</a:t>
            </a:r>
            <a:endParaRPr lang="en-US" sz="1200" dirty="0"/>
          </a:p>
        </p:txBody>
      </p:sp>
      <p:sp>
        <p:nvSpPr>
          <p:cNvPr id="5" name="Shape 3"/>
          <p:cNvSpPr/>
          <p:nvPr/>
        </p:nvSpPr>
        <p:spPr>
          <a:xfrm>
            <a:off x="496119" y="2236143"/>
            <a:ext cx="8151763" cy="2379613"/>
          </a:xfrm>
          <a:prstGeom prst="roundRect">
            <a:avLst>
              <a:gd name="adj" fmla="val 782"/>
            </a:avLst>
          </a:prstGeom>
          <a:noFill/>
          <a:ln w="4763">
            <a:solidFill>
              <a:srgbClr val="000000">
                <a:alpha val="8000"/>
              </a:srgbClr>
            </a:solidFill>
            <a:prstDash val="solid"/>
          </a:ln>
        </p:spPr>
        <p:txBody>
          <a:bodyPr/>
          <a:lstStyle/>
          <a:p>
            <a:endParaRPr lang="en-IN"/>
          </a:p>
        </p:txBody>
      </p:sp>
      <p:sp>
        <p:nvSpPr>
          <p:cNvPr id="6" name="Shape 4"/>
          <p:cNvSpPr/>
          <p:nvPr/>
        </p:nvSpPr>
        <p:spPr>
          <a:xfrm>
            <a:off x="500881" y="2240905"/>
            <a:ext cx="8142238" cy="406450"/>
          </a:xfrm>
          <a:prstGeom prst="rect">
            <a:avLst/>
          </a:prstGeom>
          <a:solidFill>
            <a:srgbClr val="FFFFFF">
              <a:alpha val="4000"/>
            </a:srgbClr>
          </a:solidFill>
          <a:ln/>
        </p:spPr>
        <p:txBody>
          <a:bodyPr/>
          <a:lstStyle/>
          <a:p>
            <a:endParaRPr lang="en-IN"/>
          </a:p>
        </p:txBody>
      </p:sp>
      <p:sp>
        <p:nvSpPr>
          <p:cNvPr id="7" name="Text 5"/>
          <p:cNvSpPr/>
          <p:nvPr/>
        </p:nvSpPr>
        <p:spPr>
          <a:xfrm>
            <a:off x="624929" y="2320082"/>
            <a:ext cx="504207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Scenario</a:t>
            </a:r>
            <a:endParaRPr lang="en-US" sz="1200" dirty="0"/>
          </a:p>
        </p:txBody>
      </p:sp>
      <p:sp>
        <p:nvSpPr>
          <p:cNvPr id="8" name="Text 6"/>
          <p:cNvSpPr/>
          <p:nvPr/>
        </p:nvSpPr>
        <p:spPr>
          <a:xfrm>
            <a:off x="5919713" y="2320082"/>
            <a:ext cx="259943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Stage</a:t>
            </a:r>
            <a:endParaRPr lang="en-US" sz="1200" dirty="0"/>
          </a:p>
        </p:txBody>
      </p:sp>
      <p:sp>
        <p:nvSpPr>
          <p:cNvPr id="9" name="Shape 7"/>
          <p:cNvSpPr/>
          <p:nvPr/>
        </p:nvSpPr>
        <p:spPr>
          <a:xfrm>
            <a:off x="500881" y="2647355"/>
            <a:ext cx="8142238" cy="654546"/>
          </a:xfrm>
          <a:prstGeom prst="rect">
            <a:avLst/>
          </a:prstGeom>
          <a:solidFill>
            <a:srgbClr val="000000">
              <a:alpha val="4000"/>
            </a:srgbClr>
          </a:solidFill>
          <a:ln/>
        </p:spPr>
        <p:txBody>
          <a:bodyPr/>
          <a:lstStyle/>
          <a:p>
            <a:endParaRPr lang="en-IN"/>
          </a:p>
        </p:txBody>
      </p:sp>
      <p:sp>
        <p:nvSpPr>
          <p:cNvPr id="10" name="Text 8"/>
          <p:cNvSpPr/>
          <p:nvPr/>
        </p:nvSpPr>
        <p:spPr>
          <a:xfrm>
            <a:off x="624929" y="2726531"/>
            <a:ext cx="504207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chatbot splits "What's the weather?" into ["What", "'s", "the", "weather", "?"]</a:t>
            </a:r>
            <a:endParaRPr lang="en-US" sz="1200" dirty="0"/>
          </a:p>
        </p:txBody>
      </p:sp>
      <p:sp>
        <p:nvSpPr>
          <p:cNvPr id="11" name="Text 9"/>
          <p:cNvSpPr/>
          <p:nvPr/>
        </p:nvSpPr>
        <p:spPr>
          <a:xfrm>
            <a:off x="5919713" y="2726531"/>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___________</a:t>
            </a:r>
            <a:endParaRPr lang="en-US" sz="1200" dirty="0"/>
          </a:p>
        </p:txBody>
      </p:sp>
      <p:sp>
        <p:nvSpPr>
          <p:cNvPr id="12" name="Shape 10"/>
          <p:cNvSpPr/>
          <p:nvPr/>
        </p:nvSpPr>
        <p:spPr>
          <a:xfrm>
            <a:off x="500881" y="3301901"/>
            <a:ext cx="8142238" cy="654546"/>
          </a:xfrm>
          <a:prstGeom prst="rect">
            <a:avLst/>
          </a:prstGeom>
          <a:solidFill>
            <a:srgbClr val="FFFFFF">
              <a:alpha val="4000"/>
            </a:srgbClr>
          </a:solidFill>
          <a:ln/>
        </p:spPr>
        <p:txBody>
          <a:bodyPr/>
          <a:lstStyle/>
          <a:p>
            <a:endParaRPr lang="en-IN"/>
          </a:p>
        </p:txBody>
      </p:sp>
      <p:sp>
        <p:nvSpPr>
          <p:cNvPr id="13" name="Text 11"/>
          <p:cNvSpPr/>
          <p:nvPr/>
        </p:nvSpPr>
        <p:spPr>
          <a:xfrm>
            <a:off x="624929" y="3381077"/>
            <a:ext cx="504207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voice assistant figures out that "Set a timer for 5 minutes" means intent = set_timer, duration = 5</a:t>
            </a:r>
            <a:endParaRPr lang="en-US" sz="1200" dirty="0"/>
          </a:p>
        </p:txBody>
      </p:sp>
      <p:sp>
        <p:nvSpPr>
          <p:cNvPr id="14" name="Text 12"/>
          <p:cNvSpPr/>
          <p:nvPr/>
        </p:nvSpPr>
        <p:spPr>
          <a:xfrm>
            <a:off x="5919713" y="3381077"/>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___________</a:t>
            </a:r>
            <a:endParaRPr lang="en-US" sz="1200" dirty="0"/>
          </a:p>
        </p:txBody>
      </p:sp>
      <p:sp>
        <p:nvSpPr>
          <p:cNvPr id="15" name="Shape 13"/>
          <p:cNvSpPr/>
          <p:nvPr/>
        </p:nvSpPr>
        <p:spPr>
          <a:xfrm>
            <a:off x="500881" y="3956447"/>
            <a:ext cx="8142238" cy="654546"/>
          </a:xfrm>
          <a:prstGeom prst="rect">
            <a:avLst/>
          </a:prstGeom>
          <a:solidFill>
            <a:srgbClr val="000000">
              <a:alpha val="4000"/>
            </a:srgbClr>
          </a:solidFill>
          <a:ln/>
        </p:spPr>
        <p:txBody>
          <a:bodyPr/>
          <a:lstStyle/>
          <a:p>
            <a:endParaRPr lang="en-IN"/>
          </a:p>
        </p:txBody>
      </p:sp>
      <p:sp>
        <p:nvSpPr>
          <p:cNvPr id="16" name="Text 14"/>
          <p:cNvSpPr/>
          <p:nvPr/>
        </p:nvSpPr>
        <p:spPr>
          <a:xfrm>
            <a:off x="624929" y="4035623"/>
            <a:ext cx="504207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translation app writes "¿Dónde está la biblioteca?" after reading "Where is the library?"</a:t>
            </a:r>
            <a:endParaRPr lang="en-US" sz="1200" dirty="0"/>
          </a:p>
        </p:txBody>
      </p:sp>
      <p:sp>
        <p:nvSpPr>
          <p:cNvPr id="17" name="Text 15"/>
          <p:cNvSpPr/>
          <p:nvPr/>
        </p:nvSpPr>
        <p:spPr>
          <a:xfrm>
            <a:off x="5919713" y="4035623"/>
            <a:ext cx="259943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___________</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96119" y="492621"/>
            <a:ext cx="3101132"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Homework </a:t>
            </a:r>
            <a:endParaRPr lang="en-US" sz="2400" dirty="0"/>
          </a:p>
        </p:txBody>
      </p:sp>
      <p:sp>
        <p:nvSpPr>
          <p:cNvPr id="3" name="Text 1"/>
          <p:cNvSpPr/>
          <p:nvPr/>
        </p:nvSpPr>
        <p:spPr>
          <a:xfrm>
            <a:off x="496119" y="1317278"/>
            <a:ext cx="3571280"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Part 3: NLP Challenge Spotting</a:t>
            </a:r>
            <a:endParaRPr lang="en-US" sz="1950" dirty="0"/>
          </a:p>
        </p:txBody>
      </p:sp>
      <p:sp>
        <p:nvSpPr>
          <p:cNvPr id="4" name="Text 2"/>
          <p:cNvSpPr/>
          <p:nvPr/>
        </p:nvSpPr>
        <p:spPr>
          <a:xfrm>
            <a:off x="496119" y="1813396"/>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Read the sentence and write which NLP challenge it shows: </a:t>
            </a:r>
            <a:r>
              <a:rPr lang="en-US" sz="1200" b="1" dirty="0">
                <a:solidFill>
                  <a:srgbClr val="15213F"/>
                </a:solidFill>
                <a:latin typeface="Roboto" pitchFamily="34" charset="0"/>
                <a:ea typeface="Roboto" pitchFamily="34" charset="-122"/>
                <a:cs typeface="Roboto" pitchFamily="34" charset="-120"/>
              </a:rPr>
              <a:t>Ambiguity, Sarcasm, Idiom, Cultural context, Bias</a:t>
            </a:r>
            <a:r>
              <a:rPr lang="en-US" sz="1200" dirty="0">
                <a:solidFill>
                  <a:srgbClr val="15213F"/>
                </a:solidFill>
                <a:latin typeface="Roboto" pitchFamily="34" charset="0"/>
                <a:ea typeface="Roboto" pitchFamily="34" charset="-122"/>
                <a:cs typeface="Roboto" pitchFamily="34" charset="-120"/>
              </a:rPr>
              <a:t>.</a:t>
            </a:r>
            <a:endParaRPr lang="en-US" sz="1200" dirty="0"/>
          </a:p>
        </p:txBody>
      </p:sp>
      <p:sp>
        <p:nvSpPr>
          <p:cNvPr id="5" name="Text 3"/>
          <p:cNvSpPr/>
          <p:nvPr/>
        </p:nvSpPr>
        <p:spPr>
          <a:xfrm>
            <a:off x="496119" y="2201019"/>
            <a:ext cx="8151763" cy="248096"/>
          </a:xfrm>
          <a:prstGeom prst="rect">
            <a:avLst/>
          </a:prstGeom>
          <a:noFill/>
          <a:ln/>
        </p:spPr>
        <p:txBody>
          <a:bodyPr wrap="none" lIns="0" tIns="0" rIns="0" bIns="0" rtlCol="0" anchor="t"/>
          <a:lstStyle/>
          <a:p>
            <a:pPr marL="0" indent="0" algn="l">
              <a:lnSpc>
                <a:spcPts val="1950"/>
              </a:lnSpc>
              <a:buNone/>
            </a:pPr>
            <a:r>
              <a:rPr lang="en-US" sz="1200" i="1" dirty="0">
                <a:solidFill>
                  <a:srgbClr val="15213F"/>
                </a:solidFill>
                <a:latin typeface="Roboto" pitchFamily="34" charset="0"/>
                <a:ea typeface="Roboto" pitchFamily="34" charset="-122"/>
                <a:cs typeface="Roboto" pitchFamily="34" charset="-120"/>
              </a:rPr>
              <a:t>"The proposal was dead on arrival."</a:t>
            </a:r>
            <a:r>
              <a:rPr lang="en-US" sz="1200" dirty="0">
                <a:solidFill>
                  <a:srgbClr val="15213F"/>
                </a:solidFill>
                <a:latin typeface="Roboto" pitchFamily="34" charset="0"/>
                <a:ea typeface="Roboto" pitchFamily="34" charset="-122"/>
                <a:cs typeface="Roboto" pitchFamily="34" charset="-120"/>
              </a:rPr>
              <a:t> (meaning: it had no chance of being accepted)</a:t>
            </a:r>
            <a:endParaRPr lang="en-US" sz="1200" dirty="0"/>
          </a:p>
        </p:txBody>
      </p:sp>
      <p:sp>
        <p:nvSpPr>
          <p:cNvPr id="6" name="Text 4"/>
          <p:cNvSpPr/>
          <p:nvPr/>
        </p:nvSpPr>
        <p:spPr>
          <a:xfrm>
            <a:off x="496119" y="2588642"/>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7" name="Text 5"/>
          <p:cNvSpPr/>
          <p:nvPr/>
        </p:nvSpPr>
        <p:spPr>
          <a:xfrm>
            <a:off x="496119" y="3022774"/>
            <a:ext cx="4023940"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Part 4: Add to Your Prompt Library</a:t>
            </a:r>
            <a:endParaRPr lang="en-US" sz="1950" dirty="0"/>
          </a:p>
        </p:txBody>
      </p:sp>
      <p:sp>
        <p:nvSpPr>
          <p:cNvPr id="8" name="Text 6"/>
          <p:cNvSpPr/>
          <p:nvPr/>
        </p:nvSpPr>
        <p:spPr>
          <a:xfrm>
            <a:off x="496119" y="3518892"/>
            <a:ext cx="8151763"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Choose </a:t>
            </a:r>
            <a:r>
              <a:rPr lang="en-US" sz="1200" b="1" dirty="0">
                <a:solidFill>
                  <a:srgbClr val="15213F"/>
                </a:solidFill>
                <a:latin typeface="Roboto" pitchFamily="34" charset="0"/>
                <a:ea typeface="Roboto" pitchFamily="34" charset="-122"/>
                <a:cs typeface="Roboto" pitchFamily="34" charset="-120"/>
              </a:rPr>
              <a:t>one</a:t>
            </a:r>
            <a:r>
              <a:rPr lang="en-US" sz="1200" dirty="0">
                <a:solidFill>
                  <a:srgbClr val="15213F"/>
                </a:solidFill>
                <a:latin typeface="Roboto" pitchFamily="34" charset="0"/>
                <a:ea typeface="Roboto" pitchFamily="34" charset="-122"/>
                <a:cs typeface="Roboto" pitchFamily="34" charset="-120"/>
              </a:rPr>
              <a:t> of the tasks you completed in the hands‑on activity (sentiment analysis, translation, summarisation, paraphrasing, or NER). Write a prompt that you could use to perform that task again in the future. Run it in the appropriate tool (ChatGPT/Gemini, Google Translate, QuillBot, or NotebookLM). Write down the AI's response.</a:t>
            </a:r>
            <a:endParaRPr lang="en-US" sz="1200" dirty="0"/>
          </a:p>
        </p:txBody>
      </p:sp>
      <p:sp>
        <p:nvSpPr>
          <p:cNvPr id="9" name="Text 7"/>
          <p:cNvSpPr/>
          <p:nvPr/>
        </p:nvSpPr>
        <p:spPr>
          <a:xfrm>
            <a:off x="496119" y="4402708"/>
            <a:ext cx="8151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Add the prompt and the response to your Prompt Library</a:t>
            </a:r>
            <a:r>
              <a:rPr lang="en-US" sz="1200" dirty="0">
                <a:solidFill>
                  <a:srgbClr val="15213F"/>
                </a:solidFill>
                <a:latin typeface="Roboto" pitchFamily="34" charset="0"/>
                <a:ea typeface="Roboto" pitchFamily="34" charset="-122"/>
                <a:cs typeface="Roboto" pitchFamily="34" charset="-120"/>
              </a:rPr>
              <a:t> (Date, Goal, Final Prompt, What Worked).</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429122"/>
            <a:ext cx="3368576"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Next Session Preview -</a:t>
            </a:r>
            <a:endParaRPr lang="en-US" sz="2400" dirty="0"/>
          </a:p>
        </p:txBody>
      </p:sp>
      <p:sp>
        <p:nvSpPr>
          <p:cNvPr id="4" name="Text 1"/>
          <p:cNvSpPr/>
          <p:nvPr/>
        </p:nvSpPr>
        <p:spPr>
          <a:xfrm>
            <a:off x="496119" y="1866230"/>
            <a:ext cx="2480890"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Session 15 : </a:t>
            </a:r>
            <a:endParaRPr lang="en-US" sz="1950" dirty="0"/>
          </a:p>
        </p:txBody>
      </p:sp>
      <p:sp>
        <p:nvSpPr>
          <p:cNvPr id="5" name="Text 2"/>
          <p:cNvSpPr/>
          <p:nvPr/>
        </p:nvSpPr>
        <p:spPr>
          <a:xfrm>
            <a:off x="496119" y="2225873"/>
            <a:ext cx="3667199"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AI That Sees - Computer Vision</a:t>
            </a:r>
            <a:endParaRPr lang="en-US" sz="1950" dirty="0"/>
          </a:p>
        </p:txBody>
      </p:sp>
      <p:sp>
        <p:nvSpPr>
          <p:cNvPr id="6" name="Text 3"/>
          <p:cNvSpPr/>
          <p:nvPr/>
        </p:nvSpPr>
        <p:spPr>
          <a:xfrm>
            <a:off x="496119" y="2721992"/>
            <a:ext cx="4722763"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In next session, we will explore how AI "sees" the world - recognising objects, faces, and even emotions in images and videos. You'll also learn about computer vision in self‑driving cars, medical scans, social media filters, etc.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3150</Words>
  <Application>Microsoft Office PowerPoint</Application>
  <PresentationFormat>On-screen Show (16:9)</PresentationFormat>
  <Paragraphs>399</Paragraphs>
  <Slides>34</Slides>
  <Notes>34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Roboto Slab</vt:lpstr>
      <vt:lpstr>Roboto</vt:lpstr>
      <vt:lpstr>Roboto Slab Light</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Office</cp:lastModifiedBy>
  <cp:revision>3</cp:revision>
  <dcterms:created xsi:type="dcterms:W3CDTF">2026-05-11T06:21:05Z</dcterms:created>
  <dcterms:modified xsi:type="dcterms:W3CDTF">2026-05-11T08:31:47Z</dcterms:modified>
</cp:coreProperties>
</file>