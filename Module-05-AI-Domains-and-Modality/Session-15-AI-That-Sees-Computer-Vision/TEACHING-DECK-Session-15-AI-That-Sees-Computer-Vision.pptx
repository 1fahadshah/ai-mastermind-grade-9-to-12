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3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89" r:id="rId17"/>
    <p:sldId id="270" r:id="rId18"/>
    <p:sldId id="271" r:id="rId19"/>
    <p:sldId id="290" r:id="rId20"/>
    <p:sldId id="274" r:id="rId21"/>
    <p:sldId id="275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9144000" cy="5143500" type="screen16x9"/>
  <p:notesSz cx="5143500" cy="9144000"/>
  <p:embeddedFontLst>
    <p:embeddedFont>
      <p:font typeface="Roboto" panose="02000000000000000000" pitchFamily="2" charset="0"/>
      <p:regular r:id="rId35"/>
      <p:bold r:id="rId36"/>
      <p:italic r:id="rId37"/>
    </p:embeddedFont>
    <p:embeddedFont>
      <p:font typeface="Roboto Slab" pitchFamily="2" charset="0"/>
      <p:regular r:id="rId38"/>
      <p:bold r:id="rId39"/>
    </p:embeddedFont>
    <p:embeddedFont>
      <p:font typeface="Roboto Slab Light" pitchFamily="2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B25C2-1E13-42A7-8E9B-AA4B94B49038}" v="24" dt="2026-05-11T09:28:03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5.fntdata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1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4.fntdata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203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184202"/>
            <a:ext cx="4584799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15: </a:t>
            </a:r>
            <a:endParaRPr lang="en-US" sz="2400" dirty="0"/>
          </a:p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That Sees - Computer Vision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7619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0318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99642"/>
            <a:ext cx="1944960" cy="142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990204"/>
            <a:ext cx="194496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Computer Vision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565053" y="170318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053" y="1899642"/>
            <a:ext cx="1944960" cy="142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65053" y="1990204"/>
            <a:ext cx="1944960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Describe the CV framework: See → Process → Act.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633987" y="170318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987" y="1912069"/>
            <a:ext cx="1944960" cy="142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33987" y="1990204"/>
            <a:ext cx="194496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 key concepts in Computer Vision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702921" y="170318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921" y="1912069"/>
            <a:ext cx="1944960" cy="142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02921" y="1990204"/>
            <a:ext cx="194496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common CV tasks 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96119" y="295148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135585"/>
            <a:ext cx="1944960" cy="142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6119" y="3238500"/>
            <a:ext cx="194496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Recognise Challenges in CV 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2565053" y="295148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9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053" y="3135585"/>
            <a:ext cx="1944960" cy="142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565053" y="3238500"/>
            <a:ext cx="194496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 Real‑world CV applications 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4633987" y="295148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07</a:t>
            </a:r>
            <a:endParaRPr lang="en-US" sz="9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987" y="3135585"/>
            <a:ext cx="1944960" cy="1428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633987" y="3238500"/>
            <a:ext cx="1944960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CV powers self-driving cars and social media filters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6702921" y="295148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08</a:t>
            </a:r>
            <a:endParaRPr lang="en-US" sz="9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921" y="3147938"/>
            <a:ext cx="1944960" cy="1428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702921" y="3238500"/>
            <a:ext cx="194496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a CV‑focused prompt to your Prompt Library.</a:t>
            </a:r>
            <a:endParaRPr lang="en-US" sz="12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AB866EF-795B-D014-3552-FBDE351E78E8}"/>
              </a:ext>
            </a:extLst>
          </p:cNvPr>
          <p:cNvCxnSpPr>
            <a:cxnSpLocks/>
            <a:stCxn id="4" idx="1"/>
            <a:endCxn id="4" idx="3"/>
          </p:cNvCxnSpPr>
          <p:nvPr/>
        </p:nvCxnSpPr>
        <p:spPr>
          <a:xfrm>
            <a:off x="496119" y="1906786"/>
            <a:ext cx="194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5E94D53-3E50-E82D-546C-E73DB9497063}"/>
              </a:ext>
            </a:extLst>
          </p:cNvPr>
          <p:cNvCxnSpPr>
            <a:cxnSpLocks/>
          </p:cNvCxnSpPr>
          <p:nvPr/>
        </p:nvCxnSpPr>
        <p:spPr>
          <a:xfrm>
            <a:off x="2547661" y="1904945"/>
            <a:ext cx="194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DBF789-D612-85B6-82ED-76D233F47A74}"/>
              </a:ext>
            </a:extLst>
          </p:cNvPr>
          <p:cNvCxnSpPr>
            <a:cxnSpLocks/>
          </p:cNvCxnSpPr>
          <p:nvPr/>
        </p:nvCxnSpPr>
        <p:spPr>
          <a:xfrm>
            <a:off x="4599184" y="1909125"/>
            <a:ext cx="194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2D90250-4839-A551-3D77-2912BF7D74FF}"/>
              </a:ext>
            </a:extLst>
          </p:cNvPr>
          <p:cNvCxnSpPr>
            <a:cxnSpLocks/>
          </p:cNvCxnSpPr>
          <p:nvPr/>
        </p:nvCxnSpPr>
        <p:spPr>
          <a:xfrm>
            <a:off x="6655398" y="1904436"/>
            <a:ext cx="194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1E34794-28B6-E93C-B2B7-08FFC83065AF}"/>
              </a:ext>
            </a:extLst>
          </p:cNvPr>
          <p:cNvCxnSpPr>
            <a:cxnSpLocks/>
            <a:stCxn id="16" idx="1"/>
            <a:endCxn id="16" idx="3"/>
          </p:cNvCxnSpPr>
          <p:nvPr/>
        </p:nvCxnSpPr>
        <p:spPr>
          <a:xfrm>
            <a:off x="496119" y="3142729"/>
            <a:ext cx="194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1C69DB9-D6A4-9C2A-EF0A-2BF0BB267105}"/>
              </a:ext>
            </a:extLst>
          </p:cNvPr>
          <p:cNvCxnSpPr>
            <a:cxnSpLocks/>
          </p:cNvCxnSpPr>
          <p:nvPr/>
        </p:nvCxnSpPr>
        <p:spPr>
          <a:xfrm>
            <a:off x="2540625" y="3144948"/>
            <a:ext cx="194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B52A638-CCBA-63C0-C043-1A732DB67FED}"/>
              </a:ext>
            </a:extLst>
          </p:cNvPr>
          <p:cNvCxnSpPr>
            <a:cxnSpLocks/>
          </p:cNvCxnSpPr>
          <p:nvPr/>
        </p:nvCxnSpPr>
        <p:spPr>
          <a:xfrm>
            <a:off x="4592152" y="3145072"/>
            <a:ext cx="194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E638EDD-4213-439E-C163-A038BA14E415}"/>
              </a:ext>
            </a:extLst>
          </p:cNvPr>
          <p:cNvCxnSpPr>
            <a:cxnSpLocks/>
          </p:cNvCxnSpPr>
          <p:nvPr/>
        </p:nvCxnSpPr>
        <p:spPr>
          <a:xfrm>
            <a:off x="6671813" y="3142730"/>
            <a:ext cx="1944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5966"/>
            <a:ext cx="563106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Recap: What We Learned in Session 14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341537"/>
            <a:ext cx="8151763" cy="2041773"/>
          </a:xfrm>
          <a:prstGeom prst="roundRect">
            <a:avLst>
              <a:gd name="adj" fmla="val 91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34629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4855" y="1425476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Idea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98355" y="1425476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0881" y="1752749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4855" y="1831925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98355" y="1831925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that reads and understands human language.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0881" y="2159198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4855" y="2238375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Break → Understand → Generate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98355" y="2238375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three‑stage framework for processing text.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0881" y="2565648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855" y="2644825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Tokenization, Lemmatization, NER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98355" y="2644825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Ways to break down and label words.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881" y="2972098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4855" y="3051274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98355" y="3051274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NLP is pattern matching, not true understanding.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119" y="3522836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6119" y="3860825"/>
            <a:ext cx="8151763" cy="576635"/>
          </a:xfrm>
          <a:prstGeom prst="roundRect">
            <a:avLst>
              <a:gd name="adj" fmla="val 322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4056311"/>
            <a:ext cx="193774" cy="15500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37840" y="4015755"/>
            <a:ext cx="758606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Today we move from reading text to "seeing" images – Computer Vision.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2266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Visual Puzzle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147837"/>
            <a:ext cx="8151763" cy="2131516"/>
          </a:xfrm>
          <a:prstGeom prst="roundRect">
            <a:avLst>
              <a:gd name="adj" fmla="val 87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15259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0F44F3-62F3-FDFD-DC54-8440BCC084B2}"/>
              </a:ext>
            </a:extLst>
          </p:cNvPr>
          <p:cNvGrpSpPr/>
          <p:nvPr/>
        </p:nvGrpSpPr>
        <p:grpSpPr>
          <a:xfrm>
            <a:off x="624855" y="1231776"/>
            <a:ext cx="7894290" cy="248096"/>
            <a:chOff x="624855" y="1231776"/>
            <a:chExt cx="7894290" cy="248096"/>
          </a:xfrm>
        </p:grpSpPr>
        <p:sp>
          <p:nvSpPr>
            <p:cNvPr id="5" name="Text 3"/>
            <p:cNvSpPr/>
            <p:nvPr/>
          </p:nvSpPr>
          <p:spPr>
            <a:xfrm>
              <a:off x="624855" y="1231776"/>
              <a:ext cx="3820790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Situation</a:t>
              </a:r>
              <a:endParaRPr lang="en-US" sz="1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4698355" y="1231776"/>
              <a:ext cx="3820790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Why it's hard for AI</a:t>
              </a:r>
              <a:endParaRPr lang="en-US" sz="1200" dirty="0"/>
            </a:p>
          </p:txBody>
        </p:sp>
      </p:grpSp>
      <p:sp>
        <p:nvSpPr>
          <p:cNvPr id="7" name="Shape 5"/>
          <p:cNvSpPr/>
          <p:nvPr/>
        </p:nvSpPr>
        <p:spPr>
          <a:xfrm>
            <a:off x="500881" y="1559049"/>
            <a:ext cx="8142238" cy="6545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4855" y="1638226"/>
            <a:ext cx="382079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photo of your friend wearing a hat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same friend without a hat.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98355" y="1638226"/>
            <a:ext cx="382079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face shape changes - AI might think it's a different person.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0881" y="2213595"/>
            <a:ext cx="8142238" cy="6545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4855" y="2292772"/>
            <a:ext cx="382079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stop sign on a sunny day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same stop sign covered in snow.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98355" y="2292772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Colours and edges are hidden - AI may not recognise 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0881" y="2868141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855" y="2947318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cat sitting on a patterned carpet.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98355" y="2947318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might learn the carpet pattern instead of the cat.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6119" y="3418880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0C5D015-37DE-BABF-7798-BD56451F8321}"/>
              </a:ext>
            </a:extLst>
          </p:cNvPr>
          <p:cNvGrpSpPr/>
          <p:nvPr/>
        </p:nvGrpSpPr>
        <p:grpSpPr>
          <a:xfrm>
            <a:off x="496119" y="3806503"/>
            <a:ext cx="8151763" cy="824731"/>
            <a:chOff x="496119" y="3806503"/>
            <a:chExt cx="8151763" cy="824731"/>
          </a:xfrm>
        </p:grpSpPr>
        <p:sp>
          <p:nvSpPr>
            <p:cNvPr id="17" name="Shape 15"/>
            <p:cNvSpPr/>
            <p:nvPr/>
          </p:nvSpPr>
          <p:spPr>
            <a:xfrm>
              <a:off x="496119" y="3806503"/>
              <a:ext cx="8151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0092" y="4001988"/>
              <a:ext cx="193774" cy="155004"/>
            </a:xfrm>
            <a:prstGeom prst="rect">
              <a:avLst/>
            </a:prstGeom>
          </p:spPr>
        </p:pic>
        <p:sp>
          <p:nvSpPr>
            <p:cNvPr id="19" name="Text 16"/>
            <p:cNvSpPr/>
            <p:nvPr/>
          </p:nvSpPr>
          <p:spPr>
            <a:xfrm>
              <a:off x="937840" y="3961433"/>
              <a:ext cx="7586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Big Question:</a:t>
              </a: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How does AI turn a grid of numbers (pixels) into a meaningful label like "stop sign" or "my friend's face"?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25191"/>
            <a:ext cx="381811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is Computer Vision?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098774"/>
            <a:ext cx="472276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Computer Vision (CV)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the branch of AI that gives computers the ability to see, interpret, and understand visual information – images and videos.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25119" y="2982590"/>
            <a:ext cx="4722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925119" y="3370213"/>
            <a:ext cx="4722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Think of CV as a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translator between the camera and the computer.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7DBCED54-51F8-A77D-A5DC-036D7FC277E3}"/>
              </a:ext>
            </a:extLst>
          </p:cNvPr>
          <p:cNvGrpSpPr/>
          <p:nvPr/>
        </p:nvGrpSpPr>
        <p:grpSpPr>
          <a:xfrm>
            <a:off x="4633987" y="1678781"/>
            <a:ext cx="1944960" cy="992088"/>
            <a:chOff x="4633987" y="1678781"/>
            <a:chExt cx="1944960" cy="992088"/>
          </a:xfrm>
        </p:grpSpPr>
        <p:sp>
          <p:nvSpPr>
            <p:cNvPr id="11" name="Shape 5"/>
            <p:cNvSpPr/>
            <p:nvPr/>
          </p:nvSpPr>
          <p:spPr>
            <a:xfrm>
              <a:off x="4633987" y="1678781"/>
              <a:ext cx="1944960" cy="992088"/>
            </a:xfrm>
            <a:prstGeom prst="roundRect">
              <a:avLst>
                <a:gd name="adj" fmla="val 187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2" name="Image 4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7961" y="1802755"/>
              <a:ext cx="372070" cy="372070"/>
            </a:xfrm>
            <a:prstGeom prst="rect">
              <a:avLst/>
            </a:prstGeom>
          </p:spPr>
        </p:pic>
        <p:sp>
          <p:nvSpPr>
            <p:cNvPr id="14" name="Text 6"/>
            <p:cNvSpPr/>
            <p:nvPr/>
          </p:nvSpPr>
          <p:spPr>
            <a:xfrm>
              <a:off x="4757961" y="2298799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Google Lens</a:t>
              </a:r>
              <a:endParaRPr lang="en-US" sz="1200" dirty="0"/>
            </a:p>
          </p:txBody>
        </p:sp>
      </p:grpSp>
      <p:sp>
        <p:nvSpPr>
          <p:cNvPr id="2" name="Text 0"/>
          <p:cNvSpPr/>
          <p:nvPr/>
        </p:nvSpPr>
        <p:spPr>
          <a:xfrm>
            <a:off x="496119" y="1120676"/>
            <a:ext cx="3356595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Where you see CV every day:</a:t>
            </a:r>
            <a:endParaRPr lang="en-US" sz="1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412" y="1905000"/>
            <a:ext cx="167432" cy="167432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FA05B1A2-8C30-CEAA-5D5C-2C3D646B7820}"/>
              </a:ext>
            </a:extLst>
          </p:cNvPr>
          <p:cNvGrpSpPr/>
          <p:nvPr/>
        </p:nvGrpSpPr>
        <p:grpSpPr>
          <a:xfrm>
            <a:off x="496119" y="1678781"/>
            <a:ext cx="1944960" cy="992088"/>
            <a:chOff x="496119" y="1678781"/>
            <a:chExt cx="1944960" cy="992088"/>
          </a:xfrm>
        </p:grpSpPr>
        <p:sp>
          <p:nvSpPr>
            <p:cNvPr id="3" name="Shape 1"/>
            <p:cNvSpPr/>
            <p:nvPr/>
          </p:nvSpPr>
          <p:spPr>
            <a:xfrm>
              <a:off x="496119" y="1678781"/>
              <a:ext cx="1944960" cy="992088"/>
            </a:xfrm>
            <a:prstGeom prst="roundRect">
              <a:avLst>
                <a:gd name="adj" fmla="val 187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092" y="1802755"/>
              <a:ext cx="372070" cy="372070"/>
            </a:xfrm>
            <a:prstGeom prst="rect">
              <a:avLst/>
            </a:prstGeom>
          </p:spPr>
        </p:pic>
        <p:sp>
          <p:nvSpPr>
            <p:cNvPr id="6" name="Text 2"/>
            <p:cNvSpPr/>
            <p:nvPr/>
          </p:nvSpPr>
          <p:spPr>
            <a:xfrm>
              <a:off x="620092" y="2298799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Face Unlock</a:t>
              </a:r>
              <a:endParaRPr lang="en-US" sz="1200" dirty="0"/>
            </a:p>
          </p:txBody>
        </p:sp>
      </p:grp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91346" y="1905000"/>
            <a:ext cx="167432" cy="167432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676ABDE-50DF-6568-F38F-3CB409E7A1DB}"/>
              </a:ext>
            </a:extLst>
          </p:cNvPr>
          <p:cNvGrpSpPr/>
          <p:nvPr/>
        </p:nvGrpSpPr>
        <p:grpSpPr>
          <a:xfrm>
            <a:off x="2565053" y="1678781"/>
            <a:ext cx="1944960" cy="992088"/>
            <a:chOff x="2565053" y="1678781"/>
            <a:chExt cx="1944960" cy="992088"/>
          </a:xfrm>
        </p:grpSpPr>
        <p:sp>
          <p:nvSpPr>
            <p:cNvPr id="7" name="Shape 3"/>
            <p:cNvSpPr/>
            <p:nvPr/>
          </p:nvSpPr>
          <p:spPr>
            <a:xfrm>
              <a:off x="2565053" y="1678781"/>
              <a:ext cx="1944960" cy="992088"/>
            </a:xfrm>
            <a:prstGeom prst="roundRect">
              <a:avLst>
                <a:gd name="adj" fmla="val 187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8" name="Image 2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89027" y="1802755"/>
              <a:ext cx="372070" cy="372070"/>
            </a:xfrm>
            <a:prstGeom prst="rect">
              <a:avLst/>
            </a:prstGeom>
          </p:spPr>
        </p:pic>
        <p:sp>
          <p:nvSpPr>
            <p:cNvPr id="10" name="Text 4"/>
            <p:cNvSpPr/>
            <p:nvPr/>
          </p:nvSpPr>
          <p:spPr>
            <a:xfrm>
              <a:off x="2689027" y="2298799"/>
              <a:ext cx="169701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Social Filters</a:t>
              </a:r>
              <a:endParaRPr lang="en-US" sz="1200" dirty="0"/>
            </a:p>
          </p:txBody>
        </p:sp>
      </p:grp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0280" y="1905000"/>
            <a:ext cx="167432" cy="167432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54DF8CDB-5928-D9DE-0746-41E3AE26C9F1}"/>
              </a:ext>
            </a:extLst>
          </p:cNvPr>
          <p:cNvGrpSpPr/>
          <p:nvPr/>
        </p:nvGrpSpPr>
        <p:grpSpPr>
          <a:xfrm>
            <a:off x="6702921" y="1678781"/>
            <a:ext cx="1944960" cy="992088"/>
            <a:chOff x="6702921" y="1678781"/>
            <a:chExt cx="1944960" cy="99208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965AE56-3FF0-706D-7A12-A888A639ABE0}"/>
                </a:ext>
              </a:extLst>
            </p:cNvPr>
            <p:cNvGrpSpPr/>
            <p:nvPr/>
          </p:nvGrpSpPr>
          <p:grpSpPr>
            <a:xfrm>
              <a:off x="6702921" y="1678781"/>
              <a:ext cx="1944960" cy="992088"/>
              <a:chOff x="6702921" y="1678781"/>
              <a:chExt cx="1944960" cy="992088"/>
            </a:xfrm>
          </p:grpSpPr>
          <p:sp>
            <p:nvSpPr>
              <p:cNvPr id="15" name="Shape 7"/>
              <p:cNvSpPr/>
              <p:nvPr/>
            </p:nvSpPr>
            <p:spPr>
              <a:xfrm>
                <a:off x="6702921" y="1678781"/>
                <a:ext cx="1944960" cy="992088"/>
              </a:xfrm>
              <a:prstGeom prst="roundRect">
                <a:avLst>
                  <a:gd name="adj" fmla="val 1876"/>
                </a:avLst>
              </a:prstGeom>
              <a:solidFill>
                <a:srgbClr val="E9ECF2"/>
              </a:solidFill>
              <a:ln/>
            </p:spPr>
            <p:txBody>
              <a:bodyPr/>
              <a:lstStyle/>
              <a:p>
                <a:endParaRPr lang="en-IN"/>
              </a:p>
            </p:txBody>
          </p:sp>
          <p:pic>
            <p:nvPicPr>
              <p:cNvPr id="17" name="Image 7" descr="preencoded.png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6929214" y="1905000"/>
                <a:ext cx="167432" cy="167432"/>
              </a:xfrm>
              <a:prstGeom prst="rect">
                <a:avLst/>
              </a:prstGeom>
            </p:spPr>
          </p:pic>
          <p:sp>
            <p:nvSpPr>
              <p:cNvPr id="18" name="Text 8"/>
              <p:cNvSpPr/>
              <p:nvPr/>
            </p:nvSpPr>
            <p:spPr>
              <a:xfrm>
                <a:off x="6826895" y="2298799"/>
                <a:ext cx="1697013" cy="2480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b="1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Self‑Driving Cars</a:t>
                </a:r>
                <a:endParaRPr lang="en-US" sz="1200" dirty="0"/>
              </a:p>
            </p:txBody>
          </p:sp>
        </p:grpSp>
        <p:pic>
          <p:nvPicPr>
            <p:cNvPr id="16" name="Image 6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826895" y="1802755"/>
              <a:ext cx="372070" cy="372070"/>
            </a:xfrm>
            <a:prstGeom prst="rect">
              <a:avLst/>
            </a:prstGeom>
          </p:spPr>
        </p:pic>
      </p:grpSp>
      <p:sp>
        <p:nvSpPr>
          <p:cNvPr id="19" name="Text 9"/>
          <p:cNvSpPr/>
          <p:nvPr/>
        </p:nvSpPr>
        <p:spPr>
          <a:xfrm>
            <a:off x="496119" y="2810396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BE0A606-7AA9-275F-5187-DF59604F8203}"/>
              </a:ext>
            </a:extLst>
          </p:cNvPr>
          <p:cNvGrpSpPr/>
          <p:nvPr/>
        </p:nvGrpSpPr>
        <p:grpSpPr>
          <a:xfrm>
            <a:off x="496119" y="3198019"/>
            <a:ext cx="8151763" cy="824731"/>
            <a:chOff x="496119" y="3198019"/>
            <a:chExt cx="8151763" cy="824731"/>
          </a:xfrm>
        </p:grpSpPr>
        <p:sp>
          <p:nvSpPr>
            <p:cNvPr id="20" name="Shape 10"/>
            <p:cNvSpPr/>
            <p:nvPr/>
          </p:nvSpPr>
          <p:spPr>
            <a:xfrm>
              <a:off x="496119" y="3198019"/>
              <a:ext cx="8151763" cy="824731"/>
            </a:xfrm>
            <a:prstGeom prst="roundRect">
              <a:avLst>
                <a:gd name="adj" fmla="val 2256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21" name="Image 8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20092" y="3393504"/>
              <a:ext cx="193774" cy="155004"/>
            </a:xfrm>
            <a:prstGeom prst="rect">
              <a:avLst/>
            </a:prstGeom>
          </p:spPr>
        </p:pic>
        <p:sp>
          <p:nvSpPr>
            <p:cNvPr id="22" name="Text 11"/>
            <p:cNvSpPr/>
            <p:nvPr/>
          </p:nvSpPr>
          <p:spPr>
            <a:xfrm>
              <a:off x="937840" y="3352949"/>
              <a:ext cx="7586067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CV does not "see" like you do. It finds mathematical patterns in </a:t>
              </a:r>
              <a:r>
                <a:rPr lang="en-US" sz="12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pixels</a:t>
              </a: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, then guesses what those patterns represent.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>
            <a:off x="500881" y="2563267"/>
            <a:ext cx="4713238" cy="3735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1864"/>
            <a:ext cx="4486275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Pixels: The Tiny Building Blocks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96119" y="927943"/>
            <a:ext cx="4722763" cy="1148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Pixel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(short for "picture element") is the smallest, </a:t>
            </a: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fundamental 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 of a digital image or display, appearing as a tiny, individual dot or square of color on a screen.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Millions of these pixels are arranged in a grid (matrix) to form the images on televisions, smartphones, and computer monitors.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96119" y="2202805"/>
            <a:ext cx="472276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1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25120F4-4489-F432-0435-CC2ECA7D07E8}"/>
              </a:ext>
            </a:extLst>
          </p:cNvPr>
          <p:cNvGrpSpPr/>
          <p:nvPr/>
        </p:nvGrpSpPr>
        <p:grpSpPr>
          <a:xfrm>
            <a:off x="496119" y="2558504"/>
            <a:ext cx="4722763" cy="2193131"/>
            <a:chOff x="496119" y="2558504"/>
            <a:chExt cx="4722763" cy="2193131"/>
          </a:xfrm>
        </p:grpSpPr>
        <p:sp>
          <p:nvSpPr>
            <p:cNvPr id="6" name="Shape 3"/>
            <p:cNvSpPr/>
            <p:nvPr/>
          </p:nvSpPr>
          <p:spPr>
            <a:xfrm>
              <a:off x="496119" y="2558504"/>
              <a:ext cx="4722763" cy="2193131"/>
            </a:xfrm>
            <a:prstGeom prst="roundRect">
              <a:avLst>
                <a:gd name="adj" fmla="val 806"/>
              </a:avLst>
            </a:prstGeom>
            <a:noFill/>
            <a:ln w="4763">
              <a:solidFill>
                <a:srgbClr val="000000">
                  <a:alpha val="8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411DD76-AA6E-F788-9DFE-A2D432B3ADCF}"/>
                </a:ext>
              </a:extLst>
            </p:cNvPr>
            <p:cNvGrpSpPr/>
            <p:nvPr/>
          </p:nvGrpSpPr>
          <p:grpSpPr>
            <a:xfrm>
              <a:off x="618753" y="2635151"/>
              <a:ext cx="4477568" cy="229791"/>
              <a:chOff x="618753" y="2635151"/>
              <a:chExt cx="4477568" cy="229791"/>
            </a:xfrm>
          </p:grpSpPr>
          <p:sp>
            <p:nvSpPr>
              <p:cNvPr id="8" name="Text 5"/>
              <p:cNvSpPr/>
              <p:nvPr/>
            </p:nvSpPr>
            <p:spPr>
              <a:xfrm>
                <a:off x="618753" y="2635151"/>
                <a:ext cx="1602507" cy="22979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800"/>
                  </a:lnSpc>
                  <a:buNone/>
                </a:pPr>
                <a:r>
                  <a:rPr lang="en-US" sz="1150" b="1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You see…</a:t>
                </a:r>
                <a:endParaRPr lang="en-US" sz="1150" dirty="0"/>
              </a:p>
            </p:txBody>
          </p:sp>
          <p:sp>
            <p:nvSpPr>
              <p:cNvPr id="9" name="Text 6"/>
              <p:cNvSpPr/>
              <p:nvPr/>
            </p:nvSpPr>
            <p:spPr>
              <a:xfrm>
                <a:off x="2461617" y="2635151"/>
                <a:ext cx="2634704" cy="22979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800"/>
                  </a:lnSpc>
                  <a:buNone/>
                </a:pPr>
                <a:r>
                  <a:rPr lang="en-US" sz="1150" b="1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AI "sees"…</a:t>
                </a:r>
                <a:endParaRPr lang="en-US" sz="1150" dirty="0"/>
              </a:p>
            </p:txBody>
          </p:sp>
        </p:grpSp>
      </p:grpSp>
      <p:sp>
        <p:nvSpPr>
          <p:cNvPr id="10" name="Shape 7"/>
          <p:cNvSpPr/>
          <p:nvPr/>
        </p:nvSpPr>
        <p:spPr>
          <a:xfrm>
            <a:off x="500881" y="2936825"/>
            <a:ext cx="4713238" cy="60334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18753" y="3008709"/>
            <a:ext cx="160250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red bicycle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461617" y="3008709"/>
            <a:ext cx="2634704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grid of numbers – each pixel has red, green, blue values.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0881" y="3540175"/>
            <a:ext cx="4713238" cy="60334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18753" y="3612059"/>
            <a:ext cx="160250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smiling face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461617" y="3612059"/>
            <a:ext cx="2634704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Thousands of pixels with different brightness and colour values.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00881" y="4143524"/>
            <a:ext cx="4713238" cy="60334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18753" y="4215408"/>
            <a:ext cx="1602507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moving soccer ball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461617" y="4215408"/>
            <a:ext cx="2634704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same group of pixels changing position over time.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7663"/>
            <a:ext cx="2325812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Pixels in Action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6119" y="1343025"/>
            <a:ext cx="8151763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pixel in a digital image is defined by three numbers —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Red, Green, and Blue (RGB)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each ranging from 0 (none) to 255 (maximum). By mixing these three values, any color can be represented.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747093"/>
            <a:ext cx="815176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070" y="1988344"/>
            <a:ext cx="6113785" cy="22074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4146"/>
            <a:ext cx="606697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CV Framework: See → Process → 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99716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100" y="1637705"/>
            <a:ext cx="4787801" cy="284157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73611" y="2332233"/>
            <a:ext cx="407581" cy="40758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10481" y="3820160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Act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1480" y="2332997"/>
            <a:ext cx="407582" cy="40758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10581" y="3820160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Process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81580" y="2332997"/>
            <a:ext cx="407582" cy="40758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486226" y="3820160"/>
            <a:ext cx="1190138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See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81993"/>
            <a:ext cx="48526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CV Framework: See → Process → Act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740098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078087"/>
            <a:ext cx="8151763" cy="1883420"/>
          </a:xfrm>
          <a:prstGeom prst="roundRect">
            <a:avLst>
              <a:gd name="adj" fmla="val 98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2082850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5DA0748-D729-0E33-742E-CF53AA187B3C}"/>
              </a:ext>
            </a:extLst>
          </p:cNvPr>
          <p:cNvGrpSpPr/>
          <p:nvPr/>
        </p:nvGrpSpPr>
        <p:grpSpPr>
          <a:xfrm>
            <a:off x="625004" y="2162026"/>
            <a:ext cx="7894142" cy="248096"/>
            <a:chOff x="625004" y="2162026"/>
            <a:chExt cx="7894142" cy="248096"/>
          </a:xfrm>
        </p:grpSpPr>
        <p:sp>
          <p:nvSpPr>
            <p:cNvPr id="6" name="Text 4"/>
            <p:cNvSpPr/>
            <p:nvPr/>
          </p:nvSpPr>
          <p:spPr>
            <a:xfrm>
              <a:off x="625004" y="2162026"/>
              <a:ext cx="1414686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Stage</a:t>
              </a:r>
              <a:endParaRPr lang="en-US" sz="1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2292400" y="2162026"/>
              <a:ext cx="3143399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happens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688509" y="2162026"/>
              <a:ext cx="283063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Key concepts inside</a:t>
              </a:r>
              <a:endParaRPr lang="en-US" sz="1200" dirty="0"/>
            </a:p>
          </p:txBody>
        </p:sp>
      </p:grpSp>
      <p:sp>
        <p:nvSpPr>
          <p:cNvPr id="9" name="Shape 7"/>
          <p:cNvSpPr/>
          <p:nvPr/>
        </p:nvSpPr>
        <p:spPr>
          <a:xfrm>
            <a:off x="500881" y="2489299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292400" y="2568476"/>
            <a:ext cx="314339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 image as pixels.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88509" y="2568476"/>
            <a:ext cx="283063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Pixels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raw numbers.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0881" y="2895749"/>
            <a:ext cx="8142238" cy="6545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292400" y="2974925"/>
            <a:ext cx="3143399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 clues, find patterns, make a decision/prediction.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88509" y="2974925"/>
            <a:ext cx="283063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 → Patterns → Prediction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0881" y="3550295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4C71486-F594-DD44-3338-EB2964B63D2A}"/>
              </a:ext>
            </a:extLst>
          </p:cNvPr>
          <p:cNvGrpSpPr/>
          <p:nvPr/>
        </p:nvGrpSpPr>
        <p:grpSpPr>
          <a:xfrm>
            <a:off x="625004" y="2568476"/>
            <a:ext cx="1414686" cy="1309091"/>
            <a:chOff x="625004" y="2568476"/>
            <a:chExt cx="1414686" cy="1309091"/>
          </a:xfrm>
        </p:grpSpPr>
        <p:sp>
          <p:nvSpPr>
            <p:cNvPr id="10" name="Text 8"/>
            <p:cNvSpPr/>
            <p:nvPr/>
          </p:nvSpPr>
          <p:spPr>
            <a:xfrm>
              <a:off x="625004" y="2568476"/>
              <a:ext cx="1414686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See</a:t>
              </a:r>
              <a:endParaRPr lang="en-US" sz="12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25004" y="2974925"/>
              <a:ext cx="1414686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Process</a:t>
              </a:r>
              <a:endParaRPr lang="en-US" sz="1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25004" y="3629471"/>
              <a:ext cx="1414686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Act</a:t>
              </a:r>
              <a:endParaRPr lang="en-US" sz="120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2292400" y="3629471"/>
            <a:ext cx="314339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 result or trigger an action.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88509" y="3629471"/>
            <a:ext cx="283063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6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2891"/>
            <a:ext cx="3015407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Inside the "Process" Stage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96119" y="1660996"/>
            <a:ext cx="8151763" cy="2379613"/>
          </a:xfrm>
          <a:prstGeom prst="roundRect">
            <a:avLst>
              <a:gd name="adj" fmla="val 78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E923764-7EFD-364A-8AA8-094243DDC5AF}"/>
              </a:ext>
            </a:extLst>
          </p:cNvPr>
          <p:cNvGrpSpPr/>
          <p:nvPr/>
        </p:nvGrpSpPr>
        <p:grpSpPr>
          <a:xfrm>
            <a:off x="500881" y="1665759"/>
            <a:ext cx="8142238" cy="406450"/>
            <a:chOff x="500881" y="1665759"/>
            <a:chExt cx="8142238" cy="406450"/>
          </a:xfrm>
        </p:grpSpPr>
        <p:sp>
          <p:nvSpPr>
            <p:cNvPr id="4" name="Shape 2"/>
            <p:cNvSpPr/>
            <p:nvPr/>
          </p:nvSpPr>
          <p:spPr>
            <a:xfrm>
              <a:off x="500881" y="1665759"/>
              <a:ext cx="8142238" cy="406450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624929" y="1744935"/>
              <a:ext cx="76415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Term</a:t>
              </a:r>
              <a:endParaRPr lang="en-US" sz="1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641797" y="1744935"/>
              <a:ext cx="331112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it means in CV</a:t>
              </a:r>
              <a:endParaRPr lang="en-US" sz="1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205636" y="1744935"/>
              <a:ext cx="3313509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Example (face recognition)</a:t>
              </a:r>
              <a:endParaRPr lang="en-US" sz="1200" dirty="0"/>
            </a:p>
          </p:txBody>
        </p:sp>
      </p:grpSp>
      <p:sp>
        <p:nvSpPr>
          <p:cNvPr id="8" name="Shape 6"/>
          <p:cNvSpPr/>
          <p:nvPr/>
        </p:nvSpPr>
        <p:spPr>
          <a:xfrm>
            <a:off x="500881" y="2072208"/>
            <a:ext cx="8142238" cy="6545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641797" y="2151385"/>
            <a:ext cx="3311128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Important clues extracted from pixels (edges, corners, colours, shapes).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05636" y="2151385"/>
            <a:ext cx="3313509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"Two dark spots in the upper half" → eyes. "A curved line below nose" → mouth.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0881" y="2726754"/>
            <a:ext cx="8142238" cy="6545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641797" y="2805931"/>
            <a:ext cx="3311128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Combinations of features that repeat across many examples.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05636" y="2805931"/>
            <a:ext cx="3313509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Eyes + nose + mouth arranged in a certain way → "face pattern".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881" y="3381301"/>
            <a:ext cx="8142238" cy="6545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F18F066-599E-9F54-981B-DE3863BBB5B5}"/>
              </a:ext>
            </a:extLst>
          </p:cNvPr>
          <p:cNvGrpSpPr/>
          <p:nvPr/>
        </p:nvGrpSpPr>
        <p:grpSpPr>
          <a:xfrm>
            <a:off x="624929" y="2151385"/>
            <a:ext cx="764158" cy="1557188"/>
            <a:chOff x="624929" y="2151385"/>
            <a:chExt cx="764158" cy="1557188"/>
          </a:xfrm>
        </p:grpSpPr>
        <p:sp>
          <p:nvSpPr>
            <p:cNvPr id="9" name="Text 7"/>
            <p:cNvSpPr/>
            <p:nvPr/>
          </p:nvSpPr>
          <p:spPr>
            <a:xfrm>
              <a:off x="624929" y="2151385"/>
              <a:ext cx="76415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Features</a:t>
              </a:r>
              <a:endParaRPr lang="en-US" sz="1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24929" y="2805931"/>
              <a:ext cx="76415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Patterns</a:t>
              </a:r>
              <a:endParaRPr lang="en-US" sz="1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624929" y="3460477"/>
              <a:ext cx="76415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Prediction</a:t>
              </a:r>
              <a:endParaRPr lang="en-US" sz="1200" dirty="0"/>
            </a:p>
          </p:txBody>
        </p:sp>
      </p:grpSp>
      <p:sp>
        <p:nvSpPr>
          <p:cNvPr id="18" name="Text 16"/>
          <p:cNvSpPr/>
          <p:nvPr/>
        </p:nvSpPr>
        <p:spPr>
          <a:xfrm>
            <a:off x="1641797" y="3460477"/>
            <a:ext cx="3311128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AI's guess based on learned patterns (also called a decision).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05636" y="3460477"/>
            <a:ext cx="331350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"90% confident – this is a face."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7990"/>
            <a:ext cx="3417540" cy="294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See → Process → Act in Action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496119" y="930399"/>
            <a:ext cx="815176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self‑driving car recognising a stop sign.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96119" y="1286098"/>
            <a:ext cx="8151763" cy="2193131"/>
          </a:xfrm>
          <a:prstGeom prst="roundRect">
            <a:avLst>
              <a:gd name="adj" fmla="val 80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1290861"/>
            <a:ext cx="8142238" cy="3735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F2EE17E-56A1-823E-C3AB-2547363A34E6}"/>
              </a:ext>
            </a:extLst>
          </p:cNvPr>
          <p:cNvGrpSpPr/>
          <p:nvPr/>
        </p:nvGrpSpPr>
        <p:grpSpPr>
          <a:xfrm>
            <a:off x="618827" y="1362745"/>
            <a:ext cx="7906494" cy="229791"/>
            <a:chOff x="618827" y="1362745"/>
            <a:chExt cx="7906494" cy="229791"/>
          </a:xfrm>
        </p:grpSpPr>
        <p:sp>
          <p:nvSpPr>
            <p:cNvPr id="6" name="Text 4"/>
            <p:cNvSpPr/>
            <p:nvPr/>
          </p:nvSpPr>
          <p:spPr>
            <a:xfrm>
              <a:off x="618827" y="1362745"/>
              <a:ext cx="791170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Stage</a:t>
              </a:r>
              <a:endParaRPr lang="en-US" sz="11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650355" y="1362745"/>
              <a:ext cx="3316114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happens</a:t>
              </a:r>
              <a:endParaRPr lang="en-US" sz="11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206826" y="1362745"/>
              <a:ext cx="3318495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Detailed breakdown</a:t>
              </a:r>
              <a:endParaRPr lang="en-US" sz="1150" dirty="0"/>
            </a:p>
          </p:txBody>
        </p:sp>
      </p:grpSp>
      <p:sp>
        <p:nvSpPr>
          <p:cNvPr id="9" name="Shape 7"/>
          <p:cNvSpPr/>
          <p:nvPr/>
        </p:nvSpPr>
        <p:spPr>
          <a:xfrm>
            <a:off x="500881" y="1664419"/>
            <a:ext cx="8142238" cy="3735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650355" y="1736303"/>
            <a:ext cx="3316114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Camera captures image as pixels.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206826" y="1736303"/>
            <a:ext cx="331849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Millions of pixels (raw numbers).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0881" y="2037978"/>
            <a:ext cx="8142238" cy="106293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650355" y="2109862"/>
            <a:ext cx="3316114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 features, recognise patterns, make a prediction.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06826" y="2109862"/>
            <a:ext cx="3318495" cy="919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Features: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red colour, straight edges, octagon shape, letters S-T-O-P. </a:t>
            </a:r>
            <a:endParaRPr lang="en-US" sz="115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Pattern: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matches training examples of stop signs. </a:t>
            </a:r>
            <a:endParaRPr lang="en-US" sz="115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Prediction: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"95% confident – this is a stop sign."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0881" y="3100908"/>
            <a:ext cx="8142238" cy="37355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0A16914-136A-ECB4-334B-6F7CD2265AFD}"/>
              </a:ext>
            </a:extLst>
          </p:cNvPr>
          <p:cNvGrpSpPr/>
          <p:nvPr/>
        </p:nvGrpSpPr>
        <p:grpSpPr>
          <a:xfrm>
            <a:off x="618827" y="1736303"/>
            <a:ext cx="791170" cy="1666280"/>
            <a:chOff x="618827" y="1736303"/>
            <a:chExt cx="791170" cy="1666280"/>
          </a:xfrm>
        </p:grpSpPr>
        <p:sp>
          <p:nvSpPr>
            <p:cNvPr id="10" name="Text 8"/>
            <p:cNvSpPr/>
            <p:nvPr/>
          </p:nvSpPr>
          <p:spPr>
            <a:xfrm>
              <a:off x="618827" y="1736303"/>
              <a:ext cx="791170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See</a:t>
              </a:r>
              <a:endParaRPr lang="en-US" sz="11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18827" y="2109862"/>
              <a:ext cx="791170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Process</a:t>
              </a:r>
              <a:endParaRPr lang="en-US" sz="11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18827" y="3172792"/>
              <a:ext cx="791170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Act</a:t>
              </a:r>
              <a:endParaRPr lang="en-US" sz="115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1650355" y="3172792"/>
            <a:ext cx="3316114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Trigger an action.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06826" y="3172792"/>
            <a:ext cx="3318495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brakes.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6119" y="3605138"/>
            <a:ext cx="8151763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9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00F8D3F-D3D4-5335-0BA3-4D2ED97277B1}"/>
              </a:ext>
            </a:extLst>
          </p:cNvPr>
          <p:cNvGrpSpPr/>
          <p:nvPr/>
        </p:nvGrpSpPr>
        <p:grpSpPr>
          <a:xfrm>
            <a:off x="496119" y="3914924"/>
            <a:ext cx="8151763" cy="760512"/>
            <a:chOff x="496119" y="3914924"/>
            <a:chExt cx="8151763" cy="760512"/>
          </a:xfrm>
        </p:grpSpPr>
        <p:sp>
          <p:nvSpPr>
            <p:cNvPr id="22" name="Shape 20"/>
            <p:cNvSpPr/>
            <p:nvPr/>
          </p:nvSpPr>
          <p:spPr>
            <a:xfrm>
              <a:off x="496119" y="3914924"/>
              <a:ext cx="8151763" cy="760512"/>
            </a:xfrm>
            <a:prstGeom prst="roundRect">
              <a:avLst>
                <a:gd name="adj" fmla="val 2324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2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3916" y="4089276"/>
              <a:ext cx="184100" cy="147265"/>
            </a:xfrm>
            <a:prstGeom prst="rect">
              <a:avLst/>
            </a:prstGeom>
          </p:spPr>
        </p:pic>
        <p:sp>
          <p:nvSpPr>
            <p:cNvPr id="24" name="Text 21"/>
            <p:cNvSpPr/>
            <p:nvPr/>
          </p:nvSpPr>
          <p:spPr>
            <a:xfrm>
              <a:off x="915814" y="4056236"/>
              <a:ext cx="7614270" cy="4595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"Process" stage is pattern matching, not true understanding. The AI doesn't know what "stop" means - it has learned that certain pixel patterns usually appear together with the word "stop sign".</a:t>
              </a:r>
              <a:endParaRPr lang="en-US" sz="11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5" grpId="0" animBg="1"/>
      <p:bldP spid="16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966"/>
            <a:ext cx="5340474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Mini Activity 1 : Match the CV Concept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990005"/>
            <a:ext cx="815176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Instructions: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each description, write which CV concept it matches: </a:t>
            </a: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Pixel, Feature, Pattern, Prediction, Action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96119" y="1345704"/>
            <a:ext cx="8151763" cy="3399830"/>
          </a:xfrm>
          <a:prstGeom prst="roundRect">
            <a:avLst>
              <a:gd name="adj" fmla="val 52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1350466"/>
            <a:ext cx="8142238" cy="3735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2461B3D-D6EF-9077-0A90-EE20B79238B7}"/>
              </a:ext>
            </a:extLst>
          </p:cNvPr>
          <p:cNvGrpSpPr/>
          <p:nvPr/>
        </p:nvGrpSpPr>
        <p:grpSpPr>
          <a:xfrm>
            <a:off x="618753" y="1422350"/>
            <a:ext cx="7906568" cy="229791"/>
            <a:chOff x="618753" y="1422350"/>
            <a:chExt cx="7906568" cy="229791"/>
          </a:xfrm>
        </p:grpSpPr>
        <p:sp>
          <p:nvSpPr>
            <p:cNvPr id="6" name="Text 4"/>
            <p:cNvSpPr/>
            <p:nvPr/>
          </p:nvSpPr>
          <p:spPr>
            <a:xfrm>
              <a:off x="618753" y="1422350"/>
              <a:ext cx="576188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#</a:t>
              </a:r>
              <a:endParaRPr lang="en-US" sz="11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435298" y="1422350"/>
              <a:ext cx="3423642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Description</a:t>
              </a:r>
              <a:endParaRPr lang="en-US" sz="11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099298" y="1422350"/>
              <a:ext cx="3426023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Concept</a:t>
              </a:r>
              <a:endParaRPr lang="en-US" sz="1150" dirty="0"/>
            </a:p>
          </p:txBody>
        </p:sp>
      </p:grpSp>
      <p:sp>
        <p:nvSpPr>
          <p:cNvPr id="9" name="Shape 7"/>
          <p:cNvSpPr/>
          <p:nvPr/>
        </p:nvSpPr>
        <p:spPr>
          <a:xfrm>
            <a:off x="500881" y="1724025"/>
            <a:ext cx="8142238" cy="60334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C60DF3A-B7C9-B37D-8DC6-209A2C93420A}"/>
              </a:ext>
            </a:extLst>
          </p:cNvPr>
          <p:cNvGrpSpPr/>
          <p:nvPr/>
        </p:nvGrpSpPr>
        <p:grpSpPr>
          <a:xfrm>
            <a:off x="618753" y="1795909"/>
            <a:ext cx="4240187" cy="459581"/>
            <a:chOff x="618753" y="1795909"/>
            <a:chExt cx="4240187" cy="459581"/>
          </a:xfrm>
        </p:grpSpPr>
        <p:sp>
          <p:nvSpPr>
            <p:cNvPr id="10" name="Text 8"/>
            <p:cNvSpPr/>
            <p:nvPr/>
          </p:nvSpPr>
          <p:spPr>
            <a:xfrm>
              <a:off x="618753" y="1795909"/>
              <a:ext cx="576188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1</a:t>
              </a:r>
              <a:endParaRPr lang="en-US" sz="11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435298" y="1795909"/>
              <a:ext cx="3423642" cy="4595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AI's guess based on learned patterns, often with a confidence score.</a:t>
              </a:r>
              <a:endParaRPr lang="en-US" sz="115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5099298" y="1795909"/>
            <a:ext cx="342602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0881" y="2327374"/>
            <a:ext cx="8142238" cy="60334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034E8F8-6766-C206-F28A-EF86AA6B5471}"/>
              </a:ext>
            </a:extLst>
          </p:cNvPr>
          <p:cNvGrpSpPr/>
          <p:nvPr/>
        </p:nvGrpSpPr>
        <p:grpSpPr>
          <a:xfrm>
            <a:off x="618753" y="2399258"/>
            <a:ext cx="4240187" cy="459581"/>
            <a:chOff x="618753" y="2399258"/>
            <a:chExt cx="4240187" cy="459581"/>
          </a:xfrm>
        </p:grpSpPr>
        <p:sp>
          <p:nvSpPr>
            <p:cNvPr id="14" name="Text 12"/>
            <p:cNvSpPr/>
            <p:nvPr/>
          </p:nvSpPr>
          <p:spPr>
            <a:xfrm>
              <a:off x="618753" y="2399258"/>
              <a:ext cx="576188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2</a:t>
              </a:r>
              <a:endParaRPr lang="en-US" sz="11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1435298" y="2399258"/>
              <a:ext cx="3423642" cy="4595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An important clue extracted from pixels, such as an edge, corner, or colour patch.</a:t>
              </a:r>
              <a:endParaRPr lang="en-US" sz="1150" dirty="0"/>
            </a:p>
          </p:txBody>
        </p:sp>
      </p:grpSp>
      <p:sp>
        <p:nvSpPr>
          <p:cNvPr id="16" name="Text 14"/>
          <p:cNvSpPr/>
          <p:nvPr/>
        </p:nvSpPr>
        <p:spPr>
          <a:xfrm>
            <a:off x="5099298" y="2399258"/>
            <a:ext cx="342602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0881" y="2930723"/>
            <a:ext cx="8142238" cy="60334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25A5AD4-F530-9A48-8510-315A8921AEDB}"/>
              </a:ext>
            </a:extLst>
          </p:cNvPr>
          <p:cNvGrpSpPr/>
          <p:nvPr/>
        </p:nvGrpSpPr>
        <p:grpSpPr>
          <a:xfrm>
            <a:off x="618753" y="3002607"/>
            <a:ext cx="4240187" cy="459581"/>
            <a:chOff x="618753" y="3002607"/>
            <a:chExt cx="4240187" cy="459581"/>
          </a:xfrm>
        </p:grpSpPr>
        <p:sp>
          <p:nvSpPr>
            <p:cNvPr id="18" name="Text 16"/>
            <p:cNvSpPr/>
            <p:nvPr/>
          </p:nvSpPr>
          <p:spPr>
            <a:xfrm>
              <a:off x="618753" y="3002607"/>
              <a:ext cx="576188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3</a:t>
              </a:r>
              <a:endParaRPr lang="en-US" sz="11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435298" y="3002607"/>
              <a:ext cx="3423642" cy="4595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the system does with the prediction (e.g., unlock a phone, apply brakes).</a:t>
              </a:r>
              <a:endParaRPr lang="en-US" sz="1150" dirty="0"/>
            </a:p>
          </p:txBody>
        </p:sp>
      </p:grpSp>
      <p:sp>
        <p:nvSpPr>
          <p:cNvPr id="20" name="Text 18"/>
          <p:cNvSpPr/>
          <p:nvPr/>
        </p:nvSpPr>
        <p:spPr>
          <a:xfrm>
            <a:off x="5099298" y="3002607"/>
            <a:ext cx="342602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0881" y="3534073"/>
            <a:ext cx="8142238" cy="60334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E69A39D-CF74-4912-D5E6-5250043503A8}"/>
              </a:ext>
            </a:extLst>
          </p:cNvPr>
          <p:cNvGrpSpPr/>
          <p:nvPr/>
        </p:nvGrpSpPr>
        <p:grpSpPr>
          <a:xfrm>
            <a:off x="618753" y="3605957"/>
            <a:ext cx="4240187" cy="459581"/>
            <a:chOff x="618753" y="3605957"/>
            <a:chExt cx="4240187" cy="459581"/>
          </a:xfrm>
        </p:grpSpPr>
        <p:sp>
          <p:nvSpPr>
            <p:cNvPr id="22" name="Text 20"/>
            <p:cNvSpPr/>
            <p:nvPr/>
          </p:nvSpPr>
          <p:spPr>
            <a:xfrm>
              <a:off x="618753" y="3605957"/>
              <a:ext cx="576188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4</a:t>
              </a:r>
              <a:endParaRPr lang="en-US" sz="11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435298" y="3605957"/>
              <a:ext cx="3423642" cy="4595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The smallest unit of a digital image – a dot of colour.</a:t>
              </a:r>
              <a:endParaRPr lang="en-US" sz="1150" dirty="0"/>
            </a:p>
          </p:txBody>
        </p:sp>
      </p:grpSp>
      <p:sp>
        <p:nvSpPr>
          <p:cNvPr id="24" name="Text 22"/>
          <p:cNvSpPr/>
          <p:nvPr/>
        </p:nvSpPr>
        <p:spPr>
          <a:xfrm>
            <a:off x="5099298" y="3605957"/>
            <a:ext cx="342602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Pixel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0881" y="4137422"/>
            <a:ext cx="8142238" cy="60334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1546044-9558-D95C-5A52-C549003AE51A}"/>
              </a:ext>
            </a:extLst>
          </p:cNvPr>
          <p:cNvGrpSpPr/>
          <p:nvPr/>
        </p:nvGrpSpPr>
        <p:grpSpPr>
          <a:xfrm>
            <a:off x="618753" y="4209306"/>
            <a:ext cx="4240187" cy="459581"/>
            <a:chOff x="618753" y="4209306"/>
            <a:chExt cx="4240187" cy="459581"/>
          </a:xfrm>
        </p:grpSpPr>
        <p:sp>
          <p:nvSpPr>
            <p:cNvPr id="26" name="Text 24"/>
            <p:cNvSpPr/>
            <p:nvPr/>
          </p:nvSpPr>
          <p:spPr>
            <a:xfrm>
              <a:off x="618753" y="4209306"/>
              <a:ext cx="576188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5</a:t>
              </a:r>
              <a:endParaRPr lang="en-US" sz="11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1435298" y="4209306"/>
              <a:ext cx="3423642" cy="4595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 combination of features that repeats across many training examples.</a:t>
              </a:r>
              <a:endParaRPr lang="en-US" sz="1150" dirty="0"/>
            </a:p>
          </p:txBody>
        </p:sp>
      </p:grpSp>
      <p:sp>
        <p:nvSpPr>
          <p:cNvPr id="28" name="Text 26"/>
          <p:cNvSpPr/>
          <p:nvPr/>
        </p:nvSpPr>
        <p:spPr>
          <a:xfrm>
            <a:off x="5099298" y="4209306"/>
            <a:ext cx="342602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6" grpId="0" animBg="1"/>
      <p:bldP spid="20" grpId="0" animBg="1"/>
      <p:bldP spid="24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26505"/>
            <a:ext cx="482389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Common Computer Vision Tasks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62076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CV task follows the same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 → Process → Act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framework with different goals.</a:t>
            </a:r>
            <a:endParaRPr lang="en-US" sz="12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152219E-C87D-2937-2091-BE2BCC1A9F1A}"/>
              </a:ext>
            </a:extLst>
          </p:cNvPr>
          <p:cNvGrpSpPr/>
          <p:nvPr/>
        </p:nvGrpSpPr>
        <p:grpSpPr>
          <a:xfrm>
            <a:off x="496119" y="2349698"/>
            <a:ext cx="1944960" cy="1467296"/>
            <a:chOff x="496119" y="2349698"/>
            <a:chExt cx="1944960" cy="1467296"/>
          </a:xfrm>
        </p:grpSpPr>
        <p:sp>
          <p:nvSpPr>
            <p:cNvPr id="4" name="Shape 2"/>
            <p:cNvSpPr/>
            <p:nvPr/>
          </p:nvSpPr>
          <p:spPr>
            <a:xfrm>
              <a:off x="496119" y="2349698"/>
              <a:ext cx="1944960" cy="1467296"/>
            </a:xfrm>
            <a:prstGeom prst="roundRect">
              <a:avLst>
                <a:gd name="adj" fmla="val 1268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7314977-4833-8AE5-F80F-31289EF47F91}"/>
                </a:ext>
              </a:extLst>
            </p:cNvPr>
            <p:cNvGrpSpPr/>
            <p:nvPr/>
          </p:nvGrpSpPr>
          <p:grpSpPr>
            <a:xfrm>
              <a:off x="510406" y="2363986"/>
              <a:ext cx="1916385" cy="744140"/>
              <a:chOff x="510406" y="2363986"/>
              <a:chExt cx="1916385" cy="744140"/>
            </a:xfrm>
          </p:grpSpPr>
          <p:sp>
            <p:nvSpPr>
              <p:cNvPr id="5" name="Shape 3"/>
              <p:cNvSpPr/>
              <p:nvPr/>
            </p:nvSpPr>
            <p:spPr>
              <a:xfrm>
                <a:off x="510406" y="2363986"/>
                <a:ext cx="1916385" cy="372070"/>
              </a:xfrm>
              <a:prstGeom prst="roundRect">
                <a:avLst>
                  <a:gd name="adj" fmla="val 393"/>
                </a:avLst>
              </a:prstGeom>
              <a:solidFill>
                <a:srgbClr val="E9ECF2"/>
              </a:solidFill>
              <a:ln/>
            </p:spPr>
            <p:txBody>
              <a:bodyPr/>
              <a:lstStyle/>
              <a:p>
                <a:endParaRPr lang="en-IN" dirty="0"/>
              </a:p>
            </p:txBody>
          </p:sp>
          <p:pic>
            <p:nvPicPr>
              <p:cNvPr id="6" name="Image 0" descr="preencoded.png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375544" y="2456929"/>
                <a:ext cx="186035" cy="186035"/>
              </a:xfrm>
              <a:prstGeom prst="rect">
                <a:avLst/>
              </a:prstGeom>
            </p:spPr>
          </p:pic>
          <p:sp>
            <p:nvSpPr>
              <p:cNvPr id="7" name="Text 4"/>
              <p:cNvSpPr/>
              <p:nvPr/>
            </p:nvSpPr>
            <p:spPr>
              <a:xfrm>
                <a:off x="634380" y="2860030"/>
                <a:ext cx="1668438" cy="2480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b="1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Image Classification</a:t>
                </a:r>
                <a:endParaRPr lang="en-US" sz="1200" dirty="0"/>
              </a:p>
            </p:txBody>
          </p:sp>
        </p:grpSp>
      </p:grpSp>
      <p:sp>
        <p:nvSpPr>
          <p:cNvPr id="8" name="Text 5"/>
          <p:cNvSpPr/>
          <p:nvPr/>
        </p:nvSpPr>
        <p:spPr>
          <a:xfrm>
            <a:off x="634380" y="3182541"/>
            <a:ext cx="1668438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Labels the main object in an image.</a:t>
            </a:r>
            <a:endParaRPr lang="en-US" sz="12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32BC8DA-0218-C698-3786-EB6F33F2EAFF}"/>
              </a:ext>
            </a:extLst>
          </p:cNvPr>
          <p:cNvGrpSpPr/>
          <p:nvPr/>
        </p:nvGrpSpPr>
        <p:grpSpPr>
          <a:xfrm>
            <a:off x="2565053" y="2349698"/>
            <a:ext cx="1944960" cy="1467296"/>
            <a:chOff x="2565053" y="2349698"/>
            <a:chExt cx="1944960" cy="1467296"/>
          </a:xfrm>
        </p:grpSpPr>
        <p:sp>
          <p:nvSpPr>
            <p:cNvPr id="9" name="Shape 6"/>
            <p:cNvSpPr/>
            <p:nvPr/>
          </p:nvSpPr>
          <p:spPr>
            <a:xfrm>
              <a:off x="2565053" y="2349698"/>
              <a:ext cx="1944960" cy="1467296"/>
            </a:xfrm>
            <a:prstGeom prst="roundRect">
              <a:avLst>
                <a:gd name="adj" fmla="val 1268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Shape 7"/>
            <p:cNvSpPr/>
            <p:nvPr/>
          </p:nvSpPr>
          <p:spPr>
            <a:xfrm>
              <a:off x="2579340" y="2363986"/>
              <a:ext cx="1916385" cy="372070"/>
            </a:xfrm>
            <a:prstGeom prst="roundRect">
              <a:avLst>
                <a:gd name="adj" fmla="val 393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44478" y="2456929"/>
              <a:ext cx="186035" cy="186035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2703314" y="2860030"/>
              <a:ext cx="166843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Object Detection</a:t>
              </a:r>
              <a:endParaRPr lang="en-US" sz="1200" dirty="0"/>
            </a:p>
          </p:txBody>
        </p:sp>
      </p:grpSp>
      <p:sp>
        <p:nvSpPr>
          <p:cNvPr id="13" name="Text 9"/>
          <p:cNvSpPr/>
          <p:nvPr/>
        </p:nvSpPr>
        <p:spPr>
          <a:xfrm>
            <a:off x="2703314" y="3182541"/>
            <a:ext cx="1668438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Finds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objects are (bounding boxes).</a:t>
            </a:r>
            <a:endParaRPr lang="en-US" sz="12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A57C9ED-C30A-D7BE-F712-DDC9794773A2}"/>
              </a:ext>
            </a:extLst>
          </p:cNvPr>
          <p:cNvGrpSpPr/>
          <p:nvPr/>
        </p:nvGrpSpPr>
        <p:grpSpPr>
          <a:xfrm>
            <a:off x="4633987" y="2349698"/>
            <a:ext cx="1944960" cy="1467296"/>
            <a:chOff x="4633987" y="2349698"/>
            <a:chExt cx="1944960" cy="146729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F57B8A6-3FEF-1541-3F83-52C65EEDB37E}"/>
                </a:ext>
              </a:extLst>
            </p:cNvPr>
            <p:cNvGrpSpPr/>
            <p:nvPr/>
          </p:nvGrpSpPr>
          <p:grpSpPr>
            <a:xfrm>
              <a:off x="4633987" y="2349698"/>
              <a:ext cx="1944960" cy="1467296"/>
              <a:chOff x="4633987" y="2349698"/>
              <a:chExt cx="1944960" cy="1467296"/>
            </a:xfrm>
          </p:grpSpPr>
          <p:sp>
            <p:nvSpPr>
              <p:cNvPr id="14" name="Shape 10"/>
              <p:cNvSpPr/>
              <p:nvPr/>
            </p:nvSpPr>
            <p:spPr>
              <a:xfrm>
                <a:off x="4633987" y="2349698"/>
                <a:ext cx="1944960" cy="1467296"/>
              </a:xfrm>
              <a:prstGeom prst="roundRect">
                <a:avLst>
                  <a:gd name="adj" fmla="val 1268"/>
                </a:avLst>
              </a:prstGeom>
              <a:solidFill>
                <a:srgbClr val="FBFCFE"/>
              </a:solidFill>
              <a:ln w="14288">
                <a:solidFill>
                  <a:srgbClr val="CFD2D8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Shape 11"/>
              <p:cNvSpPr/>
              <p:nvPr/>
            </p:nvSpPr>
            <p:spPr>
              <a:xfrm>
                <a:off x="4648274" y="2363986"/>
                <a:ext cx="1916385" cy="372070"/>
              </a:xfrm>
              <a:prstGeom prst="roundRect">
                <a:avLst>
                  <a:gd name="adj" fmla="val 393"/>
                </a:avLst>
              </a:prstGeom>
              <a:solidFill>
                <a:srgbClr val="E9ECF2"/>
              </a:solidFill>
              <a:ln/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17" name="Text 12"/>
              <p:cNvSpPr/>
              <p:nvPr/>
            </p:nvSpPr>
            <p:spPr>
              <a:xfrm>
                <a:off x="4772248" y="2860030"/>
                <a:ext cx="1668438" cy="2480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b="1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Facial Recognition</a:t>
                </a:r>
                <a:endParaRPr lang="en-US" sz="1200" dirty="0"/>
              </a:p>
            </p:txBody>
          </p:sp>
        </p:grpSp>
        <p:pic>
          <p:nvPicPr>
            <p:cNvPr id="16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13412" y="2456929"/>
              <a:ext cx="186035" cy="186035"/>
            </a:xfrm>
            <a:prstGeom prst="rect">
              <a:avLst/>
            </a:prstGeom>
          </p:spPr>
        </p:pic>
      </p:grpSp>
      <p:sp>
        <p:nvSpPr>
          <p:cNvPr id="18" name="Text 13"/>
          <p:cNvSpPr/>
          <p:nvPr/>
        </p:nvSpPr>
        <p:spPr>
          <a:xfrm>
            <a:off x="4772248" y="3182541"/>
            <a:ext cx="1668438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Identifies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face belongs to.</a:t>
            </a:r>
            <a:endParaRPr lang="en-US" sz="12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4CE2D0-4D24-E870-C28E-BEFA6A73271D}"/>
              </a:ext>
            </a:extLst>
          </p:cNvPr>
          <p:cNvGrpSpPr/>
          <p:nvPr/>
        </p:nvGrpSpPr>
        <p:grpSpPr>
          <a:xfrm>
            <a:off x="6702921" y="2349698"/>
            <a:ext cx="1944960" cy="1467296"/>
            <a:chOff x="6702921" y="2349698"/>
            <a:chExt cx="1944960" cy="1467296"/>
          </a:xfrm>
        </p:grpSpPr>
        <p:sp>
          <p:nvSpPr>
            <p:cNvPr id="19" name="Shape 14"/>
            <p:cNvSpPr/>
            <p:nvPr/>
          </p:nvSpPr>
          <p:spPr>
            <a:xfrm>
              <a:off x="6702921" y="2349698"/>
              <a:ext cx="1944960" cy="1467296"/>
            </a:xfrm>
            <a:prstGeom prst="roundRect">
              <a:avLst>
                <a:gd name="adj" fmla="val 1268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0" name="Shape 15"/>
            <p:cNvSpPr/>
            <p:nvPr/>
          </p:nvSpPr>
          <p:spPr>
            <a:xfrm>
              <a:off x="6717209" y="2363986"/>
              <a:ext cx="1916385" cy="372070"/>
            </a:xfrm>
            <a:prstGeom prst="roundRect">
              <a:avLst>
                <a:gd name="adj" fmla="val 393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82346" y="2456929"/>
              <a:ext cx="186035" cy="186035"/>
            </a:xfrm>
            <a:prstGeom prst="rect">
              <a:avLst/>
            </a:prstGeom>
          </p:spPr>
        </p:pic>
        <p:sp>
          <p:nvSpPr>
            <p:cNvPr id="22" name="Text 16"/>
            <p:cNvSpPr/>
            <p:nvPr/>
          </p:nvSpPr>
          <p:spPr>
            <a:xfrm>
              <a:off x="6841182" y="2860030"/>
              <a:ext cx="1668438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Optical Character Recognition (OCR)</a:t>
              </a:r>
              <a:endParaRPr lang="en-US" sz="1200" dirty="0"/>
            </a:p>
          </p:txBody>
        </p:sp>
      </p:grpSp>
      <p:sp>
        <p:nvSpPr>
          <p:cNvPr id="23" name="Text 17"/>
          <p:cNvSpPr/>
          <p:nvPr/>
        </p:nvSpPr>
        <p:spPr>
          <a:xfrm>
            <a:off x="6841182" y="3430637"/>
            <a:ext cx="166843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Reads text from image.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3" grpId="0" animBg="1"/>
      <p:bldP spid="18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29209"/>
            <a:ext cx="453196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Challenges in Computer Vision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164779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1BF61E5-B8CC-B12B-38DF-634C776FE47D}"/>
              </a:ext>
            </a:extLst>
          </p:cNvPr>
          <p:cNvGrpSpPr/>
          <p:nvPr/>
        </p:nvGrpSpPr>
        <p:grpSpPr>
          <a:xfrm>
            <a:off x="496119" y="2552402"/>
            <a:ext cx="2634555" cy="496044"/>
            <a:chOff x="496119" y="2552402"/>
            <a:chExt cx="2634555" cy="496044"/>
          </a:xfrm>
        </p:grpSpPr>
        <p:sp>
          <p:nvSpPr>
            <p:cNvPr id="4" name="Shape 2"/>
            <p:cNvSpPr/>
            <p:nvPr/>
          </p:nvSpPr>
          <p:spPr>
            <a:xfrm>
              <a:off x="496119" y="2552402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 3"/>
            <p:cNvSpPr/>
            <p:nvPr/>
          </p:nvSpPr>
          <p:spPr>
            <a:xfrm>
              <a:off x="620092" y="2676376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Lighting</a:t>
              </a:r>
              <a:endParaRPr lang="en-US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C7C84BC-410C-1C9D-7620-2E81FEA39326}"/>
              </a:ext>
            </a:extLst>
          </p:cNvPr>
          <p:cNvGrpSpPr/>
          <p:nvPr/>
        </p:nvGrpSpPr>
        <p:grpSpPr>
          <a:xfrm>
            <a:off x="3254648" y="2552402"/>
            <a:ext cx="2634630" cy="496044"/>
            <a:chOff x="3254648" y="2552402"/>
            <a:chExt cx="2634630" cy="496044"/>
          </a:xfrm>
        </p:grpSpPr>
        <p:sp>
          <p:nvSpPr>
            <p:cNvPr id="6" name="Shape 4"/>
            <p:cNvSpPr/>
            <p:nvPr/>
          </p:nvSpPr>
          <p:spPr>
            <a:xfrm>
              <a:off x="3254648" y="2552402"/>
              <a:ext cx="2634630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3378622" y="2676376"/>
              <a:ext cx="238668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Pose &amp; Angle</a:t>
              </a:r>
              <a:endParaRPr lang="en-US" sz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3E6ADD9-2F65-139C-1E73-ADA9795E9E3F}"/>
              </a:ext>
            </a:extLst>
          </p:cNvPr>
          <p:cNvGrpSpPr/>
          <p:nvPr/>
        </p:nvGrpSpPr>
        <p:grpSpPr>
          <a:xfrm>
            <a:off x="6013252" y="2552402"/>
            <a:ext cx="2634555" cy="496044"/>
            <a:chOff x="6013252" y="2552402"/>
            <a:chExt cx="2634555" cy="496044"/>
          </a:xfrm>
        </p:grpSpPr>
        <p:sp>
          <p:nvSpPr>
            <p:cNvPr id="8" name="Shape 6"/>
            <p:cNvSpPr/>
            <p:nvPr/>
          </p:nvSpPr>
          <p:spPr>
            <a:xfrm>
              <a:off x="6013252" y="2552402"/>
              <a:ext cx="2634555" cy="496044"/>
            </a:xfrm>
            <a:prstGeom prst="roundRect">
              <a:avLst>
                <a:gd name="adj" fmla="val 3751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7"/>
            <p:cNvSpPr/>
            <p:nvPr/>
          </p:nvSpPr>
          <p:spPr>
            <a:xfrm>
              <a:off x="6137225" y="2676376"/>
              <a:ext cx="238660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Occlusion</a:t>
              </a:r>
              <a:endParaRPr lang="en-US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3A6A997-EC46-9228-AF96-403CA182C7D7}"/>
              </a:ext>
            </a:extLst>
          </p:cNvPr>
          <p:cNvGrpSpPr/>
          <p:nvPr/>
        </p:nvGrpSpPr>
        <p:grpSpPr>
          <a:xfrm>
            <a:off x="496119" y="3172420"/>
            <a:ext cx="2634555" cy="441796"/>
            <a:chOff x="496119" y="3172420"/>
            <a:chExt cx="2634555" cy="441796"/>
          </a:xfrm>
        </p:grpSpPr>
        <p:sp>
          <p:nvSpPr>
            <p:cNvPr id="10" name="Shape 8"/>
            <p:cNvSpPr/>
            <p:nvPr/>
          </p:nvSpPr>
          <p:spPr>
            <a:xfrm>
              <a:off x="496119" y="3172420"/>
              <a:ext cx="2634555" cy="441796"/>
            </a:xfrm>
            <a:prstGeom prst="roundRect">
              <a:avLst>
                <a:gd name="adj" fmla="val 4212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/>
            <p:cNvSpPr/>
            <p:nvPr/>
          </p:nvSpPr>
          <p:spPr>
            <a:xfrm>
              <a:off x="620092" y="3296394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Background clutter</a:t>
              </a:r>
              <a:endParaRPr lang="en-US" sz="12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239135C-0DF3-EF4B-8ACC-5DC23038C583}"/>
              </a:ext>
            </a:extLst>
          </p:cNvPr>
          <p:cNvGrpSpPr/>
          <p:nvPr/>
        </p:nvGrpSpPr>
        <p:grpSpPr>
          <a:xfrm>
            <a:off x="3254648" y="3172420"/>
            <a:ext cx="2634630" cy="441796"/>
            <a:chOff x="3254648" y="3172420"/>
            <a:chExt cx="2634630" cy="441796"/>
          </a:xfrm>
        </p:grpSpPr>
        <p:sp>
          <p:nvSpPr>
            <p:cNvPr id="12" name="Shape 10"/>
            <p:cNvSpPr/>
            <p:nvPr/>
          </p:nvSpPr>
          <p:spPr>
            <a:xfrm>
              <a:off x="3254648" y="3172420"/>
              <a:ext cx="2634630" cy="441796"/>
            </a:xfrm>
            <a:prstGeom prst="roundRect">
              <a:avLst>
                <a:gd name="adj" fmla="val 4212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1"/>
            <p:cNvSpPr/>
            <p:nvPr/>
          </p:nvSpPr>
          <p:spPr>
            <a:xfrm>
              <a:off x="3378622" y="3296394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Bias</a:t>
              </a:r>
              <a:endParaRPr lang="en-US" sz="1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9CBA793-744C-C567-113C-E74BCBFA94FD}"/>
              </a:ext>
            </a:extLst>
          </p:cNvPr>
          <p:cNvGrpSpPr/>
          <p:nvPr/>
        </p:nvGrpSpPr>
        <p:grpSpPr>
          <a:xfrm>
            <a:off x="6013252" y="3172420"/>
            <a:ext cx="2634555" cy="441796"/>
            <a:chOff x="6013252" y="3172420"/>
            <a:chExt cx="2634555" cy="441796"/>
          </a:xfrm>
        </p:grpSpPr>
        <p:sp>
          <p:nvSpPr>
            <p:cNvPr id="14" name="Shape 12"/>
            <p:cNvSpPr/>
            <p:nvPr/>
          </p:nvSpPr>
          <p:spPr>
            <a:xfrm>
              <a:off x="6013252" y="3172420"/>
              <a:ext cx="2634555" cy="441796"/>
            </a:xfrm>
            <a:prstGeom prst="roundRect">
              <a:avLst>
                <a:gd name="adj" fmla="val 4212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3"/>
            <p:cNvSpPr/>
            <p:nvPr/>
          </p:nvSpPr>
          <p:spPr>
            <a:xfrm>
              <a:off x="6137225" y="3296394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Scale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3842"/>
            <a:ext cx="5080248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Mini Activity 2 : Spot the CV Challenge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1163613"/>
            <a:ext cx="8151763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Instructions: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each real‑world scenario, identify which CV challenge is present. Choose from: </a:t>
            </a: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Lighting, Pose &amp; Angle, Occlusion, Background clutter, Bias, Scale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700808"/>
            <a:ext cx="8151763" cy="2828776"/>
          </a:xfrm>
          <a:prstGeom prst="roundRect">
            <a:avLst>
              <a:gd name="adj" fmla="val 59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1705570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577" y="1770608"/>
            <a:ext cx="685241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Scenario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93000" y="1770608"/>
            <a:ext cx="83849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Challenge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0881" y="2047726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2577" y="2112764"/>
            <a:ext cx="685241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self‑driving car fails to recognise a stop sign because the sign is partly covered by a tree branch.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93000" y="2112764"/>
            <a:ext cx="83849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Occlusion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0881" y="2389882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2577" y="2454920"/>
            <a:ext cx="685241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facial recognition system works well for people with light skin but often fails for people with darker skin.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693000" y="2454920"/>
            <a:ext cx="83849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0881" y="2732038"/>
            <a:ext cx="8142238" cy="55423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2577" y="2797076"/>
            <a:ext cx="6526777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smartphone camera recognises a friend's face from the front, but not when the friend turns their head sideways.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93000" y="2797076"/>
            <a:ext cx="83849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Pose &amp; Angle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0881" y="3286274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2577" y="3351312"/>
            <a:ext cx="685241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road sign detection AI works perfectly during the day but misses signs at night.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93000" y="3351312"/>
            <a:ext cx="83849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0881" y="3628430"/>
            <a:ext cx="8142238" cy="55423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2577" y="3693468"/>
            <a:ext cx="685241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AI trained to recognise cats only on a red sofa gets confused when the same cat sits on a green sofa.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693000" y="3693468"/>
            <a:ext cx="838498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Background clutter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0881" y="4182666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12577" y="4247704"/>
            <a:ext cx="685241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pedestrian detection system fails to see a person who is very far away - the person is only a few pixels tall.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93000" y="4247704"/>
            <a:ext cx="83849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74862"/>
            <a:ext cx="507340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Computer Vision in the Real World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10432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71EB36-4C29-1A8A-5F31-E1E44B321096}"/>
              </a:ext>
            </a:extLst>
          </p:cNvPr>
          <p:cNvGrpSpPr/>
          <p:nvPr/>
        </p:nvGrpSpPr>
        <p:grpSpPr>
          <a:xfrm>
            <a:off x="496119" y="2248421"/>
            <a:ext cx="2613868" cy="713184"/>
            <a:chOff x="496119" y="2248421"/>
            <a:chExt cx="2613868" cy="713184"/>
          </a:xfrm>
        </p:grpSpPr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47974" y="2248421"/>
              <a:ext cx="310083" cy="310083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496119" y="2713509"/>
              <a:ext cx="2613868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Self‑Driving Cars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0E7BF4C-29D3-BAD5-4D8F-E03955EAFE3A}"/>
              </a:ext>
            </a:extLst>
          </p:cNvPr>
          <p:cNvGrpSpPr/>
          <p:nvPr/>
        </p:nvGrpSpPr>
        <p:grpSpPr>
          <a:xfrm>
            <a:off x="3264991" y="2248421"/>
            <a:ext cx="2613943" cy="713184"/>
            <a:chOff x="3264991" y="2248421"/>
            <a:chExt cx="2613943" cy="713184"/>
          </a:xfrm>
        </p:grpSpPr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16921" y="2248421"/>
              <a:ext cx="310083" cy="310083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3264991" y="2713509"/>
              <a:ext cx="261394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Medical Imaging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361876-80A6-8DC2-6C89-8D20A64A4FFF}"/>
              </a:ext>
            </a:extLst>
          </p:cNvPr>
          <p:cNvGrpSpPr/>
          <p:nvPr/>
        </p:nvGrpSpPr>
        <p:grpSpPr>
          <a:xfrm>
            <a:off x="6033939" y="2248421"/>
            <a:ext cx="2613943" cy="713184"/>
            <a:chOff x="6033939" y="2248421"/>
            <a:chExt cx="2613943" cy="713184"/>
          </a:xfrm>
        </p:grpSpPr>
        <p:pic>
          <p:nvPicPr>
            <p:cNvPr id="8" name="Image 2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85868" y="2248421"/>
              <a:ext cx="310083" cy="310083"/>
            </a:xfrm>
            <a:prstGeom prst="rect">
              <a:avLst/>
            </a:prstGeom>
          </p:spPr>
        </p:pic>
        <p:sp>
          <p:nvSpPr>
            <p:cNvPr id="9" name="Text 4"/>
            <p:cNvSpPr/>
            <p:nvPr/>
          </p:nvSpPr>
          <p:spPr>
            <a:xfrm>
              <a:off x="6033939" y="2713509"/>
              <a:ext cx="261394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Social Media Filters</a:t>
              </a:r>
              <a:endParaRPr lang="en-US" sz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46C2C0C-3D8C-F949-0664-71EB993347AB}"/>
              </a:ext>
            </a:extLst>
          </p:cNvPr>
          <p:cNvGrpSpPr/>
          <p:nvPr/>
        </p:nvGrpSpPr>
        <p:grpSpPr>
          <a:xfrm>
            <a:off x="2412206" y="3209627"/>
            <a:ext cx="1550566" cy="658937"/>
            <a:chOff x="2412206" y="3209627"/>
            <a:chExt cx="1550566" cy="658937"/>
          </a:xfrm>
        </p:grpSpPr>
        <p:pic>
          <p:nvPicPr>
            <p:cNvPr id="10" name="Image 3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32447" y="3209627"/>
              <a:ext cx="310083" cy="310083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2412206" y="3674715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Agriculture</a:t>
              </a:r>
              <a:endParaRPr lang="en-US" sz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CA582BC-7D61-E1A1-EE6D-9C6D5937D435}"/>
              </a:ext>
            </a:extLst>
          </p:cNvPr>
          <p:cNvGrpSpPr/>
          <p:nvPr/>
        </p:nvGrpSpPr>
        <p:grpSpPr>
          <a:xfrm>
            <a:off x="5181154" y="3209627"/>
            <a:ext cx="1550566" cy="658937"/>
            <a:chOff x="5181154" y="3209627"/>
            <a:chExt cx="1550566" cy="658937"/>
          </a:xfrm>
        </p:grpSpPr>
        <p:pic>
          <p:nvPicPr>
            <p:cNvPr id="12" name="Image 4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801395" y="3209627"/>
              <a:ext cx="310083" cy="310083"/>
            </a:xfrm>
            <a:prstGeom prst="rect">
              <a:avLst/>
            </a:prstGeom>
          </p:spPr>
        </p:pic>
        <p:sp>
          <p:nvSpPr>
            <p:cNvPr id="13" name="Text 6"/>
            <p:cNvSpPr/>
            <p:nvPr/>
          </p:nvSpPr>
          <p:spPr>
            <a:xfrm>
              <a:off x="5181154" y="3674715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Security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79475"/>
            <a:ext cx="4722763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Hands‑On Activity: </a:t>
            </a:r>
            <a:endParaRPr lang="en-US" sz="2400" dirty="0"/>
          </a:p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Real‑World Computer Vision Analysis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49168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25119" y="2871564"/>
            <a:ext cx="4722763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Goal :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Act as a computer vision engineer. For two real‑world CV applications -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Self‑Driving Cars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 Media Filters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you will identify the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predictions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objects the AI must recognize.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96119" y="1254547"/>
            <a:ext cx="8151763" cy="3192512"/>
          </a:xfrm>
          <a:prstGeom prst="roundRect">
            <a:avLst>
              <a:gd name="adj" fmla="val 58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25930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255BE04-860E-8B3F-B33A-BD85AA9652BD}"/>
              </a:ext>
            </a:extLst>
          </p:cNvPr>
          <p:cNvGrpSpPr/>
          <p:nvPr/>
        </p:nvGrpSpPr>
        <p:grpSpPr>
          <a:xfrm>
            <a:off x="625004" y="1338486"/>
            <a:ext cx="7894141" cy="248096"/>
            <a:chOff x="625004" y="1338486"/>
            <a:chExt cx="7894141" cy="248096"/>
          </a:xfrm>
        </p:grpSpPr>
        <p:sp>
          <p:nvSpPr>
            <p:cNvPr id="5" name="Text 3"/>
            <p:cNvSpPr/>
            <p:nvPr/>
          </p:nvSpPr>
          <p:spPr>
            <a:xfrm>
              <a:off x="625004" y="1338486"/>
              <a:ext cx="178519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CV Stage</a:t>
              </a:r>
              <a:endParaRPr lang="en-US" sz="1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2662907" y="1338486"/>
              <a:ext cx="178281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Stop Sign</a:t>
              </a:r>
              <a:endParaRPr lang="en-US" sz="1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698429" y="1338486"/>
              <a:ext cx="178281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Pedestrian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733952" y="1338486"/>
              <a:ext cx="178519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Traffic Light (Red)</a:t>
              </a:r>
              <a:endParaRPr lang="en-US" sz="1200" dirty="0"/>
            </a:p>
          </p:txBody>
        </p:sp>
      </p:grpSp>
      <p:sp>
        <p:nvSpPr>
          <p:cNvPr id="9" name="Shape 7"/>
          <p:cNvSpPr/>
          <p:nvPr/>
        </p:nvSpPr>
        <p:spPr>
          <a:xfrm>
            <a:off x="500881" y="1665759"/>
            <a:ext cx="8142238" cy="6545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662907" y="1744935"/>
            <a:ext cx="178281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Red, octagon shape, white letters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98429" y="1744935"/>
            <a:ext cx="178281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 shape, two legs, two arms, head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33952" y="1744935"/>
            <a:ext cx="178519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 circle/arrow, on a pole, glowing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0881" y="2320305"/>
            <a:ext cx="8142238" cy="6545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662907" y="2399481"/>
            <a:ext cx="178281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 colour, 8 straight edges, letters S-T-O-P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98429" y="2399481"/>
            <a:ext cx="178281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Vertical body, horizontal limbs, head at top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33952" y="2399481"/>
            <a:ext cx="178519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 colour, circular shape, brightness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0881" y="2974851"/>
            <a:ext cx="8142238" cy="6545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662907" y="3054028"/>
            <a:ext cx="178281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 + octagon + S-T-O-P = stop sign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98429" y="3054028"/>
            <a:ext cx="1782812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Vertical + horizontal limbs + head = person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33952" y="3054028"/>
            <a:ext cx="178519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 + circle + brightness = red light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0881" y="3629397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662907" y="3708574"/>
            <a:ext cx="17828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Stop sign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98429" y="3708574"/>
            <a:ext cx="17828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Pedestrian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33952" y="3708574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 traffic light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0881" y="4035847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3801D93-3CA2-9CB8-ACC7-C116069B8216}"/>
              </a:ext>
            </a:extLst>
          </p:cNvPr>
          <p:cNvGrpSpPr/>
          <p:nvPr/>
        </p:nvGrpSpPr>
        <p:grpSpPr>
          <a:xfrm>
            <a:off x="625004" y="1744935"/>
            <a:ext cx="1785193" cy="2618184"/>
            <a:chOff x="625004" y="1744935"/>
            <a:chExt cx="1785193" cy="2618184"/>
          </a:xfrm>
        </p:grpSpPr>
        <p:sp>
          <p:nvSpPr>
            <p:cNvPr id="10" name="Text 8"/>
            <p:cNvSpPr/>
            <p:nvPr/>
          </p:nvSpPr>
          <p:spPr>
            <a:xfrm>
              <a:off x="625004" y="1744935"/>
              <a:ext cx="178519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See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25004" y="2399481"/>
              <a:ext cx="178519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Features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25004" y="3054028"/>
              <a:ext cx="178519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Pattern</a:t>
              </a:r>
              <a:endParaRPr lang="en-US" sz="1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25004" y="3708574"/>
              <a:ext cx="178519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Prediction</a:t>
              </a:r>
              <a:endParaRPr lang="en-US" sz="12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625004" y="4115023"/>
              <a:ext cx="1785193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Act</a:t>
              </a:r>
              <a:endParaRPr lang="en-US" sz="1200" dirty="0"/>
            </a:p>
          </p:txBody>
        </p:sp>
      </p:grpSp>
      <p:sp>
        <p:nvSpPr>
          <p:cNvPr id="31" name="Text 29"/>
          <p:cNvSpPr/>
          <p:nvPr/>
        </p:nvSpPr>
        <p:spPr>
          <a:xfrm>
            <a:off x="2662907" y="4115023"/>
            <a:ext cx="17828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brakes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98429" y="4115023"/>
            <a:ext cx="178281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Stop and wait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33952" y="4115023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Stop completely</a:t>
            </a:r>
            <a:endParaRPr lang="en-US" sz="1200" dirty="0"/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FC04BD85-07DC-5DF4-2108-9505D4F1ED7C}"/>
              </a:ext>
            </a:extLst>
          </p:cNvPr>
          <p:cNvSpPr/>
          <p:nvPr/>
        </p:nvSpPr>
        <p:spPr>
          <a:xfrm>
            <a:off x="496119" y="416402"/>
            <a:ext cx="3354809" cy="294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Part A: Self‑Driving Car Vision</a:t>
            </a:r>
            <a:endParaRPr lang="en-US" sz="1850" dirty="0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9A4F8161-1741-DFE6-1E03-86982001D15F}"/>
              </a:ext>
            </a:extLst>
          </p:cNvPr>
          <p:cNvSpPr/>
          <p:nvPr/>
        </p:nvSpPr>
        <p:spPr>
          <a:xfrm>
            <a:off x="500881" y="754706"/>
            <a:ext cx="815176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self‑driving car's camera must recognise three things: </a:t>
            </a: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Stop Sign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Pedestrian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Traffic Light (Red)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50" dirty="0"/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83A7EFEA-164A-932A-EA2C-810ECAF2887D}"/>
              </a:ext>
            </a:extLst>
          </p:cNvPr>
          <p:cNvSpPr/>
          <p:nvPr/>
        </p:nvSpPr>
        <p:spPr>
          <a:xfrm>
            <a:off x="505424" y="1015450"/>
            <a:ext cx="815176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each one, fill in the table: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0881" y="288579"/>
            <a:ext cx="2801392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Part B: Social Media Filter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96119" y="1130498"/>
            <a:ext cx="8151763" cy="3440609"/>
          </a:xfrm>
          <a:prstGeom prst="roundRect">
            <a:avLst>
              <a:gd name="adj" fmla="val 54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135261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8AA8B8B-166E-9E41-43E7-58709B09E9CB}"/>
              </a:ext>
            </a:extLst>
          </p:cNvPr>
          <p:cNvGrpSpPr/>
          <p:nvPr/>
        </p:nvGrpSpPr>
        <p:grpSpPr>
          <a:xfrm>
            <a:off x="625004" y="1214438"/>
            <a:ext cx="7894142" cy="248096"/>
            <a:chOff x="625004" y="1214438"/>
            <a:chExt cx="7894142" cy="248096"/>
          </a:xfrm>
        </p:grpSpPr>
        <p:sp>
          <p:nvSpPr>
            <p:cNvPr id="5" name="Text 3"/>
            <p:cNvSpPr/>
            <p:nvPr/>
          </p:nvSpPr>
          <p:spPr>
            <a:xfrm>
              <a:off x="625004" y="1214438"/>
              <a:ext cx="85695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CV Stage</a:t>
              </a:r>
              <a:endParaRPr lang="en-US" sz="1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734666" y="1214438"/>
              <a:ext cx="2038499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Face</a:t>
              </a:r>
              <a:endParaRPr lang="en-US" sz="1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025875" y="1214438"/>
              <a:ext cx="2119089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Eyes</a:t>
              </a:r>
              <a:endParaRPr lang="en-US" sz="12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397675" y="1214438"/>
              <a:ext cx="2121471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Mouth</a:t>
              </a:r>
              <a:endParaRPr lang="en-US" sz="1200" dirty="0"/>
            </a:p>
          </p:txBody>
        </p:sp>
      </p:grpSp>
      <p:sp>
        <p:nvSpPr>
          <p:cNvPr id="9" name="Shape 7"/>
          <p:cNvSpPr/>
          <p:nvPr/>
        </p:nvSpPr>
        <p:spPr>
          <a:xfrm>
            <a:off x="500881" y="1541711"/>
            <a:ext cx="8142238" cy="6545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734666" y="1620887"/>
            <a:ext cx="2038499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Oval shape, two dark spots, curved line below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25875" y="1620887"/>
            <a:ext cx="2119089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dark ovals, white around them, above nose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97675" y="1620887"/>
            <a:ext cx="2121471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Horizontal curved line, below nose, between cheeks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0881" y="2196257"/>
            <a:ext cx="8142238" cy="6545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734666" y="2275433"/>
            <a:ext cx="2038499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Oval outline, two eyes, one nose, one mouth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5875" y="2275433"/>
            <a:ext cx="2119089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Dark circle, white surround, eyelid curve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97675" y="2275433"/>
            <a:ext cx="2121471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Curved line, pink/red colour, horizontal orientation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0881" y="2850803"/>
            <a:ext cx="8142238" cy="6545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734666" y="2929979"/>
            <a:ext cx="2038499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Oval + two eyes + nose + mouth = face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25875" y="2929979"/>
            <a:ext cx="2119089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Dark circle + white surround = eye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97675" y="2929979"/>
            <a:ext cx="2121471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Horizontal curved line + pink colour = mouth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0881" y="350534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734666" y="3584525"/>
            <a:ext cx="203849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5875" y="3584525"/>
            <a:ext cx="211908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Eye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97675" y="3584525"/>
            <a:ext cx="212147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Mouth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0881" y="3911798"/>
            <a:ext cx="8142238" cy="6545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FE624E1-F923-04B5-55D0-BEBF55557B02}"/>
              </a:ext>
            </a:extLst>
          </p:cNvPr>
          <p:cNvGrpSpPr/>
          <p:nvPr/>
        </p:nvGrpSpPr>
        <p:grpSpPr>
          <a:xfrm>
            <a:off x="625004" y="1620887"/>
            <a:ext cx="856952" cy="2618184"/>
            <a:chOff x="625004" y="1620887"/>
            <a:chExt cx="856952" cy="2618184"/>
          </a:xfrm>
        </p:grpSpPr>
        <p:sp>
          <p:nvSpPr>
            <p:cNvPr id="10" name="Text 8"/>
            <p:cNvSpPr/>
            <p:nvPr/>
          </p:nvSpPr>
          <p:spPr>
            <a:xfrm>
              <a:off x="625004" y="1620887"/>
              <a:ext cx="85695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See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25004" y="2275433"/>
              <a:ext cx="85695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Features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625004" y="2929979"/>
              <a:ext cx="85695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Pattern</a:t>
              </a:r>
              <a:endParaRPr lang="en-US" sz="1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25004" y="3584525"/>
              <a:ext cx="85695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Prediction</a:t>
              </a:r>
              <a:endParaRPr lang="en-US" sz="12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625004" y="3990975"/>
              <a:ext cx="856952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Act</a:t>
              </a:r>
              <a:endParaRPr lang="en-US" sz="1200" dirty="0"/>
            </a:p>
          </p:txBody>
        </p:sp>
      </p:grpSp>
      <p:sp>
        <p:nvSpPr>
          <p:cNvPr id="31" name="Text 29"/>
          <p:cNvSpPr/>
          <p:nvPr/>
        </p:nvSpPr>
        <p:spPr>
          <a:xfrm>
            <a:off x="1734666" y="3990975"/>
            <a:ext cx="2038499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Place bunny ears on top of face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25875" y="3990975"/>
            <a:ext cx="2119089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eye position to keep ears aligned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97675" y="3990975"/>
            <a:ext cx="2121471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smile to change filter effect</a:t>
            </a:r>
            <a:endParaRPr lang="en-US" sz="12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54F4EAC-0C76-4CEC-4BA9-372429A2D5EC}"/>
              </a:ext>
            </a:extLst>
          </p:cNvPr>
          <p:cNvGrpSpPr/>
          <p:nvPr/>
        </p:nvGrpSpPr>
        <p:grpSpPr>
          <a:xfrm>
            <a:off x="500881" y="630138"/>
            <a:ext cx="8151763" cy="502741"/>
            <a:chOff x="500881" y="630138"/>
            <a:chExt cx="8151763" cy="502741"/>
          </a:xfrm>
        </p:grpSpPr>
        <p:sp>
          <p:nvSpPr>
            <p:cNvPr id="35" name="Text 1">
              <a:extLst>
                <a:ext uri="{FF2B5EF4-FFF2-40B4-BE49-F238E27FC236}">
                  <a16:creationId xmlns:a16="http://schemas.microsoft.com/office/drawing/2014/main" id="{151A1E22-3611-EA53-DDCF-AE68C6DB4763}"/>
                </a:ext>
              </a:extLst>
            </p:cNvPr>
            <p:cNvSpPr/>
            <p:nvPr/>
          </p:nvSpPr>
          <p:spPr>
            <a:xfrm>
              <a:off x="500881" y="630138"/>
              <a:ext cx="8151763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 social media filter must track your face to add bunny ears. For it to work, the AI must recognise: </a:t>
              </a: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Face</a:t>
              </a:r>
              <a:r>
                <a:rPr lang="en-US" sz="11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, </a:t>
              </a: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Eyes</a:t>
              </a:r>
              <a:r>
                <a:rPr lang="en-US" sz="11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, and </a:t>
              </a:r>
              <a:r>
                <a:rPr lang="en-US" sz="115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Mouth</a:t>
              </a:r>
              <a:r>
                <a:rPr lang="en-US" sz="11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.</a:t>
              </a:r>
              <a:endParaRPr lang="en-US" sz="1150" dirty="0"/>
            </a:p>
          </p:txBody>
        </p:sp>
        <p:sp>
          <p:nvSpPr>
            <p:cNvPr id="36" name="Text 2">
              <a:extLst>
                <a:ext uri="{FF2B5EF4-FFF2-40B4-BE49-F238E27FC236}">
                  <a16:creationId xmlns:a16="http://schemas.microsoft.com/office/drawing/2014/main" id="{82F53D4C-DF37-52C3-49A4-2033F1EB404C}"/>
                </a:ext>
              </a:extLst>
            </p:cNvPr>
            <p:cNvSpPr/>
            <p:nvPr/>
          </p:nvSpPr>
          <p:spPr>
            <a:xfrm>
              <a:off x="500881" y="903088"/>
              <a:ext cx="8151763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For each one, fill in the table:</a:t>
              </a:r>
              <a:endParaRPr lang="en-US" sz="11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6" grpId="0" animBg="1"/>
      <p:bldP spid="27" grpId="0" animBg="1"/>
      <p:bldP spid="28" grpId="0" animBg="1"/>
      <p:bldP spid="31" grpId="0" animBg="1"/>
      <p:bldP spid="32" grpId="0" animBg="1"/>
      <p:bldP spid="3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2025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Reflection Questions</a:t>
            </a:r>
            <a:endParaRPr lang="en-US" sz="24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4A07875-8A85-5B9E-8F76-09F00020575A}"/>
              </a:ext>
            </a:extLst>
          </p:cNvPr>
          <p:cNvGrpSpPr/>
          <p:nvPr/>
        </p:nvGrpSpPr>
        <p:grpSpPr>
          <a:xfrm>
            <a:off x="481831" y="1597596"/>
            <a:ext cx="1959248" cy="2583805"/>
            <a:chOff x="481831" y="1597596"/>
            <a:chExt cx="1959248" cy="2583805"/>
          </a:xfrm>
        </p:grpSpPr>
        <p:sp>
          <p:nvSpPr>
            <p:cNvPr id="3" name="Shape 1"/>
            <p:cNvSpPr/>
            <p:nvPr/>
          </p:nvSpPr>
          <p:spPr>
            <a:xfrm>
              <a:off x="496119" y="1597596"/>
              <a:ext cx="1944960" cy="2583805"/>
            </a:xfrm>
            <a:prstGeom prst="roundRect">
              <a:avLst>
                <a:gd name="adj" fmla="val 3526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1831" y="1597596"/>
              <a:ext cx="57150" cy="2583805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677242" y="1735857"/>
              <a:ext cx="162557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Question 1</a:t>
              </a:r>
              <a:endParaRPr lang="en-US" sz="12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677242" y="2058367"/>
              <a:ext cx="1625575" cy="9923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Which object was easiest to analyse? Why? (What features were most obvious?)</a:t>
              </a:r>
              <a:endParaRPr lang="en-US" sz="1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5E116BD-D864-701A-95A0-B3F33404D33E}"/>
              </a:ext>
            </a:extLst>
          </p:cNvPr>
          <p:cNvGrpSpPr/>
          <p:nvPr/>
        </p:nvGrpSpPr>
        <p:grpSpPr>
          <a:xfrm>
            <a:off x="2550765" y="1597596"/>
            <a:ext cx="1959248" cy="2583805"/>
            <a:chOff x="2550765" y="1597596"/>
            <a:chExt cx="1959248" cy="258380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36B7AD8-6ACC-1F29-5E9C-BF7121149039}"/>
                </a:ext>
              </a:extLst>
            </p:cNvPr>
            <p:cNvGrpSpPr/>
            <p:nvPr/>
          </p:nvGrpSpPr>
          <p:grpSpPr>
            <a:xfrm>
              <a:off x="2565053" y="1597596"/>
              <a:ext cx="1944960" cy="2583805"/>
              <a:chOff x="2565053" y="1597596"/>
              <a:chExt cx="1944960" cy="2583805"/>
            </a:xfrm>
          </p:grpSpPr>
          <p:sp>
            <p:nvSpPr>
              <p:cNvPr id="7" name="Shape 4"/>
              <p:cNvSpPr/>
              <p:nvPr/>
            </p:nvSpPr>
            <p:spPr>
              <a:xfrm>
                <a:off x="2565053" y="1597596"/>
                <a:ext cx="1944960" cy="2583805"/>
              </a:xfrm>
              <a:prstGeom prst="roundRect">
                <a:avLst>
                  <a:gd name="adj" fmla="val 3526"/>
                </a:avLst>
              </a:prstGeom>
              <a:solidFill>
                <a:srgbClr val="FBFCFE"/>
              </a:solidFill>
              <a:ln w="14288">
                <a:solidFill>
                  <a:srgbClr val="CFD2D8"/>
                </a:solidFill>
                <a:prstDash val="solid"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 5"/>
              <p:cNvSpPr/>
              <p:nvPr/>
            </p:nvSpPr>
            <p:spPr>
              <a:xfrm>
                <a:off x="2746177" y="1735857"/>
                <a:ext cx="1625575" cy="2480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b="1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Question 2</a:t>
                </a:r>
                <a:endParaRPr lang="en-US" sz="1200" dirty="0"/>
              </a:p>
            </p:txBody>
          </p:sp>
          <p:sp>
            <p:nvSpPr>
              <p:cNvPr id="10" name="Text 6"/>
              <p:cNvSpPr/>
              <p:nvPr/>
            </p:nvSpPr>
            <p:spPr>
              <a:xfrm>
                <a:off x="2746177" y="2058367"/>
                <a:ext cx="1625575" cy="17366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For the self‑driving car, what challenge (lighting, occlusion, bias, etc.) could make it fail to recognize a pedestrian? Give an example.</a:t>
                </a:r>
                <a:endParaRPr lang="en-US" sz="1200" dirty="0"/>
              </a:p>
            </p:txBody>
          </p:sp>
        </p:grpSp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50765" y="1597596"/>
              <a:ext cx="57150" cy="2583805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42D682C-601E-DFF8-8D58-E9DCB70ACB88}"/>
              </a:ext>
            </a:extLst>
          </p:cNvPr>
          <p:cNvGrpSpPr/>
          <p:nvPr/>
        </p:nvGrpSpPr>
        <p:grpSpPr>
          <a:xfrm>
            <a:off x="4619699" y="1597596"/>
            <a:ext cx="1959248" cy="2583805"/>
            <a:chOff x="4619699" y="1597596"/>
            <a:chExt cx="1959248" cy="2583805"/>
          </a:xfrm>
        </p:grpSpPr>
        <p:sp>
          <p:nvSpPr>
            <p:cNvPr id="11" name="Shape 7"/>
            <p:cNvSpPr/>
            <p:nvPr/>
          </p:nvSpPr>
          <p:spPr>
            <a:xfrm>
              <a:off x="4633987" y="1597596"/>
              <a:ext cx="1944960" cy="2583805"/>
            </a:xfrm>
            <a:prstGeom prst="roundRect">
              <a:avLst>
                <a:gd name="adj" fmla="val 3526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2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9699" y="1597596"/>
              <a:ext cx="57150" cy="2583805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CFD67DC-A500-BBF0-C930-F54FDEF4BE8D}"/>
                </a:ext>
              </a:extLst>
            </p:cNvPr>
            <p:cNvGrpSpPr/>
            <p:nvPr/>
          </p:nvGrpSpPr>
          <p:grpSpPr>
            <a:xfrm>
              <a:off x="4815111" y="1735857"/>
              <a:ext cx="1625575" cy="1562992"/>
              <a:chOff x="4815111" y="1735857"/>
              <a:chExt cx="1625575" cy="1562992"/>
            </a:xfrm>
          </p:grpSpPr>
          <p:sp>
            <p:nvSpPr>
              <p:cNvPr id="13" name="Text 8"/>
              <p:cNvSpPr/>
              <p:nvPr/>
            </p:nvSpPr>
            <p:spPr>
              <a:xfrm>
                <a:off x="4815111" y="1735857"/>
                <a:ext cx="1625575" cy="2480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b="1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Question 3</a:t>
                </a:r>
                <a:endParaRPr lang="en-US" sz="1200" dirty="0"/>
              </a:p>
            </p:txBody>
          </p:sp>
          <p:sp>
            <p:nvSpPr>
              <p:cNvPr id="14" name="Text 9"/>
              <p:cNvSpPr/>
              <p:nvPr/>
            </p:nvSpPr>
            <p:spPr>
              <a:xfrm>
                <a:off x="4815111" y="2058367"/>
                <a:ext cx="1625575" cy="124048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For the social media filter, what challenge could make it fail to track your eyes? Give an example.</a:t>
                </a:r>
                <a:endParaRPr lang="en-US" sz="1200" dirty="0"/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F1D42BC-846B-9C06-4854-896FD1627F74}"/>
              </a:ext>
            </a:extLst>
          </p:cNvPr>
          <p:cNvGrpSpPr/>
          <p:nvPr/>
        </p:nvGrpSpPr>
        <p:grpSpPr>
          <a:xfrm>
            <a:off x="6688634" y="1597596"/>
            <a:ext cx="1959247" cy="2583805"/>
            <a:chOff x="6688634" y="1597596"/>
            <a:chExt cx="1959247" cy="2583805"/>
          </a:xfrm>
        </p:grpSpPr>
        <p:sp>
          <p:nvSpPr>
            <p:cNvPr id="15" name="Shape 10"/>
            <p:cNvSpPr/>
            <p:nvPr/>
          </p:nvSpPr>
          <p:spPr>
            <a:xfrm>
              <a:off x="6702921" y="1597596"/>
              <a:ext cx="1944960" cy="2583805"/>
            </a:xfrm>
            <a:prstGeom prst="roundRect">
              <a:avLst>
                <a:gd name="adj" fmla="val 3526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6" name="Image 3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88634" y="1597596"/>
              <a:ext cx="57150" cy="2583805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F6626B0-803E-FE4C-8235-70DD0F614CCD}"/>
                </a:ext>
              </a:extLst>
            </p:cNvPr>
            <p:cNvGrpSpPr/>
            <p:nvPr/>
          </p:nvGrpSpPr>
          <p:grpSpPr>
            <a:xfrm>
              <a:off x="6884045" y="1735857"/>
              <a:ext cx="1625575" cy="2307282"/>
              <a:chOff x="6884045" y="1735857"/>
              <a:chExt cx="1625575" cy="2307282"/>
            </a:xfrm>
          </p:grpSpPr>
          <p:sp>
            <p:nvSpPr>
              <p:cNvPr id="17" name="Text 11"/>
              <p:cNvSpPr/>
              <p:nvPr/>
            </p:nvSpPr>
            <p:spPr>
              <a:xfrm>
                <a:off x="6884045" y="1735857"/>
                <a:ext cx="1625575" cy="49619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b="1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Question 4 - Ethics Connection</a:t>
                </a:r>
                <a:endParaRPr lang="en-US" sz="1200" dirty="0"/>
              </a:p>
            </p:txBody>
          </p:sp>
          <p:sp>
            <p:nvSpPr>
              <p:cNvPr id="18" name="Text 12"/>
              <p:cNvSpPr/>
              <p:nvPr/>
            </p:nvSpPr>
            <p:spPr>
              <a:xfrm>
                <a:off x="6884045" y="2306464"/>
                <a:ext cx="1625575" cy="173667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If a self‑driving car's pedestrian detection system was trained mostly on adults, what might happen when it sees a child? Why is that a problem?</a:t>
                </a:r>
                <a:endParaRPr lang="en-US" sz="1200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7BD6D9E-E35D-3A9B-B730-DD166C89AF93}"/>
              </a:ext>
            </a:extLst>
          </p:cNvPr>
          <p:cNvGrpSpPr/>
          <p:nvPr/>
        </p:nvGrpSpPr>
        <p:grpSpPr>
          <a:xfrm>
            <a:off x="406822" y="1915864"/>
            <a:ext cx="2835027" cy="1885355"/>
            <a:chOff x="406822" y="1915864"/>
            <a:chExt cx="2835027" cy="188535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7E61D87-B425-AF5F-3460-F3411271DB7D}"/>
                </a:ext>
              </a:extLst>
            </p:cNvPr>
            <p:cNvGrpSpPr/>
            <p:nvPr/>
          </p:nvGrpSpPr>
          <p:grpSpPr>
            <a:xfrm>
              <a:off x="406822" y="1915864"/>
              <a:ext cx="2835027" cy="1885355"/>
              <a:chOff x="406822" y="1915864"/>
              <a:chExt cx="2835027" cy="1885355"/>
            </a:xfrm>
          </p:grpSpPr>
          <p:sp>
            <p:nvSpPr>
              <p:cNvPr id="3" name="Shape 1"/>
              <p:cNvSpPr/>
              <p:nvPr/>
            </p:nvSpPr>
            <p:spPr>
              <a:xfrm>
                <a:off x="406822" y="1915864"/>
                <a:ext cx="2835027" cy="1885355"/>
              </a:xfrm>
              <a:prstGeom prst="roundRect">
                <a:avLst>
                  <a:gd name="adj" fmla="val 987"/>
                </a:avLst>
              </a:prstGeom>
              <a:solidFill>
                <a:srgbClr val="F2F2F2"/>
              </a:solidFill>
              <a:ln/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5" name="Text 3"/>
              <p:cNvSpPr/>
              <p:nvPr/>
            </p:nvSpPr>
            <p:spPr>
              <a:xfrm>
                <a:off x="716831" y="2415108"/>
                <a:ext cx="2401044" cy="99238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"Explain how a self‑driving car recognizes a red traffic light. Use the See → Process → Act framework and list three features."</a:t>
                </a:r>
                <a:endParaRPr lang="en-US" sz="1200" dirty="0"/>
              </a:p>
            </p:txBody>
          </p:sp>
          <p:sp>
            <p:nvSpPr>
              <p:cNvPr id="4" name="Text 2"/>
              <p:cNvSpPr/>
              <p:nvPr/>
            </p:nvSpPr>
            <p:spPr>
              <a:xfrm>
                <a:off x="530796" y="2027486"/>
                <a:ext cx="2587079" cy="2480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b="1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Your New Prompt</a:t>
                </a:r>
                <a:endParaRPr lang="en-US" sz="1200" dirty="0"/>
              </a:p>
            </p:txBody>
          </p:sp>
        </p:grpSp>
        <p:sp>
          <p:nvSpPr>
            <p:cNvPr id="6" name="Shape 4"/>
            <p:cNvSpPr/>
            <p:nvPr/>
          </p:nvSpPr>
          <p:spPr>
            <a:xfrm>
              <a:off x="530796" y="2415108"/>
              <a:ext cx="14288" cy="992386"/>
            </a:xfrm>
            <a:prstGeom prst="rect">
              <a:avLst/>
            </a:prstGeom>
            <a:solidFill>
              <a:srgbClr val="3257B8"/>
            </a:solidFill>
            <a:ln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ext 0"/>
          <p:cNvSpPr/>
          <p:nvPr/>
        </p:nvSpPr>
        <p:spPr>
          <a:xfrm>
            <a:off x="496119" y="1342281"/>
            <a:ext cx="402282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Add to Your Prompt Library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459882" y="2027486"/>
            <a:ext cx="519268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This Prompt Works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59882" y="2387203"/>
            <a:ext cx="5192688" cy="1370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asks for a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specific real-world application</a:t>
            </a:r>
            <a:endParaRPr lang="en-US" sz="12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requires use of the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 → Process → Act framework</a:t>
            </a:r>
            <a:endParaRPr lang="en-US" sz="12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asks for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concrete features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making the answer structured and detailed</a:t>
            </a:r>
            <a:endParaRPr lang="en-US" sz="12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can adapt it for any CV application (pedestrian, stop sign, face, etc.)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6591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462162"/>
            <a:ext cx="8151763" cy="2854672"/>
          </a:xfrm>
          <a:prstGeom prst="roundRect">
            <a:avLst>
              <a:gd name="adj" fmla="val 65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46692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4929" y="1546101"/>
            <a:ext cx="196594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Term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43585" y="1546101"/>
            <a:ext cx="567556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0881" y="1873374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4929" y="1952551"/>
            <a:ext cx="196594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Computer Vision (CV)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43585" y="1952551"/>
            <a:ext cx="567556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that interprets images and videos.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0881" y="227982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4929" y="2359000"/>
            <a:ext cx="196594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Pixel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43585" y="2359000"/>
            <a:ext cx="567556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Smallest unit of an image - a dot of colour.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0881" y="2686273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929" y="2765450"/>
            <a:ext cx="196594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43585" y="2765450"/>
            <a:ext cx="567556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Important clue extracted from pixels (edge, corner, colour patch).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881" y="3092723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4929" y="3171899"/>
            <a:ext cx="196594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43585" y="3171899"/>
            <a:ext cx="567556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Combination of features that repeats across examples.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0881" y="3499172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4929" y="3578349"/>
            <a:ext cx="196594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43585" y="3578349"/>
            <a:ext cx="567556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AI's guess based on learned patterns (with confidence score).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0881" y="3905622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4929" y="3984799"/>
            <a:ext cx="196594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43585" y="3984799"/>
            <a:ext cx="567556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the system does with the prediction.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33041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868612"/>
            <a:ext cx="8151763" cy="2041773"/>
          </a:xfrm>
          <a:prstGeom prst="roundRect">
            <a:avLst>
              <a:gd name="adj" fmla="val 91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873374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4929" y="1952551"/>
            <a:ext cx="188453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Term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62176" y="1952551"/>
            <a:ext cx="575697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0881" y="2279824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4929" y="2359000"/>
            <a:ext cx="188453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CV framework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62176" y="2359000"/>
            <a:ext cx="575697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 (pixels) → Process (Features → Patterns → Prediction) → Act.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0881" y="2686273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4929" y="2765450"/>
            <a:ext cx="188453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Common tasks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62176" y="2765450"/>
            <a:ext cx="575697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 classification, object detection, facial recognition, OCR.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0881" y="3092723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929" y="3171899"/>
            <a:ext cx="188453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62176" y="3171899"/>
            <a:ext cx="575697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Lighting, pose, occlusion, bias, scale.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881" y="3499172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4929" y="3578349"/>
            <a:ext cx="188453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Real‑world use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62176" y="3578349"/>
            <a:ext cx="575697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Self‑driving cars, medical imaging, social media, agriculture, security.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912813"/>
            <a:ext cx="378313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Most Important Idea: 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486397"/>
            <a:ext cx="472276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Computer Vision (CV) is a field of AI that takes pixel data as input, extracts features and patterns from it, and produces outputs like classifications, detections, or segmentations.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6457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Homework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23565"/>
            <a:ext cx="198120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Part 1: Quick Matching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1442145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 each term to its correct description.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96119" y="1969294"/>
            <a:ext cx="2233687" cy="2448223"/>
          </a:xfrm>
          <a:prstGeom prst="roundRect">
            <a:avLst>
              <a:gd name="adj" fmla="val 83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0881" y="1974056"/>
            <a:ext cx="2224162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4929" y="2053233"/>
            <a:ext cx="13640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4040" y="2053233"/>
            <a:ext cx="158702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0881" y="2380506"/>
            <a:ext cx="2224162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4929" y="2459682"/>
            <a:ext cx="13640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4040" y="2459682"/>
            <a:ext cx="158702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Pixel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0881" y="2786955"/>
            <a:ext cx="2224162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4929" y="2866132"/>
            <a:ext cx="13640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14040" y="2866132"/>
            <a:ext cx="158702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0881" y="3193405"/>
            <a:ext cx="2224162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4929" y="3272582"/>
            <a:ext cx="13640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14040" y="3272582"/>
            <a:ext cx="158702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0881" y="3599855"/>
            <a:ext cx="2224162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4929" y="3679031"/>
            <a:ext cx="13640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14040" y="3679031"/>
            <a:ext cx="158702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0881" y="4006304"/>
            <a:ext cx="2224162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4929" y="4085481"/>
            <a:ext cx="13640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14040" y="4085481"/>
            <a:ext cx="1587029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37136" y="1969294"/>
            <a:ext cx="5615434" cy="2448223"/>
          </a:xfrm>
          <a:prstGeom prst="roundRect">
            <a:avLst>
              <a:gd name="adj" fmla="val 76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041898" y="1974056"/>
            <a:ext cx="5605909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165946" y="2053233"/>
            <a:ext cx="58772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06379" y="2053233"/>
            <a:ext cx="45174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41898" y="2380506"/>
            <a:ext cx="5605909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165946" y="2459682"/>
            <a:ext cx="58772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06379" y="2459682"/>
            <a:ext cx="45174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AI's guess based on learned patterns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041898" y="2786955"/>
            <a:ext cx="5605909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165946" y="2866132"/>
            <a:ext cx="58772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06379" y="2866132"/>
            <a:ext cx="45174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the system does with a prediction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041898" y="3193405"/>
            <a:ext cx="5605909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165946" y="3272582"/>
            <a:ext cx="58772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006379" y="3272582"/>
            <a:ext cx="45174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combination of features that repeats across examples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041898" y="3599855"/>
            <a:ext cx="5605909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165946" y="3679031"/>
            <a:ext cx="58772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006379" y="3679031"/>
            <a:ext cx="45174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smallest unit of a digital image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41898" y="4006304"/>
            <a:ext cx="5605909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165946" y="4085481"/>
            <a:ext cx="58772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006379" y="4085481"/>
            <a:ext cx="45174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important clue extracted from pixels (edge, colour, shape)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32433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Homework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69541"/>
            <a:ext cx="243840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Part 2: Identify the CV Stage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1988121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each scenario, write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See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or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96119" y="2375743"/>
            <a:ext cx="8151763" cy="1635323"/>
          </a:xfrm>
          <a:prstGeom prst="roundRect">
            <a:avLst>
              <a:gd name="adj" fmla="val 113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0881" y="2380506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4929" y="2459682"/>
            <a:ext cx="63049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Scenario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82594" y="2459682"/>
            <a:ext cx="13365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0881" y="2786955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4929" y="2866132"/>
            <a:ext cx="63049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camera captures a photo of a red apple.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82594" y="2866132"/>
            <a:ext cx="13365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0881" y="3193405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4929" y="3272582"/>
            <a:ext cx="63049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 detects a round shape and red colour, then predicts "apple".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82594" y="3272582"/>
            <a:ext cx="13365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0881" y="3599855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4929" y="3679031"/>
            <a:ext cx="630495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 displays the label "apple" on the screen.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82594" y="3679031"/>
            <a:ext cx="13365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70161"/>
            <a:ext cx="225928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Part 3: Challenge Spotting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496119" y="1650727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 the sentence and identify which CV challenge it shows: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Lighting, Pose, Occlusion, Bias, Scale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038350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 self‑driving car fails to recognise a stop sign because it is covered in snow."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________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2425973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96119" y="2810470"/>
            <a:ext cx="3017118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Part 4: Add to Your Prompt Library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96119" y="3229049"/>
            <a:ext cx="815176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a prompt like: 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"Explain how a self‑driving car uses computer vision to recognise a stop sign. Use the See → Process → Act framework."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40868"/>
            <a:ext cx="317085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Next Session Preview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377976"/>
            <a:ext cx="371847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That Hears &amp; Speaks - 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925119" y="2815084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Voice AI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D1C97E870F6D7542BABA8D0CA62BEE9C" ma:contentTypeVersion="4" ma:contentTypeDescription="新建文档。" ma:contentTypeScope="" ma:versionID="2a884758a1a96afdab5f030d69ab96dc">
  <xsd:schema xmlns:xsd="http://www.w3.org/2001/XMLSchema" xmlns:xs="http://www.w3.org/2001/XMLSchema" xmlns:p="http://schemas.microsoft.com/office/2006/metadata/properties" xmlns:ns3="e0221f9d-b794-42ac-8043-be0753f8addc" targetNamespace="http://schemas.microsoft.com/office/2006/metadata/properties" ma:root="true" ma:fieldsID="c6778a65063483b2d790b89d984a301d" ns3:_="">
    <xsd:import namespace="e0221f9d-b794-42ac-8043-be0753f8add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221f9d-b794-42ac-8043-be0753f8add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3040F76-D76B-402B-BA99-40E6F0442B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221f9d-b794-42ac-8043-be0753f8ad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C830FE-95D1-4CB4-BFB5-E13C60F72C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86E8132-7970-42A1-B035-36130ED61208}">
  <ds:schemaRefs>
    <ds:schemaRef ds:uri="e0221f9d-b794-42ac-8043-be0753f8addc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2207</Words>
  <Application>Microsoft Office PowerPoint</Application>
  <PresentationFormat>On-screen Show (16:9)</PresentationFormat>
  <Paragraphs>347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Roboto Slab Light</vt:lpstr>
      <vt:lpstr>Roboto Slab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sneha arya</dc:creator>
  <cp:lastModifiedBy>Office</cp:lastModifiedBy>
  <cp:revision>3</cp:revision>
  <dcterms:created xsi:type="dcterms:W3CDTF">2026-05-11T08:36:39Z</dcterms:created>
  <dcterms:modified xsi:type="dcterms:W3CDTF">2026-05-11T09:28:03Z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0x010100D1C97E870F6D7542BABA8D0CA62BEE9C</vt:lpwstr>
  </property>
</Properties>
</file>