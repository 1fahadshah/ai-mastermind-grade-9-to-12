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83"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9144000" cy="5143500" type="screen16x9"/>
  <p:notesSz cx="5143500" cy="9144000"/>
  <p:embeddedFontLst>
    <p:embeddedFont>
      <p:font typeface="Roboto" panose="02000000000000000000" pitchFamily="2" charset="0"/>
      <p:regular r:id="rId29"/>
      <p:bold r:id="rId30"/>
      <p:italic r:id="rId31"/>
    </p:embeddedFont>
    <p:embeddedFont>
      <p:font typeface="Roboto Slab" pitchFamily="2" charset="0"/>
      <p:regular r:id="rId32"/>
      <p:bold r:id="rId33"/>
    </p:embeddedFont>
    <p:embeddedFont>
      <p:font typeface="Roboto Slab Light" pitchFamily="2"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82" d="100"/>
          <a:sy n="82" d="100"/>
        </p:scale>
        <p:origin x="1474" y="5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427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5.xml"/><Relationship Id="rId1" Type="http://schemas.openxmlformats.org/officeDocument/2006/relationships/slideLayout" Target="../slideLayouts/slideLayout27.xml"/><Relationship Id="rId4" Type="http://schemas.openxmlformats.org/officeDocument/2006/relationships/image" Target="../media/image23.sv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990427"/>
            <a:ext cx="4722763" cy="1162645"/>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Session 17:</a:t>
            </a:r>
            <a:endParaRPr lang="en-US" sz="2400" dirty="0"/>
          </a:p>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AI That Combines Everything - Multimodal AI</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370037"/>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Objectives</a:t>
            </a:r>
            <a:endParaRPr lang="en-US" sz="2400" dirty="0"/>
          </a:p>
        </p:txBody>
      </p:sp>
      <p:sp>
        <p:nvSpPr>
          <p:cNvPr id="3" name="Text 1"/>
          <p:cNvSpPr/>
          <p:nvPr/>
        </p:nvSpPr>
        <p:spPr>
          <a:xfrm>
            <a:off x="496119" y="2005608"/>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By the end of this session, you will be able to:</a:t>
            </a:r>
            <a:endParaRPr lang="en-US" sz="1200" dirty="0"/>
          </a:p>
        </p:txBody>
      </p:sp>
      <p:sp>
        <p:nvSpPr>
          <p:cNvPr id="4" name="Text 2"/>
          <p:cNvSpPr/>
          <p:nvPr/>
        </p:nvSpPr>
        <p:spPr>
          <a:xfrm>
            <a:off x="496119" y="2393231"/>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01</a:t>
            </a:r>
            <a:endParaRPr lang="en-US" sz="950" dirty="0"/>
          </a:p>
        </p:txBody>
      </p:sp>
      <p:pic>
        <p:nvPicPr>
          <p:cNvPr id="5" name="Image 0" descr="preencoded.png"/>
          <p:cNvPicPr>
            <a:picLocks noChangeAspect="1"/>
          </p:cNvPicPr>
          <p:nvPr/>
        </p:nvPicPr>
        <p:blipFill>
          <a:blip r:embed="rId3"/>
          <a:stretch>
            <a:fillRect/>
          </a:stretch>
        </p:blipFill>
        <p:spPr>
          <a:xfrm>
            <a:off x="496119" y="2589684"/>
            <a:ext cx="2634555" cy="14288"/>
          </a:xfrm>
          <a:prstGeom prst="rect">
            <a:avLst/>
          </a:prstGeom>
        </p:spPr>
      </p:pic>
      <p:sp>
        <p:nvSpPr>
          <p:cNvPr id="6" name="Text 3"/>
          <p:cNvSpPr/>
          <p:nvPr/>
        </p:nvSpPr>
        <p:spPr>
          <a:xfrm>
            <a:off x="496119" y="2680246"/>
            <a:ext cx="263455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Define Multimodal AI</a:t>
            </a:r>
            <a:endParaRPr lang="en-US" sz="1200" dirty="0"/>
          </a:p>
        </p:txBody>
      </p:sp>
      <p:sp>
        <p:nvSpPr>
          <p:cNvPr id="7" name="Text 4"/>
          <p:cNvSpPr/>
          <p:nvPr/>
        </p:nvSpPr>
        <p:spPr>
          <a:xfrm>
            <a:off x="3254648" y="2393231"/>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02</a:t>
            </a:r>
            <a:endParaRPr lang="en-US" sz="950" dirty="0"/>
          </a:p>
        </p:txBody>
      </p:sp>
      <p:pic>
        <p:nvPicPr>
          <p:cNvPr id="8" name="Image 1" descr="preencoded.png"/>
          <p:cNvPicPr>
            <a:picLocks noChangeAspect="1"/>
          </p:cNvPicPr>
          <p:nvPr/>
        </p:nvPicPr>
        <p:blipFill>
          <a:blip r:embed="rId3"/>
          <a:stretch>
            <a:fillRect/>
          </a:stretch>
        </p:blipFill>
        <p:spPr>
          <a:xfrm>
            <a:off x="3254648" y="2589684"/>
            <a:ext cx="2634630" cy="14288"/>
          </a:xfrm>
          <a:prstGeom prst="rect">
            <a:avLst/>
          </a:prstGeom>
        </p:spPr>
      </p:pic>
      <p:sp>
        <p:nvSpPr>
          <p:cNvPr id="9" name="Text 5"/>
          <p:cNvSpPr/>
          <p:nvPr/>
        </p:nvSpPr>
        <p:spPr>
          <a:xfrm>
            <a:off x="3254648" y="2680246"/>
            <a:ext cx="263463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Apply Sense → Think → Act</a:t>
            </a:r>
            <a:endParaRPr lang="en-US" sz="1200" dirty="0"/>
          </a:p>
        </p:txBody>
      </p:sp>
      <p:sp>
        <p:nvSpPr>
          <p:cNvPr id="10" name="Text 6"/>
          <p:cNvSpPr/>
          <p:nvPr/>
        </p:nvSpPr>
        <p:spPr>
          <a:xfrm>
            <a:off x="6013252" y="2393231"/>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03</a:t>
            </a:r>
            <a:endParaRPr lang="en-US" sz="950" dirty="0"/>
          </a:p>
        </p:txBody>
      </p:sp>
      <p:pic>
        <p:nvPicPr>
          <p:cNvPr id="11" name="Image 2" descr="preencoded.png"/>
          <p:cNvPicPr>
            <a:picLocks noChangeAspect="1"/>
          </p:cNvPicPr>
          <p:nvPr/>
        </p:nvPicPr>
        <p:blipFill>
          <a:blip r:embed="rId3"/>
          <a:stretch>
            <a:fillRect/>
          </a:stretch>
        </p:blipFill>
        <p:spPr>
          <a:xfrm>
            <a:off x="6013252" y="2589684"/>
            <a:ext cx="2634555" cy="14288"/>
          </a:xfrm>
          <a:prstGeom prst="rect">
            <a:avLst/>
          </a:prstGeom>
        </p:spPr>
      </p:pic>
      <p:sp>
        <p:nvSpPr>
          <p:cNvPr id="12" name="Text 7"/>
          <p:cNvSpPr/>
          <p:nvPr/>
        </p:nvSpPr>
        <p:spPr>
          <a:xfrm>
            <a:off x="6013252" y="2680246"/>
            <a:ext cx="263455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Describe Multimodal Processing</a:t>
            </a:r>
            <a:endParaRPr lang="en-US" sz="1200" dirty="0"/>
          </a:p>
        </p:txBody>
      </p:sp>
      <p:sp>
        <p:nvSpPr>
          <p:cNvPr id="13" name="Text 8"/>
          <p:cNvSpPr/>
          <p:nvPr/>
        </p:nvSpPr>
        <p:spPr>
          <a:xfrm>
            <a:off x="496119" y="3145334"/>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04</a:t>
            </a:r>
            <a:endParaRPr lang="en-US" sz="950" dirty="0"/>
          </a:p>
        </p:txBody>
      </p:sp>
      <p:pic>
        <p:nvPicPr>
          <p:cNvPr id="14" name="Image 3" descr="preencoded.png"/>
          <p:cNvPicPr>
            <a:picLocks noChangeAspect="1"/>
          </p:cNvPicPr>
          <p:nvPr/>
        </p:nvPicPr>
        <p:blipFill>
          <a:blip r:embed="rId4"/>
          <a:stretch>
            <a:fillRect/>
          </a:stretch>
        </p:blipFill>
        <p:spPr>
          <a:xfrm>
            <a:off x="496119" y="3329360"/>
            <a:ext cx="4013820" cy="14288"/>
          </a:xfrm>
          <a:prstGeom prst="rect">
            <a:avLst/>
          </a:prstGeom>
        </p:spPr>
      </p:pic>
      <p:sp>
        <p:nvSpPr>
          <p:cNvPr id="15" name="Text 9"/>
          <p:cNvSpPr/>
          <p:nvPr/>
        </p:nvSpPr>
        <p:spPr>
          <a:xfrm>
            <a:off x="496119" y="3432349"/>
            <a:ext cx="40138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Identify Applications &amp; Challenges</a:t>
            </a:r>
            <a:endParaRPr lang="en-US" sz="1200" dirty="0"/>
          </a:p>
        </p:txBody>
      </p:sp>
      <p:sp>
        <p:nvSpPr>
          <p:cNvPr id="16" name="Text 10"/>
          <p:cNvSpPr/>
          <p:nvPr/>
        </p:nvSpPr>
        <p:spPr>
          <a:xfrm>
            <a:off x="4633913" y="3145334"/>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05</a:t>
            </a:r>
            <a:endParaRPr lang="en-US" sz="950" dirty="0"/>
          </a:p>
        </p:txBody>
      </p:sp>
      <p:pic>
        <p:nvPicPr>
          <p:cNvPr id="17" name="Image 4" descr="preencoded.png"/>
          <p:cNvPicPr>
            <a:picLocks noChangeAspect="1"/>
          </p:cNvPicPr>
          <p:nvPr/>
        </p:nvPicPr>
        <p:blipFill>
          <a:blip r:embed="rId4"/>
          <a:stretch>
            <a:fillRect/>
          </a:stretch>
        </p:blipFill>
        <p:spPr>
          <a:xfrm>
            <a:off x="4633913" y="3329360"/>
            <a:ext cx="4013895" cy="14288"/>
          </a:xfrm>
          <a:prstGeom prst="rect">
            <a:avLst/>
          </a:prstGeom>
        </p:spPr>
      </p:pic>
      <p:sp>
        <p:nvSpPr>
          <p:cNvPr id="18" name="Text 11"/>
          <p:cNvSpPr/>
          <p:nvPr/>
        </p:nvSpPr>
        <p:spPr>
          <a:xfrm>
            <a:off x="4633913" y="3432349"/>
            <a:ext cx="401389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Create a Multimodal Output</a:t>
            </a:r>
            <a:endParaRPr lang="en-US" sz="1200" dirty="0"/>
          </a:p>
        </p:txBody>
      </p:sp>
      <p:cxnSp>
        <p:nvCxnSpPr>
          <p:cNvPr id="20" name="Straight Connector 19">
            <a:extLst>
              <a:ext uri="{FF2B5EF4-FFF2-40B4-BE49-F238E27FC236}">
                <a16:creationId xmlns:a16="http://schemas.microsoft.com/office/drawing/2014/main" id="{DEC6EDDC-A966-168F-F641-EAECC64EA85F}"/>
              </a:ext>
            </a:extLst>
          </p:cNvPr>
          <p:cNvCxnSpPr>
            <a:cxnSpLocks/>
            <a:stCxn id="5" idx="1"/>
            <a:endCxn id="5" idx="3"/>
          </p:cNvCxnSpPr>
          <p:nvPr/>
        </p:nvCxnSpPr>
        <p:spPr>
          <a:xfrm>
            <a:off x="496119" y="2596828"/>
            <a:ext cx="26345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5D71C1-9349-A30D-2481-0992B2DBAEF1}"/>
              </a:ext>
            </a:extLst>
          </p:cNvPr>
          <p:cNvCxnSpPr>
            <a:cxnSpLocks/>
          </p:cNvCxnSpPr>
          <p:nvPr/>
        </p:nvCxnSpPr>
        <p:spPr>
          <a:xfrm>
            <a:off x="3229944" y="2596718"/>
            <a:ext cx="26345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0AD02DE-6D2A-8408-38E5-A4286E848926}"/>
              </a:ext>
            </a:extLst>
          </p:cNvPr>
          <p:cNvCxnSpPr>
            <a:cxnSpLocks/>
          </p:cNvCxnSpPr>
          <p:nvPr/>
        </p:nvCxnSpPr>
        <p:spPr>
          <a:xfrm>
            <a:off x="5984867" y="2596938"/>
            <a:ext cx="26345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A8C68FF-3692-39AB-92FE-95F5D050F635}"/>
              </a:ext>
            </a:extLst>
          </p:cNvPr>
          <p:cNvCxnSpPr>
            <a:cxnSpLocks/>
            <a:stCxn id="17" idx="1"/>
            <a:endCxn id="17" idx="3"/>
          </p:cNvCxnSpPr>
          <p:nvPr/>
        </p:nvCxnSpPr>
        <p:spPr>
          <a:xfrm>
            <a:off x="4633913" y="3336504"/>
            <a:ext cx="401389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54AF049-1D72-D2F2-3E96-52493EF5F0BE}"/>
              </a:ext>
            </a:extLst>
          </p:cNvPr>
          <p:cNvCxnSpPr>
            <a:cxnSpLocks/>
          </p:cNvCxnSpPr>
          <p:nvPr/>
        </p:nvCxnSpPr>
        <p:spPr>
          <a:xfrm>
            <a:off x="483883" y="3336614"/>
            <a:ext cx="401389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584225"/>
            <a:ext cx="377859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Recap: Sessions 14, 15 &amp; 16</a:t>
            </a:r>
            <a:endParaRPr lang="en-US" sz="2400" dirty="0"/>
          </a:p>
        </p:txBody>
      </p:sp>
      <p:sp>
        <p:nvSpPr>
          <p:cNvPr id="3" name="Text 1"/>
          <p:cNvSpPr/>
          <p:nvPr/>
        </p:nvSpPr>
        <p:spPr>
          <a:xfrm>
            <a:off x="496119" y="1219795"/>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Let's revisit the perception frameworks you've already mastered.</a:t>
            </a:r>
            <a:endParaRPr lang="en-US" sz="1200" dirty="0"/>
          </a:p>
        </p:txBody>
      </p:sp>
      <p:sp>
        <p:nvSpPr>
          <p:cNvPr id="4" name="Shape 2"/>
          <p:cNvSpPr/>
          <p:nvPr/>
        </p:nvSpPr>
        <p:spPr>
          <a:xfrm>
            <a:off x="496119" y="1607418"/>
            <a:ext cx="8151763" cy="1649611"/>
          </a:xfrm>
          <a:prstGeom prst="roundRect">
            <a:avLst>
              <a:gd name="adj" fmla="val 1128"/>
            </a:avLst>
          </a:prstGeom>
          <a:noFill/>
          <a:ln w="4763">
            <a:solidFill>
              <a:srgbClr val="000000">
                <a:alpha val="8000"/>
              </a:srgbClr>
            </a:solidFill>
            <a:prstDash val="solid"/>
          </a:ln>
        </p:spPr>
        <p:txBody>
          <a:bodyPr/>
          <a:lstStyle/>
          <a:p>
            <a:endParaRPr lang="en-IN"/>
          </a:p>
        </p:txBody>
      </p:sp>
      <p:sp>
        <p:nvSpPr>
          <p:cNvPr id="5" name="Text 3"/>
          <p:cNvSpPr/>
          <p:nvPr/>
        </p:nvSpPr>
        <p:spPr>
          <a:xfrm>
            <a:off x="624929" y="1691357"/>
            <a:ext cx="217437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Domain</a:t>
            </a:r>
            <a:endParaRPr lang="en-US" sz="1200" dirty="0"/>
          </a:p>
        </p:txBody>
      </p:sp>
      <p:sp>
        <p:nvSpPr>
          <p:cNvPr id="6" name="Text 4"/>
          <p:cNvSpPr/>
          <p:nvPr/>
        </p:nvSpPr>
        <p:spPr>
          <a:xfrm>
            <a:off x="3052018" y="1691357"/>
            <a:ext cx="255798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Framework</a:t>
            </a:r>
            <a:endParaRPr lang="en-US" sz="1200" dirty="0"/>
          </a:p>
        </p:txBody>
      </p:sp>
      <p:sp>
        <p:nvSpPr>
          <p:cNvPr id="7" name="Text 5"/>
          <p:cNvSpPr/>
          <p:nvPr/>
        </p:nvSpPr>
        <p:spPr>
          <a:xfrm>
            <a:off x="5862712" y="1691357"/>
            <a:ext cx="265643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Does</a:t>
            </a:r>
            <a:endParaRPr lang="en-US" sz="1200" dirty="0"/>
          </a:p>
        </p:txBody>
      </p:sp>
      <p:sp>
        <p:nvSpPr>
          <p:cNvPr id="8" name="Text 6"/>
          <p:cNvSpPr/>
          <p:nvPr/>
        </p:nvSpPr>
        <p:spPr>
          <a:xfrm>
            <a:off x="624929" y="2102569"/>
            <a:ext cx="217437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NLP</a:t>
            </a:r>
            <a:r>
              <a:rPr lang="en-US" sz="1200" dirty="0">
                <a:solidFill>
                  <a:srgbClr val="15213F"/>
                </a:solidFill>
                <a:latin typeface="Roboto" pitchFamily="34" charset="0"/>
                <a:ea typeface="Roboto" pitchFamily="34" charset="-122"/>
                <a:cs typeface="Roboto" pitchFamily="34" charset="-120"/>
              </a:rPr>
              <a:t> (Session 14)</a:t>
            </a:r>
            <a:endParaRPr lang="en-US" sz="1200" dirty="0"/>
          </a:p>
        </p:txBody>
      </p:sp>
      <p:sp>
        <p:nvSpPr>
          <p:cNvPr id="9" name="Text 7"/>
          <p:cNvSpPr/>
          <p:nvPr/>
        </p:nvSpPr>
        <p:spPr>
          <a:xfrm>
            <a:off x="3052018" y="2102569"/>
            <a:ext cx="255798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Break → Understand → Generate</a:t>
            </a:r>
            <a:endParaRPr lang="en-US" sz="1200" dirty="0"/>
          </a:p>
        </p:txBody>
      </p:sp>
      <p:sp>
        <p:nvSpPr>
          <p:cNvPr id="10" name="Text 8"/>
          <p:cNvSpPr/>
          <p:nvPr/>
        </p:nvSpPr>
        <p:spPr>
          <a:xfrm>
            <a:off x="5862712" y="2102569"/>
            <a:ext cx="265643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reads and writes text.</a:t>
            </a:r>
            <a:endParaRPr lang="en-US" sz="1200" dirty="0"/>
          </a:p>
        </p:txBody>
      </p:sp>
      <p:sp>
        <p:nvSpPr>
          <p:cNvPr id="11" name="Text 9"/>
          <p:cNvSpPr/>
          <p:nvPr/>
        </p:nvSpPr>
        <p:spPr>
          <a:xfrm>
            <a:off x="624929" y="2513781"/>
            <a:ext cx="217437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Computer Vision</a:t>
            </a:r>
            <a:r>
              <a:rPr lang="en-US" sz="1200" dirty="0">
                <a:solidFill>
                  <a:srgbClr val="15213F"/>
                </a:solidFill>
                <a:latin typeface="Roboto" pitchFamily="34" charset="0"/>
                <a:ea typeface="Roboto" pitchFamily="34" charset="-122"/>
                <a:cs typeface="Roboto" pitchFamily="34" charset="-120"/>
              </a:rPr>
              <a:t> (Session 15)</a:t>
            </a:r>
            <a:endParaRPr lang="en-US" sz="1200" dirty="0"/>
          </a:p>
        </p:txBody>
      </p:sp>
      <p:sp>
        <p:nvSpPr>
          <p:cNvPr id="12" name="Text 10"/>
          <p:cNvSpPr/>
          <p:nvPr/>
        </p:nvSpPr>
        <p:spPr>
          <a:xfrm>
            <a:off x="3052018" y="2513781"/>
            <a:ext cx="255798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See → Process → Act</a:t>
            </a:r>
            <a:endParaRPr lang="en-US" sz="1200" dirty="0"/>
          </a:p>
        </p:txBody>
      </p:sp>
      <p:sp>
        <p:nvSpPr>
          <p:cNvPr id="13" name="Text 11"/>
          <p:cNvSpPr/>
          <p:nvPr/>
        </p:nvSpPr>
        <p:spPr>
          <a:xfrm>
            <a:off x="5862712" y="2513781"/>
            <a:ext cx="265643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interprets images and video.</a:t>
            </a:r>
            <a:endParaRPr lang="en-US" sz="1200" dirty="0"/>
          </a:p>
        </p:txBody>
      </p:sp>
      <p:sp>
        <p:nvSpPr>
          <p:cNvPr id="14" name="Text 12"/>
          <p:cNvSpPr/>
          <p:nvPr/>
        </p:nvSpPr>
        <p:spPr>
          <a:xfrm>
            <a:off x="624929" y="2924994"/>
            <a:ext cx="217437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Voice AI</a:t>
            </a:r>
            <a:r>
              <a:rPr lang="en-US" sz="1200" dirty="0">
                <a:solidFill>
                  <a:srgbClr val="15213F"/>
                </a:solidFill>
                <a:latin typeface="Roboto" pitchFamily="34" charset="0"/>
                <a:ea typeface="Roboto" pitchFamily="34" charset="-122"/>
                <a:cs typeface="Roboto" pitchFamily="34" charset="-120"/>
              </a:rPr>
              <a:t> (Session 16)</a:t>
            </a:r>
            <a:endParaRPr lang="en-US" sz="1200" dirty="0"/>
          </a:p>
        </p:txBody>
      </p:sp>
      <p:sp>
        <p:nvSpPr>
          <p:cNvPr id="15" name="Text 13"/>
          <p:cNvSpPr/>
          <p:nvPr/>
        </p:nvSpPr>
        <p:spPr>
          <a:xfrm>
            <a:off x="3052018" y="2924994"/>
            <a:ext cx="255798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Hear → Process → Speak</a:t>
            </a:r>
            <a:endParaRPr lang="en-US" sz="1200" dirty="0"/>
          </a:p>
        </p:txBody>
      </p:sp>
      <p:sp>
        <p:nvSpPr>
          <p:cNvPr id="16" name="Text 14"/>
          <p:cNvSpPr/>
          <p:nvPr/>
        </p:nvSpPr>
        <p:spPr>
          <a:xfrm>
            <a:off x="5862712" y="2924994"/>
            <a:ext cx="265643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listens and speaks.</a:t>
            </a:r>
            <a:endParaRPr lang="en-US" sz="1200" dirty="0"/>
          </a:p>
        </p:txBody>
      </p:sp>
      <p:sp>
        <p:nvSpPr>
          <p:cNvPr id="17" name="Text 15"/>
          <p:cNvSpPr/>
          <p:nvPr/>
        </p:nvSpPr>
        <p:spPr>
          <a:xfrm>
            <a:off x="496119" y="3396555"/>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18" name="Shape 16"/>
          <p:cNvSpPr/>
          <p:nvPr/>
        </p:nvSpPr>
        <p:spPr>
          <a:xfrm>
            <a:off x="496119" y="3734544"/>
            <a:ext cx="8151763" cy="824731"/>
          </a:xfrm>
          <a:prstGeom prst="roundRect">
            <a:avLst>
              <a:gd name="adj" fmla="val 2256"/>
            </a:avLst>
          </a:prstGeom>
          <a:solidFill>
            <a:srgbClr val="F2F2F2"/>
          </a:solidFill>
          <a:ln/>
        </p:spPr>
        <p:txBody>
          <a:bodyPr/>
          <a:lstStyle/>
          <a:p>
            <a:endParaRPr lang="en-IN"/>
          </a:p>
        </p:txBody>
      </p:sp>
      <p:pic>
        <p:nvPicPr>
          <p:cNvPr id="19" name="Image 0" descr="preencoded.png"/>
          <p:cNvPicPr>
            <a:picLocks noChangeAspect="1"/>
          </p:cNvPicPr>
          <p:nvPr/>
        </p:nvPicPr>
        <p:blipFill>
          <a:blip r:embed="rId3"/>
          <a:stretch>
            <a:fillRect/>
          </a:stretch>
        </p:blipFill>
        <p:spPr>
          <a:xfrm>
            <a:off x="620092" y="3930030"/>
            <a:ext cx="193774" cy="155004"/>
          </a:xfrm>
          <a:prstGeom prst="rect">
            <a:avLst/>
          </a:prstGeom>
        </p:spPr>
      </p:pic>
      <p:sp>
        <p:nvSpPr>
          <p:cNvPr id="20" name="Text 17"/>
          <p:cNvSpPr/>
          <p:nvPr/>
        </p:nvSpPr>
        <p:spPr>
          <a:xfrm>
            <a:off x="937840" y="3889474"/>
            <a:ext cx="7586067" cy="496193"/>
          </a:xfrm>
          <a:prstGeom prst="rect">
            <a:avLst/>
          </a:prstGeom>
          <a:noFill/>
          <a:ln/>
        </p:spPr>
        <p:txBody>
          <a:bodyPr wrap="squar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Key Insight:</a:t>
            </a:r>
            <a:r>
              <a:rPr lang="en-US" sz="1200" dirty="0">
                <a:solidFill>
                  <a:srgbClr val="000000"/>
                </a:solidFill>
                <a:latin typeface="Roboto" pitchFamily="34" charset="0"/>
                <a:ea typeface="Roboto" pitchFamily="34" charset="-122"/>
                <a:cs typeface="Roboto" pitchFamily="34" charset="-120"/>
              </a:rPr>
              <a:t> Each of these frameworks is a specialized version of the same foundational idea introduced in Session 1: </a:t>
            </a:r>
            <a:r>
              <a:rPr lang="en-US" sz="1200" b="1" dirty="0">
                <a:solidFill>
                  <a:srgbClr val="000000"/>
                </a:solidFill>
                <a:latin typeface="Roboto" pitchFamily="34" charset="0"/>
                <a:ea typeface="Roboto" pitchFamily="34" charset="-122"/>
                <a:cs typeface="Roboto" pitchFamily="34" charset="-120"/>
              </a:rPr>
              <a:t>Sense → Think → Act</a:t>
            </a:r>
            <a:r>
              <a:rPr lang="en-US" sz="1200" dirty="0">
                <a:solidFill>
                  <a:srgbClr val="000000"/>
                </a:solidFill>
                <a:latin typeface="Roboto" pitchFamily="34" charset="0"/>
                <a:ea typeface="Roboto" pitchFamily="34" charset="-122"/>
                <a:cs typeface="Roboto" pitchFamily="34" charset="-120"/>
              </a:rPr>
              <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2036862"/>
            <a:ext cx="349210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What is Multimodal AI?</a:t>
            </a:r>
            <a:endParaRPr lang="en-US" sz="2400" dirty="0"/>
          </a:p>
        </p:txBody>
      </p:sp>
      <p:sp>
        <p:nvSpPr>
          <p:cNvPr id="4" name="Text 1"/>
          <p:cNvSpPr/>
          <p:nvPr/>
        </p:nvSpPr>
        <p:spPr>
          <a:xfrm>
            <a:off x="3925119" y="2610445"/>
            <a:ext cx="4722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Multimodal AI</a:t>
            </a:r>
            <a:r>
              <a:rPr lang="en-US" sz="1200" dirty="0">
                <a:solidFill>
                  <a:srgbClr val="15213F"/>
                </a:solidFill>
                <a:latin typeface="Roboto" pitchFamily="34" charset="0"/>
                <a:ea typeface="Roboto" pitchFamily="34" charset="-122"/>
                <a:cs typeface="Roboto" pitchFamily="34" charset="-120"/>
              </a:rPr>
              <a:t> is artificial intelligence that processes and reasons about multiple types of data at once - text, images, audio, video, etc.</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1143223"/>
            <a:ext cx="415967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Unimodal vs. Multimodal AI</a:t>
            </a:r>
            <a:endParaRPr lang="en-US" sz="2400" dirty="0"/>
          </a:p>
        </p:txBody>
      </p:sp>
      <p:sp>
        <p:nvSpPr>
          <p:cNvPr id="3" name="Text 1"/>
          <p:cNvSpPr/>
          <p:nvPr/>
        </p:nvSpPr>
        <p:spPr>
          <a:xfrm>
            <a:off x="496119" y="1778794"/>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4" name="Shape 2"/>
          <p:cNvSpPr/>
          <p:nvPr/>
        </p:nvSpPr>
        <p:spPr>
          <a:xfrm>
            <a:off x="496119" y="2116782"/>
            <a:ext cx="8151763" cy="1883420"/>
          </a:xfrm>
          <a:prstGeom prst="roundRect">
            <a:avLst>
              <a:gd name="adj" fmla="val 988"/>
            </a:avLst>
          </a:prstGeom>
          <a:noFill/>
          <a:ln w="4763">
            <a:solidFill>
              <a:srgbClr val="000000">
                <a:alpha val="8000"/>
              </a:srgbClr>
            </a:solidFill>
            <a:prstDash val="solid"/>
          </a:ln>
        </p:spPr>
        <p:txBody>
          <a:bodyPr/>
          <a:lstStyle/>
          <a:p>
            <a:endParaRPr lang="en-IN"/>
          </a:p>
        </p:txBody>
      </p:sp>
      <p:grpSp>
        <p:nvGrpSpPr>
          <p:cNvPr id="21" name="Group 20">
            <a:extLst>
              <a:ext uri="{FF2B5EF4-FFF2-40B4-BE49-F238E27FC236}">
                <a16:creationId xmlns:a16="http://schemas.microsoft.com/office/drawing/2014/main" id="{FD1FD3EA-74AE-6ACD-EE3B-FCE0B48271EE}"/>
              </a:ext>
            </a:extLst>
          </p:cNvPr>
          <p:cNvGrpSpPr/>
          <p:nvPr/>
        </p:nvGrpSpPr>
        <p:grpSpPr>
          <a:xfrm>
            <a:off x="500881" y="2121545"/>
            <a:ext cx="8142238" cy="654546"/>
            <a:chOff x="500881" y="2121545"/>
            <a:chExt cx="8142238" cy="654546"/>
          </a:xfrm>
        </p:grpSpPr>
        <p:sp>
          <p:nvSpPr>
            <p:cNvPr id="5" name="Shape 3"/>
            <p:cNvSpPr/>
            <p:nvPr/>
          </p:nvSpPr>
          <p:spPr>
            <a:xfrm>
              <a:off x="500881" y="2121545"/>
              <a:ext cx="8142238" cy="654546"/>
            </a:xfrm>
            <a:prstGeom prst="rect">
              <a:avLst/>
            </a:prstGeom>
            <a:solidFill>
              <a:srgbClr val="FFFFFF">
                <a:alpha val="4000"/>
              </a:srgbClr>
            </a:solidFill>
            <a:ln/>
          </p:spPr>
          <p:txBody>
            <a:bodyPr/>
            <a:lstStyle/>
            <a:p>
              <a:endParaRPr lang="en-IN"/>
            </a:p>
          </p:txBody>
        </p:sp>
        <p:sp>
          <p:nvSpPr>
            <p:cNvPr id="6" name="Text 4"/>
            <p:cNvSpPr/>
            <p:nvPr/>
          </p:nvSpPr>
          <p:spPr>
            <a:xfrm>
              <a:off x="624929" y="2200721"/>
              <a:ext cx="107111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Define</a:t>
              </a:r>
              <a:endParaRPr lang="en-US" sz="1200" dirty="0"/>
            </a:p>
          </p:txBody>
        </p:sp>
      </p:grpSp>
      <p:sp>
        <p:nvSpPr>
          <p:cNvPr id="7" name="Text 5"/>
          <p:cNvSpPr/>
          <p:nvPr/>
        </p:nvSpPr>
        <p:spPr>
          <a:xfrm>
            <a:off x="1948755" y="2200721"/>
            <a:ext cx="282014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model with one sense that processes a single input type</a:t>
            </a:r>
            <a:endParaRPr lang="en-US" sz="1200" dirty="0"/>
          </a:p>
        </p:txBody>
      </p:sp>
      <p:sp>
        <p:nvSpPr>
          <p:cNvPr id="8" name="Text 6"/>
          <p:cNvSpPr/>
          <p:nvPr/>
        </p:nvSpPr>
        <p:spPr>
          <a:xfrm>
            <a:off x="5021610" y="2200721"/>
            <a:ext cx="3497535"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model with multiple senses that processes several input types together</a:t>
            </a:r>
            <a:endParaRPr lang="en-US" sz="1200" dirty="0"/>
          </a:p>
        </p:txBody>
      </p:sp>
      <p:grpSp>
        <p:nvGrpSpPr>
          <p:cNvPr id="22" name="Group 21">
            <a:extLst>
              <a:ext uri="{FF2B5EF4-FFF2-40B4-BE49-F238E27FC236}">
                <a16:creationId xmlns:a16="http://schemas.microsoft.com/office/drawing/2014/main" id="{F1ACA12C-274F-60D1-4C7A-648D25CEDE55}"/>
              </a:ext>
            </a:extLst>
          </p:cNvPr>
          <p:cNvGrpSpPr/>
          <p:nvPr/>
        </p:nvGrpSpPr>
        <p:grpSpPr>
          <a:xfrm>
            <a:off x="500881" y="2776091"/>
            <a:ext cx="8142238" cy="406450"/>
            <a:chOff x="500881" y="2776091"/>
            <a:chExt cx="8142238" cy="406450"/>
          </a:xfrm>
        </p:grpSpPr>
        <p:sp>
          <p:nvSpPr>
            <p:cNvPr id="9" name="Shape 7"/>
            <p:cNvSpPr/>
            <p:nvPr/>
          </p:nvSpPr>
          <p:spPr>
            <a:xfrm>
              <a:off x="500881" y="2776091"/>
              <a:ext cx="8142238" cy="406450"/>
            </a:xfrm>
            <a:prstGeom prst="rect">
              <a:avLst/>
            </a:prstGeom>
            <a:solidFill>
              <a:srgbClr val="000000">
                <a:alpha val="4000"/>
              </a:srgbClr>
            </a:solidFill>
            <a:ln/>
          </p:spPr>
          <p:txBody>
            <a:bodyPr/>
            <a:lstStyle/>
            <a:p>
              <a:endParaRPr lang="en-IN"/>
            </a:p>
          </p:txBody>
        </p:sp>
        <p:sp>
          <p:nvSpPr>
            <p:cNvPr id="10" name="Text 8"/>
            <p:cNvSpPr/>
            <p:nvPr/>
          </p:nvSpPr>
          <p:spPr>
            <a:xfrm>
              <a:off x="624929" y="2855268"/>
              <a:ext cx="107111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Data It Uses</a:t>
              </a:r>
              <a:endParaRPr lang="en-US" sz="1200" dirty="0"/>
            </a:p>
          </p:txBody>
        </p:sp>
      </p:grpSp>
      <p:sp>
        <p:nvSpPr>
          <p:cNvPr id="11" name="Text 9"/>
          <p:cNvSpPr/>
          <p:nvPr/>
        </p:nvSpPr>
        <p:spPr>
          <a:xfrm>
            <a:off x="1948755" y="2855268"/>
            <a:ext cx="282014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One type (e.g., only text)</a:t>
            </a:r>
            <a:endParaRPr lang="en-US" sz="1200" dirty="0"/>
          </a:p>
        </p:txBody>
      </p:sp>
      <p:sp>
        <p:nvSpPr>
          <p:cNvPr id="12" name="Text 10"/>
          <p:cNvSpPr/>
          <p:nvPr/>
        </p:nvSpPr>
        <p:spPr>
          <a:xfrm>
            <a:off x="5021610" y="2855268"/>
            <a:ext cx="349753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Multiple types (text + image + audio)</a:t>
            </a:r>
            <a:endParaRPr lang="en-US" sz="1200" dirty="0"/>
          </a:p>
        </p:txBody>
      </p:sp>
      <p:grpSp>
        <p:nvGrpSpPr>
          <p:cNvPr id="23" name="Group 22">
            <a:extLst>
              <a:ext uri="{FF2B5EF4-FFF2-40B4-BE49-F238E27FC236}">
                <a16:creationId xmlns:a16="http://schemas.microsoft.com/office/drawing/2014/main" id="{76A1E06E-6B71-1B85-B8FE-49803466B643}"/>
              </a:ext>
            </a:extLst>
          </p:cNvPr>
          <p:cNvGrpSpPr/>
          <p:nvPr/>
        </p:nvGrpSpPr>
        <p:grpSpPr>
          <a:xfrm>
            <a:off x="500881" y="3182541"/>
            <a:ext cx="8142238" cy="406450"/>
            <a:chOff x="500881" y="3182541"/>
            <a:chExt cx="8142238" cy="406450"/>
          </a:xfrm>
        </p:grpSpPr>
        <p:sp>
          <p:nvSpPr>
            <p:cNvPr id="13" name="Shape 11"/>
            <p:cNvSpPr/>
            <p:nvPr/>
          </p:nvSpPr>
          <p:spPr>
            <a:xfrm>
              <a:off x="500881" y="3182541"/>
              <a:ext cx="8142238" cy="406450"/>
            </a:xfrm>
            <a:prstGeom prst="rect">
              <a:avLst/>
            </a:prstGeom>
            <a:solidFill>
              <a:srgbClr val="FFFFFF">
                <a:alpha val="4000"/>
              </a:srgbClr>
            </a:solidFill>
            <a:ln/>
          </p:spPr>
          <p:txBody>
            <a:bodyPr/>
            <a:lstStyle/>
            <a:p>
              <a:endParaRPr lang="en-IN"/>
            </a:p>
          </p:txBody>
        </p:sp>
        <p:sp>
          <p:nvSpPr>
            <p:cNvPr id="14" name="Text 12"/>
            <p:cNvSpPr/>
            <p:nvPr/>
          </p:nvSpPr>
          <p:spPr>
            <a:xfrm>
              <a:off x="624929" y="3261717"/>
              <a:ext cx="107111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Understanding</a:t>
              </a:r>
              <a:endParaRPr lang="en-US" sz="1200" dirty="0"/>
            </a:p>
          </p:txBody>
        </p:sp>
      </p:grpSp>
      <p:sp>
        <p:nvSpPr>
          <p:cNvPr id="15" name="Text 13"/>
          <p:cNvSpPr/>
          <p:nvPr/>
        </p:nvSpPr>
        <p:spPr>
          <a:xfrm>
            <a:off x="1948755" y="3261717"/>
            <a:ext cx="282014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Limited to one perspective</a:t>
            </a:r>
            <a:endParaRPr lang="en-US" sz="1200" dirty="0"/>
          </a:p>
        </p:txBody>
      </p:sp>
      <p:sp>
        <p:nvSpPr>
          <p:cNvPr id="16" name="Text 14"/>
          <p:cNvSpPr/>
          <p:nvPr/>
        </p:nvSpPr>
        <p:spPr>
          <a:xfrm>
            <a:off x="5021610" y="3261717"/>
            <a:ext cx="349753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Fuller pattern matching</a:t>
            </a:r>
            <a:endParaRPr lang="en-US" sz="1200" dirty="0"/>
          </a:p>
        </p:txBody>
      </p:sp>
      <p:grpSp>
        <p:nvGrpSpPr>
          <p:cNvPr id="24" name="Group 23">
            <a:extLst>
              <a:ext uri="{FF2B5EF4-FFF2-40B4-BE49-F238E27FC236}">
                <a16:creationId xmlns:a16="http://schemas.microsoft.com/office/drawing/2014/main" id="{343BD30A-DD0C-03EF-3378-186D7C65B824}"/>
              </a:ext>
            </a:extLst>
          </p:cNvPr>
          <p:cNvGrpSpPr/>
          <p:nvPr/>
        </p:nvGrpSpPr>
        <p:grpSpPr>
          <a:xfrm>
            <a:off x="500881" y="3588990"/>
            <a:ext cx="8142238" cy="406450"/>
            <a:chOff x="500881" y="3588990"/>
            <a:chExt cx="8142238" cy="406450"/>
          </a:xfrm>
        </p:grpSpPr>
        <p:sp>
          <p:nvSpPr>
            <p:cNvPr id="17" name="Shape 15"/>
            <p:cNvSpPr/>
            <p:nvPr/>
          </p:nvSpPr>
          <p:spPr>
            <a:xfrm>
              <a:off x="500881" y="3588990"/>
              <a:ext cx="8142238" cy="406450"/>
            </a:xfrm>
            <a:prstGeom prst="rect">
              <a:avLst/>
            </a:prstGeom>
            <a:solidFill>
              <a:srgbClr val="000000">
                <a:alpha val="4000"/>
              </a:srgbClr>
            </a:solidFill>
            <a:ln/>
          </p:spPr>
          <p:txBody>
            <a:bodyPr/>
            <a:lstStyle/>
            <a:p>
              <a:endParaRPr lang="en-IN"/>
            </a:p>
          </p:txBody>
        </p:sp>
        <p:sp>
          <p:nvSpPr>
            <p:cNvPr id="18" name="Text 16"/>
            <p:cNvSpPr/>
            <p:nvPr/>
          </p:nvSpPr>
          <p:spPr>
            <a:xfrm>
              <a:off x="624929" y="3668167"/>
              <a:ext cx="107111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Example</a:t>
              </a:r>
              <a:endParaRPr lang="en-US" sz="1200" dirty="0"/>
            </a:p>
          </p:txBody>
        </p:sp>
      </p:grpSp>
      <p:sp>
        <p:nvSpPr>
          <p:cNvPr id="19" name="Text 17"/>
          <p:cNvSpPr/>
          <p:nvPr/>
        </p:nvSpPr>
        <p:spPr>
          <a:xfrm>
            <a:off x="1948755" y="3668167"/>
            <a:ext cx="282014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Spam filter reading emails</a:t>
            </a:r>
            <a:endParaRPr lang="en-US" sz="1200" dirty="0"/>
          </a:p>
        </p:txBody>
      </p:sp>
      <p:sp>
        <p:nvSpPr>
          <p:cNvPr id="20" name="Text 18"/>
          <p:cNvSpPr/>
          <p:nvPr/>
        </p:nvSpPr>
        <p:spPr>
          <a:xfrm>
            <a:off x="5021610" y="3668167"/>
            <a:ext cx="349753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Assistant reading a photo, caption, and voice note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1" grpId="0" animBg="1"/>
      <p:bldP spid="12" grpId="0" animBg="1"/>
      <p:bldP spid="15" grpId="0" animBg="1"/>
      <p:bldP spid="16" grpId="0" animBg="1"/>
      <p:bldP spid="19"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369391"/>
            <a:ext cx="2790974" cy="348853"/>
          </a:xfrm>
          <a:prstGeom prst="rect">
            <a:avLst/>
          </a:prstGeom>
          <a:noFill/>
          <a:ln/>
        </p:spPr>
        <p:txBody>
          <a:bodyPr wrap="none" lIns="0" tIns="0" rIns="0" bIns="0" rtlCol="0" anchor="t"/>
          <a:lstStyle/>
          <a:p>
            <a:pPr marL="0" indent="0" algn="l">
              <a:lnSpc>
                <a:spcPts val="2700"/>
              </a:lnSpc>
              <a:buNone/>
            </a:pPr>
            <a:r>
              <a:rPr lang="en-US" sz="2150" dirty="0">
                <a:solidFill>
                  <a:srgbClr val="3257B8"/>
                </a:solidFill>
                <a:latin typeface="Roboto Slab" pitchFamily="34" charset="0"/>
                <a:ea typeface="Roboto Slab" pitchFamily="34" charset="-122"/>
                <a:cs typeface="Roboto Slab" pitchFamily="34" charset="-120"/>
              </a:rPr>
              <a:t>Example</a:t>
            </a:r>
            <a:endParaRPr lang="en-US" sz="2150" dirty="0"/>
          </a:p>
        </p:txBody>
      </p:sp>
      <p:sp>
        <p:nvSpPr>
          <p:cNvPr id="4" name="Text 1"/>
          <p:cNvSpPr/>
          <p:nvPr/>
        </p:nvSpPr>
        <p:spPr>
          <a:xfrm>
            <a:off x="3925119" y="868933"/>
            <a:ext cx="4722763"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Photo:</a:t>
            </a:r>
            <a:r>
              <a:rPr lang="en-US" sz="1050" dirty="0">
                <a:solidFill>
                  <a:srgbClr val="15213F"/>
                </a:solidFill>
                <a:latin typeface="Roboto" pitchFamily="34" charset="0"/>
                <a:ea typeface="Roboto" pitchFamily="34" charset="-122"/>
                <a:cs typeface="Roboto" pitchFamily="34" charset="-120"/>
              </a:rPr>
              <a:t> A hedgehog wearing a tiny raincoat. </a:t>
            </a:r>
            <a:r>
              <a:rPr lang="en-US" sz="1050" b="1" dirty="0">
                <a:solidFill>
                  <a:srgbClr val="15213F"/>
                </a:solidFill>
                <a:latin typeface="Roboto" pitchFamily="34" charset="0"/>
                <a:ea typeface="Roboto" pitchFamily="34" charset="-122"/>
                <a:cs typeface="Roboto" pitchFamily="34" charset="-120"/>
              </a:rPr>
              <a:t>Prompt:</a:t>
            </a:r>
            <a:r>
              <a:rPr lang="en-US" sz="1050" dirty="0">
                <a:solidFill>
                  <a:srgbClr val="15213F"/>
                </a:solidFill>
                <a:latin typeface="Roboto" pitchFamily="34" charset="0"/>
                <a:ea typeface="Roboto" pitchFamily="34" charset="-122"/>
                <a:cs typeface="Roboto" pitchFamily="34" charset="-120"/>
              </a:rPr>
              <a:t> "Write a clever caption."</a:t>
            </a:r>
            <a:endParaRPr lang="en-US" sz="1050" dirty="0"/>
          </a:p>
        </p:txBody>
      </p:sp>
      <p:grpSp>
        <p:nvGrpSpPr>
          <p:cNvPr id="18" name="Group 17">
            <a:extLst>
              <a:ext uri="{FF2B5EF4-FFF2-40B4-BE49-F238E27FC236}">
                <a16:creationId xmlns:a16="http://schemas.microsoft.com/office/drawing/2014/main" id="{793CF5BA-66CE-E0B1-4F18-5568AC981149}"/>
              </a:ext>
            </a:extLst>
          </p:cNvPr>
          <p:cNvGrpSpPr/>
          <p:nvPr/>
        </p:nvGrpSpPr>
        <p:grpSpPr>
          <a:xfrm>
            <a:off x="3925119" y="1194048"/>
            <a:ext cx="4722762" cy="707678"/>
            <a:chOff x="3925119" y="1194048"/>
            <a:chExt cx="4722762" cy="707678"/>
          </a:xfrm>
        </p:grpSpPr>
        <p:pic>
          <p:nvPicPr>
            <p:cNvPr id="5" name="Image 1" descr="preencoded.png"/>
            <p:cNvPicPr>
              <a:picLocks noChangeAspect="1"/>
            </p:cNvPicPr>
            <p:nvPr/>
          </p:nvPicPr>
          <p:blipFill>
            <a:blip r:embed="rId4"/>
            <a:stretch>
              <a:fillRect/>
            </a:stretch>
          </p:blipFill>
          <p:spPr>
            <a:xfrm>
              <a:off x="3925119" y="1194048"/>
              <a:ext cx="558180" cy="707678"/>
            </a:xfrm>
            <a:prstGeom prst="rect">
              <a:avLst/>
            </a:prstGeom>
          </p:spPr>
        </p:pic>
        <p:sp>
          <p:nvSpPr>
            <p:cNvPr id="6" name="Text 2"/>
            <p:cNvSpPr/>
            <p:nvPr/>
          </p:nvSpPr>
          <p:spPr>
            <a:xfrm>
              <a:off x="4583757" y="1305669"/>
              <a:ext cx="4064124"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Translate Image</a:t>
              </a:r>
              <a:endParaRPr lang="en-US" sz="1050" dirty="0"/>
            </a:p>
          </p:txBody>
        </p:sp>
      </p:grpSp>
      <p:sp>
        <p:nvSpPr>
          <p:cNvPr id="7" name="Text 3"/>
          <p:cNvSpPr/>
          <p:nvPr/>
        </p:nvSpPr>
        <p:spPr>
          <a:xfrm>
            <a:off x="4583757" y="1578025"/>
            <a:ext cx="4064124"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The AI translates the image into a shared number code.</a:t>
            </a:r>
            <a:endParaRPr lang="en-US" sz="1050" dirty="0"/>
          </a:p>
        </p:txBody>
      </p:sp>
      <p:grpSp>
        <p:nvGrpSpPr>
          <p:cNvPr id="19" name="Group 18">
            <a:extLst>
              <a:ext uri="{FF2B5EF4-FFF2-40B4-BE49-F238E27FC236}">
                <a16:creationId xmlns:a16="http://schemas.microsoft.com/office/drawing/2014/main" id="{3573D0F3-3045-B6D2-112B-BCBC33A8A0EB}"/>
              </a:ext>
            </a:extLst>
          </p:cNvPr>
          <p:cNvGrpSpPr/>
          <p:nvPr/>
        </p:nvGrpSpPr>
        <p:grpSpPr>
          <a:xfrm>
            <a:off x="3925119" y="1901726"/>
            <a:ext cx="4722762" cy="707678"/>
            <a:chOff x="3925119" y="1901726"/>
            <a:chExt cx="4722762" cy="707678"/>
          </a:xfrm>
        </p:grpSpPr>
        <p:pic>
          <p:nvPicPr>
            <p:cNvPr id="8" name="Image 2" descr="preencoded.png"/>
            <p:cNvPicPr>
              <a:picLocks noChangeAspect="1"/>
            </p:cNvPicPr>
            <p:nvPr/>
          </p:nvPicPr>
          <p:blipFill>
            <a:blip r:embed="rId5"/>
            <a:stretch>
              <a:fillRect/>
            </a:stretch>
          </p:blipFill>
          <p:spPr>
            <a:xfrm>
              <a:off x="3925119" y="1901726"/>
              <a:ext cx="558180" cy="707678"/>
            </a:xfrm>
            <a:prstGeom prst="rect">
              <a:avLst/>
            </a:prstGeom>
          </p:spPr>
        </p:pic>
        <p:sp>
          <p:nvSpPr>
            <p:cNvPr id="9" name="Text 4"/>
            <p:cNvSpPr/>
            <p:nvPr/>
          </p:nvSpPr>
          <p:spPr>
            <a:xfrm>
              <a:off x="4583757" y="2013347"/>
              <a:ext cx="4064124"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Translate Text</a:t>
              </a:r>
              <a:endParaRPr lang="en-US" sz="1050" dirty="0"/>
            </a:p>
          </p:txBody>
        </p:sp>
      </p:grpSp>
      <p:sp>
        <p:nvSpPr>
          <p:cNvPr id="10" name="Text 5"/>
          <p:cNvSpPr/>
          <p:nvPr/>
        </p:nvSpPr>
        <p:spPr>
          <a:xfrm>
            <a:off x="4583757" y="2285702"/>
            <a:ext cx="4064124"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The AI translates the text into the same code.</a:t>
            </a:r>
            <a:endParaRPr lang="en-US" sz="1050" dirty="0"/>
          </a:p>
        </p:txBody>
      </p:sp>
      <p:grpSp>
        <p:nvGrpSpPr>
          <p:cNvPr id="20" name="Group 19">
            <a:extLst>
              <a:ext uri="{FF2B5EF4-FFF2-40B4-BE49-F238E27FC236}">
                <a16:creationId xmlns:a16="http://schemas.microsoft.com/office/drawing/2014/main" id="{A6C00D4C-EAC3-A19E-D492-BB337E022367}"/>
              </a:ext>
            </a:extLst>
          </p:cNvPr>
          <p:cNvGrpSpPr/>
          <p:nvPr/>
        </p:nvGrpSpPr>
        <p:grpSpPr>
          <a:xfrm>
            <a:off x="3925119" y="2609404"/>
            <a:ext cx="4722762" cy="919758"/>
            <a:chOff x="3925119" y="2609404"/>
            <a:chExt cx="4722762" cy="919758"/>
          </a:xfrm>
        </p:grpSpPr>
        <p:pic>
          <p:nvPicPr>
            <p:cNvPr id="11" name="Image 3" descr="preencoded.png"/>
            <p:cNvPicPr>
              <a:picLocks noChangeAspect="1"/>
            </p:cNvPicPr>
            <p:nvPr/>
          </p:nvPicPr>
          <p:blipFill>
            <a:blip r:embed="rId6"/>
            <a:stretch>
              <a:fillRect/>
            </a:stretch>
          </p:blipFill>
          <p:spPr>
            <a:xfrm>
              <a:off x="3925119" y="2609404"/>
              <a:ext cx="558180" cy="919758"/>
            </a:xfrm>
            <a:prstGeom prst="rect">
              <a:avLst/>
            </a:prstGeom>
          </p:spPr>
        </p:pic>
        <p:sp>
          <p:nvSpPr>
            <p:cNvPr id="12" name="Text 6"/>
            <p:cNvSpPr/>
            <p:nvPr/>
          </p:nvSpPr>
          <p:spPr>
            <a:xfrm>
              <a:off x="4583757" y="2721025"/>
              <a:ext cx="4064124"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Fuse Clues</a:t>
              </a:r>
              <a:endParaRPr lang="en-US" sz="1050" dirty="0"/>
            </a:p>
          </p:txBody>
        </p:sp>
      </p:grpSp>
      <p:sp>
        <p:nvSpPr>
          <p:cNvPr id="13" name="Text 7"/>
          <p:cNvSpPr/>
          <p:nvPr/>
        </p:nvSpPr>
        <p:spPr>
          <a:xfrm>
            <a:off x="4583757" y="2993380"/>
            <a:ext cx="4064124" cy="424160"/>
          </a:xfrm>
          <a:prstGeom prst="rect">
            <a:avLst/>
          </a:prstGeom>
          <a:noFill/>
          <a:ln/>
        </p:spPr>
        <p:txBody>
          <a:bodyPr wrap="squar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Raincoat = wet weather prep. Hedgehog in human clothing = funny.</a:t>
            </a:r>
            <a:endParaRPr lang="en-US" sz="1050" dirty="0"/>
          </a:p>
        </p:txBody>
      </p:sp>
      <p:grpSp>
        <p:nvGrpSpPr>
          <p:cNvPr id="21" name="Group 20">
            <a:extLst>
              <a:ext uri="{FF2B5EF4-FFF2-40B4-BE49-F238E27FC236}">
                <a16:creationId xmlns:a16="http://schemas.microsoft.com/office/drawing/2014/main" id="{1000875D-9127-A9F4-23A3-52D2CF8E651C}"/>
              </a:ext>
            </a:extLst>
          </p:cNvPr>
          <p:cNvGrpSpPr/>
          <p:nvPr/>
        </p:nvGrpSpPr>
        <p:grpSpPr>
          <a:xfrm>
            <a:off x="3925119" y="3529161"/>
            <a:ext cx="4722762" cy="707678"/>
            <a:chOff x="3925119" y="3529161"/>
            <a:chExt cx="4722762" cy="707678"/>
          </a:xfrm>
        </p:grpSpPr>
        <p:pic>
          <p:nvPicPr>
            <p:cNvPr id="14" name="Image 4" descr="preencoded.png"/>
            <p:cNvPicPr>
              <a:picLocks noChangeAspect="1"/>
            </p:cNvPicPr>
            <p:nvPr/>
          </p:nvPicPr>
          <p:blipFill>
            <a:blip r:embed="rId7"/>
            <a:stretch>
              <a:fillRect/>
            </a:stretch>
          </p:blipFill>
          <p:spPr>
            <a:xfrm>
              <a:off x="3925119" y="3529161"/>
              <a:ext cx="558180" cy="707678"/>
            </a:xfrm>
            <a:prstGeom prst="rect">
              <a:avLst/>
            </a:prstGeom>
          </p:spPr>
        </p:pic>
        <p:sp>
          <p:nvSpPr>
            <p:cNvPr id="15" name="Text 8"/>
            <p:cNvSpPr/>
            <p:nvPr/>
          </p:nvSpPr>
          <p:spPr>
            <a:xfrm>
              <a:off x="4583757" y="3640782"/>
              <a:ext cx="4064124"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Result</a:t>
              </a:r>
              <a:endParaRPr lang="en-US" sz="1050" dirty="0"/>
            </a:p>
          </p:txBody>
        </p:sp>
      </p:grpSp>
      <p:sp>
        <p:nvSpPr>
          <p:cNvPr id="16" name="Text 9"/>
          <p:cNvSpPr/>
          <p:nvPr/>
        </p:nvSpPr>
        <p:spPr>
          <a:xfrm>
            <a:off x="4583757" y="3913138"/>
            <a:ext cx="4064124"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"Even hedgehogs check the weather forecast now."</a:t>
            </a:r>
            <a:endParaRPr lang="en-US" sz="1050" dirty="0"/>
          </a:p>
        </p:txBody>
      </p:sp>
      <p:sp>
        <p:nvSpPr>
          <p:cNvPr id="17" name="Text 10"/>
          <p:cNvSpPr/>
          <p:nvPr/>
        </p:nvSpPr>
        <p:spPr>
          <a:xfrm>
            <a:off x="3925119" y="4349874"/>
            <a:ext cx="4722763" cy="424160"/>
          </a:xfrm>
          <a:prstGeom prst="rect">
            <a:avLst/>
          </a:prstGeom>
          <a:noFill/>
          <a:ln/>
        </p:spPr>
        <p:txBody>
          <a:bodyPr wrap="squar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Combining multiple inputs is more powerful than any single-mode AI — but it's all math, not magic.</a:t>
            </a:r>
            <a:endParaRPr lang="en-US" sz="10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0" grpId="0" animBg="1"/>
      <p:bldP spid="13"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111300"/>
            <a:ext cx="399127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How Multimodal AI Works:</a:t>
            </a:r>
            <a:endParaRPr lang="en-US" sz="2400" dirty="0"/>
          </a:p>
        </p:txBody>
      </p:sp>
      <p:sp>
        <p:nvSpPr>
          <p:cNvPr id="3" name="Text 1"/>
          <p:cNvSpPr/>
          <p:nvPr/>
        </p:nvSpPr>
        <p:spPr>
          <a:xfrm>
            <a:off x="496119" y="1746870"/>
            <a:ext cx="8151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 </a:t>
            </a:r>
            <a:r>
              <a:rPr lang="en-US" sz="1200" b="1" dirty="0">
                <a:solidFill>
                  <a:srgbClr val="15213F"/>
                </a:solidFill>
                <a:latin typeface="Roboto" pitchFamily="34" charset="0"/>
                <a:ea typeface="Roboto" pitchFamily="34" charset="-122"/>
                <a:cs typeface="Roboto" pitchFamily="34" charset="-120"/>
              </a:rPr>
              <a:t>Sense → Think → Act Across Modalities</a:t>
            </a:r>
            <a:endParaRPr lang="en-US" sz="1200" dirty="0"/>
          </a:p>
        </p:txBody>
      </p:sp>
      <p:sp>
        <p:nvSpPr>
          <p:cNvPr id="4" name="Shape 2"/>
          <p:cNvSpPr/>
          <p:nvPr/>
        </p:nvSpPr>
        <p:spPr>
          <a:xfrm>
            <a:off x="496119" y="2382589"/>
            <a:ext cx="8151763" cy="1649611"/>
          </a:xfrm>
          <a:prstGeom prst="roundRect">
            <a:avLst>
              <a:gd name="adj" fmla="val 1128"/>
            </a:avLst>
          </a:prstGeom>
          <a:noFill/>
          <a:ln w="4763">
            <a:solidFill>
              <a:srgbClr val="000000">
                <a:alpha val="8000"/>
              </a:srgbClr>
            </a:solidFill>
            <a:prstDash val="solid"/>
          </a:ln>
        </p:spPr>
        <p:txBody>
          <a:bodyPr/>
          <a:lstStyle/>
          <a:p>
            <a:endParaRPr lang="en-IN"/>
          </a:p>
        </p:txBody>
      </p:sp>
      <p:sp>
        <p:nvSpPr>
          <p:cNvPr id="5" name="Text 3"/>
          <p:cNvSpPr/>
          <p:nvPr/>
        </p:nvSpPr>
        <p:spPr>
          <a:xfrm>
            <a:off x="624855" y="2466529"/>
            <a:ext cx="128855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Stage</a:t>
            </a:r>
            <a:endParaRPr lang="en-US" sz="1200" dirty="0"/>
          </a:p>
        </p:txBody>
      </p:sp>
      <p:sp>
        <p:nvSpPr>
          <p:cNvPr id="6" name="Text 4"/>
          <p:cNvSpPr/>
          <p:nvPr/>
        </p:nvSpPr>
        <p:spPr>
          <a:xfrm>
            <a:off x="2166119" y="2466529"/>
            <a:ext cx="635302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Happens in Multimodal AI</a:t>
            </a:r>
            <a:endParaRPr lang="en-US" sz="1200" dirty="0"/>
          </a:p>
        </p:txBody>
      </p:sp>
      <p:sp>
        <p:nvSpPr>
          <p:cNvPr id="7" name="Text 5"/>
          <p:cNvSpPr/>
          <p:nvPr/>
        </p:nvSpPr>
        <p:spPr>
          <a:xfrm>
            <a:off x="624855" y="2877741"/>
            <a:ext cx="1288554" cy="248096"/>
          </a:xfrm>
          <a:prstGeom prst="rect">
            <a:avLst/>
          </a:prstGeom>
          <a:noFill/>
          <a:ln/>
        </p:spPr>
        <p:txBody>
          <a:bodyPr wrap="none" lIns="0" tIns="0" rIns="0" bIns="0" rtlCol="0" anchor="t"/>
          <a:lstStyle/>
          <a:p>
            <a:pPr marL="0" indent="0" algn="l">
              <a:lnSpc>
                <a:spcPts val="1950"/>
              </a:lnSpc>
              <a:buNone/>
            </a:pPr>
            <a:r>
              <a:rPr lang="en-US" sz="1200" b="1" dirty="0">
                <a:solidFill>
                  <a:srgbClr val="3257B8"/>
                </a:solidFill>
                <a:latin typeface="Roboto" pitchFamily="34" charset="0"/>
                <a:ea typeface="Roboto" pitchFamily="34" charset="-122"/>
                <a:cs typeface="Roboto" pitchFamily="34" charset="-120"/>
              </a:rPr>
              <a:t>SENSE</a:t>
            </a:r>
            <a:endParaRPr lang="en-US" sz="1200" dirty="0"/>
          </a:p>
        </p:txBody>
      </p:sp>
      <p:sp>
        <p:nvSpPr>
          <p:cNvPr id="8" name="Text 6"/>
          <p:cNvSpPr/>
          <p:nvPr/>
        </p:nvSpPr>
        <p:spPr>
          <a:xfrm>
            <a:off x="2166119" y="2877741"/>
            <a:ext cx="635302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collects raw data from several sources at once.</a:t>
            </a:r>
            <a:endParaRPr lang="en-US" sz="1200" dirty="0"/>
          </a:p>
        </p:txBody>
      </p:sp>
      <p:sp>
        <p:nvSpPr>
          <p:cNvPr id="9" name="Text 7"/>
          <p:cNvSpPr/>
          <p:nvPr/>
        </p:nvSpPr>
        <p:spPr>
          <a:xfrm>
            <a:off x="624855" y="3288953"/>
            <a:ext cx="1288554" cy="248096"/>
          </a:xfrm>
          <a:prstGeom prst="rect">
            <a:avLst/>
          </a:prstGeom>
          <a:noFill/>
          <a:ln/>
        </p:spPr>
        <p:txBody>
          <a:bodyPr wrap="none" lIns="0" tIns="0" rIns="0" bIns="0" rtlCol="0" anchor="t"/>
          <a:lstStyle/>
          <a:p>
            <a:pPr marL="0" indent="0" algn="l">
              <a:lnSpc>
                <a:spcPts val="1950"/>
              </a:lnSpc>
              <a:buNone/>
            </a:pPr>
            <a:r>
              <a:rPr lang="en-US" sz="1200" b="1" dirty="0">
                <a:solidFill>
                  <a:srgbClr val="3257B8"/>
                </a:solidFill>
                <a:latin typeface="Roboto" pitchFamily="34" charset="0"/>
                <a:ea typeface="Roboto" pitchFamily="34" charset="-122"/>
                <a:cs typeface="Roboto" pitchFamily="34" charset="-120"/>
              </a:rPr>
              <a:t>THINK</a:t>
            </a:r>
            <a:endParaRPr lang="en-US" sz="1200" dirty="0"/>
          </a:p>
        </p:txBody>
      </p:sp>
      <p:sp>
        <p:nvSpPr>
          <p:cNvPr id="10" name="Text 8"/>
          <p:cNvSpPr/>
          <p:nvPr/>
        </p:nvSpPr>
        <p:spPr>
          <a:xfrm>
            <a:off x="2166119" y="3288953"/>
            <a:ext cx="635302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a:t>
            </a:r>
            <a:r>
              <a:rPr lang="en-US" sz="1200" b="1" dirty="0">
                <a:solidFill>
                  <a:srgbClr val="15213F"/>
                </a:solidFill>
                <a:latin typeface="Roboto" pitchFamily="34" charset="0"/>
                <a:ea typeface="Roboto" pitchFamily="34" charset="-122"/>
                <a:cs typeface="Roboto" pitchFamily="34" charset="-120"/>
              </a:rPr>
              <a:t>fuses</a:t>
            </a:r>
            <a:r>
              <a:rPr lang="en-US" sz="1200" dirty="0">
                <a:solidFill>
                  <a:srgbClr val="15213F"/>
                </a:solidFill>
                <a:latin typeface="Roboto" pitchFamily="34" charset="0"/>
                <a:ea typeface="Roboto" pitchFamily="34" charset="-122"/>
                <a:cs typeface="Roboto" pitchFamily="34" charset="-120"/>
              </a:rPr>
              <a:t> information across modalities to build a unified interpretation.</a:t>
            </a:r>
            <a:endParaRPr lang="en-US" sz="1200" dirty="0"/>
          </a:p>
        </p:txBody>
      </p:sp>
      <p:sp>
        <p:nvSpPr>
          <p:cNvPr id="11" name="Text 9"/>
          <p:cNvSpPr/>
          <p:nvPr/>
        </p:nvSpPr>
        <p:spPr>
          <a:xfrm>
            <a:off x="624855" y="3700165"/>
            <a:ext cx="1288554" cy="248096"/>
          </a:xfrm>
          <a:prstGeom prst="rect">
            <a:avLst/>
          </a:prstGeom>
          <a:noFill/>
          <a:ln/>
        </p:spPr>
        <p:txBody>
          <a:bodyPr wrap="none" lIns="0" tIns="0" rIns="0" bIns="0" rtlCol="0" anchor="t"/>
          <a:lstStyle/>
          <a:p>
            <a:pPr marL="0" indent="0" algn="l">
              <a:lnSpc>
                <a:spcPts val="1950"/>
              </a:lnSpc>
              <a:buNone/>
            </a:pPr>
            <a:r>
              <a:rPr lang="en-US" sz="1200" b="1" dirty="0">
                <a:solidFill>
                  <a:srgbClr val="3257B8"/>
                </a:solidFill>
                <a:latin typeface="Roboto" pitchFamily="34" charset="0"/>
                <a:ea typeface="Roboto" pitchFamily="34" charset="-122"/>
                <a:cs typeface="Roboto" pitchFamily="34" charset="-120"/>
              </a:rPr>
              <a:t>ACT</a:t>
            </a:r>
            <a:endParaRPr lang="en-US" sz="1200" dirty="0"/>
          </a:p>
        </p:txBody>
      </p:sp>
      <p:sp>
        <p:nvSpPr>
          <p:cNvPr id="12" name="Text 10"/>
          <p:cNvSpPr/>
          <p:nvPr/>
        </p:nvSpPr>
        <p:spPr>
          <a:xfrm>
            <a:off x="2166119" y="3700165"/>
            <a:ext cx="635302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produces an output which may itself be multimodal.</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715417"/>
            <a:ext cx="7560618"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Stage 1: SENSE - Gathering Multiple Streams of Data</a:t>
            </a:r>
            <a:endParaRPr lang="en-US" sz="2400" dirty="0"/>
          </a:p>
        </p:txBody>
      </p:sp>
      <p:sp>
        <p:nvSpPr>
          <p:cNvPr id="3" name="Text 1"/>
          <p:cNvSpPr/>
          <p:nvPr/>
        </p:nvSpPr>
        <p:spPr>
          <a:xfrm>
            <a:off x="496119" y="1350987"/>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Before AI can work with different types of information, it must first collect them. This is the </a:t>
            </a:r>
            <a:r>
              <a:rPr lang="en-US" sz="1200" b="1" dirty="0">
                <a:solidFill>
                  <a:srgbClr val="15213F"/>
                </a:solidFill>
                <a:latin typeface="Roboto" pitchFamily="34" charset="0"/>
                <a:ea typeface="Roboto" pitchFamily="34" charset="-122"/>
                <a:cs typeface="Roboto" pitchFamily="34" charset="-120"/>
              </a:rPr>
              <a:t>Sense</a:t>
            </a:r>
            <a:r>
              <a:rPr lang="en-US" sz="1200" dirty="0">
                <a:solidFill>
                  <a:srgbClr val="15213F"/>
                </a:solidFill>
                <a:latin typeface="Roboto" pitchFamily="34" charset="0"/>
                <a:ea typeface="Roboto" pitchFamily="34" charset="-122"/>
                <a:cs typeface="Roboto" pitchFamily="34" charset="-120"/>
              </a:rPr>
              <a:t> stage.</a:t>
            </a:r>
            <a:endParaRPr lang="en-US" sz="1200" dirty="0"/>
          </a:p>
        </p:txBody>
      </p:sp>
      <p:sp>
        <p:nvSpPr>
          <p:cNvPr id="5" name="Shape 3"/>
          <p:cNvSpPr/>
          <p:nvPr/>
        </p:nvSpPr>
        <p:spPr>
          <a:xfrm>
            <a:off x="500881" y="1743373"/>
            <a:ext cx="8142238" cy="406450"/>
          </a:xfrm>
          <a:prstGeom prst="rect">
            <a:avLst/>
          </a:prstGeom>
          <a:solidFill>
            <a:srgbClr val="FFFFFF">
              <a:alpha val="4000"/>
            </a:srgbClr>
          </a:solidFill>
          <a:ln/>
        </p:spPr>
        <p:txBody>
          <a:bodyPr/>
          <a:lstStyle/>
          <a:p>
            <a:endParaRPr lang="en-IN"/>
          </a:p>
        </p:txBody>
      </p:sp>
      <p:grpSp>
        <p:nvGrpSpPr>
          <p:cNvPr id="20" name="Group 19">
            <a:extLst>
              <a:ext uri="{FF2B5EF4-FFF2-40B4-BE49-F238E27FC236}">
                <a16:creationId xmlns:a16="http://schemas.microsoft.com/office/drawing/2014/main" id="{BC2E0AD0-0C3B-F5CC-9036-ACC7C7C94FE8}"/>
              </a:ext>
            </a:extLst>
          </p:cNvPr>
          <p:cNvGrpSpPr/>
          <p:nvPr/>
        </p:nvGrpSpPr>
        <p:grpSpPr>
          <a:xfrm>
            <a:off x="496119" y="1738610"/>
            <a:ext cx="8151763" cy="1635323"/>
            <a:chOff x="496119" y="1738610"/>
            <a:chExt cx="8151763" cy="1635323"/>
          </a:xfrm>
        </p:grpSpPr>
        <p:sp>
          <p:nvSpPr>
            <p:cNvPr id="4" name="Shape 2"/>
            <p:cNvSpPr/>
            <p:nvPr/>
          </p:nvSpPr>
          <p:spPr>
            <a:xfrm>
              <a:off x="496119" y="1738610"/>
              <a:ext cx="8151763" cy="1635323"/>
            </a:xfrm>
            <a:prstGeom prst="roundRect">
              <a:avLst>
                <a:gd name="adj" fmla="val 1138"/>
              </a:avLst>
            </a:prstGeom>
            <a:noFill/>
            <a:ln w="4763">
              <a:solidFill>
                <a:srgbClr val="000000">
                  <a:alpha val="8000"/>
                </a:srgbClr>
              </a:solidFill>
              <a:prstDash val="solid"/>
            </a:ln>
          </p:spPr>
          <p:txBody>
            <a:bodyPr/>
            <a:lstStyle/>
            <a:p>
              <a:endParaRPr lang="en-IN"/>
            </a:p>
          </p:txBody>
        </p:sp>
        <p:sp>
          <p:nvSpPr>
            <p:cNvPr id="6" name="Text 4"/>
            <p:cNvSpPr/>
            <p:nvPr/>
          </p:nvSpPr>
          <p:spPr>
            <a:xfrm>
              <a:off x="624929" y="1822549"/>
              <a:ext cx="184219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Input Type</a:t>
              </a:r>
              <a:endParaRPr lang="en-US" sz="1200" dirty="0"/>
            </a:p>
          </p:txBody>
        </p:sp>
        <p:sp>
          <p:nvSpPr>
            <p:cNvPr id="7" name="Text 5"/>
            <p:cNvSpPr/>
            <p:nvPr/>
          </p:nvSpPr>
          <p:spPr>
            <a:xfrm>
              <a:off x="2719834" y="1822549"/>
              <a:ext cx="5799311"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the AI Collects</a:t>
              </a:r>
              <a:endParaRPr lang="en-US" sz="1200" dirty="0"/>
            </a:p>
          </p:txBody>
        </p:sp>
      </p:grpSp>
      <p:sp>
        <p:nvSpPr>
          <p:cNvPr id="8" name="Shape 6"/>
          <p:cNvSpPr/>
          <p:nvPr/>
        </p:nvSpPr>
        <p:spPr>
          <a:xfrm>
            <a:off x="500881" y="2149822"/>
            <a:ext cx="8142238" cy="406450"/>
          </a:xfrm>
          <a:prstGeom prst="rect">
            <a:avLst/>
          </a:prstGeom>
          <a:solidFill>
            <a:srgbClr val="000000">
              <a:alpha val="4000"/>
            </a:srgbClr>
          </a:solidFill>
          <a:ln/>
        </p:spPr>
        <p:txBody>
          <a:bodyPr/>
          <a:lstStyle/>
          <a:p>
            <a:endParaRPr lang="en-IN"/>
          </a:p>
        </p:txBody>
      </p:sp>
      <p:sp>
        <p:nvSpPr>
          <p:cNvPr id="9" name="Text 7"/>
          <p:cNvSpPr/>
          <p:nvPr/>
        </p:nvSpPr>
        <p:spPr>
          <a:xfrm>
            <a:off x="624929" y="2228999"/>
            <a:ext cx="184219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Text</a:t>
            </a:r>
            <a:endParaRPr lang="en-US" sz="1200" dirty="0"/>
          </a:p>
        </p:txBody>
      </p:sp>
      <p:sp>
        <p:nvSpPr>
          <p:cNvPr id="10" name="Text 8"/>
          <p:cNvSpPr/>
          <p:nvPr/>
        </p:nvSpPr>
        <p:spPr>
          <a:xfrm>
            <a:off x="2719834" y="2228999"/>
            <a:ext cx="579931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Sequences of characters and words.</a:t>
            </a:r>
            <a:endParaRPr lang="en-US" sz="1200" dirty="0"/>
          </a:p>
        </p:txBody>
      </p:sp>
      <p:sp>
        <p:nvSpPr>
          <p:cNvPr id="11" name="Shape 9"/>
          <p:cNvSpPr/>
          <p:nvPr/>
        </p:nvSpPr>
        <p:spPr>
          <a:xfrm>
            <a:off x="500881" y="2556272"/>
            <a:ext cx="8142238" cy="406450"/>
          </a:xfrm>
          <a:prstGeom prst="rect">
            <a:avLst/>
          </a:prstGeom>
          <a:solidFill>
            <a:srgbClr val="FFFFFF">
              <a:alpha val="4000"/>
            </a:srgbClr>
          </a:solidFill>
          <a:ln/>
        </p:spPr>
        <p:txBody>
          <a:bodyPr/>
          <a:lstStyle/>
          <a:p>
            <a:endParaRPr lang="en-IN"/>
          </a:p>
        </p:txBody>
      </p:sp>
      <p:sp>
        <p:nvSpPr>
          <p:cNvPr id="12" name="Text 10"/>
          <p:cNvSpPr/>
          <p:nvPr/>
        </p:nvSpPr>
        <p:spPr>
          <a:xfrm>
            <a:off x="624929" y="2635448"/>
            <a:ext cx="184219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Images</a:t>
            </a:r>
            <a:endParaRPr lang="en-US" sz="1200" dirty="0"/>
          </a:p>
        </p:txBody>
      </p:sp>
      <p:sp>
        <p:nvSpPr>
          <p:cNvPr id="13" name="Text 11"/>
          <p:cNvSpPr/>
          <p:nvPr/>
        </p:nvSpPr>
        <p:spPr>
          <a:xfrm>
            <a:off x="2719834" y="2635448"/>
            <a:ext cx="579931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Grids of pixels, each with Red, Green, Blue values.</a:t>
            </a:r>
            <a:endParaRPr lang="en-US" sz="1200" dirty="0"/>
          </a:p>
        </p:txBody>
      </p:sp>
      <p:sp>
        <p:nvSpPr>
          <p:cNvPr id="14" name="Shape 12"/>
          <p:cNvSpPr/>
          <p:nvPr/>
        </p:nvSpPr>
        <p:spPr>
          <a:xfrm>
            <a:off x="500881" y="2962721"/>
            <a:ext cx="8142238" cy="406450"/>
          </a:xfrm>
          <a:prstGeom prst="rect">
            <a:avLst/>
          </a:prstGeom>
          <a:solidFill>
            <a:srgbClr val="000000">
              <a:alpha val="4000"/>
            </a:srgbClr>
          </a:solidFill>
          <a:ln/>
        </p:spPr>
        <p:txBody>
          <a:bodyPr/>
          <a:lstStyle/>
          <a:p>
            <a:endParaRPr lang="en-IN"/>
          </a:p>
        </p:txBody>
      </p:sp>
      <p:sp>
        <p:nvSpPr>
          <p:cNvPr id="15" name="Text 13"/>
          <p:cNvSpPr/>
          <p:nvPr/>
        </p:nvSpPr>
        <p:spPr>
          <a:xfrm>
            <a:off x="624929" y="3041898"/>
            <a:ext cx="184219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Audio</a:t>
            </a:r>
            <a:endParaRPr lang="en-US" sz="1200" dirty="0"/>
          </a:p>
        </p:txBody>
      </p:sp>
      <p:sp>
        <p:nvSpPr>
          <p:cNvPr id="16" name="Text 14"/>
          <p:cNvSpPr/>
          <p:nvPr/>
        </p:nvSpPr>
        <p:spPr>
          <a:xfrm>
            <a:off x="2719834" y="3041898"/>
            <a:ext cx="579931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Sound waves converted into digital waveforms (amplitude over time).</a:t>
            </a:r>
            <a:endParaRPr lang="en-US" sz="1200" dirty="0"/>
          </a:p>
        </p:txBody>
      </p:sp>
      <p:grpSp>
        <p:nvGrpSpPr>
          <p:cNvPr id="21" name="Group 20">
            <a:extLst>
              <a:ext uri="{FF2B5EF4-FFF2-40B4-BE49-F238E27FC236}">
                <a16:creationId xmlns:a16="http://schemas.microsoft.com/office/drawing/2014/main" id="{C79FD19B-80BF-F40F-CBE8-6F0DAEA8FE81}"/>
              </a:ext>
            </a:extLst>
          </p:cNvPr>
          <p:cNvGrpSpPr/>
          <p:nvPr/>
        </p:nvGrpSpPr>
        <p:grpSpPr>
          <a:xfrm>
            <a:off x="496119" y="3851449"/>
            <a:ext cx="8151763" cy="576635"/>
            <a:chOff x="496119" y="3851449"/>
            <a:chExt cx="8151763" cy="576635"/>
          </a:xfrm>
        </p:grpSpPr>
        <p:sp>
          <p:nvSpPr>
            <p:cNvPr id="18" name="Shape 16"/>
            <p:cNvSpPr/>
            <p:nvPr/>
          </p:nvSpPr>
          <p:spPr>
            <a:xfrm>
              <a:off x="496119" y="3851449"/>
              <a:ext cx="8151763" cy="576635"/>
            </a:xfrm>
            <a:prstGeom prst="roundRect">
              <a:avLst>
                <a:gd name="adj" fmla="val 3227"/>
              </a:avLst>
            </a:prstGeom>
            <a:solidFill>
              <a:srgbClr val="F2F2F2"/>
            </a:solidFill>
            <a:ln/>
          </p:spPr>
          <p:txBody>
            <a:bodyPr/>
            <a:lstStyle/>
            <a:p>
              <a:endParaRPr lang="en-IN"/>
            </a:p>
          </p:txBody>
        </p:sp>
        <p:sp>
          <p:nvSpPr>
            <p:cNvPr id="19" name="Text 17"/>
            <p:cNvSpPr/>
            <p:nvPr/>
          </p:nvSpPr>
          <p:spPr>
            <a:xfrm>
              <a:off x="620092" y="4006379"/>
              <a:ext cx="7903815" cy="248096"/>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At this stage, the data is still in its raw, native format. </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2" grpId="0" animBg="1"/>
      <p:bldP spid="13"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078706"/>
            <a:ext cx="708816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Stage 2: THINK - Encoding, Aligning, and Fusing</a:t>
            </a:r>
            <a:endParaRPr lang="en-US" sz="2400" dirty="0"/>
          </a:p>
        </p:txBody>
      </p:sp>
      <p:grpSp>
        <p:nvGrpSpPr>
          <p:cNvPr id="12" name="Group 11">
            <a:extLst>
              <a:ext uri="{FF2B5EF4-FFF2-40B4-BE49-F238E27FC236}">
                <a16:creationId xmlns:a16="http://schemas.microsoft.com/office/drawing/2014/main" id="{C2979C81-FF1D-4AAC-B530-99C398B886DF}"/>
              </a:ext>
            </a:extLst>
          </p:cNvPr>
          <p:cNvGrpSpPr/>
          <p:nvPr/>
        </p:nvGrpSpPr>
        <p:grpSpPr>
          <a:xfrm>
            <a:off x="496119" y="1714277"/>
            <a:ext cx="2634555" cy="2350517"/>
            <a:chOff x="496119" y="1714277"/>
            <a:chExt cx="2634555" cy="2350517"/>
          </a:xfrm>
        </p:grpSpPr>
        <p:sp>
          <p:nvSpPr>
            <p:cNvPr id="3" name="Shape 1"/>
            <p:cNvSpPr/>
            <p:nvPr/>
          </p:nvSpPr>
          <p:spPr>
            <a:xfrm>
              <a:off x="496119" y="1714277"/>
              <a:ext cx="2634555" cy="2350517"/>
            </a:xfrm>
            <a:prstGeom prst="roundRect">
              <a:avLst>
                <a:gd name="adj" fmla="val 792"/>
              </a:avLst>
            </a:prstGeom>
            <a:solidFill>
              <a:srgbClr val="E9ECF2"/>
            </a:solidFill>
            <a:ln/>
          </p:spPr>
          <p:txBody>
            <a:bodyPr/>
            <a:lstStyle/>
            <a:p>
              <a:endParaRPr lang="en-IN"/>
            </a:p>
          </p:txBody>
        </p:sp>
        <p:sp>
          <p:nvSpPr>
            <p:cNvPr id="4" name="Text 2"/>
            <p:cNvSpPr/>
            <p:nvPr/>
          </p:nvSpPr>
          <p:spPr>
            <a:xfrm>
              <a:off x="620092" y="1838251"/>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Encode</a:t>
              </a:r>
              <a:endParaRPr lang="en-US" sz="1200" dirty="0"/>
            </a:p>
          </p:txBody>
        </p:sp>
      </p:grpSp>
      <p:sp>
        <p:nvSpPr>
          <p:cNvPr id="5" name="Text 3"/>
          <p:cNvSpPr/>
          <p:nvPr/>
        </p:nvSpPr>
        <p:spPr>
          <a:xfrm>
            <a:off x="620092" y="2160761"/>
            <a:ext cx="2386608" cy="1240482"/>
          </a:xfrm>
          <a:prstGeom prst="rect">
            <a:avLst/>
          </a:prstGeom>
          <a:noFill/>
          <a:ln/>
        </p:spPr>
        <p:txBody>
          <a:bodyPr wrap="square" lIns="0" tIns="0" rIns="0" bIns="0" rtlCol="0" anchor="t"/>
          <a:lstStyle/>
          <a:p>
            <a:pPr marL="342900" indent="-342900" algn="l">
              <a:lnSpc>
                <a:spcPts val="1550"/>
              </a:lnSpc>
              <a:buSzPct val="100000"/>
              <a:buChar char="•"/>
            </a:pPr>
            <a:r>
              <a:rPr lang="en-US" sz="1200" dirty="0">
                <a:solidFill>
                  <a:srgbClr val="15213F"/>
                </a:solidFill>
                <a:latin typeface="Roboto" pitchFamily="34" charset="0"/>
                <a:ea typeface="Roboto" pitchFamily="34" charset="-122"/>
                <a:cs typeface="Roboto" pitchFamily="34" charset="-120"/>
              </a:rPr>
              <a:t>Specialized encoders convert raw data — pixels, sound waves, words — into lists of numbers called vector embeddings</a:t>
            </a:r>
            <a:endParaRPr lang="en-US" sz="1200" dirty="0"/>
          </a:p>
        </p:txBody>
      </p:sp>
      <p:grpSp>
        <p:nvGrpSpPr>
          <p:cNvPr id="13" name="Group 12">
            <a:extLst>
              <a:ext uri="{FF2B5EF4-FFF2-40B4-BE49-F238E27FC236}">
                <a16:creationId xmlns:a16="http://schemas.microsoft.com/office/drawing/2014/main" id="{A07F50CB-2042-7534-8962-AC2DC1B44219}"/>
              </a:ext>
            </a:extLst>
          </p:cNvPr>
          <p:cNvGrpSpPr/>
          <p:nvPr/>
        </p:nvGrpSpPr>
        <p:grpSpPr>
          <a:xfrm>
            <a:off x="3254648" y="1714277"/>
            <a:ext cx="2634630" cy="2350517"/>
            <a:chOff x="3254648" y="1714277"/>
            <a:chExt cx="2634630" cy="2350517"/>
          </a:xfrm>
        </p:grpSpPr>
        <p:sp>
          <p:nvSpPr>
            <p:cNvPr id="6" name="Shape 4"/>
            <p:cNvSpPr/>
            <p:nvPr/>
          </p:nvSpPr>
          <p:spPr>
            <a:xfrm>
              <a:off x="3254648" y="1714277"/>
              <a:ext cx="2634630" cy="2350517"/>
            </a:xfrm>
            <a:prstGeom prst="roundRect">
              <a:avLst>
                <a:gd name="adj" fmla="val 792"/>
              </a:avLst>
            </a:prstGeom>
            <a:solidFill>
              <a:srgbClr val="E9ECF2"/>
            </a:solidFill>
            <a:ln/>
          </p:spPr>
          <p:txBody>
            <a:bodyPr/>
            <a:lstStyle/>
            <a:p>
              <a:endParaRPr lang="en-IN"/>
            </a:p>
          </p:txBody>
        </p:sp>
        <p:sp>
          <p:nvSpPr>
            <p:cNvPr id="7" name="Text 5"/>
            <p:cNvSpPr/>
            <p:nvPr/>
          </p:nvSpPr>
          <p:spPr>
            <a:xfrm>
              <a:off x="3378622" y="1838251"/>
              <a:ext cx="23866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Align</a:t>
              </a:r>
              <a:endParaRPr lang="en-US" sz="1200" dirty="0"/>
            </a:p>
          </p:txBody>
        </p:sp>
      </p:grpSp>
      <p:sp>
        <p:nvSpPr>
          <p:cNvPr id="8" name="Text 6"/>
          <p:cNvSpPr/>
          <p:nvPr/>
        </p:nvSpPr>
        <p:spPr>
          <a:xfrm>
            <a:off x="3378622" y="2160761"/>
            <a:ext cx="2386682" cy="1780059"/>
          </a:xfrm>
          <a:prstGeom prst="rect">
            <a:avLst/>
          </a:prstGeom>
          <a:noFill/>
          <a:ln/>
        </p:spPr>
        <p:txBody>
          <a:bodyPr wrap="square" lIns="0" tIns="0" rIns="0" bIns="0" rtlCol="0" anchor="t"/>
          <a:lstStyle/>
          <a:p>
            <a:pPr marL="342900" indent="-342900" algn="l">
              <a:lnSpc>
                <a:spcPts val="1550"/>
              </a:lnSpc>
              <a:buSzPct val="100000"/>
              <a:buChar char="•"/>
            </a:pPr>
            <a:r>
              <a:rPr lang="en-US" sz="1200" dirty="0">
                <a:solidFill>
                  <a:srgbClr val="15213F"/>
                </a:solidFill>
                <a:latin typeface="Roboto" pitchFamily="34" charset="0"/>
                <a:ea typeface="Roboto" pitchFamily="34" charset="-122"/>
                <a:cs typeface="Roboto" pitchFamily="34" charset="-120"/>
              </a:rPr>
              <a:t>All embeddings are placed into a shared space called a Joint Embedding Space.</a:t>
            </a:r>
            <a:endParaRPr lang="en-US" sz="1200" dirty="0"/>
          </a:p>
          <a:p>
            <a:pPr marL="342900" indent="-342900" algn="l">
              <a:lnSpc>
                <a:spcPts val="1550"/>
              </a:lnSpc>
              <a:buSzPct val="100000"/>
              <a:buChar char="•"/>
            </a:pPr>
            <a:r>
              <a:rPr lang="en-US" sz="1200" dirty="0">
                <a:solidFill>
                  <a:srgbClr val="15213F"/>
                </a:solidFill>
                <a:latin typeface="Roboto" pitchFamily="34" charset="0"/>
                <a:ea typeface="Roboto" pitchFamily="34" charset="-122"/>
                <a:cs typeface="Roboto" pitchFamily="34" charset="-120"/>
              </a:rPr>
              <a:t>Similar concepts are positioned close together, regardless of their source modality</a:t>
            </a:r>
            <a:endParaRPr lang="en-US" sz="1200" dirty="0"/>
          </a:p>
        </p:txBody>
      </p:sp>
      <p:grpSp>
        <p:nvGrpSpPr>
          <p:cNvPr id="14" name="Group 13">
            <a:extLst>
              <a:ext uri="{FF2B5EF4-FFF2-40B4-BE49-F238E27FC236}">
                <a16:creationId xmlns:a16="http://schemas.microsoft.com/office/drawing/2014/main" id="{740D870D-1427-6D8C-A27F-80ED06DA65C2}"/>
              </a:ext>
            </a:extLst>
          </p:cNvPr>
          <p:cNvGrpSpPr/>
          <p:nvPr/>
        </p:nvGrpSpPr>
        <p:grpSpPr>
          <a:xfrm>
            <a:off x="6013252" y="1714277"/>
            <a:ext cx="2634555" cy="2350517"/>
            <a:chOff x="6013252" y="1714277"/>
            <a:chExt cx="2634555" cy="2350517"/>
          </a:xfrm>
        </p:grpSpPr>
        <p:sp>
          <p:nvSpPr>
            <p:cNvPr id="9" name="Shape 7"/>
            <p:cNvSpPr/>
            <p:nvPr/>
          </p:nvSpPr>
          <p:spPr>
            <a:xfrm>
              <a:off x="6013252" y="1714277"/>
              <a:ext cx="2634555" cy="2350517"/>
            </a:xfrm>
            <a:prstGeom prst="roundRect">
              <a:avLst>
                <a:gd name="adj" fmla="val 792"/>
              </a:avLst>
            </a:prstGeom>
            <a:solidFill>
              <a:srgbClr val="E9ECF2"/>
            </a:solidFill>
            <a:ln/>
          </p:spPr>
          <p:txBody>
            <a:bodyPr/>
            <a:lstStyle/>
            <a:p>
              <a:endParaRPr lang="en-IN"/>
            </a:p>
          </p:txBody>
        </p:sp>
        <p:sp>
          <p:nvSpPr>
            <p:cNvPr id="10" name="Text 8"/>
            <p:cNvSpPr/>
            <p:nvPr/>
          </p:nvSpPr>
          <p:spPr>
            <a:xfrm>
              <a:off x="6137225" y="1838251"/>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Fuse</a:t>
              </a:r>
              <a:endParaRPr lang="en-US" sz="1200" dirty="0"/>
            </a:p>
          </p:txBody>
        </p:sp>
      </p:grpSp>
      <p:sp>
        <p:nvSpPr>
          <p:cNvPr id="11" name="Text 9"/>
          <p:cNvSpPr/>
          <p:nvPr/>
        </p:nvSpPr>
        <p:spPr>
          <a:xfrm>
            <a:off x="6137225" y="2160761"/>
            <a:ext cx="2386608" cy="1531962"/>
          </a:xfrm>
          <a:prstGeom prst="rect">
            <a:avLst/>
          </a:prstGeom>
          <a:noFill/>
          <a:ln/>
        </p:spPr>
        <p:txBody>
          <a:bodyPr wrap="square" lIns="0" tIns="0" rIns="0" bIns="0" rtlCol="0" anchor="t"/>
          <a:lstStyle/>
          <a:p>
            <a:pPr marL="342900" indent="-342900" algn="l">
              <a:lnSpc>
                <a:spcPts val="1550"/>
              </a:lnSpc>
              <a:buSzPct val="100000"/>
              <a:buChar char="•"/>
            </a:pPr>
            <a:r>
              <a:rPr lang="en-US" sz="1200" dirty="0">
                <a:solidFill>
                  <a:srgbClr val="15213F"/>
                </a:solidFill>
                <a:latin typeface="Roboto" pitchFamily="34" charset="0"/>
                <a:ea typeface="Roboto" pitchFamily="34" charset="-122"/>
                <a:cs typeface="Roboto" pitchFamily="34" charset="-120"/>
              </a:rPr>
              <a:t>The AI combines aligned embeddings using attention mechanisms</a:t>
            </a:r>
            <a:endParaRPr lang="en-US" sz="1200" dirty="0"/>
          </a:p>
          <a:p>
            <a:pPr marL="342900" indent="-342900" algn="l">
              <a:lnSpc>
                <a:spcPts val="1550"/>
              </a:lnSpc>
              <a:buSzPct val="100000"/>
              <a:buChar char="•"/>
            </a:pPr>
            <a:r>
              <a:rPr lang="en-US" sz="1200" dirty="0">
                <a:solidFill>
                  <a:srgbClr val="15213F"/>
                </a:solidFill>
                <a:latin typeface="Roboto" pitchFamily="34" charset="0"/>
                <a:ea typeface="Roboto" pitchFamily="34" charset="-122"/>
                <a:cs typeface="Roboto" pitchFamily="34" charset="-120"/>
              </a:rPr>
              <a:t>This weighs the importance of each input to form one rich, unified representation</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931515"/>
            <a:ext cx="6718176"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Stage 3: ACT - Generating Multimodal Outputs</a:t>
            </a:r>
            <a:endParaRPr lang="en-US" sz="2400" dirty="0"/>
          </a:p>
        </p:txBody>
      </p:sp>
      <p:sp>
        <p:nvSpPr>
          <p:cNvPr id="3" name="Text 1"/>
          <p:cNvSpPr/>
          <p:nvPr/>
        </p:nvSpPr>
        <p:spPr>
          <a:xfrm>
            <a:off x="496119" y="1567086"/>
            <a:ext cx="8151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Once the AI has a fused mathematical representation, it can produce an output. Because it works with multiple modalities, it can act in many formats.</a:t>
            </a:r>
            <a:endParaRPr lang="en-US" sz="1200" dirty="0"/>
          </a:p>
        </p:txBody>
      </p:sp>
      <p:grpSp>
        <p:nvGrpSpPr>
          <p:cNvPr id="19" name="Group 18">
            <a:extLst>
              <a:ext uri="{FF2B5EF4-FFF2-40B4-BE49-F238E27FC236}">
                <a16:creationId xmlns:a16="http://schemas.microsoft.com/office/drawing/2014/main" id="{736F9F26-DB21-7089-4B5B-C5E6553E8E40}"/>
              </a:ext>
            </a:extLst>
          </p:cNvPr>
          <p:cNvGrpSpPr/>
          <p:nvPr/>
        </p:nvGrpSpPr>
        <p:grpSpPr>
          <a:xfrm>
            <a:off x="496119" y="2202805"/>
            <a:ext cx="2634555" cy="1066651"/>
            <a:chOff x="496119" y="2202805"/>
            <a:chExt cx="2634555" cy="1066651"/>
          </a:xfrm>
        </p:grpSpPr>
        <p:sp>
          <p:nvSpPr>
            <p:cNvPr id="4" name="Shape 2"/>
            <p:cNvSpPr/>
            <p:nvPr/>
          </p:nvSpPr>
          <p:spPr>
            <a:xfrm>
              <a:off x="496119" y="2202805"/>
              <a:ext cx="2634555" cy="1066651"/>
            </a:xfrm>
            <a:prstGeom prst="roundRect">
              <a:avLst>
                <a:gd name="adj" fmla="val 1744"/>
              </a:avLst>
            </a:prstGeom>
            <a:solidFill>
              <a:srgbClr val="E9ECF2"/>
            </a:solidFill>
            <a:ln/>
          </p:spPr>
          <p:txBody>
            <a:bodyPr/>
            <a:lstStyle/>
            <a:p>
              <a:endParaRPr lang="en-IN"/>
            </a:p>
          </p:txBody>
        </p:sp>
        <p:sp>
          <p:nvSpPr>
            <p:cNvPr id="5" name="Text 3"/>
            <p:cNvSpPr/>
            <p:nvPr/>
          </p:nvSpPr>
          <p:spPr>
            <a:xfrm>
              <a:off x="620092" y="2326779"/>
              <a:ext cx="2386608"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Text</a:t>
              </a:r>
              <a:endParaRPr lang="en-US" sz="1200" dirty="0"/>
            </a:p>
          </p:txBody>
        </p:sp>
      </p:grpSp>
      <p:sp>
        <p:nvSpPr>
          <p:cNvPr id="6" name="Text 4"/>
          <p:cNvSpPr/>
          <p:nvPr/>
        </p:nvSpPr>
        <p:spPr>
          <a:xfrm>
            <a:off x="620092" y="2649289"/>
            <a:ext cx="238660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Captions, answers, summaries, stories.</a:t>
            </a:r>
            <a:endParaRPr lang="en-US" sz="1200" dirty="0"/>
          </a:p>
        </p:txBody>
      </p:sp>
      <p:grpSp>
        <p:nvGrpSpPr>
          <p:cNvPr id="20" name="Group 19">
            <a:extLst>
              <a:ext uri="{FF2B5EF4-FFF2-40B4-BE49-F238E27FC236}">
                <a16:creationId xmlns:a16="http://schemas.microsoft.com/office/drawing/2014/main" id="{3A07649C-139B-5F8B-615C-CA81B55195B9}"/>
              </a:ext>
            </a:extLst>
          </p:cNvPr>
          <p:cNvGrpSpPr/>
          <p:nvPr/>
        </p:nvGrpSpPr>
        <p:grpSpPr>
          <a:xfrm>
            <a:off x="3254648" y="2202805"/>
            <a:ext cx="2634630" cy="1066651"/>
            <a:chOff x="3254648" y="2202805"/>
            <a:chExt cx="2634630" cy="1066651"/>
          </a:xfrm>
        </p:grpSpPr>
        <p:sp>
          <p:nvSpPr>
            <p:cNvPr id="7" name="Shape 5"/>
            <p:cNvSpPr/>
            <p:nvPr/>
          </p:nvSpPr>
          <p:spPr>
            <a:xfrm>
              <a:off x="3254648" y="2202805"/>
              <a:ext cx="2634630" cy="1066651"/>
            </a:xfrm>
            <a:prstGeom prst="roundRect">
              <a:avLst>
                <a:gd name="adj" fmla="val 1744"/>
              </a:avLst>
            </a:prstGeom>
            <a:solidFill>
              <a:srgbClr val="E9ECF2"/>
            </a:solidFill>
            <a:ln/>
          </p:spPr>
          <p:txBody>
            <a:bodyPr/>
            <a:lstStyle/>
            <a:p>
              <a:endParaRPr lang="en-IN"/>
            </a:p>
          </p:txBody>
        </p:sp>
        <p:sp>
          <p:nvSpPr>
            <p:cNvPr id="8" name="Text 6"/>
            <p:cNvSpPr/>
            <p:nvPr/>
          </p:nvSpPr>
          <p:spPr>
            <a:xfrm>
              <a:off x="3378622" y="2326779"/>
              <a:ext cx="2386682"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Image</a:t>
              </a:r>
              <a:endParaRPr lang="en-US" sz="1200" dirty="0"/>
            </a:p>
          </p:txBody>
        </p:sp>
      </p:grpSp>
      <p:sp>
        <p:nvSpPr>
          <p:cNvPr id="9" name="Text 7"/>
          <p:cNvSpPr/>
          <p:nvPr/>
        </p:nvSpPr>
        <p:spPr>
          <a:xfrm>
            <a:off x="3378622" y="2649289"/>
            <a:ext cx="238668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New images from text prompts.</a:t>
            </a:r>
            <a:endParaRPr lang="en-US" sz="1200" dirty="0"/>
          </a:p>
        </p:txBody>
      </p:sp>
      <p:grpSp>
        <p:nvGrpSpPr>
          <p:cNvPr id="21" name="Group 20">
            <a:extLst>
              <a:ext uri="{FF2B5EF4-FFF2-40B4-BE49-F238E27FC236}">
                <a16:creationId xmlns:a16="http://schemas.microsoft.com/office/drawing/2014/main" id="{A9E4BFB8-0EF5-0A23-C22B-0B6474B838CA}"/>
              </a:ext>
            </a:extLst>
          </p:cNvPr>
          <p:cNvGrpSpPr/>
          <p:nvPr/>
        </p:nvGrpSpPr>
        <p:grpSpPr>
          <a:xfrm>
            <a:off x="6013252" y="2202805"/>
            <a:ext cx="2634555" cy="1066651"/>
            <a:chOff x="6013252" y="2202805"/>
            <a:chExt cx="2634555" cy="1066651"/>
          </a:xfrm>
        </p:grpSpPr>
        <p:sp>
          <p:nvSpPr>
            <p:cNvPr id="10" name="Shape 8"/>
            <p:cNvSpPr/>
            <p:nvPr/>
          </p:nvSpPr>
          <p:spPr>
            <a:xfrm>
              <a:off x="6013252" y="2202805"/>
              <a:ext cx="2634555" cy="1066651"/>
            </a:xfrm>
            <a:prstGeom prst="roundRect">
              <a:avLst>
                <a:gd name="adj" fmla="val 1744"/>
              </a:avLst>
            </a:prstGeom>
            <a:solidFill>
              <a:srgbClr val="E9ECF2"/>
            </a:solidFill>
            <a:ln/>
          </p:spPr>
          <p:txBody>
            <a:bodyPr/>
            <a:lstStyle/>
            <a:p>
              <a:endParaRPr lang="en-IN"/>
            </a:p>
          </p:txBody>
        </p:sp>
        <p:sp>
          <p:nvSpPr>
            <p:cNvPr id="11" name="Text 9"/>
            <p:cNvSpPr/>
            <p:nvPr/>
          </p:nvSpPr>
          <p:spPr>
            <a:xfrm>
              <a:off x="6137225" y="2326779"/>
              <a:ext cx="2386608"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Video</a:t>
              </a:r>
              <a:endParaRPr lang="en-US" sz="1200" dirty="0"/>
            </a:p>
          </p:txBody>
        </p:sp>
      </p:grpSp>
      <p:sp>
        <p:nvSpPr>
          <p:cNvPr id="12" name="Text 10"/>
          <p:cNvSpPr/>
          <p:nvPr/>
        </p:nvSpPr>
        <p:spPr>
          <a:xfrm>
            <a:off x="6137225" y="2649289"/>
            <a:ext cx="238660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New video clips from descriptions.</a:t>
            </a:r>
            <a:endParaRPr lang="en-US" sz="1200" dirty="0"/>
          </a:p>
        </p:txBody>
      </p:sp>
      <p:grpSp>
        <p:nvGrpSpPr>
          <p:cNvPr id="22" name="Group 21">
            <a:extLst>
              <a:ext uri="{FF2B5EF4-FFF2-40B4-BE49-F238E27FC236}">
                <a16:creationId xmlns:a16="http://schemas.microsoft.com/office/drawing/2014/main" id="{BA67D6A9-AA2B-1EEB-C8E9-0A1F1104D324}"/>
              </a:ext>
            </a:extLst>
          </p:cNvPr>
          <p:cNvGrpSpPr/>
          <p:nvPr/>
        </p:nvGrpSpPr>
        <p:grpSpPr>
          <a:xfrm>
            <a:off x="496119" y="3393430"/>
            <a:ext cx="4013820" cy="818555"/>
            <a:chOff x="496119" y="3393430"/>
            <a:chExt cx="4013820" cy="818555"/>
          </a:xfrm>
        </p:grpSpPr>
        <p:sp>
          <p:nvSpPr>
            <p:cNvPr id="13" name="Shape 11"/>
            <p:cNvSpPr/>
            <p:nvPr/>
          </p:nvSpPr>
          <p:spPr>
            <a:xfrm>
              <a:off x="496119" y="3393430"/>
              <a:ext cx="4013820" cy="818555"/>
            </a:xfrm>
            <a:prstGeom prst="roundRect">
              <a:avLst>
                <a:gd name="adj" fmla="val 2273"/>
              </a:avLst>
            </a:prstGeom>
            <a:solidFill>
              <a:srgbClr val="E9ECF2"/>
            </a:solidFill>
            <a:ln/>
          </p:spPr>
          <p:txBody>
            <a:bodyPr/>
            <a:lstStyle/>
            <a:p>
              <a:endParaRPr lang="en-IN"/>
            </a:p>
          </p:txBody>
        </p:sp>
        <p:sp>
          <p:nvSpPr>
            <p:cNvPr id="14" name="Text 12"/>
            <p:cNvSpPr/>
            <p:nvPr/>
          </p:nvSpPr>
          <p:spPr>
            <a:xfrm>
              <a:off x="620092" y="3517404"/>
              <a:ext cx="3765872"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Audio</a:t>
              </a:r>
              <a:endParaRPr lang="en-US" sz="1200" dirty="0"/>
            </a:p>
          </p:txBody>
        </p:sp>
      </p:grpSp>
      <p:sp>
        <p:nvSpPr>
          <p:cNvPr id="15" name="Text 13"/>
          <p:cNvSpPr/>
          <p:nvPr/>
        </p:nvSpPr>
        <p:spPr>
          <a:xfrm>
            <a:off x="620092" y="3839914"/>
            <a:ext cx="376587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Synthesized speech from text.</a:t>
            </a:r>
            <a:endParaRPr lang="en-US" sz="1200" dirty="0"/>
          </a:p>
        </p:txBody>
      </p:sp>
      <p:grpSp>
        <p:nvGrpSpPr>
          <p:cNvPr id="23" name="Group 22">
            <a:extLst>
              <a:ext uri="{FF2B5EF4-FFF2-40B4-BE49-F238E27FC236}">
                <a16:creationId xmlns:a16="http://schemas.microsoft.com/office/drawing/2014/main" id="{3C1D8A3E-4FFA-1EED-E0B7-2DFF80ED2B97}"/>
              </a:ext>
            </a:extLst>
          </p:cNvPr>
          <p:cNvGrpSpPr/>
          <p:nvPr/>
        </p:nvGrpSpPr>
        <p:grpSpPr>
          <a:xfrm>
            <a:off x="4633913" y="3393430"/>
            <a:ext cx="4013895" cy="818555"/>
            <a:chOff x="4633913" y="3393430"/>
            <a:chExt cx="4013895" cy="818555"/>
          </a:xfrm>
        </p:grpSpPr>
        <p:sp>
          <p:nvSpPr>
            <p:cNvPr id="16" name="Shape 14"/>
            <p:cNvSpPr/>
            <p:nvPr/>
          </p:nvSpPr>
          <p:spPr>
            <a:xfrm>
              <a:off x="4633913" y="3393430"/>
              <a:ext cx="4013895" cy="818555"/>
            </a:xfrm>
            <a:prstGeom prst="roundRect">
              <a:avLst>
                <a:gd name="adj" fmla="val 2273"/>
              </a:avLst>
            </a:prstGeom>
            <a:solidFill>
              <a:srgbClr val="E9ECF2"/>
            </a:solidFill>
            <a:ln/>
          </p:spPr>
          <p:txBody>
            <a:bodyPr/>
            <a:lstStyle/>
            <a:p>
              <a:endParaRPr lang="en-IN"/>
            </a:p>
          </p:txBody>
        </p:sp>
        <p:sp>
          <p:nvSpPr>
            <p:cNvPr id="17" name="Text 15"/>
            <p:cNvSpPr/>
            <p:nvPr/>
          </p:nvSpPr>
          <p:spPr>
            <a:xfrm>
              <a:off x="4757886" y="3517404"/>
              <a:ext cx="3765947"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Cross‑Modal Retrieval</a:t>
              </a:r>
              <a:endParaRPr lang="en-US" sz="1200" dirty="0"/>
            </a:p>
          </p:txBody>
        </p:sp>
      </p:grpSp>
      <p:sp>
        <p:nvSpPr>
          <p:cNvPr id="18" name="Text 16"/>
          <p:cNvSpPr/>
          <p:nvPr/>
        </p:nvSpPr>
        <p:spPr>
          <a:xfrm>
            <a:off x="4757886" y="3839914"/>
            <a:ext cx="3765947"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Finding one modality using another.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5"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565100"/>
            <a:ext cx="3060650" cy="697706"/>
          </a:xfrm>
          <a:prstGeom prst="rect">
            <a:avLst/>
          </a:prstGeom>
          <a:noFill/>
          <a:ln/>
        </p:spPr>
        <p:txBody>
          <a:bodyPr wrap="square" lIns="0" tIns="0" rIns="0" bIns="0" rtlCol="0" anchor="t"/>
          <a:lstStyle/>
          <a:p>
            <a:pPr marL="0" indent="0" algn="l">
              <a:lnSpc>
                <a:spcPts val="2700"/>
              </a:lnSpc>
              <a:buNone/>
            </a:pPr>
            <a:r>
              <a:rPr lang="en-US" sz="2150" dirty="0">
                <a:solidFill>
                  <a:srgbClr val="3257B8"/>
                </a:solidFill>
                <a:latin typeface="Roboto Slab" pitchFamily="34" charset="0"/>
                <a:ea typeface="Roboto Slab" pitchFamily="34" charset="-122"/>
                <a:cs typeface="Roboto Slab" pitchFamily="34" charset="-120"/>
              </a:rPr>
              <a:t>Putting It All Together: </a:t>
            </a:r>
            <a:endParaRPr lang="en-US" sz="2150" dirty="0"/>
          </a:p>
          <a:p>
            <a:pPr marL="0" indent="0" algn="l">
              <a:lnSpc>
                <a:spcPts val="2700"/>
              </a:lnSpc>
              <a:buNone/>
            </a:pPr>
            <a:r>
              <a:rPr lang="en-US" sz="2150" dirty="0">
                <a:solidFill>
                  <a:srgbClr val="3257B8"/>
                </a:solidFill>
                <a:latin typeface="Roboto Slab" pitchFamily="34" charset="0"/>
                <a:ea typeface="Roboto Slab" pitchFamily="34" charset="-122"/>
                <a:cs typeface="Roboto Slab" pitchFamily="34" charset="-120"/>
              </a:rPr>
              <a:t>A Complete Example</a:t>
            </a:r>
            <a:endParaRPr lang="en-US" sz="2150" dirty="0"/>
          </a:p>
        </p:txBody>
      </p:sp>
      <p:sp>
        <p:nvSpPr>
          <p:cNvPr id="4" name="Text 1"/>
          <p:cNvSpPr/>
          <p:nvPr/>
        </p:nvSpPr>
        <p:spPr>
          <a:xfrm>
            <a:off x="3925119" y="1413495"/>
            <a:ext cx="4722763" cy="424160"/>
          </a:xfrm>
          <a:prstGeom prst="rect">
            <a:avLst/>
          </a:prstGeom>
          <a:noFill/>
          <a:ln/>
        </p:spPr>
        <p:txBody>
          <a:bodyPr wrap="square" lIns="0" tIns="0" rIns="0" bIns="0" rtlCol="0" anchor="t"/>
          <a:lstStyle/>
          <a:p>
            <a:pPr marL="0" indent="0" algn="l">
              <a:lnSpc>
                <a:spcPts val="1650"/>
              </a:lnSpc>
              <a:buNone/>
            </a:pPr>
            <a:r>
              <a:rPr lang="en-US" sz="1100" b="1" dirty="0">
                <a:solidFill>
                  <a:srgbClr val="15213F"/>
                </a:solidFill>
                <a:latin typeface="Roboto" pitchFamily="34" charset="0"/>
                <a:ea typeface="Roboto" pitchFamily="34" charset="-122"/>
                <a:cs typeface="Roboto" pitchFamily="34" charset="-120"/>
              </a:rPr>
              <a:t>Scenario:</a:t>
            </a:r>
            <a:r>
              <a:rPr lang="en-US" sz="1100" dirty="0">
                <a:solidFill>
                  <a:srgbClr val="15213F"/>
                </a:solidFill>
                <a:latin typeface="Roboto" pitchFamily="34" charset="0"/>
                <a:ea typeface="Roboto" pitchFamily="34" charset="-122"/>
                <a:cs typeface="Roboto" pitchFamily="34" charset="-120"/>
              </a:rPr>
              <a:t> You type a text prompt into a multimodal AI: </a:t>
            </a:r>
            <a:r>
              <a:rPr lang="en-US" sz="1100" i="1" dirty="0">
                <a:solidFill>
                  <a:srgbClr val="15213F"/>
                </a:solidFill>
                <a:latin typeface="Roboto" pitchFamily="34" charset="0"/>
                <a:ea typeface="Roboto" pitchFamily="34" charset="-122"/>
                <a:cs typeface="Roboto" pitchFamily="34" charset="-120"/>
              </a:rPr>
              <a:t>"Generate an image of a flamingo wearing a detective hat and holding a magnifying glass."</a:t>
            </a:r>
            <a:endParaRPr lang="en-US" sz="1100" dirty="0"/>
          </a:p>
        </p:txBody>
      </p:sp>
      <p:pic>
        <p:nvPicPr>
          <p:cNvPr id="5" name="Image 1" descr="preencoded.png"/>
          <p:cNvPicPr>
            <a:picLocks noChangeAspect="1"/>
          </p:cNvPicPr>
          <p:nvPr/>
        </p:nvPicPr>
        <p:blipFill>
          <a:blip r:embed="rId4"/>
          <a:stretch>
            <a:fillRect/>
          </a:stretch>
        </p:blipFill>
        <p:spPr>
          <a:xfrm>
            <a:off x="3925119" y="1950690"/>
            <a:ext cx="1574229" cy="446559"/>
          </a:xfrm>
          <a:prstGeom prst="rect">
            <a:avLst/>
          </a:prstGeom>
        </p:spPr>
      </p:pic>
      <p:sp>
        <p:nvSpPr>
          <p:cNvPr id="6" name="Text 2"/>
          <p:cNvSpPr/>
          <p:nvPr/>
        </p:nvSpPr>
        <p:spPr>
          <a:xfrm>
            <a:off x="4036740" y="2497708"/>
            <a:ext cx="1350987"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SENSE</a:t>
            </a:r>
            <a:endParaRPr lang="en-US" sz="1050" dirty="0"/>
          </a:p>
        </p:txBody>
      </p:sp>
      <p:sp>
        <p:nvSpPr>
          <p:cNvPr id="7" name="Text 3"/>
          <p:cNvSpPr/>
          <p:nvPr/>
        </p:nvSpPr>
        <p:spPr>
          <a:xfrm>
            <a:off x="4036740" y="2770063"/>
            <a:ext cx="1350987" cy="848320"/>
          </a:xfrm>
          <a:prstGeom prst="rect">
            <a:avLst/>
          </a:prstGeom>
          <a:noFill/>
          <a:ln/>
        </p:spPr>
        <p:txBody>
          <a:bodyPr wrap="square" lIns="0" tIns="0" rIns="0" bIns="0" rtlCol="0" anchor="t"/>
          <a:lstStyle/>
          <a:p>
            <a:pPr marL="0" indent="0" algn="l">
              <a:lnSpc>
                <a:spcPts val="1650"/>
              </a:lnSpc>
              <a:buNone/>
            </a:pPr>
            <a:r>
              <a:rPr lang="en-US" sz="1100" dirty="0">
                <a:solidFill>
                  <a:srgbClr val="15213F"/>
                </a:solidFill>
                <a:latin typeface="Roboto" pitchFamily="34" charset="0"/>
                <a:ea typeface="Roboto" pitchFamily="34" charset="-122"/>
                <a:cs typeface="Roboto" pitchFamily="34" charset="-120"/>
              </a:rPr>
              <a:t>Text prompt → tokens: "flamingo," "detective hat," "magnifying glass."</a:t>
            </a:r>
            <a:endParaRPr lang="en-US" sz="1100" dirty="0"/>
          </a:p>
        </p:txBody>
      </p:sp>
      <p:pic>
        <p:nvPicPr>
          <p:cNvPr id="8" name="Image 2" descr="preencoded.png"/>
          <p:cNvPicPr>
            <a:picLocks noChangeAspect="1"/>
          </p:cNvPicPr>
          <p:nvPr/>
        </p:nvPicPr>
        <p:blipFill>
          <a:blip r:embed="rId5"/>
          <a:stretch>
            <a:fillRect/>
          </a:stretch>
        </p:blipFill>
        <p:spPr>
          <a:xfrm>
            <a:off x="5499348" y="1950690"/>
            <a:ext cx="1574229" cy="446559"/>
          </a:xfrm>
          <a:prstGeom prst="rect">
            <a:avLst/>
          </a:prstGeom>
        </p:spPr>
      </p:pic>
      <p:sp>
        <p:nvSpPr>
          <p:cNvPr id="9" name="Text 4"/>
          <p:cNvSpPr/>
          <p:nvPr/>
        </p:nvSpPr>
        <p:spPr>
          <a:xfrm>
            <a:off x="5610969" y="2497708"/>
            <a:ext cx="1350987"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THINK</a:t>
            </a:r>
            <a:endParaRPr lang="en-US" sz="1050" dirty="0"/>
          </a:p>
        </p:txBody>
      </p:sp>
      <p:sp>
        <p:nvSpPr>
          <p:cNvPr id="10" name="Text 5"/>
          <p:cNvSpPr/>
          <p:nvPr/>
        </p:nvSpPr>
        <p:spPr>
          <a:xfrm>
            <a:off x="5610969" y="2770063"/>
            <a:ext cx="1350987" cy="1696641"/>
          </a:xfrm>
          <a:prstGeom prst="rect">
            <a:avLst/>
          </a:prstGeom>
          <a:noFill/>
          <a:ln/>
        </p:spPr>
        <p:txBody>
          <a:bodyPr wrap="square" lIns="0" tIns="0" rIns="0" bIns="0" rtlCol="0" anchor="t"/>
          <a:lstStyle/>
          <a:p>
            <a:pPr marL="0" indent="0" algn="l">
              <a:lnSpc>
                <a:spcPts val="1650"/>
              </a:lnSpc>
              <a:buNone/>
            </a:pPr>
            <a:r>
              <a:rPr lang="en-US" sz="1100" b="1" dirty="0">
                <a:solidFill>
                  <a:srgbClr val="15213F"/>
                </a:solidFill>
                <a:latin typeface="Roboto" pitchFamily="34" charset="0"/>
                <a:ea typeface="Roboto" pitchFamily="34" charset="-122"/>
                <a:cs typeface="Roboto" pitchFamily="34" charset="-120"/>
              </a:rPr>
              <a:t>Encode </a:t>
            </a:r>
            <a:r>
              <a:rPr lang="en-US" sz="1100" dirty="0">
                <a:solidFill>
                  <a:srgbClr val="15213F"/>
                </a:solidFill>
                <a:latin typeface="Roboto" pitchFamily="34" charset="0"/>
                <a:ea typeface="Roboto" pitchFamily="34" charset="-122"/>
                <a:cs typeface="Roboto" pitchFamily="34" charset="-120"/>
              </a:rPr>
              <a:t>→ text embedding. </a:t>
            </a:r>
            <a:endParaRPr lang="en-US" sz="1100" dirty="0"/>
          </a:p>
          <a:p>
            <a:pPr marL="0" indent="0" algn="l">
              <a:lnSpc>
                <a:spcPts val="1650"/>
              </a:lnSpc>
              <a:buNone/>
            </a:pPr>
            <a:r>
              <a:rPr lang="en-US" sz="1100" b="1" dirty="0">
                <a:solidFill>
                  <a:srgbClr val="15213F"/>
                </a:solidFill>
                <a:latin typeface="Roboto" pitchFamily="34" charset="0"/>
                <a:ea typeface="Roboto" pitchFamily="34" charset="-122"/>
                <a:cs typeface="Roboto" pitchFamily="34" charset="-120"/>
              </a:rPr>
              <a:t>Align </a:t>
            </a:r>
            <a:r>
              <a:rPr lang="en-US" sz="1100" dirty="0">
                <a:solidFill>
                  <a:srgbClr val="15213F"/>
                </a:solidFill>
                <a:latin typeface="Roboto" pitchFamily="34" charset="0"/>
                <a:ea typeface="Roboto" pitchFamily="34" charset="-122"/>
                <a:cs typeface="Roboto" pitchFamily="34" charset="-120"/>
              </a:rPr>
              <a:t>→ lands near "flamingo," "detective hat," "magnifying glass." </a:t>
            </a:r>
            <a:endParaRPr lang="en-US" sz="1100" dirty="0"/>
          </a:p>
          <a:p>
            <a:pPr marL="0" indent="0" algn="l">
              <a:lnSpc>
                <a:spcPts val="1650"/>
              </a:lnSpc>
              <a:buNone/>
            </a:pPr>
            <a:r>
              <a:rPr lang="en-US" sz="1100" b="1" dirty="0">
                <a:solidFill>
                  <a:srgbClr val="15213F"/>
                </a:solidFill>
                <a:latin typeface="Roboto" pitchFamily="34" charset="0"/>
                <a:ea typeface="Roboto" pitchFamily="34" charset="-122"/>
                <a:cs typeface="Roboto" pitchFamily="34" charset="-120"/>
              </a:rPr>
              <a:t>Fuse </a:t>
            </a:r>
            <a:r>
              <a:rPr lang="en-US" sz="1100" dirty="0">
                <a:solidFill>
                  <a:srgbClr val="15213F"/>
                </a:solidFill>
                <a:latin typeface="Roboto" pitchFamily="34" charset="0"/>
                <a:ea typeface="Roboto" pitchFamily="34" charset="-122"/>
                <a:cs typeface="Roboto" pitchFamily="34" charset="-120"/>
              </a:rPr>
              <a:t>→ single scene representation.</a:t>
            </a:r>
            <a:endParaRPr lang="en-US" sz="1100" dirty="0"/>
          </a:p>
        </p:txBody>
      </p:sp>
      <p:pic>
        <p:nvPicPr>
          <p:cNvPr id="11" name="Image 3" descr="preencoded.png"/>
          <p:cNvPicPr>
            <a:picLocks noChangeAspect="1"/>
          </p:cNvPicPr>
          <p:nvPr/>
        </p:nvPicPr>
        <p:blipFill>
          <a:blip r:embed="rId6"/>
          <a:stretch>
            <a:fillRect/>
          </a:stretch>
        </p:blipFill>
        <p:spPr>
          <a:xfrm>
            <a:off x="7073578" y="1950690"/>
            <a:ext cx="1574304" cy="446559"/>
          </a:xfrm>
          <a:prstGeom prst="rect">
            <a:avLst/>
          </a:prstGeom>
        </p:spPr>
      </p:pic>
      <p:sp>
        <p:nvSpPr>
          <p:cNvPr id="12" name="Text 6"/>
          <p:cNvSpPr/>
          <p:nvPr/>
        </p:nvSpPr>
        <p:spPr>
          <a:xfrm>
            <a:off x="7185199" y="2497708"/>
            <a:ext cx="1351062"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ACT</a:t>
            </a:r>
            <a:endParaRPr lang="en-US" sz="1050" dirty="0"/>
          </a:p>
        </p:txBody>
      </p:sp>
      <p:sp>
        <p:nvSpPr>
          <p:cNvPr id="13" name="Text 7"/>
          <p:cNvSpPr/>
          <p:nvPr/>
        </p:nvSpPr>
        <p:spPr>
          <a:xfrm>
            <a:off x="7185199" y="2770063"/>
            <a:ext cx="1351062" cy="1484561"/>
          </a:xfrm>
          <a:prstGeom prst="rect">
            <a:avLst/>
          </a:prstGeom>
          <a:noFill/>
          <a:ln/>
        </p:spPr>
        <p:txBody>
          <a:bodyPr wrap="square" lIns="0" tIns="0" rIns="0" bIns="0" rtlCol="0" anchor="t"/>
          <a:lstStyle/>
          <a:p>
            <a:pPr marL="0" indent="0" algn="l">
              <a:lnSpc>
                <a:spcPts val="1650"/>
              </a:lnSpc>
              <a:buNone/>
            </a:pPr>
            <a:r>
              <a:rPr lang="en-US" sz="1100" dirty="0">
                <a:solidFill>
                  <a:srgbClr val="15213F"/>
                </a:solidFill>
                <a:latin typeface="Roboto" pitchFamily="34" charset="0"/>
                <a:ea typeface="Roboto" pitchFamily="34" charset="-122"/>
                <a:cs typeface="Roboto" pitchFamily="34" charset="-120"/>
              </a:rPr>
              <a:t>AI generates a brand new image: a flamingo standing tall, wearing a tiny detective hat, and holding a magnifying glass in its beak.</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10319"/>
            <a:ext cx="6216551"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Mini Activity 1: Applying the Multimodal Framework</a:t>
            </a:r>
            <a:endParaRPr lang="en-US" sz="1950" dirty="0"/>
          </a:p>
        </p:txBody>
      </p:sp>
      <p:sp>
        <p:nvSpPr>
          <p:cNvPr id="3" name="Text 1"/>
          <p:cNvSpPr/>
          <p:nvPr/>
        </p:nvSpPr>
        <p:spPr>
          <a:xfrm>
            <a:off x="496119" y="879128"/>
            <a:ext cx="8151763" cy="357188"/>
          </a:xfrm>
          <a:prstGeom prst="rect">
            <a:avLst/>
          </a:prstGeom>
          <a:noFill/>
          <a:ln/>
        </p:spPr>
        <p:txBody>
          <a:bodyPr wrap="squar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Instructions:</a:t>
            </a:r>
            <a:r>
              <a:rPr lang="en-US" sz="950" dirty="0">
                <a:solidFill>
                  <a:srgbClr val="15213F"/>
                </a:solidFill>
                <a:latin typeface="Roboto" pitchFamily="34" charset="0"/>
                <a:ea typeface="Roboto" pitchFamily="34" charset="-122"/>
                <a:cs typeface="Roboto" pitchFamily="34" charset="-120"/>
              </a:rPr>
              <a:t> Read each scenario and answer the question by applying what you've learned about how multimodal AI works. Don't just guess - think through the stages.</a:t>
            </a:r>
            <a:endParaRPr lang="en-US" sz="950" dirty="0"/>
          </a:p>
        </p:txBody>
      </p:sp>
      <p:sp>
        <p:nvSpPr>
          <p:cNvPr id="4" name="Shape 2"/>
          <p:cNvSpPr/>
          <p:nvPr/>
        </p:nvSpPr>
        <p:spPr>
          <a:xfrm>
            <a:off x="496119" y="1325612"/>
            <a:ext cx="8151763" cy="3407569"/>
          </a:xfrm>
          <a:prstGeom prst="roundRect">
            <a:avLst>
              <a:gd name="adj" fmla="val 437"/>
            </a:avLst>
          </a:prstGeom>
          <a:noFill/>
          <a:ln w="4763">
            <a:solidFill>
              <a:srgbClr val="000000">
                <a:alpha val="8000"/>
              </a:srgbClr>
            </a:solidFill>
            <a:prstDash val="solid"/>
          </a:ln>
        </p:spPr>
        <p:txBody>
          <a:bodyPr/>
          <a:lstStyle/>
          <a:p>
            <a:endParaRPr lang="en-IN"/>
          </a:p>
        </p:txBody>
      </p:sp>
      <p:grpSp>
        <p:nvGrpSpPr>
          <p:cNvPr id="16" name="Group 15">
            <a:extLst>
              <a:ext uri="{FF2B5EF4-FFF2-40B4-BE49-F238E27FC236}">
                <a16:creationId xmlns:a16="http://schemas.microsoft.com/office/drawing/2014/main" id="{301D72FD-8CAE-C177-9873-43865DD55F16}"/>
              </a:ext>
            </a:extLst>
          </p:cNvPr>
          <p:cNvGrpSpPr/>
          <p:nvPr/>
        </p:nvGrpSpPr>
        <p:grpSpPr>
          <a:xfrm>
            <a:off x="600149" y="1382762"/>
            <a:ext cx="7943776" cy="178594"/>
            <a:chOff x="600149" y="1382762"/>
            <a:chExt cx="7943776" cy="178594"/>
          </a:xfrm>
        </p:grpSpPr>
        <p:sp>
          <p:nvSpPr>
            <p:cNvPr id="5" name="Text 3"/>
            <p:cNvSpPr/>
            <p:nvPr/>
          </p:nvSpPr>
          <p:spPr>
            <a:xfrm>
              <a:off x="600149" y="1382762"/>
              <a:ext cx="3766914"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Scenario</a:t>
              </a:r>
              <a:endParaRPr lang="en-US" sz="950" dirty="0"/>
            </a:p>
          </p:txBody>
        </p:sp>
        <p:sp>
          <p:nvSpPr>
            <p:cNvPr id="6" name="Text 4"/>
            <p:cNvSpPr/>
            <p:nvPr/>
          </p:nvSpPr>
          <p:spPr>
            <a:xfrm>
              <a:off x="4570214" y="1382762"/>
              <a:ext cx="3973711"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Your Answer</a:t>
              </a:r>
              <a:endParaRPr lang="en-US" sz="950" dirty="0"/>
            </a:p>
          </p:txBody>
        </p:sp>
      </p:grpSp>
      <p:sp>
        <p:nvSpPr>
          <p:cNvPr id="7" name="Text 5"/>
          <p:cNvSpPr/>
          <p:nvPr/>
        </p:nvSpPr>
        <p:spPr>
          <a:xfrm>
            <a:off x="600149" y="1670893"/>
            <a:ext cx="3766914" cy="714375"/>
          </a:xfrm>
          <a:prstGeom prst="rect">
            <a:avLst/>
          </a:prstGeom>
          <a:noFill/>
          <a:ln/>
        </p:spPr>
        <p:txBody>
          <a:bodyPr wrap="squar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1</a:t>
            </a:r>
            <a:r>
              <a:rPr lang="en-US" sz="950" dirty="0">
                <a:solidFill>
                  <a:srgbClr val="15213F"/>
                </a:solidFill>
                <a:latin typeface="Roboto" pitchFamily="34" charset="0"/>
                <a:ea typeface="Roboto" pitchFamily="34" charset="-122"/>
                <a:cs typeface="Roboto" pitchFamily="34" charset="-120"/>
              </a:rPr>
              <a:t> You ask a multimodal AI to describe a photo of a raccoon holding a tiny umbrella. The AI says, "A raccoon holds an umbrella." What stages did the AI go through to produce this answer? List them in order.</a:t>
            </a:r>
            <a:endParaRPr lang="en-US" sz="950" dirty="0"/>
          </a:p>
        </p:txBody>
      </p:sp>
      <p:grpSp>
        <p:nvGrpSpPr>
          <p:cNvPr id="17" name="Group 16">
            <a:extLst>
              <a:ext uri="{FF2B5EF4-FFF2-40B4-BE49-F238E27FC236}">
                <a16:creationId xmlns:a16="http://schemas.microsoft.com/office/drawing/2014/main" id="{077BECD0-FFF1-742F-CBF6-E682D9CDF62D}"/>
              </a:ext>
            </a:extLst>
          </p:cNvPr>
          <p:cNvGrpSpPr/>
          <p:nvPr/>
        </p:nvGrpSpPr>
        <p:grpSpPr>
          <a:xfrm>
            <a:off x="4570214" y="1670893"/>
            <a:ext cx="3973711" cy="762000"/>
            <a:chOff x="4570214" y="1670893"/>
            <a:chExt cx="3973711" cy="762000"/>
          </a:xfrm>
        </p:grpSpPr>
        <p:sp>
          <p:nvSpPr>
            <p:cNvPr id="8" name="Text 6"/>
            <p:cNvSpPr/>
            <p:nvPr/>
          </p:nvSpPr>
          <p:spPr>
            <a:xfrm>
              <a:off x="4570214" y="1670893"/>
              <a:ext cx="3973711"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Sense → Think (Encode → Align → Fuse) → Act</a:t>
              </a:r>
              <a:endParaRPr lang="en-US" sz="950" dirty="0"/>
            </a:p>
          </p:txBody>
        </p:sp>
        <p:sp>
          <p:nvSpPr>
            <p:cNvPr id="9" name="Text 7"/>
            <p:cNvSpPr/>
            <p:nvPr/>
          </p:nvSpPr>
          <p:spPr>
            <a:xfrm>
              <a:off x="4570214" y="1897112"/>
              <a:ext cx="3973711" cy="535781"/>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The AI must first sense the image and text, encode both into secret codes, align them so "raccoon" and "umbrella" map nearby, fuse that aligned info, and finally act by generating text.</a:t>
              </a:r>
              <a:endParaRPr lang="en-US" sz="950" dirty="0"/>
            </a:p>
          </p:txBody>
        </p:sp>
      </p:grpSp>
      <p:sp>
        <p:nvSpPr>
          <p:cNvPr id="10" name="Text 8"/>
          <p:cNvSpPr/>
          <p:nvPr/>
        </p:nvSpPr>
        <p:spPr>
          <a:xfrm>
            <a:off x="600149" y="2542431"/>
            <a:ext cx="3766914" cy="357188"/>
          </a:xfrm>
          <a:prstGeom prst="rect">
            <a:avLst/>
          </a:prstGeom>
          <a:noFill/>
          <a:ln/>
        </p:spPr>
        <p:txBody>
          <a:bodyPr wrap="squar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2</a:t>
            </a:r>
            <a:r>
              <a:rPr lang="en-US" sz="950" dirty="0">
                <a:solidFill>
                  <a:srgbClr val="15213F"/>
                </a:solidFill>
                <a:latin typeface="Roboto" pitchFamily="34" charset="0"/>
                <a:ea typeface="Roboto" pitchFamily="34" charset="-122"/>
                <a:cs typeface="Roboto" pitchFamily="34" charset="-120"/>
              </a:rPr>
              <a:t> Why does the AI need an "Align" step? What would happen if it skipped alignment and tried to fuse the codes directly?</a:t>
            </a:r>
            <a:endParaRPr lang="en-US" sz="950" dirty="0"/>
          </a:p>
        </p:txBody>
      </p:sp>
      <p:grpSp>
        <p:nvGrpSpPr>
          <p:cNvPr id="18" name="Group 17">
            <a:extLst>
              <a:ext uri="{FF2B5EF4-FFF2-40B4-BE49-F238E27FC236}">
                <a16:creationId xmlns:a16="http://schemas.microsoft.com/office/drawing/2014/main" id="{A4F64870-85FB-86A5-E1C4-FB217F9F7E00}"/>
              </a:ext>
            </a:extLst>
          </p:cNvPr>
          <p:cNvGrpSpPr/>
          <p:nvPr/>
        </p:nvGrpSpPr>
        <p:grpSpPr>
          <a:xfrm>
            <a:off x="4570214" y="2542431"/>
            <a:ext cx="3973711" cy="1119188"/>
            <a:chOff x="4570214" y="2542431"/>
            <a:chExt cx="3973711" cy="1119188"/>
          </a:xfrm>
        </p:grpSpPr>
        <p:sp>
          <p:nvSpPr>
            <p:cNvPr id="11" name="Text 9"/>
            <p:cNvSpPr/>
            <p:nvPr/>
          </p:nvSpPr>
          <p:spPr>
            <a:xfrm>
              <a:off x="4570214" y="2542431"/>
              <a:ext cx="3973711"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Alignment is Essential</a:t>
              </a:r>
              <a:endParaRPr lang="en-US" sz="950" dirty="0"/>
            </a:p>
          </p:txBody>
        </p:sp>
        <p:sp>
          <p:nvSpPr>
            <p:cNvPr id="12" name="Text 10"/>
            <p:cNvSpPr/>
            <p:nvPr/>
          </p:nvSpPr>
          <p:spPr>
            <a:xfrm>
              <a:off x="4570214" y="2768650"/>
              <a:ext cx="3973711" cy="892969"/>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Alignment ensures that the secret codes for similar concepts are close together in the Joint Embedding Space. Without it, the code for "raccoon" from the image and the code for "raccoon" from the text might be completely unrelated, and the AI wouldn't know they refer to the same thing. Fusion would produce nonsense.</a:t>
              </a:r>
              <a:endParaRPr lang="en-US" sz="950" dirty="0"/>
            </a:p>
          </p:txBody>
        </p:sp>
      </p:grpSp>
      <p:sp>
        <p:nvSpPr>
          <p:cNvPr id="13" name="Text 11"/>
          <p:cNvSpPr/>
          <p:nvPr/>
        </p:nvSpPr>
        <p:spPr>
          <a:xfrm>
            <a:off x="600149" y="3771156"/>
            <a:ext cx="3766914" cy="535781"/>
          </a:xfrm>
          <a:prstGeom prst="rect">
            <a:avLst/>
          </a:prstGeom>
          <a:noFill/>
          <a:ln/>
        </p:spPr>
        <p:txBody>
          <a:bodyPr wrap="squar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3</a:t>
            </a:r>
            <a:r>
              <a:rPr lang="en-US" sz="950" dirty="0">
                <a:solidFill>
                  <a:srgbClr val="15213F"/>
                </a:solidFill>
                <a:latin typeface="Roboto" pitchFamily="34" charset="0"/>
                <a:ea typeface="Roboto" pitchFamily="34" charset="-122"/>
                <a:cs typeface="Roboto" pitchFamily="34" charset="-120"/>
              </a:rPr>
              <a:t> An AI generates an image of "a sloth wearing a party hat and holding a balloon." The image shows a sloth and a party hat, but the balloon is missing. What likely went wrong in the AI's process?</a:t>
            </a:r>
            <a:endParaRPr lang="en-US" sz="950" dirty="0"/>
          </a:p>
        </p:txBody>
      </p:sp>
      <p:grpSp>
        <p:nvGrpSpPr>
          <p:cNvPr id="19" name="Group 18">
            <a:extLst>
              <a:ext uri="{FF2B5EF4-FFF2-40B4-BE49-F238E27FC236}">
                <a16:creationId xmlns:a16="http://schemas.microsoft.com/office/drawing/2014/main" id="{6EA3ECBD-6398-C093-A00B-8B72B3FFEE37}"/>
              </a:ext>
            </a:extLst>
          </p:cNvPr>
          <p:cNvGrpSpPr/>
          <p:nvPr/>
        </p:nvGrpSpPr>
        <p:grpSpPr>
          <a:xfrm>
            <a:off x="4570214" y="3771156"/>
            <a:ext cx="3973711" cy="904875"/>
            <a:chOff x="4570214" y="3771156"/>
            <a:chExt cx="3973711" cy="904875"/>
          </a:xfrm>
        </p:grpSpPr>
        <p:sp>
          <p:nvSpPr>
            <p:cNvPr id="14" name="Text 12"/>
            <p:cNvSpPr/>
            <p:nvPr/>
          </p:nvSpPr>
          <p:spPr>
            <a:xfrm>
              <a:off x="4570214" y="3771156"/>
              <a:ext cx="3973711" cy="142875"/>
            </a:xfrm>
            <a:prstGeom prst="rect">
              <a:avLst/>
            </a:prstGeom>
            <a:noFill/>
            <a:ln/>
          </p:spPr>
          <p:txBody>
            <a:bodyPr wrap="none" lIns="0" tIns="0" rIns="0" bIns="0" rtlCol="0" anchor="t"/>
            <a:lstStyle/>
            <a:p>
              <a:pPr marL="0" indent="0" algn="l">
                <a:lnSpc>
                  <a:spcPts val="1100"/>
                </a:lnSpc>
                <a:buNone/>
              </a:pPr>
              <a:r>
                <a:rPr lang="en-US" sz="950" b="1" dirty="0">
                  <a:solidFill>
                    <a:srgbClr val="15213F"/>
                  </a:solidFill>
                  <a:latin typeface="Roboto" pitchFamily="34" charset="0"/>
                  <a:ea typeface="Roboto" pitchFamily="34" charset="-122"/>
                  <a:cs typeface="Roboto" pitchFamily="34" charset="-120"/>
                </a:rPr>
                <a:t>Partial Fusion Failure</a:t>
              </a:r>
              <a:endParaRPr lang="en-US" sz="950" dirty="0"/>
            </a:p>
          </p:txBody>
        </p:sp>
        <p:sp>
          <p:nvSpPr>
            <p:cNvPr id="15" name="Text 13"/>
            <p:cNvSpPr/>
            <p:nvPr/>
          </p:nvSpPr>
          <p:spPr>
            <a:xfrm>
              <a:off x="4570214" y="3961656"/>
              <a:ext cx="3973711" cy="714375"/>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The AI successfully encoded and aligned the sloth and hat but likely failed to fuse the balloon concept correctly. It understood some nouns but not all of them. This is a common failure - some visual concepts are harder to represent together than others.</a:t>
              </a:r>
              <a:endParaRPr lang="en-US" sz="9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932929"/>
            <a:ext cx="4497884"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Common Multimodal AI Tasks</a:t>
            </a:r>
            <a:endParaRPr lang="en-US" sz="2400" dirty="0"/>
          </a:p>
        </p:txBody>
      </p:sp>
      <p:sp>
        <p:nvSpPr>
          <p:cNvPr id="3" name="Shape 1"/>
          <p:cNvSpPr/>
          <p:nvPr/>
        </p:nvSpPr>
        <p:spPr>
          <a:xfrm>
            <a:off x="496119" y="1568500"/>
            <a:ext cx="8151763" cy="2641997"/>
          </a:xfrm>
          <a:prstGeom prst="roundRect">
            <a:avLst>
              <a:gd name="adj" fmla="val 704"/>
            </a:avLst>
          </a:prstGeom>
          <a:noFill/>
          <a:ln w="4763">
            <a:solidFill>
              <a:srgbClr val="000000">
                <a:alpha val="8000"/>
              </a:srgbClr>
            </a:solidFill>
            <a:prstDash val="solid"/>
          </a:ln>
        </p:spPr>
        <p:txBody>
          <a:bodyPr/>
          <a:lstStyle/>
          <a:p>
            <a:endParaRPr lang="en-IN"/>
          </a:p>
        </p:txBody>
      </p:sp>
      <p:grpSp>
        <p:nvGrpSpPr>
          <p:cNvPr id="16" name="Group 15">
            <a:extLst>
              <a:ext uri="{FF2B5EF4-FFF2-40B4-BE49-F238E27FC236}">
                <a16:creationId xmlns:a16="http://schemas.microsoft.com/office/drawing/2014/main" id="{9A2C4599-A38C-11CC-746C-C9EDBEA4605E}"/>
              </a:ext>
            </a:extLst>
          </p:cNvPr>
          <p:cNvGrpSpPr/>
          <p:nvPr/>
        </p:nvGrpSpPr>
        <p:grpSpPr>
          <a:xfrm>
            <a:off x="625004" y="1652439"/>
            <a:ext cx="7894142" cy="248096"/>
            <a:chOff x="625004" y="1652439"/>
            <a:chExt cx="7894142" cy="248096"/>
          </a:xfrm>
        </p:grpSpPr>
        <p:sp>
          <p:nvSpPr>
            <p:cNvPr id="4" name="Text 2"/>
            <p:cNvSpPr/>
            <p:nvPr/>
          </p:nvSpPr>
          <p:spPr>
            <a:xfrm>
              <a:off x="625004" y="1652439"/>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a:t>
              </a:r>
              <a:endParaRPr lang="en-US" sz="1200" dirty="0"/>
            </a:p>
          </p:txBody>
        </p:sp>
        <p:sp>
          <p:nvSpPr>
            <p:cNvPr id="5" name="Text 3"/>
            <p:cNvSpPr/>
            <p:nvPr/>
          </p:nvSpPr>
          <p:spPr>
            <a:xfrm>
              <a:off x="2688134" y="1652439"/>
              <a:ext cx="188051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Does</a:t>
              </a:r>
              <a:endParaRPr lang="en-US" sz="1200" dirty="0"/>
            </a:p>
          </p:txBody>
        </p:sp>
        <p:sp>
          <p:nvSpPr>
            <p:cNvPr id="6" name="Text 4"/>
            <p:cNvSpPr/>
            <p:nvPr/>
          </p:nvSpPr>
          <p:spPr>
            <a:xfrm>
              <a:off x="4821362" y="1652439"/>
              <a:ext cx="369778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Example</a:t>
              </a:r>
              <a:endParaRPr lang="en-US" sz="1200" dirty="0"/>
            </a:p>
          </p:txBody>
        </p:sp>
      </p:grpSp>
      <p:sp>
        <p:nvSpPr>
          <p:cNvPr id="7" name="Text 5"/>
          <p:cNvSpPr/>
          <p:nvPr/>
        </p:nvSpPr>
        <p:spPr>
          <a:xfrm>
            <a:off x="625004" y="2063651"/>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Image Captioning</a:t>
            </a:r>
            <a:endParaRPr lang="en-US" sz="1200" dirty="0"/>
          </a:p>
        </p:txBody>
      </p:sp>
      <p:sp>
        <p:nvSpPr>
          <p:cNvPr id="8" name="Text 6"/>
          <p:cNvSpPr/>
          <p:nvPr/>
        </p:nvSpPr>
        <p:spPr>
          <a:xfrm>
            <a:off x="2688134" y="2063651"/>
            <a:ext cx="188051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Generates a text description of an image.</a:t>
            </a:r>
            <a:endParaRPr lang="en-US" sz="1200" dirty="0"/>
          </a:p>
        </p:txBody>
      </p:sp>
      <p:sp>
        <p:nvSpPr>
          <p:cNvPr id="9" name="Text 7"/>
          <p:cNvSpPr/>
          <p:nvPr/>
        </p:nvSpPr>
        <p:spPr>
          <a:xfrm>
            <a:off x="4821362" y="2063651"/>
            <a:ext cx="3697784"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Photo of a lighthouse with a glowing orb floating above it → </a:t>
            </a:r>
            <a:r>
              <a:rPr lang="en-US" sz="1200" i="1" dirty="0">
                <a:solidFill>
                  <a:srgbClr val="15213F"/>
                </a:solidFill>
                <a:latin typeface="Roboto" pitchFamily="34" charset="0"/>
                <a:ea typeface="Roboto" pitchFamily="34" charset="-122"/>
                <a:cs typeface="Roboto" pitchFamily="34" charset="-120"/>
              </a:rPr>
              <a:t>"A lighthouse stands beneath a mysterious glowing orb in the night sky."</a:t>
            </a:r>
            <a:endParaRPr lang="en-US" sz="1200" dirty="0"/>
          </a:p>
        </p:txBody>
      </p:sp>
      <p:sp>
        <p:nvSpPr>
          <p:cNvPr id="10" name="Text 8"/>
          <p:cNvSpPr/>
          <p:nvPr/>
        </p:nvSpPr>
        <p:spPr>
          <a:xfrm>
            <a:off x="625004" y="2971056"/>
            <a:ext cx="1810420"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Visual Question Answering (VQA)</a:t>
            </a:r>
            <a:endParaRPr lang="en-US" sz="1200" dirty="0"/>
          </a:p>
        </p:txBody>
      </p:sp>
      <p:sp>
        <p:nvSpPr>
          <p:cNvPr id="11" name="Text 9"/>
          <p:cNvSpPr/>
          <p:nvPr/>
        </p:nvSpPr>
        <p:spPr>
          <a:xfrm>
            <a:off x="2688134" y="2971056"/>
            <a:ext cx="188051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Answers specific questions about an image.</a:t>
            </a:r>
            <a:endParaRPr lang="en-US" sz="1200" dirty="0"/>
          </a:p>
        </p:txBody>
      </p:sp>
      <p:sp>
        <p:nvSpPr>
          <p:cNvPr id="12" name="Text 10"/>
          <p:cNvSpPr/>
          <p:nvPr/>
        </p:nvSpPr>
        <p:spPr>
          <a:xfrm>
            <a:off x="4821362" y="2971056"/>
            <a:ext cx="3697784" cy="496193"/>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"What is floating above the lighthouse?"</a:t>
            </a:r>
            <a:r>
              <a:rPr lang="en-US" sz="1200" dirty="0">
                <a:solidFill>
                  <a:srgbClr val="15213F"/>
                </a:solidFill>
                <a:latin typeface="Roboto" pitchFamily="34" charset="0"/>
                <a:ea typeface="Roboto" pitchFamily="34" charset="-122"/>
                <a:cs typeface="Roboto" pitchFamily="34" charset="-120"/>
              </a:rPr>
              <a:t> → </a:t>
            </a:r>
            <a:r>
              <a:rPr lang="en-US" sz="1200" i="1" dirty="0">
                <a:solidFill>
                  <a:srgbClr val="15213F"/>
                </a:solidFill>
                <a:latin typeface="Roboto" pitchFamily="34" charset="0"/>
                <a:ea typeface="Roboto" pitchFamily="34" charset="-122"/>
                <a:cs typeface="Roboto" pitchFamily="34" charset="-120"/>
              </a:rPr>
              <a:t>"A glowing orb."</a:t>
            </a:r>
            <a:endParaRPr lang="en-US" sz="1200" dirty="0"/>
          </a:p>
        </p:txBody>
      </p:sp>
      <p:sp>
        <p:nvSpPr>
          <p:cNvPr id="13" name="Text 11"/>
          <p:cNvSpPr/>
          <p:nvPr/>
        </p:nvSpPr>
        <p:spPr>
          <a:xfrm>
            <a:off x="625004" y="3630364"/>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Text‑to‑Image Generation</a:t>
            </a:r>
            <a:endParaRPr lang="en-US" sz="1200" dirty="0"/>
          </a:p>
        </p:txBody>
      </p:sp>
      <p:sp>
        <p:nvSpPr>
          <p:cNvPr id="14" name="Text 12"/>
          <p:cNvSpPr/>
          <p:nvPr/>
        </p:nvSpPr>
        <p:spPr>
          <a:xfrm>
            <a:off x="2688134" y="3630364"/>
            <a:ext cx="188051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Creates a new image from a text prompt.</a:t>
            </a:r>
            <a:endParaRPr lang="en-US" sz="1200" dirty="0"/>
          </a:p>
        </p:txBody>
      </p:sp>
      <p:sp>
        <p:nvSpPr>
          <p:cNvPr id="15" name="Text 13"/>
          <p:cNvSpPr/>
          <p:nvPr/>
        </p:nvSpPr>
        <p:spPr>
          <a:xfrm>
            <a:off x="4821362" y="3630364"/>
            <a:ext cx="3697784" cy="496193"/>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"An hourglass with swirling galaxies inside the sand."</a:t>
            </a:r>
            <a:r>
              <a:rPr lang="en-US" sz="1200" dirty="0">
                <a:solidFill>
                  <a:srgbClr val="15213F"/>
                </a:solidFill>
                <a:latin typeface="Roboto" pitchFamily="34" charset="0"/>
                <a:ea typeface="Roboto" pitchFamily="34" charset="-122"/>
                <a:cs typeface="Roboto" pitchFamily="34" charset="-120"/>
              </a:rPr>
              <a:t> → AI generates the image.</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603275"/>
            <a:ext cx="4497884"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Common Multimodal AI Tasks</a:t>
            </a:r>
            <a:endParaRPr lang="en-US" sz="2400" dirty="0"/>
          </a:p>
        </p:txBody>
      </p:sp>
      <p:sp>
        <p:nvSpPr>
          <p:cNvPr id="3" name="Shape 1"/>
          <p:cNvSpPr/>
          <p:nvPr/>
        </p:nvSpPr>
        <p:spPr>
          <a:xfrm>
            <a:off x="496119" y="1238845"/>
            <a:ext cx="8151763" cy="3301305"/>
          </a:xfrm>
          <a:prstGeom prst="roundRect">
            <a:avLst>
              <a:gd name="adj" fmla="val 564"/>
            </a:avLst>
          </a:prstGeom>
          <a:noFill/>
          <a:ln w="4763">
            <a:solidFill>
              <a:srgbClr val="000000">
                <a:alpha val="8000"/>
              </a:srgbClr>
            </a:solidFill>
            <a:prstDash val="solid"/>
          </a:ln>
        </p:spPr>
        <p:txBody>
          <a:bodyPr/>
          <a:lstStyle/>
          <a:p>
            <a:endParaRPr lang="en-IN"/>
          </a:p>
        </p:txBody>
      </p:sp>
      <p:sp>
        <p:nvSpPr>
          <p:cNvPr id="4" name="Text 2"/>
          <p:cNvSpPr/>
          <p:nvPr/>
        </p:nvSpPr>
        <p:spPr>
          <a:xfrm>
            <a:off x="625004" y="1322784"/>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a:t>
            </a:r>
            <a:endParaRPr lang="en-US" sz="1200" dirty="0"/>
          </a:p>
        </p:txBody>
      </p:sp>
      <p:sp>
        <p:nvSpPr>
          <p:cNvPr id="5" name="Text 3"/>
          <p:cNvSpPr/>
          <p:nvPr/>
        </p:nvSpPr>
        <p:spPr>
          <a:xfrm>
            <a:off x="2688134" y="1322784"/>
            <a:ext cx="2170361"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Does</a:t>
            </a:r>
            <a:endParaRPr lang="en-US" sz="1200" dirty="0"/>
          </a:p>
        </p:txBody>
      </p:sp>
      <p:sp>
        <p:nvSpPr>
          <p:cNvPr id="6" name="Text 4"/>
          <p:cNvSpPr/>
          <p:nvPr/>
        </p:nvSpPr>
        <p:spPr>
          <a:xfrm>
            <a:off x="5111204" y="1322784"/>
            <a:ext cx="3407941"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Example</a:t>
            </a:r>
            <a:endParaRPr lang="en-US" sz="1200" dirty="0"/>
          </a:p>
        </p:txBody>
      </p:sp>
      <p:sp>
        <p:nvSpPr>
          <p:cNvPr id="7" name="Text 5"/>
          <p:cNvSpPr/>
          <p:nvPr/>
        </p:nvSpPr>
        <p:spPr>
          <a:xfrm>
            <a:off x="625004" y="1733996"/>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Text‑to‑Video Generation</a:t>
            </a:r>
            <a:endParaRPr lang="en-US" sz="1200" dirty="0"/>
          </a:p>
        </p:txBody>
      </p:sp>
      <p:sp>
        <p:nvSpPr>
          <p:cNvPr id="8" name="Text 6"/>
          <p:cNvSpPr/>
          <p:nvPr/>
        </p:nvSpPr>
        <p:spPr>
          <a:xfrm>
            <a:off x="2688134" y="1733996"/>
            <a:ext cx="2170361"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Creates a new video clip from a text prompt.</a:t>
            </a:r>
            <a:endParaRPr lang="en-US" sz="1200" dirty="0"/>
          </a:p>
        </p:txBody>
      </p:sp>
      <p:sp>
        <p:nvSpPr>
          <p:cNvPr id="9" name="Text 7"/>
          <p:cNvSpPr/>
          <p:nvPr/>
        </p:nvSpPr>
        <p:spPr>
          <a:xfrm>
            <a:off x="5111204" y="1733996"/>
            <a:ext cx="3407941" cy="744289"/>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"A typewriter typing by itself on a desk in a dim room, sheets of paper rising gently into the air."</a:t>
            </a:r>
            <a:r>
              <a:rPr lang="en-US" sz="1200" dirty="0">
                <a:solidFill>
                  <a:srgbClr val="15213F"/>
                </a:solidFill>
                <a:latin typeface="Roboto" pitchFamily="34" charset="0"/>
                <a:ea typeface="Roboto" pitchFamily="34" charset="-122"/>
                <a:cs typeface="Roboto" pitchFamily="34" charset="-120"/>
              </a:rPr>
              <a:t> → AI generates the clip.</a:t>
            </a:r>
            <a:endParaRPr lang="en-US" sz="1200" dirty="0"/>
          </a:p>
        </p:txBody>
      </p:sp>
      <p:sp>
        <p:nvSpPr>
          <p:cNvPr id="10" name="Text 8"/>
          <p:cNvSpPr/>
          <p:nvPr/>
        </p:nvSpPr>
        <p:spPr>
          <a:xfrm>
            <a:off x="625004" y="2641402"/>
            <a:ext cx="1810420"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Speech Recognition (ASR/STT)</a:t>
            </a:r>
            <a:endParaRPr lang="en-US" sz="1200" dirty="0"/>
          </a:p>
        </p:txBody>
      </p:sp>
      <p:sp>
        <p:nvSpPr>
          <p:cNvPr id="11" name="Text 9"/>
          <p:cNvSpPr/>
          <p:nvPr/>
        </p:nvSpPr>
        <p:spPr>
          <a:xfrm>
            <a:off x="2688134" y="2641402"/>
            <a:ext cx="217036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Converts spoken audio to text.</a:t>
            </a:r>
            <a:endParaRPr lang="en-US" sz="1200" dirty="0"/>
          </a:p>
        </p:txBody>
      </p:sp>
      <p:sp>
        <p:nvSpPr>
          <p:cNvPr id="12" name="Text 10"/>
          <p:cNvSpPr/>
          <p:nvPr/>
        </p:nvSpPr>
        <p:spPr>
          <a:xfrm>
            <a:off x="5111204" y="2641402"/>
            <a:ext cx="3407941"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Voice memo → </a:t>
            </a:r>
            <a:r>
              <a:rPr lang="en-US" sz="1200" i="1" dirty="0">
                <a:solidFill>
                  <a:srgbClr val="15213F"/>
                </a:solidFill>
                <a:latin typeface="Roboto" pitchFamily="34" charset="0"/>
                <a:ea typeface="Roboto" pitchFamily="34" charset="-122"/>
                <a:cs typeface="Roboto" pitchFamily="34" charset="-120"/>
              </a:rPr>
              <a:t>"Order two pizzas and a side salad."</a:t>
            </a:r>
            <a:endParaRPr lang="en-US" sz="1200" dirty="0"/>
          </a:p>
        </p:txBody>
      </p:sp>
      <p:sp>
        <p:nvSpPr>
          <p:cNvPr id="13" name="Text 11"/>
          <p:cNvSpPr/>
          <p:nvPr/>
        </p:nvSpPr>
        <p:spPr>
          <a:xfrm>
            <a:off x="625004" y="3300710"/>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Text‑to‑Speech (TTS)</a:t>
            </a:r>
            <a:endParaRPr lang="en-US" sz="1200" dirty="0"/>
          </a:p>
        </p:txBody>
      </p:sp>
      <p:sp>
        <p:nvSpPr>
          <p:cNvPr id="14" name="Text 12"/>
          <p:cNvSpPr/>
          <p:nvPr/>
        </p:nvSpPr>
        <p:spPr>
          <a:xfrm>
            <a:off x="2688134" y="3300710"/>
            <a:ext cx="2170361"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Converts written text to spoken audio.</a:t>
            </a:r>
            <a:endParaRPr lang="en-US" sz="1200" dirty="0"/>
          </a:p>
        </p:txBody>
      </p:sp>
      <p:sp>
        <p:nvSpPr>
          <p:cNvPr id="15" name="Text 13"/>
          <p:cNvSpPr/>
          <p:nvPr/>
        </p:nvSpPr>
        <p:spPr>
          <a:xfrm>
            <a:off x="5111204" y="3300710"/>
            <a:ext cx="3407941" cy="496193"/>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"Your package will arrive tomorrow morning."</a:t>
            </a:r>
            <a:r>
              <a:rPr lang="en-US" sz="1200" dirty="0">
                <a:solidFill>
                  <a:srgbClr val="15213F"/>
                </a:solidFill>
                <a:latin typeface="Roboto" pitchFamily="34" charset="0"/>
                <a:ea typeface="Roboto" pitchFamily="34" charset="-122"/>
                <a:cs typeface="Roboto" pitchFamily="34" charset="-120"/>
              </a:rPr>
              <a:t> → Spoken aloud.</a:t>
            </a:r>
            <a:endParaRPr lang="en-US" sz="1200" dirty="0"/>
          </a:p>
        </p:txBody>
      </p:sp>
      <p:sp>
        <p:nvSpPr>
          <p:cNvPr id="16" name="Text 14"/>
          <p:cNvSpPr/>
          <p:nvPr/>
        </p:nvSpPr>
        <p:spPr>
          <a:xfrm>
            <a:off x="625004" y="3960019"/>
            <a:ext cx="181042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Cross‑Modal Retrieval</a:t>
            </a:r>
            <a:endParaRPr lang="en-US" sz="1200" dirty="0"/>
          </a:p>
        </p:txBody>
      </p:sp>
      <p:sp>
        <p:nvSpPr>
          <p:cNvPr id="17" name="Text 15"/>
          <p:cNvSpPr/>
          <p:nvPr/>
        </p:nvSpPr>
        <p:spPr>
          <a:xfrm>
            <a:off x="2688134" y="3960019"/>
            <a:ext cx="2170361"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Finds one modality using another.</a:t>
            </a:r>
            <a:endParaRPr lang="en-US" sz="1200" dirty="0"/>
          </a:p>
        </p:txBody>
      </p:sp>
      <p:sp>
        <p:nvSpPr>
          <p:cNvPr id="18" name="Text 16"/>
          <p:cNvSpPr/>
          <p:nvPr/>
        </p:nvSpPr>
        <p:spPr>
          <a:xfrm>
            <a:off x="5111204" y="3960019"/>
            <a:ext cx="3407941"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Search </a:t>
            </a:r>
            <a:r>
              <a:rPr lang="en-US" sz="1200" i="1" dirty="0">
                <a:solidFill>
                  <a:srgbClr val="15213F"/>
                </a:solidFill>
                <a:latin typeface="Roboto" pitchFamily="34" charset="0"/>
                <a:ea typeface="Roboto" pitchFamily="34" charset="-122"/>
                <a:cs typeface="Roboto" pitchFamily="34" charset="-120"/>
              </a:rPr>
              <a:t>"lighthouse with glowing orb"</a:t>
            </a:r>
            <a:r>
              <a:rPr lang="en-US" sz="1200" dirty="0">
                <a:solidFill>
                  <a:srgbClr val="15213F"/>
                </a:solidFill>
                <a:latin typeface="Roboto" pitchFamily="34" charset="0"/>
                <a:ea typeface="Roboto" pitchFamily="34" charset="-122"/>
                <a:cs typeface="Roboto" pitchFamily="34" charset="-120"/>
              </a:rPr>
              <a:t> → Returns matching photos.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1473547"/>
            <a:ext cx="42060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Challenges in Multimodal AI</a:t>
            </a:r>
            <a:endParaRPr lang="en-US" sz="2400" dirty="0"/>
          </a:p>
        </p:txBody>
      </p:sp>
      <p:sp>
        <p:nvSpPr>
          <p:cNvPr id="3" name="Text 1"/>
          <p:cNvSpPr/>
          <p:nvPr/>
        </p:nvSpPr>
        <p:spPr>
          <a:xfrm>
            <a:off x="496119" y="2109118"/>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4" name="Group 13">
            <a:extLst>
              <a:ext uri="{FF2B5EF4-FFF2-40B4-BE49-F238E27FC236}">
                <a16:creationId xmlns:a16="http://schemas.microsoft.com/office/drawing/2014/main" id="{6CF3BDD6-C515-C061-3541-1850FBBAC3F3}"/>
              </a:ext>
            </a:extLst>
          </p:cNvPr>
          <p:cNvGrpSpPr/>
          <p:nvPr/>
        </p:nvGrpSpPr>
        <p:grpSpPr>
          <a:xfrm>
            <a:off x="496119" y="2496741"/>
            <a:ext cx="2634555" cy="524619"/>
            <a:chOff x="496119" y="2496741"/>
            <a:chExt cx="2634555" cy="524619"/>
          </a:xfrm>
        </p:grpSpPr>
        <p:sp>
          <p:nvSpPr>
            <p:cNvPr id="4" name="Shape 2"/>
            <p:cNvSpPr/>
            <p:nvPr/>
          </p:nvSpPr>
          <p:spPr>
            <a:xfrm>
              <a:off x="496119" y="2496741"/>
              <a:ext cx="263455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5" name="Text 3"/>
            <p:cNvSpPr/>
            <p:nvPr/>
          </p:nvSpPr>
          <p:spPr>
            <a:xfrm>
              <a:off x="634380" y="2635002"/>
              <a:ext cx="235803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Alignment</a:t>
              </a:r>
              <a:endParaRPr lang="en-US" sz="1200" dirty="0"/>
            </a:p>
          </p:txBody>
        </p:sp>
      </p:grpSp>
      <p:grpSp>
        <p:nvGrpSpPr>
          <p:cNvPr id="15" name="Group 14">
            <a:extLst>
              <a:ext uri="{FF2B5EF4-FFF2-40B4-BE49-F238E27FC236}">
                <a16:creationId xmlns:a16="http://schemas.microsoft.com/office/drawing/2014/main" id="{119D96CD-4D0B-365C-4945-58D7E4365EF4}"/>
              </a:ext>
            </a:extLst>
          </p:cNvPr>
          <p:cNvGrpSpPr/>
          <p:nvPr/>
        </p:nvGrpSpPr>
        <p:grpSpPr>
          <a:xfrm>
            <a:off x="3254648" y="2496741"/>
            <a:ext cx="2634630" cy="524619"/>
            <a:chOff x="3254648" y="2496741"/>
            <a:chExt cx="2634630" cy="524619"/>
          </a:xfrm>
        </p:grpSpPr>
        <p:sp>
          <p:nvSpPr>
            <p:cNvPr id="6" name="Shape 4"/>
            <p:cNvSpPr/>
            <p:nvPr/>
          </p:nvSpPr>
          <p:spPr>
            <a:xfrm>
              <a:off x="3254648" y="2496741"/>
              <a:ext cx="2634630"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7" name="Text 5"/>
            <p:cNvSpPr/>
            <p:nvPr/>
          </p:nvSpPr>
          <p:spPr>
            <a:xfrm>
              <a:off x="3392909" y="2635002"/>
              <a:ext cx="2358107"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Deepfakes</a:t>
              </a:r>
              <a:endParaRPr lang="en-US" sz="1200" dirty="0"/>
            </a:p>
          </p:txBody>
        </p:sp>
      </p:grpSp>
      <p:grpSp>
        <p:nvGrpSpPr>
          <p:cNvPr id="16" name="Group 15">
            <a:extLst>
              <a:ext uri="{FF2B5EF4-FFF2-40B4-BE49-F238E27FC236}">
                <a16:creationId xmlns:a16="http://schemas.microsoft.com/office/drawing/2014/main" id="{338E933E-F85E-2B9A-11F6-52BD43B261A3}"/>
              </a:ext>
            </a:extLst>
          </p:cNvPr>
          <p:cNvGrpSpPr/>
          <p:nvPr/>
        </p:nvGrpSpPr>
        <p:grpSpPr>
          <a:xfrm>
            <a:off x="6013252" y="2496741"/>
            <a:ext cx="2634555" cy="524619"/>
            <a:chOff x="6013252" y="2496741"/>
            <a:chExt cx="2634555" cy="524619"/>
          </a:xfrm>
        </p:grpSpPr>
        <p:sp>
          <p:nvSpPr>
            <p:cNvPr id="8" name="Shape 6"/>
            <p:cNvSpPr/>
            <p:nvPr/>
          </p:nvSpPr>
          <p:spPr>
            <a:xfrm>
              <a:off x="6013252" y="2496741"/>
              <a:ext cx="263455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9" name="Text 7"/>
            <p:cNvSpPr/>
            <p:nvPr/>
          </p:nvSpPr>
          <p:spPr>
            <a:xfrm>
              <a:off x="6151513" y="2635002"/>
              <a:ext cx="235803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Computational Cost</a:t>
              </a:r>
              <a:endParaRPr lang="en-US" sz="1200" dirty="0"/>
            </a:p>
          </p:txBody>
        </p:sp>
      </p:grpSp>
      <p:grpSp>
        <p:nvGrpSpPr>
          <p:cNvPr id="17" name="Group 16">
            <a:extLst>
              <a:ext uri="{FF2B5EF4-FFF2-40B4-BE49-F238E27FC236}">
                <a16:creationId xmlns:a16="http://schemas.microsoft.com/office/drawing/2014/main" id="{B6709F59-738F-500F-25ED-028490D95C04}"/>
              </a:ext>
            </a:extLst>
          </p:cNvPr>
          <p:cNvGrpSpPr/>
          <p:nvPr/>
        </p:nvGrpSpPr>
        <p:grpSpPr>
          <a:xfrm>
            <a:off x="496119" y="3145334"/>
            <a:ext cx="4013820" cy="524619"/>
            <a:chOff x="496119" y="3145334"/>
            <a:chExt cx="4013820" cy="524619"/>
          </a:xfrm>
        </p:grpSpPr>
        <p:sp>
          <p:nvSpPr>
            <p:cNvPr id="10" name="Shape 8"/>
            <p:cNvSpPr/>
            <p:nvPr/>
          </p:nvSpPr>
          <p:spPr>
            <a:xfrm>
              <a:off x="496119" y="3145334"/>
              <a:ext cx="4013820"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11" name="Text 9"/>
            <p:cNvSpPr/>
            <p:nvPr/>
          </p:nvSpPr>
          <p:spPr>
            <a:xfrm>
              <a:off x="634380" y="3283595"/>
              <a:ext cx="3737297"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Cross-Modal Bias</a:t>
              </a:r>
              <a:endParaRPr lang="en-US" sz="1200" dirty="0"/>
            </a:p>
          </p:txBody>
        </p:sp>
      </p:grpSp>
      <p:grpSp>
        <p:nvGrpSpPr>
          <p:cNvPr id="18" name="Group 17">
            <a:extLst>
              <a:ext uri="{FF2B5EF4-FFF2-40B4-BE49-F238E27FC236}">
                <a16:creationId xmlns:a16="http://schemas.microsoft.com/office/drawing/2014/main" id="{4224BCF9-D03C-ED90-E9FF-64373A81163F}"/>
              </a:ext>
            </a:extLst>
          </p:cNvPr>
          <p:cNvGrpSpPr/>
          <p:nvPr/>
        </p:nvGrpSpPr>
        <p:grpSpPr>
          <a:xfrm>
            <a:off x="4633913" y="3145334"/>
            <a:ext cx="4013895" cy="524619"/>
            <a:chOff x="4633913" y="3145334"/>
            <a:chExt cx="4013895" cy="524619"/>
          </a:xfrm>
        </p:grpSpPr>
        <p:sp>
          <p:nvSpPr>
            <p:cNvPr id="12" name="Shape 10"/>
            <p:cNvSpPr/>
            <p:nvPr/>
          </p:nvSpPr>
          <p:spPr>
            <a:xfrm>
              <a:off x="4633913" y="3145334"/>
              <a:ext cx="401389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13" name="Text 11"/>
            <p:cNvSpPr/>
            <p:nvPr/>
          </p:nvSpPr>
          <p:spPr>
            <a:xfrm>
              <a:off x="4772174" y="3283595"/>
              <a:ext cx="3737372"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Data Scarcity</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382563"/>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Mini Activity 2 : Try Creative Video Prompts </a:t>
            </a:r>
            <a:endParaRPr lang="en-US" sz="2400" dirty="0"/>
          </a:p>
        </p:txBody>
      </p:sp>
      <p:sp>
        <p:nvSpPr>
          <p:cNvPr id="4" name="Text 1"/>
          <p:cNvSpPr/>
          <p:nvPr/>
        </p:nvSpPr>
        <p:spPr>
          <a:xfrm>
            <a:off x="3925119" y="1343695"/>
            <a:ext cx="4722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Here's what video AI can imagine from these prompts:</a:t>
            </a:r>
            <a:endParaRPr lang="en-US" sz="1200" dirty="0"/>
          </a:p>
        </p:txBody>
      </p:sp>
      <p:sp>
        <p:nvSpPr>
          <p:cNvPr id="5" name="Text 2"/>
          <p:cNvSpPr/>
          <p:nvPr/>
        </p:nvSpPr>
        <p:spPr>
          <a:xfrm>
            <a:off x="3925119" y="1731318"/>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6" name="Shape 3"/>
          <p:cNvSpPr/>
          <p:nvPr/>
        </p:nvSpPr>
        <p:spPr>
          <a:xfrm>
            <a:off x="3925119" y="2118940"/>
            <a:ext cx="4722763" cy="2641997"/>
          </a:xfrm>
          <a:prstGeom prst="roundRect">
            <a:avLst>
              <a:gd name="adj" fmla="val 704"/>
            </a:avLst>
          </a:prstGeom>
          <a:noFill/>
          <a:ln w="4763">
            <a:solidFill>
              <a:srgbClr val="000000">
                <a:alpha val="8000"/>
              </a:srgbClr>
            </a:solidFill>
            <a:prstDash val="solid"/>
          </a:ln>
        </p:spPr>
        <p:txBody>
          <a:bodyPr/>
          <a:lstStyle/>
          <a:p>
            <a:endParaRPr lang="en-IN"/>
          </a:p>
        </p:txBody>
      </p:sp>
      <p:sp>
        <p:nvSpPr>
          <p:cNvPr id="7" name="Text 4"/>
          <p:cNvSpPr/>
          <p:nvPr/>
        </p:nvSpPr>
        <p:spPr>
          <a:xfrm>
            <a:off x="4053855" y="2202879"/>
            <a:ext cx="21062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Prompt</a:t>
            </a:r>
            <a:endParaRPr lang="en-US" sz="1200" dirty="0"/>
          </a:p>
        </p:txBody>
      </p:sp>
      <p:sp>
        <p:nvSpPr>
          <p:cNvPr id="8" name="Text 5"/>
          <p:cNvSpPr/>
          <p:nvPr/>
        </p:nvSpPr>
        <p:spPr>
          <a:xfrm>
            <a:off x="6412855" y="2202879"/>
            <a:ext cx="21062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Might Be Generated</a:t>
            </a:r>
            <a:endParaRPr lang="en-US" sz="1200" dirty="0"/>
          </a:p>
        </p:txBody>
      </p:sp>
      <p:sp>
        <p:nvSpPr>
          <p:cNvPr id="9" name="Text 6"/>
          <p:cNvSpPr/>
          <p:nvPr/>
        </p:nvSpPr>
        <p:spPr>
          <a:xfrm>
            <a:off x="4053855" y="2614092"/>
            <a:ext cx="2106290" cy="496193"/>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"A young goat in sunglasses dancing on a grand piano."</a:t>
            </a:r>
            <a:endParaRPr lang="en-US" sz="1200" dirty="0"/>
          </a:p>
        </p:txBody>
      </p:sp>
      <p:sp>
        <p:nvSpPr>
          <p:cNvPr id="10" name="Text 7"/>
          <p:cNvSpPr/>
          <p:nvPr/>
        </p:nvSpPr>
        <p:spPr>
          <a:xfrm>
            <a:off x="6412855" y="2614092"/>
            <a:ext cx="210629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playful clip of a goat hopping across piano keys.</a:t>
            </a:r>
            <a:endParaRPr lang="en-US" sz="1200" dirty="0"/>
          </a:p>
        </p:txBody>
      </p:sp>
      <p:sp>
        <p:nvSpPr>
          <p:cNvPr id="11" name="Text 8"/>
          <p:cNvSpPr/>
          <p:nvPr/>
        </p:nvSpPr>
        <p:spPr>
          <a:xfrm>
            <a:off x="4053855" y="3273400"/>
            <a:ext cx="2106290" cy="744289"/>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"A slice of pizza drifting through space near Saturn's rings."</a:t>
            </a:r>
            <a:endParaRPr lang="en-US" sz="1200" dirty="0"/>
          </a:p>
        </p:txBody>
      </p:sp>
      <p:sp>
        <p:nvSpPr>
          <p:cNvPr id="12" name="Text 9"/>
          <p:cNvSpPr/>
          <p:nvPr/>
        </p:nvSpPr>
        <p:spPr>
          <a:xfrm>
            <a:off x="6412855" y="3273400"/>
            <a:ext cx="2106290"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cinematic shot of floating pizza against a starry backdrop.</a:t>
            </a:r>
            <a:endParaRPr lang="en-US" sz="1200" dirty="0"/>
          </a:p>
        </p:txBody>
      </p:sp>
      <p:sp>
        <p:nvSpPr>
          <p:cNvPr id="13" name="Text 10"/>
          <p:cNvSpPr/>
          <p:nvPr/>
        </p:nvSpPr>
        <p:spPr>
          <a:xfrm>
            <a:off x="4053855" y="4180805"/>
            <a:ext cx="2106290" cy="496193"/>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"A robot tending a field of glowing blue flowers at dusk."</a:t>
            </a:r>
            <a:endParaRPr lang="en-US" sz="1200" dirty="0"/>
          </a:p>
        </p:txBody>
      </p:sp>
      <p:sp>
        <p:nvSpPr>
          <p:cNvPr id="14" name="Text 11"/>
          <p:cNvSpPr/>
          <p:nvPr/>
        </p:nvSpPr>
        <p:spPr>
          <a:xfrm>
            <a:off x="6412855" y="4180805"/>
            <a:ext cx="210629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futuristic scene with gentle motion.</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96119" y="540097"/>
            <a:ext cx="5518398" cy="368201"/>
          </a:xfrm>
          <a:prstGeom prst="rect">
            <a:avLst/>
          </a:prstGeom>
          <a:noFill/>
          <a:ln/>
        </p:spPr>
        <p:txBody>
          <a:bodyPr wrap="none" lIns="0" tIns="0" rIns="0" bIns="0" rtlCol="0" anchor="t"/>
          <a:lstStyle/>
          <a:p>
            <a:pPr marL="0" indent="0" algn="l">
              <a:lnSpc>
                <a:spcPts val="2850"/>
              </a:lnSpc>
              <a:buNone/>
            </a:pPr>
            <a:r>
              <a:rPr lang="en-US" sz="2300" dirty="0">
                <a:solidFill>
                  <a:srgbClr val="3257B8"/>
                </a:solidFill>
                <a:latin typeface="Roboto Slab" pitchFamily="34" charset="0"/>
                <a:ea typeface="Roboto Slab" pitchFamily="34" charset="-122"/>
                <a:cs typeface="Roboto Slab" pitchFamily="34" charset="-120"/>
              </a:rPr>
              <a:t>Real-World Multimodal AI Applications</a:t>
            </a:r>
            <a:endParaRPr lang="en-US" sz="2300" dirty="0"/>
          </a:p>
        </p:txBody>
      </p:sp>
      <p:sp>
        <p:nvSpPr>
          <p:cNvPr id="3" name="Text 1"/>
          <p:cNvSpPr/>
          <p:nvPr/>
        </p:nvSpPr>
        <p:spPr>
          <a:xfrm>
            <a:off x="496119" y="1132136"/>
            <a:ext cx="8151763"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Multimodal AI solves real problems.</a:t>
            </a:r>
            <a:endParaRPr lang="en-US" sz="1150" dirty="0"/>
          </a:p>
        </p:txBody>
      </p:sp>
      <p:grpSp>
        <p:nvGrpSpPr>
          <p:cNvPr id="19" name="Group 18">
            <a:extLst>
              <a:ext uri="{FF2B5EF4-FFF2-40B4-BE49-F238E27FC236}">
                <a16:creationId xmlns:a16="http://schemas.microsoft.com/office/drawing/2014/main" id="{9E0BE64F-40CD-5D70-7D78-514D7B091716}"/>
              </a:ext>
            </a:extLst>
          </p:cNvPr>
          <p:cNvGrpSpPr/>
          <p:nvPr/>
        </p:nvGrpSpPr>
        <p:grpSpPr>
          <a:xfrm>
            <a:off x="496119" y="1487835"/>
            <a:ext cx="2623988" cy="294605"/>
            <a:chOff x="496119" y="1487835"/>
            <a:chExt cx="2623988" cy="294605"/>
          </a:xfrm>
        </p:grpSpPr>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87835"/>
              <a:ext cx="294605" cy="294605"/>
            </a:xfrm>
            <a:prstGeom prst="rect">
              <a:avLst/>
            </a:prstGeom>
          </p:spPr>
        </p:pic>
        <p:sp>
          <p:nvSpPr>
            <p:cNvPr id="5" name="Text 2"/>
            <p:cNvSpPr/>
            <p:nvPr/>
          </p:nvSpPr>
          <p:spPr>
            <a:xfrm>
              <a:off x="930622" y="1487835"/>
              <a:ext cx="218948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Autonomous Vehicles</a:t>
              </a:r>
              <a:endParaRPr lang="en-US" sz="1150" dirty="0"/>
            </a:p>
          </p:txBody>
        </p:sp>
      </p:grpSp>
      <p:sp>
        <p:nvSpPr>
          <p:cNvPr id="6" name="Text 3"/>
          <p:cNvSpPr/>
          <p:nvPr/>
        </p:nvSpPr>
        <p:spPr>
          <a:xfrm>
            <a:off x="930622" y="1784747"/>
            <a:ext cx="2189485" cy="919163"/>
          </a:xfrm>
          <a:prstGeom prst="rect">
            <a:avLst/>
          </a:prstGeom>
          <a:noFill/>
          <a:ln/>
        </p:spPr>
        <p:txBody>
          <a:bodyPr wrap="squar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Sense:</a:t>
            </a:r>
            <a:r>
              <a:rPr lang="en-US" sz="1150" dirty="0">
                <a:solidFill>
                  <a:srgbClr val="15213F"/>
                </a:solidFill>
                <a:latin typeface="Roboto" pitchFamily="34" charset="0"/>
                <a:ea typeface="Roboto" pitchFamily="34" charset="-122"/>
                <a:cs typeface="Roboto" pitchFamily="34" charset="-120"/>
              </a:rPr>
              <a:t> Cameras, radar, lidar. </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Think:</a:t>
            </a:r>
            <a:r>
              <a:rPr lang="en-US" sz="1150" dirty="0">
                <a:solidFill>
                  <a:srgbClr val="15213F"/>
                </a:solidFill>
                <a:latin typeface="Roboto" pitchFamily="34" charset="0"/>
                <a:ea typeface="Roboto" pitchFamily="34" charset="-122"/>
                <a:cs typeface="Roboto" pitchFamily="34" charset="-120"/>
              </a:rPr>
              <a:t> Fuse sensor data to detect lanes, signs, obstacles. </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Act:</a:t>
            </a:r>
            <a:r>
              <a:rPr lang="en-US" sz="1150" dirty="0">
                <a:solidFill>
                  <a:srgbClr val="15213F"/>
                </a:solidFill>
                <a:latin typeface="Roboto" pitchFamily="34" charset="0"/>
                <a:ea typeface="Roboto" pitchFamily="34" charset="-122"/>
                <a:cs typeface="Roboto" pitchFamily="34" charset="-120"/>
              </a:rPr>
              <a:t> Steer, accelerate, brake.</a:t>
            </a:r>
            <a:endParaRPr lang="en-US" sz="1150" dirty="0"/>
          </a:p>
        </p:txBody>
      </p:sp>
      <p:grpSp>
        <p:nvGrpSpPr>
          <p:cNvPr id="20" name="Group 19">
            <a:extLst>
              <a:ext uri="{FF2B5EF4-FFF2-40B4-BE49-F238E27FC236}">
                <a16:creationId xmlns:a16="http://schemas.microsoft.com/office/drawing/2014/main" id="{1F37AFF4-664F-DEE6-0BE2-3E7D9A3B1F09}"/>
              </a:ext>
            </a:extLst>
          </p:cNvPr>
          <p:cNvGrpSpPr/>
          <p:nvPr/>
        </p:nvGrpSpPr>
        <p:grpSpPr>
          <a:xfrm>
            <a:off x="3260006" y="1487835"/>
            <a:ext cx="2623988" cy="294605"/>
            <a:chOff x="3260006" y="1487835"/>
            <a:chExt cx="2623988" cy="294605"/>
          </a:xfrm>
        </p:grpSpPr>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0006" y="1487835"/>
              <a:ext cx="294605" cy="294605"/>
            </a:xfrm>
            <a:prstGeom prst="rect">
              <a:avLst/>
            </a:prstGeom>
          </p:spPr>
        </p:pic>
        <p:sp>
          <p:nvSpPr>
            <p:cNvPr id="8" name="Text 4"/>
            <p:cNvSpPr/>
            <p:nvPr/>
          </p:nvSpPr>
          <p:spPr>
            <a:xfrm>
              <a:off x="3694509" y="1487835"/>
              <a:ext cx="218948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Accessibility</a:t>
              </a:r>
              <a:endParaRPr lang="en-US" sz="1150" dirty="0"/>
            </a:p>
          </p:txBody>
        </p:sp>
      </p:grpSp>
      <p:sp>
        <p:nvSpPr>
          <p:cNvPr id="9" name="Text 5"/>
          <p:cNvSpPr/>
          <p:nvPr/>
        </p:nvSpPr>
        <p:spPr>
          <a:xfrm>
            <a:off x="3694509" y="1784747"/>
            <a:ext cx="2189485" cy="1148953"/>
          </a:xfrm>
          <a:prstGeom prst="rect">
            <a:avLst/>
          </a:prstGeom>
          <a:noFill/>
          <a:ln/>
        </p:spPr>
        <p:txBody>
          <a:bodyPr wrap="squar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Sense:</a:t>
            </a:r>
            <a:r>
              <a:rPr lang="en-US" sz="1150" dirty="0">
                <a:solidFill>
                  <a:srgbClr val="15213F"/>
                </a:solidFill>
                <a:latin typeface="Roboto" pitchFamily="34" charset="0"/>
                <a:ea typeface="Roboto" pitchFamily="34" charset="-122"/>
                <a:cs typeface="Roboto" pitchFamily="34" charset="-120"/>
              </a:rPr>
              <a:t> Image or text. </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Think:</a:t>
            </a:r>
            <a:r>
              <a:rPr lang="en-US" sz="1150" dirty="0">
                <a:solidFill>
                  <a:srgbClr val="15213F"/>
                </a:solidFill>
                <a:latin typeface="Roboto" pitchFamily="34" charset="0"/>
                <a:ea typeface="Roboto" pitchFamily="34" charset="-122"/>
                <a:cs typeface="Roboto" pitchFamily="34" charset="-120"/>
              </a:rPr>
              <a:t> Recognize objects and context.</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Act:</a:t>
            </a:r>
            <a:r>
              <a:rPr lang="en-US" sz="1150" dirty="0">
                <a:solidFill>
                  <a:srgbClr val="15213F"/>
                </a:solidFill>
                <a:latin typeface="Roboto" pitchFamily="34" charset="0"/>
                <a:ea typeface="Roboto" pitchFamily="34" charset="-122"/>
                <a:cs typeface="Roboto" pitchFamily="34" charset="-120"/>
              </a:rPr>
              <a:t> Generate spoken alt‑text for visually impaired users.</a:t>
            </a:r>
            <a:endParaRPr lang="en-US" sz="1150" dirty="0"/>
          </a:p>
        </p:txBody>
      </p:sp>
      <p:grpSp>
        <p:nvGrpSpPr>
          <p:cNvPr id="21" name="Group 20">
            <a:extLst>
              <a:ext uri="{FF2B5EF4-FFF2-40B4-BE49-F238E27FC236}">
                <a16:creationId xmlns:a16="http://schemas.microsoft.com/office/drawing/2014/main" id="{D47DCB62-F692-572F-D1B7-07382BF534B5}"/>
              </a:ext>
            </a:extLst>
          </p:cNvPr>
          <p:cNvGrpSpPr/>
          <p:nvPr/>
        </p:nvGrpSpPr>
        <p:grpSpPr>
          <a:xfrm>
            <a:off x="6023893" y="1487835"/>
            <a:ext cx="2623988" cy="294605"/>
            <a:chOff x="6023893" y="1487835"/>
            <a:chExt cx="2623988" cy="294605"/>
          </a:xfrm>
        </p:grpSpPr>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23893" y="1487835"/>
              <a:ext cx="294605" cy="294605"/>
            </a:xfrm>
            <a:prstGeom prst="rect">
              <a:avLst/>
            </a:prstGeom>
          </p:spPr>
        </p:pic>
        <p:sp>
          <p:nvSpPr>
            <p:cNvPr id="11" name="Text 6"/>
            <p:cNvSpPr/>
            <p:nvPr/>
          </p:nvSpPr>
          <p:spPr>
            <a:xfrm>
              <a:off x="6458396" y="1487835"/>
              <a:ext cx="218948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Content Moderation</a:t>
              </a:r>
              <a:endParaRPr lang="en-US" sz="1150" dirty="0"/>
            </a:p>
          </p:txBody>
        </p:sp>
      </p:grpSp>
      <p:sp>
        <p:nvSpPr>
          <p:cNvPr id="12" name="Text 7"/>
          <p:cNvSpPr/>
          <p:nvPr/>
        </p:nvSpPr>
        <p:spPr>
          <a:xfrm>
            <a:off x="6458396" y="1784747"/>
            <a:ext cx="2189485" cy="1148953"/>
          </a:xfrm>
          <a:prstGeom prst="rect">
            <a:avLst/>
          </a:prstGeom>
          <a:noFill/>
          <a:ln/>
        </p:spPr>
        <p:txBody>
          <a:bodyPr wrap="squar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Sense:</a:t>
            </a:r>
            <a:r>
              <a:rPr lang="en-US" sz="1150" dirty="0">
                <a:solidFill>
                  <a:srgbClr val="15213F"/>
                </a:solidFill>
                <a:latin typeface="Roboto" pitchFamily="34" charset="0"/>
                <a:ea typeface="Roboto" pitchFamily="34" charset="-122"/>
                <a:cs typeface="Roboto" pitchFamily="34" charset="-120"/>
              </a:rPr>
              <a:t> Text, audio, images. </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Think:</a:t>
            </a:r>
            <a:r>
              <a:rPr lang="en-US" sz="1150" dirty="0">
                <a:solidFill>
                  <a:srgbClr val="15213F"/>
                </a:solidFill>
                <a:latin typeface="Roboto" pitchFamily="34" charset="0"/>
                <a:ea typeface="Roboto" pitchFamily="34" charset="-122"/>
                <a:cs typeface="Roboto" pitchFamily="34" charset="-120"/>
              </a:rPr>
              <a:t> Identify policy violations across modalities. </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Act:</a:t>
            </a:r>
            <a:r>
              <a:rPr lang="en-US" sz="1150" dirty="0">
                <a:solidFill>
                  <a:srgbClr val="15213F"/>
                </a:solidFill>
                <a:latin typeface="Roboto" pitchFamily="34" charset="0"/>
                <a:ea typeface="Roboto" pitchFamily="34" charset="-122"/>
                <a:cs typeface="Roboto" pitchFamily="34" charset="-120"/>
              </a:rPr>
              <a:t> Flag or remove harmful material.</a:t>
            </a:r>
            <a:endParaRPr lang="en-US" sz="1150" dirty="0"/>
          </a:p>
        </p:txBody>
      </p:sp>
      <p:grpSp>
        <p:nvGrpSpPr>
          <p:cNvPr id="22" name="Group 21">
            <a:extLst>
              <a:ext uri="{FF2B5EF4-FFF2-40B4-BE49-F238E27FC236}">
                <a16:creationId xmlns:a16="http://schemas.microsoft.com/office/drawing/2014/main" id="{9FB460F3-C7A5-1CD7-56AC-80450FAAA900}"/>
              </a:ext>
            </a:extLst>
          </p:cNvPr>
          <p:cNvGrpSpPr/>
          <p:nvPr/>
        </p:nvGrpSpPr>
        <p:grpSpPr>
          <a:xfrm>
            <a:off x="496119" y="3157537"/>
            <a:ext cx="2623988" cy="294605"/>
            <a:chOff x="496119" y="3157537"/>
            <a:chExt cx="2623988" cy="294605"/>
          </a:xfrm>
        </p:grpSpPr>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3157537"/>
              <a:ext cx="294605" cy="294605"/>
            </a:xfrm>
            <a:prstGeom prst="rect">
              <a:avLst/>
            </a:prstGeom>
          </p:spPr>
        </p:pic>
        <p:sp>
          <p:nvSpPr>
            <p:cNvPr id="14" name="Text 8"/>
            <p:cNvSpPr/>
            <p:nvPr/>
          </p:nvSpPr>
          <p:spPr>
            <a:xfrm>
              <a:off x="930622" y="3157537"/>
              <a:ext cx="218948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Medical Diagnosis</a:t>
              </a:r>
              <a:endParaRPr lang="en-US" sz="1150" dirty="0"/>
            </a:p>
          </p:txBody>
        </p:sp>
      </p:grpSp>
      <p:sp>
        <p:nvSpPr>
          <p:cNvPr id="15" name="Text 9"/>
          <p:cNvSpPr/>
          <p:nvPr/>
        </p:nvSpPr>
        <p:spPr>
          <a:xfrm>
            <a:off x="930622" y="3454450"/>
            <a:ext cx="2189485" cy="1148953"/>
          </a:xfrm>
          <a:prstGeom prst="rect">
            <a:avLst/>
          </a:prstGeom>
          <a:noFill/>
          <a:ln/>
        </p:spPr>
        <p:txBody>
          <a:bodyPr wrap="squar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Sense:</a:t>
            </a:r>
            <a:r>
              <a:rPr lang="en-US" sz="1150" dirty="0">
                <a:solidFill>
                  <a:srgbClr val="15213F"/>
                </a:solidFill>
                <a:latin typeface="Roboto" pitchFamily="34" charset="0"/>
                <a:ea typeface="Roboto" pitchFamily="34" charset="-122"/>
                <a:cs typeface="Roboto" pitchFamily="34" charset="-120"/>
              </a:rPr>
              <a:t> Medical scans + patient notes.</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Think:</a:t>
            </a:r>
            <a:r>
              <a:rPr lang="en-US" sz="1150" dirty="0">
                <a:solidFill>
                  <a:srgbClr val="15213F"/>
                </a:solidFill>
                <a:latin typeface="Roboto" pitchFamily="34" charset="0"/>
                <a:ea typeface="Roboto" pitchFamily="34" charset="-122"/>
                <a:cs typeface="Roboto" pitchFamily="34" charset="-120"/>
              </a:rPr>
              <a:t> Correlate visual findings with textual history. </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Act:</a:t>
            </a:r>
            <a:r>
              <a:rPr lang="en-US" sz="1150" dirty="0">
                <a:solidFill>
                  <a:srgbClr val="15213F"/>
                </a:solidFill>
                <a:latin typeface="Roboto" pitchFamily="34" charset="0"/>
                <a:ea typeface="Roboto" pitchFamily="34" charset="-122"/>
                <a:cs typeface="Roboto" pitchFamily="34" charset="-120"/>
              </a:rPr>
              <a:t> Highlight potential concerns.</a:t>
            </a:r>
            <a:endParaRPr lang="en-US" sz="1150" dirty="0"/>
          </a:p>
        </p:txBody>
      </p:sp>
      <p:grpSp>
        <p:nvGrpSpPr>
          <p:cNvPr id="23" name="Group 22">
            <a:extLst>
              <a:ext uri="{FF2B5EF4-FFF2-40B4-BE49-F238E27FC236}">
                <a16:creationId xmlns:a16="http://schemas.microsoft.com/office/drawing/2014/main" id="{DEF367C3-D078-A2CC-9F3F-619921696B03}"/>
              </a:ext>
            </a:extLst>
          </p:cNvPr>
          <p:cNvGrpSpPr/>
          <p:nvPr/>
        </p:nvGrpSpPr>
        <p:grpSpPr>
          <a:xfrm>
            <a:off x="3260006" y="3157537"/>
            <a:ext cx="2623988" cy="294605"/>
            <a:chOff x="3260006" y="3157537"/>
            <a:chExt cx="2623988" cy="294605"/>
          </a:xfrm>
        </p:grpSpPr>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60006" y="3157537"/>
              <a:ext cx="294605" cy="294605"/>
            </a:xfrm>
            <a:prstGeom prst="rect">
              <a:avLst/>
            </a:prstGeom>
          </p:spPr>
        </p:pic>
        <p:sp>
          <p:nvSpPr>
            <p:cNvPr id="17" name="Text 10"/>
            <p:cNvSpPr/>
            <p:nvPr/>
          </p:nvSpPr>
          <p:spPr>
            <a:xfrm>
              <a:off x="3694509" y="3157537"/>
              <a:ext cx="218948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Retail Search</a:t>
              </a:r>
              <a:endParaRPr lang="en-US" sz="1150" dirty="0"/>
            </a:p>
          </p:txBody>
        </p:sp>
      </p:grpSp>
      <p:sp>
        <p:nvSpPr>
          <p:cNvPr id="18" name="Text 11"/>
          <p:cNvSpPr/>
          <p:nvPr/>
        </p:nvSpPr>
        <p:spPr>
          <a:xfrm>
            <a:off x="3694509" y="3454450"/>
            <a:ext cx="2189485" cy="1148953"/>
          </a:xfrm>
          <a:prstGeom prst="rect">
            <a:avLst/>
          </a:prstGeom>
          <a:noFill/>
          <a:ln/>
        </p:spPr>
        <p:txBody>
          <a:bodyPr wrap="squar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Sense:</a:t>
            </a:r>
            <a:r>
              <a:rPr lang="en-US" sz="1150" dirty="0">
                <a:solidFill>
                  <a:srgbClr val="15213F"/>
                </a:solidFill>
                <a:latin typeface="Roboto" pitchFamily="34" charset="0"/>
                <a:ea typeface="Roboto" pitchFamily="34" charset="-122"/>
                <a:cs typeface="Roboto" pitchFamily="34" charset="-120"/>
              </a:rPr>
              <a:t> Text query + uploaded photo.</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Think:</a:t>
            </a:r>
            <a:r>
              <a:rPr lang="en-US" sz="1150" dirty="0">
                <a:solidFill>
                  <a:srgbClr val="15213F"/>
                </a:solidFill>
                <a:latin typeface="Roboto" pitchFamily="34" charset="0"/>
                <a:ea typeface="Roboto" pitchFamily="34" charset="-122"/>
                <a:cs typeface="Roboto" pitchFamily="34" charset="-120"/>
              </a:rPr>
              <a:t> Fuse visual style with keywords.</a:t>
            </a:r>
            <a:endParaRPr lang="en-US" sz="1150" dirty="0"/>
          </a:p>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Act:</a:t>
            </a:r>
            <a:r>
              <a:rPr lang="en-US" sz="1150" dirty="0">
                <a:solidFill>
                  <a:srgbClr val="15213F"/>
                </a:solidFill>
                <a:latin typeface="Roboto" pitchFamily="34" charset="0"/>
                <a:ea typeface="Roboto" pitchFamily="34" charset="-122"/>
                <a:cs typeface="Roboto" pitchFamily="34" charset="-120"/>
              </a:rPr>
              <a:t> Display matching products.</a:t>
            </a:r>
            <a:endParaRPr lang="en-US" sz="11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12" grpId="0" animBg="1"/>
      <p:bldP spid="15"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046187"/>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Hands-On Activity: The Multimodal Creative Lab</a:t>
            </a:r>
            <a:endParaRPr lang="en-US" sz="2400" dirty="0"/>
          </a:p>
        </p:txBody>
      </p:sp>
      <p:sp>
        <p:nvSpPr>
          <p:cNvPr id="4" name="Text 1"/>
          <p:cNvSpPr/>
          <p:nvPr/>
        </p:nvSpPr>
        <p:spPr>
          <a:xfrm>
            <a:off x="3925119" y="2007319"/>
            <a:ext cx="4722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Goal:</a:t>
            </a:r>
            <a:r>
              <a:rPr lang="en-US" sz="1200" dirty="0">
                <a:solidFill>
                  <a:srgbClr val="15213F"/>
                </a:solidFill>
                <a:latin typeface="Roboto" pitchFamily="34" charset="0"/>
                <a:ea typeface="Roboto" pitchFamily="34" charset="-122"/>
                <a:cs typeface="Roboto" pitchFamily="34" charset="-120"/>
              </a:rPr>
              <a:t> Use multimodal AI tools as creative partners. You supply the raw ideas. AI helps bring them to life.</a:t>
            </a:r>
            <a:endParaRPr lang="en-US" sz="1200" dirty="0"/>
          </a:p>
        </p:txBody>
      </p:sp>
      <p:sp>
        <p:nvSpPr>
          <p:cNvPr id="5" name="Text 2"/>
          <p:cNvSpPr/>
          <p:nvPr/>
        </p:nvSpPr>
        <p:spPr>
          <a:xfrm>
            <a:off x="3925119" y="2643039"/>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5" name="Group 14">
            <a:extLst>
              <a:ext uri="{FF2B5EF4-FFF2-40B4-BE49-F238E27FC236}">
                <a16:creationId xmlns:a16="http://schemas.microsoft.com/office/drawing/2014/main" id="{F962D527-72BC-722F-A64C-6075C77BECD4}"/>
              </a:ext>
            </a:extLst>
          </p:cNvPr>
          <p:cNvGrpSpPr/>
          <p:nvPr/>
        </p:nvGrpSpPr>
        <p:grpSpPr>
          <a:xfrm>
            <a:off x="3925119" y="3030662"/>
            <a:ext cx="1491555" cy="1066651"/>
            <a:chOff x="3925119" y="3030662"/>
            <a:chExt cx="1491555" cy="1066651"/>
          </a:xfrm>
        </p:grpSpPr>
        <p:sp>
          <p:nvSpPr>
            <p:cNvPr id="6" name="Shape 3"/>
            <p:cNvSpPr/>
            <p:nvPr/>
          </p:nvSpPr>
          <p:spPr>
            <a:xfrm>
              <a:off x="3925119" y="3030662"/>
              <a:ext cx="1491555" cy="1066651"/>
            </a:xfrm>
            <a:prstGeom prst="roundRect">
              <a:avLst>
                <a:gd name="adj" fmla="val 1744"/>
              </a:avLst>
            </a:prstGeom>
            <a:solidFill>
              <a:srgbClr val="E9ECF2"/>
            </a:solidFill>
            <a:ln/>
          </p:spPr>
          <p:txBody>
            <a:bodyPr/>
            <a:lstStyle/>
            <a:p>
              <a:endParaRPr lang="en-IN"/>
            </a:p>
          </p:txBody>
        </p:sp>
        <p:sp>
          <p:nvSpPr>
            <p:cNvPr id="7" name="Text 4"/>
            <p:cNvSpPr/>
            <p:nvPr/>
          </p:nvSpPr>
          <p:spPr>
            <a:xfrm>
              <a:off x="4049092" y="3154635"/>
              <a:ext cx="1243608"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Multimodal AI Chat</a:t>
              </a:r>
              <a:endParaRPr lang="en-US" sz="1200" dirty="0"/>
            </a:p>
          </p:txBody>
        </p:sp>
      </p:grpSp>
      <p:sp>
        <p:nvSpPr>
          <p:cNvPr id="8" name="Text 5"/>
          <p:cNvSpPr/>
          <p:nvPr/>
        </p:nvSpPr>
        <p:spPr>
          <a:xfrm>
            <a:off x="4049092" y="3725242"/>
            <a:ext cx="124360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Google Gemini</a:t>
            </a:r>
            <a:endParaRPr lang="en-US" sz="1200" dirty="0"/>
          </a:p>
        </p:txBody>
      </p:sp>
      <p:grpSp>
        <p:nvGrpSpPr>
          <p:cNvPr id="16" name="Group 15">
            <a:extLst>
              <a:ext uri="{FF2B5EF4-FFF2-40B4-BE49-F238E27FC236}">
                <a16:creationId xmlns:a16="http://schemas.microsoft.com/office/drawing/2014/main" id="{93D24488-0E09-DFC8-5A19-9509C7EB36BA}"/>
              </a:ext>
            </a:extLst>
          </p:cNvPr>
          <p:cNvGrpSpPr/>
          <p:nvPr/>
        </p:nvGrpSpPr>
        <p:grpSpPr>
          <a:xfrm>
            <a:off x="5540648" y="3030662"/>
            <a:ext cx="1491630" cy="1066651"/>
            <a:chOff x="5540648" y="3030662"/>
            <a:chExt cx="1491630" cy="1066651"/>
          </a:xfrm>
        </p:grpSpPr>
        <p:sp>
          <p:nvSpPr>
            <p:cNvPr id="9" name="Shape 6"/>
            <p:cNvSpPr/>
            <p:nvPr/>
          </p:nvSpPr>
          <p:spPr>
            <a:xfrm>
              <a:off x="5540648" y="3030662"/>
              <a:ext cx="1491630" cy="1066651"/>
            </a:xfrm>
            <a:prstGeom prst="roundRect">
              <a:avLst>
                <a:gd name="adj" fmla="val 1744"/>
              </a:avLst>
            </a:prstGeom>
            <a:solidFill>
              <a:srgbClr val="E9ECF2"/>
            </a:solidFill>
            <a:ln/>
          </p:spPr>
          <p:txBody>
            <a:bodyPr/>
            <a:lstStyle/>
            <a:p>
              <a:endParaRPr lang="en-IN"/>
            </a:p>
          </p:txBody>
        </p:sp>
        <p:sp>
          <p:nvSpPr>
            <p:cNvPr id="10" name="Text 7"/>
            <p:cNvSpPr/>
            <p:nvPr/>
          </p:nvSpPr>
          <p:spPr>
            <a:xfrm>
              <a:off x="5664622" y="3154635"/>
              <a:ext cx="1243682"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Video Generation Tool</a:t>
              </a:r>
              <a:endParaRPr lang="en-US" sz="1200" dirty="0"/>
            </a:p>
          </p:txBody>
        </p:sp>
      </p:grpSp>
      <p:sp>
        <p:nvSpPr>
          <p:cNvPr id="11" name="Text 8"/>
          <p:cNvSpPr/>
          <p:nvPr/>
        </p:nvSpPr>
        <p:spPr>
          <a:xfrm>
            <a:off x="5664622" y="3725242"/>
            <a:ext cx="124368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Google Veo 3 </a:t>
            </a:r>
            <a:endParaRPr lang="en-US" sz="1200" dirty="0"/>
          </a:p>
        </p:txBody>
      </p:sp>
      <p:grpSp>
        <p:nvGrpSpPr>
          <p:cNvPr id="17" name="Group 16">
            <a:extLst>
              <a:ext uri="{FF2B5EF4-FFF2-40B4-BE49-F238E27FC236}">
                <a16:creationId xmlns:a16="http://schemas.microsoft.com/office/drawing/2014/main" id="{FDE89F85-4E95-E2BD-9574-D2EA520D4A44}"/>
              </a:ext>
            </a:extLst>
          </p:cNvPr>
          <p:cNvGrpSpPr/>
          <p:nvPr/>
        </p:nvGrpSpPr>
        <p:grpSpPr>
          <a:xfrm>
            <a:off x="7156252" y="3030662"/>
            <a:ext cx="1491630" cy="1066651"/>
            <a:chOff x="7156252" y="3030662"/>
            <a:chExt cx="1491630" cy="1066651"/>
          </a:xfrm>
        </p:grpSpPr>
        <p:sp>
          <p:nvSpPr>
            <p:cNvPr id="12" name="Shape 9"/>
            <p:cNvSpPr/>
            <p:nvPr/>
          </p:nvSpPr>
          <p:spPr>
            <a:xfrm>
              <a:off x="7156252" y="3030662"/>
              <a:ext cx="1491630" cy="1066651"/>
            </a:xfrm>
            <a:prstGeom prst="roundRect">
              <a:avLst>
                <a:gd name="adj" fmla="val 1744"/>
              </a:avLst>
            </a:prstGeom>
            <a:solidFill>
              <a:srgbClr val="E9ECF2"/>
            </a:solidFill>
            <a:ln/>
          </p:spPr>
          <p:txBody>
            <a:bodyPr/>
            <a:lstStyle/>
            <a:p>
              <a:endParaRPr lang="en-IN"/>
            </a:p>
          </p:txBody>
        </p:sp>
        <p:sp>
          <p:nvSpPr>
            <p:cNvPr id="13" name="Text 10"/>
            <p:cNvSpPr/>
            <p:nvPr/>
          </p:nvSpPr>
          <p:spPr>
            <a:xfrm>
              <a:off x="7280225" y="3154635"/>
              <a:ext cx="1243682"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Text-to-Video Tool</a:t>
              </a:r>
              <a:endParaRPr lang="en-US" sz="1200" dirty="0"/>
            </a:p>
          </p:txBody>
        </p:sp>
      </p:grpSp>
      <p:sp>
        <p:nvSpPr>
          <p:cNvPr id="14" name="Text 11"/>
          <p:cNvSpPr/>
          <p:nvPr/>
        </p:nvSpPr>
        <p:spPr>
          <a:xfrm>
            <a:off x="7280225" y="3725242"/>
            <a:ext cx="124368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Pictory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11"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1124843"/>
            <a:ext cx="4025652"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 1: Work with Your Own Image</a:t>
            </a:r>
            <a:endParaRPr lang="en-US" sz="1950" dirty="0"/>
          </a:p>
        </p:txBody>
      </p:sp>
      <p:sp>
        <p:nvSpPr>
          <p:cNvPr id="3" name="Shape 1"/>
          <p:cNvSpPr/>
          <p:nvPr/>
        </p:nvSpPr>
        <p:spPr>
          <a:xfrm>
            <a:off x="496119" y="1682948"/>
            <a:ext cx="2634555" cy="2335709"/>
          </a:xfrm>
          <a:prstGeom prst="roundRect">
            <a:avLst>
              <a:gd name="adj" fmla="val 797"/>
            </a:avLst>
          </a:prstGeom>
          <a:solidFill>
            <a:srgbClr val="FBFCFE"/>
          </a:solidFill>
          <a:ln w="14288">
            <a:solidFill>
              <a:srgbClr val="CFD2D8"/>
            </a:solidFill>
            <a:prstDash val="solid"/>
          </a:ln>
        </p:spPr>
        <p:txBody>
          <a:bodyPr/>
          <a:lstStyle/>
          <a:p>
            <a:endParaRPr lang="en-IN"/>
          </a:p>
        </p:txBody>
      </p:sp>
      <p:sp>
        <p:nvSpPr>
          <p:cNvPr id="4" name="Text 2"/>
          <p:cNvSpPr/>
          <p:nvPr/>
        </p:nvSpPr>
        <p:spPr>
          <a:xfrm>
            <a:off x="634380" y="1821210"/>
            <a:ext cx="2358033"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Use a photo you have</a:t>
            </a:r>
            <a:endParaRPr lang="en-US" sz="1200" dirty="0"/>
          </a:p>
        </p:txBody>
      </p:sp>
      <p:sp>
        <p:nvSpPr>
          <p:cNvPr id="5" name="Text 3"/>
          <p:cNvSpPr/>
          <p:nvPr/>
        </p:nvSpPr>
        <p:spPr>
          <a:xfrm>
            <a:off x="634380" y="2143720"/>
            <a:ext cx="2358033"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Take a picture of something nearby: a toy, a pet, a plant, a book cover, or an interesting object in your room.</a:t>
            </a:r>
            <a:endParaRPr lang="en-US" sz="1200" dirty="0"/>
          </a:p>
        </p:txBody>
      </p:sp>
      <p:sp>
        <p:nvSpPr>
          <p:cNvPr id="6" name="Shape 4"/>
          <p:cNvSpPr/>
          <p:nvPr/>
        </p:nvSpPr>
        <p:spPr>
          <a:xfrm>
            <a:off x="3254648" y="1682948"/>
            <a:ext cx="2634630" cy="2335709"/>
          </a:xfrm>
          <a:prstGeom prst="roundRect">
            <a:avLst>
              <a:gd name="adj" fmla="val 797"/>
            </a:avLst>
          </a:prstGeom>
          <a:solidFill>
            <a:srgbClr val="FBFCFE"/>
          </a:solidFill>
          <a:ln w="14288">
            <a:solidFill>
              <a:srgbClr val="CFD2D8"/>
            </a:solidFill>
            <a:prstDash val="solid"/>
          </a:ln>
        </p:spPr>
        <p:txBody>
          <a:bodyPr/>
          <a:lstStyle/>
          <a:p>
            <a:endParaRPr lang="en-IN"/>
          </a:p>
        </p:txBody>
      </p:sp>
      <p:sp>
        <p:nvSpPr>
          <p:cNvPr id="7" name="Text 5"/>
          <p:cNvSpPr/>
          <p:nvPr/>
        </p:nvSpPr>
        <p:spPr>
          <a:xfrm>
            <a:off x="3392909" y="1821210"/>
            <a:ext cx="2358107" cy="248096"/>
          </a:xfrm>
          <a:prstGeom prst="rect">
            <a:avLst/>
          </a:prstGeom>
          <a:noFill/>
          <a:ln/>
        </p:spPr>
        <p:txBody>
          <a:bodyPr wrap="non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Find an image online</a:t>
            </a:r>
            <a:endParaRPr lang="en-US" sz="1200" dirty="0"/>
          </a:p>
        </p:txBody>
      </p:sp>
      <p:sp>
        <p:nvSpPr>
          <p:cNvPr id="8" name="Text 6"/>
          <p:cNvSpPr/>
          <p:nvPr/>
        </p:nvSpPr>
        <p:spPr>
          <a:xfrm>
            <a:off x="3392909" y="2143720"/>
            <a:ext cx="2358107"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Search for a free‑to‑use image (e.g., "funny animal photo" or "unusual object").</a:t>
            </a:r>
            <a:endParaRPr lang="en-US" sz="1200" dirty="0"/>
          </a:p>
        </p:txBody>
      </p:sp>
      <p:sp>
        <p:nvSpPr>
          <p:cNvPr id="9" name="Shape 7"/>
          <p:cNvSpPr/>
          <p:nvPr/>
        </p:nvSpPr>
        <p:spPr>
          <a:xfrm>
            <a:off x="6013252" y="1682948"/>
            <a:ext cx="2634555" cy="2335709"/>
          </a:xfrm>
          <a:prstGeom prst="roundRect">
            <a:avLst>
              <a:gd name="adj" fmla="val 797"/>
            </a:avLst>
          </a:prstGeom>
          <a:solidFill>
            <a:srgbClr val="FBFCFE"/>
          </a:solidFill>
          <a:ln w="14288">
            <a:solidFill>
              <a:srgbClr val="CFD2D8"/>
            </a:solidFill>
            <a:prstDash val="solid"/>
          </a:ln>
        </p:spPr>
        <p:txBody>
          <a:bodyPr/>
          <a:lstStyle/>
          <a:p>
            <a:endParaRPr lang="en-IN"/>
          </a:p>
        </p:txBody>
      </p:sp>
      <p:sp>
        <p:nvSpPr>
          <p:cNvPr id="10" name="Text 8"/>
          <p:cNvSpPr/>
          <p:nvPr/>
        </p:nvSpPr>
        <p:spPr>
          <a:xfrm>
            <a:off x="6151513" y="1821210"/>
            <a:ext cx="2358033"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t>
            </a:r>
            <a:r>
              <a:rPr lang="en-US" sz="1200" b="1" dirty="0">
                <a:solidFill>
                  <a:srgbClr val="15213F"/>
                </a:solidFill>
                <a:latin typeface="Roboto" pitchFamily="34" charset="0"/>
                <a:ea typeface="Roboto" pitchFamily="34" charset="-122"/>
                <a:cs typeface="Roboto" pitchFamily="34" charset="-120"/>
              </a:rPr>
              <a:t> Generate an image with Gemini</a:t>
            </a:r>
            <a:endParaRPr lang="en-US" sz="1200" dirty="0"/>
          </a:p>
        </p:txBody>
      </p:sp>
      <p:sp>
        <p:nvSpPr>
          <p:cNvPr id="11" name="Text 9"/>
          <p:cNvSpPr/>
          <p:nvPr/>
        </p:nvSpPr>
        <p:spPr>
          <a:xfrm>
            <a:off x="6151513" y="2391817"/>
            <a:ext cx="2358033" cy="148857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If you don't have an image, ask Gemini to create one! Type a prompt like: "Generate an image of a curious squirrel wearing a tiny backpack." Once generated, use that image for the activity.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692646"/>
            <a:ext cx="5760616"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 2: Imagine the Impossible with Gemini Veo 3</a:t>
            </a:r>
            <a:endParaRPr lang="en-US" sz="1950" dirty="0"/>
          </a:p>
        </p:txBody>
      </p:sp>
      <p:sp>
        <p:nvSpPr>
          <p:cNvPr id="3" name="Text 1"/>
          <p:cNvSpPr/>
          <p:nvPr/>
        </p:nvSpPr>
        <p:spPr>
          <a:xfrm>
            <a:off x="496119" y="1250752"/>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Step 1: Build an Impossible Scene.</a:t>
            </a:r>
            <a:r>
              <a:rPr lang="en-US" sz="1200" dirty="0">
                <a:solidFill>
                  <a:srgbClr val="15213F"/>
                </a:solidFill>
                <a:latin typeface="Roboto" pitchFamily="34" charset="0"/>
                <a:ea typeface="Roboto" pitchFamily="34" charset="-122"/>
                <a:cs typeface="Roboto" pitchFamily="34" charset="-120"/>
              </a:rPr>
              <a:t> Combine one item from each column (or invent your own).</a:t>
            </a:r>
            <a:endParaRPr lang="en-US" sz="1200" dirty="0"/>
          </a:p>
        </p:txBody>
      </p:sp>
      <p:sp>
        <p:nvSpPr>
          <p:cNvPr id="4" name="Shape 2"/>
          <p:cNvSpPr/>
          <p:nvPr/>
        </p:nvSpPr>
        <p:spPr>
          <a:xfrm>
            <a:off x="496119" y="1638374"/>
            <a:ext cx="8151763" cy="1649611"/>
          </a:xfrm>
          <a:prstGeom prst="roundRect">
            <a:avLst>
              <a:gd name="adj" fmla="val 1128"/>
            </a:avLst>
          </a:prstGeom>
          <a:noFill/>
          <a:ln w="4763">
            <a:solidFill>
              <a:srgbClr val="000000">
                <a:alpha val="8000"/>
              </a:srgbClr>
            </a:solidFill>
            <a:prstDash val="solid"/>
          </a:ln>
        </p:spPr>
        <p:txBody>
          <a:bodyPr/>
          <a:lstStyle/>
          <a:p>
            <a:endParaRPr lang="en-IN"/>
          </a:p>
        </p:txBody>
      </p:sp>
      <p:grpSp>
        <p:nvGrpSpPr>
          <p:cNvPr id="20" name="Group 19">
            <a:extLst>
              <a:ext uri="{FF2B5EF4-FFF2-40B4-BE49-F238E27FC236}">
                <a16:creationId xmlns:a16="http://schemas.microsoft.com/office/drawing/2014/main" id="{F662D6A5-77D7-4F49-4BE6-BC561C21F67E}"/>
              </a:ext>
            </a:extLst>
          </p:cNvPr>
          <p:cNvGrpSpPr/>
          <p:nvPr/>
        </p:nvGrpSpPr>
        <p:grpSpPr>
          <a:xfrm>
            <a:off x="625748" y="1722313"/>
            <a:ext cx="7892579" cy="248096"/>
            <a:chOff x="625748" y="1722313"/>
            <a:chExt cx="7892579" cy="248096"/>
          </a:xfrm>
        </p:grpSpPr>
        <p:sp>
          <p:nvSpPr>
            <p:cNvPr id="5" name="Text 3"/>
            <p:cNvSpPr/>
            <p:nvPr/>
          </p:nvSpPr>
          <p:spPr>
            <a:xfrm>
              <a:off x="625748" y="1722313"/>
              <a:ext cx="24631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Character</a:t>
              </a:r>
              <a:endParaRPr lang="en-US" sz="1200" dirty="0"/>
            </a:p>
          </p:txBody>
        </p:sp>
        <p:sp>
          <p:nvSpPr>
            <p:cNvPr id="6" name="Text 4"/>
            <p:cNvSpPr/>
            <p:nvPr/>
          </p:nvSpPr>
          <p:spPr>
            <a:xfrm>
              <a:off x="3341638" y="1722313"/>
              <a:ext cx="246079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Action</a:t>
              </a:r>
              <a:endParaRPr lang="en-US" sz="1200" dirty="0"/>
            </a:p>
          </p:txBody>
        </p:sp>
        <p:sp>
          <p:nvSpPr>
            <p:cNvPr id="7" name="Text 5"/>
            <p:cNvSpPr/>
            <p:nvPr/>
          </p:nvSpPr>
          <p:spPr>
            <a:xfrm>
              <a:off x="6055147" y="1722313"/>
              <a:ext cx="24631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Setting</a:t>
              </a:r>
              <a:endParaRPr lang="en-US" sz="1200" dirty="0"/>
            </a:p>
          </p:txBody>
        </p:sp>
      </p:grpSp>
      <p:sp>
        <p:nvSpPr>
          <p:cNvPr id="8" name="Text 6"/>
          <p:cNvSpPr/>
          <p:nvPr/>
        </p:nvSpPr>
        <p:spPr>
          <a:xfrm>
            <a:off x="625748" y="2133526"/>
            <a:ext cx="24631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penguin in a tuxedo</a:t>
            </a:r>
            <a:endParaRPr lang="en-US" sz="1200" dirty="0"/>
          </a:p>
        </p:txBody>
      </p:sp>
      <p:sp>
        <p:nvSpPr>
          <p:cNvPr id="9" name="Text 7"/>
          <p:cNvSpPr/>
          <p:nvPr/>
        </p:nvSpPr>
        <p:spPr>
          <a:xfrm>
            <a:off x="3341638" y="2133526"/>
            <a:ext cx="246079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Playing a flaming electric guitar</a:t>
            </a:r>
            <a:endParaRPr lang="en-US" sz="1200" dirty="0"/>
          </a:p>
        </p:txBody>
      </p:sp>
      <p:sp>
        <p:nvSpPr>
          <p:cNvPr id="10" name="Text 8"/>
          <p:cNvSpPr/>
          <p:nvPr/>
        </p:nvSpPr>
        <p:spPr>
          <a:xfrm>
            <a:off x="6055147" y="2133526"/>
            <a:ext cx="24631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Inside a snow globe</a:t>
            </a:r>
            <a:endParaRPr lang="en-US" sz="1200" dirty="0"/>
          </a:p>
        </p:txBody>
      </p:sp>
      <p:sp>
        <p:nvSpPr>
          <p:cNvPr id="11" name="Text 9"/>
          <p:cNvSpPr/>
          <p:nvPr/>
        </p:nvSpPr>
        <p:spPr>
          <a:xfrm>
            <a:off x="625748" y="2544738"/>
            <a:ext cx="24631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giant talking mushroom</a:t>
            </a:r>
            <a:endParaRPr lang="en-US" sz="1200" dirty="0"/>
          </a:p>
        </p:txBody>
      </p:sp>
      <p:sp>
        <p:nvSpPr>
          <p:cNvPr id="12" name="Text 10"/>
          <p:cNvSpPr/>
          <p:nvPr/>
        </p:nvSpPr>
        <p:spPr>
          <a:xfrm>
            <a:off x="3341638" y="2544738"/>
            <a:ext cx="246079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Riding a unicycle on a rainbow</a:t>
            </a:r>
            <a:endParaRPr lang="en-US" sz="1200" dirty="0"/>
          </a:p>
        </p:txBody>
      </p:sp>
      <p:sp>
        <p:nvSpPr>
          <p:cNvPr id="13" name="Text 11"/>
          <p:cNvSpPr/>
          <p:nvPr/>
        </p:nvSpPr>
        <p:spPr>
          <a:xfrm>
            <a:off x="6055147" y="2544738"/>
            <a:ext cx="24631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On the rings of Saturn</a:t>
            </a:r>
            <a:endParaRPr lang="en-US" sz="1200" dirty="0"/>
          </a:p>
        </p:txBody>
      </p:sp>
      <p:sp>
        <p:nvSpPr>
          <p:cNvPr id="14" name="Text 12"/>
          <p:cNvSpPr/>
          <p:nvPr/>
        </p:nvSpPr>
        <p:spPr>
          <a:xfrm>
            <a:off x="625748" y="2955950"/>
            <a:ext cx="24631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robot made of balloons</a:t>
            </a:r>
            <a:endParaRPr lang="en-US" sz="1200" dirty="0"/>
          </a:p>
        </p:txBody>
      </p:sp>
      <p:sp>
        <p:nvSpPr>
          <p:cNvPr id="15" name="Text 13"/>
          <p:cNvSpPr/>
          <p:nvPr/>
        </p:nvSpPr>
        <p:spPr>
          <a:xfrm>
            <a:off x="3341638" y="2955950"/>
            <a:ext cx="246079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Having a tea party underwater</a:t>
            </a:r>
            <a:endParaRPr lang="en-US" sz="1200" dirty="0"/>
          </a:p>
        </p:txBody>
      </p:sp>
      <p:sp>
        <p:nvSpPr>
          <p:cNvPr id="16" name="Text 14"/>
          <p:cNvSpPr/>
          <p:nvPr/>
        </p:nvSpPr>
        <p:spPr>
          <a:xfrm>
            <a:off x="6055147" y="2955950"/>
            <a:ext cx="24631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 a library where books fly</a:t>
            </a:r>
            <a:endParaRPr lang="en-US" sz="1200" dirty="0"/>
          </a:p>
        </p:txBody>
      </p:sp>
      <p:sp>
        <p:nvSpPr>
          <p:cNvPr id="17" name="Text 15"/>
          <p:cNvSpPr/>
          <p:nvPr/>
        </p:nvSpPr>
        <p:spPr>
          <a:xfrm>
            <a:off x="496119" y="3427512"/>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Your Scene (one sentence):</a:t>
            </a:r>
            <a:r>
              <a:rPr lang="en-US" sz="1200" dirty="0">
                <a:solidFill>
                  <a:srgbClr val="15213F"/>
                </a:solidFill>
                <a:latin typeface="Roboto" pitchFamily="34" charset="0"/>
                <a:ea typeface="Roboto" pitchFamily="34" charset="-122"/>
                <a:cs typeface="Roboto" pitchFamily="34" charset="-120"/>
              </a:rPr>
              <a:t> </a:t>
            </a:r>
            <a:r>
              <a:rPr lang="en-US" sz="1200" i="1" dirty="0">
                <a:solidFill>
                  <a:srgbClr val="15213F"/>
                </a:solidFill>
                <a:latin typeface="Roboto" pitchFamily="34" charset="0"/>
                <a:ea typeface="Roboto" pitchFamily="34" charset="-122"/>
                <a:cs typeface="Roboto" pitchFamily="34" charset="-120"/>
              </a:rPr>
              <a:t>"A [character] [action] [setting]."</a:t>
            </a:r>
            <a:endParaRPr lang="en-US" sz="1200" dirty="0"/>
          </a:p>
        </p:txBody>
      </p:sp>
      <p:sp>
        <p:nvSpPr>
          <p:cNvPr id="18" name="Text 16"/>
          <p:cNvSpPr/>
          <p:nvPr/>
        </p:nvSpPr>
        <p:spPr>
          <a:xfrm>
            <a:off x="496119" y="3815135"/>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19" name="Text 17"/>
          <p:cNvSpPr/>
          <p:nvPr/>
        </p:nvSpPr>
        <p:spPr>
          <a:xfrm>
            <a:off x="496119" y="4202757"/>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Step 2: Generate the Video.</a:t>
            </a:r>
            <a:r>
              <a:rPr lang="en-US" sz="1200" dirty="0">
                <a:solidFill>
                  <a:srgbClr val="15213F"/>
                </a:solidFill>
                <a:latin typeface="Roboto" pitchFamily="34" charset="0"/>
                <a:ea typeface="Roboto" pitchFamily="34" charset="-122"/>
                <a:cs typeface="Roboto" pitchFamily="34" charset="-120"/>
              </a:rPr>
              <a:t> Type your scene description into a video AI tool and watch what it creates.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96119" y="341337"/>
            <a:ext cx="2480890"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 3: Film Creative</a:t>
            </a:r>
            <a:endParaRPr lang="en-US" sz="1950" dirty="0"/>
          </a:p>
        </p:txBody>
      </p:sp>
      <p:sp>
        <p:nvSpPr>
          <p:cNvPr id="3" name="Text 1"/>
          <p:cNvSpPr/>
          <p:nvPr/>
        </p:nvSpPr>
        <p:spPr>
          <a:xfrm>
            <a:off x="496119" y="899443"/>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Write a Three-Sentence Script.</a:t>
            </a:r>
            <a:r>
              <a:rPr lang="en-US" sz="1200" dirty="0">
                <a:solidFill>
                  <a:srgbClr val="15213F"/>
                </a:solidFill>
                <a:latin typeface="Roboto" pitchFamily="34" charset="0"/>
                <a:ea typeface="Roboto" pitchFamily="34" charset="-122"/>
                <a:cs typeface="Roboto" pitchFamily="34" charset="-120"/>
              </a:rPr>
              <a:t> Pick a starter or write your own.</a:t>
            </a:r>
            <a:endParaRPr lang="en-US" sz="1200" dirty="0"/>
          </a:p>
        </p:txBody>
      </p:sp>
      <p:sp>
        <p:nvSpPr>
          <p:cNvPr id="4" name="Shape 2"/>
          <p:cNvSpPr/>
          <p:nvPr/>
        </p:nvSpPr>
        <p:spPr>
          <a:xfrm>
            <a:off x="496119" y="1287066"/>
            <a:ext cx="8151763" cy="2060823"/>
          </a:xfrm>
          <a:prstGeom prst="roundRect">
            <a:avLst>
              <a:gd name="adj" fmla="val 903"/>
            </a:avLst>
          </a:prstGeom>
          <a:noFill/>
          <a:ln w="4763">
            <a:solidFill>
              <a:srgbClr val="000000">
                <a:alpha val="8000"/>
              </a:srgbClr>
            </a:solidFill>
            <a:prstDash val="solid"/>
          </a:ln>
        </p:spPr>
        <p:txBody>
          <a:bodyPr/>
          <a:lstStyle/>
          <a:p>
            <a:endParaRPr lang="en-IN"/>
          </a:p>
        </p:txBody>
      </p:sp>
      <p:sp>
        <p:nvSpPr>
          <p:cNvPr id="5" name="Text 3"/>
          <p:cNvSpPr/>
          <p:nvPr/>
        </p:nvSpPr>
        <p:spPr>
          <a:xfrm>
            <a:off x="624929" y="1371005"/>
            <a:ext cx="111836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Starter</a:t>
            </a:r>
            <a:endParaRPr lang="en-US" sz="1200" dirty="0"/>
          </a:p>
        </p:txBody>
      </p:sp>
      <p:sp>
        <p:nvSpPr>
          <p:cNvPr id="6" name="Text 4"/>
          <p:cNvSpPr/>
          <p:nvPr/>
        </p:nvSpPr>
        <p:spPr>
          <a:xfrm>
            <a:off x="1996008" y="1371005"/>
            <a:ext cx="652313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First Sentence</a:t>
            </a:r>
            <a:endParaRPr lang="en-US" sz="1200" dirty="0"/>
          </a:p>
        </p:txBody>
      </p:sp>
      <p:sp>
        <p:nvSpPr>
          <p:cNvPr id="7" name="Text 5"/>
          <p:cNvSpPr/>
          <p:nvPr/>
        </p:nvSpPr>
        <p:spPr>
          <a:xfrm>
            <a:off x="624929" y="1782217"/>
            <a:ext cx="111836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a:t>
            </a:r>
            <a:endParaRPr lang="en-US" sz="1200" dirty="0"/>
          </a:p>
        </p:txBody>
      </p:sp>
      <p:sp>
        <p:nvSpPr>
          <p:cNvPr id="8" name="Text 6"/>
          <p:cNvSpPr/>
          <p:nvPr/>
        </p:nvSpPr>
        <p:spPr>
          <a:xfrm>
            <a:off x="1996008" y="1782217"/>
            <a:ext cx="6523137"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"Marvin the mushroom had always dreamed of seeing the ocean."</a:t>
            </a:r>
            <a:endParaRPr lang="en-US" sz="1200" dirty="0"/>
          </a:p>
        </p:txBody>
      </p:sp>
      <p:sp>
        <p:nvSpPr>
          <p:cNvPr id="9" name="Text 7"/>
          <p:cNvSpPr/>
          <p:nvPr/>
        </p:nvSpPr>
        <p:spPr>
          <a:xfrm>
            <a:off x="624929" y="2193429"/>
            <a:ext cx="111836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a:t>
            </a:r>
            <a:endParaRPr lang="en-US" sz="1200" dirty="0"/>
          </a:p>
        </p:txBody>
      </p:sp>
      <p:sp>
        <p:nvSpPr>
          <p:cNvPr id="10" name="Text 8"/>
          <p:cNvSpPr/>
          <p:nvPr/>
        </p:nvSpPr>
        <p:spPr>
          <a:xfrm>
            <a:off x="1996008" y="2193429"/>
            <a:ext cx="6523137"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"The old vending machine in the hallway was actually a portal."</a:t>
            </a:r>
            <a:endParaRPr lang="en-US" sz="1200" dirty="0"/>
          </a:p>
        </p:txBody>
      </p:sp>
      <p:sp>
        <p:nvSpPr>
          <p:cNvPr id="11" name="Text 9"/>
          <p:cNvSpPr/>
          <p:nvPr/>
        </p:nvSpPr>
        <p:spPr>
          <a:xfrm>
            <a:off x="624929" y="2604641"/>
            <a:ext cx="111836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a:t>
            </a:r>
            <a:endParaRPr lang="en-US" sz="1200" dirty="0"/>
          </a:p>
        </p:txBody>
      </p:sp>
      <p:sp>
        <p:nvSpPr>
          <p:cNvPr id="12" name="Text 10"/>
          <p:cNvSpPr/>
          <p:nvPr/>
        </p:nvSpPr>
        <p:spPr>
          <a:xfrm>
            <a:off x="1996008" y="2604641"/>
            <a:ext cx="6523137"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"Nobody believed that Toast, the cat, understood every word."</a:t>
            </a:r>
            <a:endParaRPr lang="en-US" sz="1200" dirty="0"/>
          </a:p>
        </p:txBody>
      </p:sp>
      <p:sp>
        <p:nvSpPr>
          <p:cNvPr id="13" name="Text 11"/>
          <p:cNvSpPr/>
          <p:nvPr/>
        </p:nvSpPr>
        <p:spPr>
          <a:xfrm>
            <a:off x="624929" y="2986995"/>
            <a:ext cx="111836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a:t>
            </a:r>
            <a:endParaRPr lang="en-US" sz="1200" dirty="0"/>
          </a:p>
        </p:txBody>
      </p:sp>
      <p:grpSp>
        <p:nvGrpSpPr>
          <p:cNvPr id="25" name="Group 24">
            <a:extLst>
              <a:ext uri="{FF2B5EF4-FFF2-40B4-BE49-F238E27FC236}">
                <a16:creationId xmlns:a16="http://schemas.microsoft.com/office/drawing/2014/main" id="{707FB29F-1D6B-2F66-58E7-2D9A0E0BA332}"/>
              </a:ext>
            </a:extLst>
          </p:cNvPr>
          <p:cNvGrpSpPr/>
          <p:nvPr/>
        </p:nvGrpSpPr>
        <p:grpSpPr>
          <a:xfrm>
            <a:off x="496119" y="3487415"/>
            <a:ext cx="2634555" cy="1314748"/>
            <a:chOff x="496119" y="3487415"/>
            <a:chExt cx="2634555" cy="1314748"/>
          </a:xfrm>
        </p:grpSpPr>
        <p:sp>
          <p:nvSpPr>
            <p:cNvPr id="15" name="Shape 13"/>
            <p:cNvSpPr/>
            <p:nvPr/>
          </p:nvSpPr>
          <p:spPr>
            <a:xfrm>
              <a:off x="496119" y="3487415"/>
              <a:ext cx="2634555" cy="1314748"/>
            </a:xfrm>
            <a:prstGeom prst="roundRect">
              <a:avLst>
                <a:gd name="adj" fmla="val 1415"/>
              </a:avLst>
            </a:prstGeom>
            <a:solidFill>
              <a:srgbClr val="E9ECF2"/>
            </a:solidFill>
            <a:ln/>
          </p:spPr>
          <p:txBody>
            <a:bodyPr/>
            <a:lstStyle/>
            <a:p>
              <a:endParaRPr lang="en-IN"/>
            </a:p>
          </p:txBody>
        </p:sp>
        <p:sp>
          <p:nvSpPr>
            <p:cNvPr id="16" name="Text 14"/>
            <p:cNvSpPr/>
            <p:nvPr/>
          </p:nvSpPr>
          <p:spPr>
            <a:xfrm>
              <a:off x="620092" y="3611389"/>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Open Text-to-Video Tool</a:t>
              </a:r>
              <a:endParaRPr lang="en-US" sz="1200" dirty="0"/>
            </a:p>
          </p:txBody>
        </p:sp>
      </p:grpSp>
      <p:sp>
        <p:nvSpPr>
          <p:cNvPr id="17" name="Text 15"/>
          <p:cNvSpPr/>
          <p:nvPr/>
        </p:nvSpPr>
        <p:spPr>
          <a:xfrm>
            <a:off x="620092" y="3933899"/>
            <a:ext cx="238660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Click </a:t>
            </a:r>
            <a:r>
              <a:rPr lang="en-US" sz="1200" b="1" dirty="0">
                <a:solidFill>
                  <a:srgbClr val="15213F"/>
                </a:solidFill>
                <a:latin typeface="Roboto" pitchFamily="34" charset="0"/>
                <a:ea typeface="Roboto" pitchFamily="34" charset="-122"/>
                <a:cs typeface="Roboto" pitchFamily="34" charset="-120"/>
              </a:rPr>
              <a:t>"Script to Video"</a:t>
            </a:r>
            <a:r>
              <a:rPr lang="en-US" sz="1200" dirty="0">
                <a:solidFill>
                  <a:srgbClr val="15213F"/>
                </a:solidFill>
                <a:latin typeface="Roboto" pitchFamily="34" charset="0"/>
                <a:ea typeface="Roboto" pitchFamily="34" charset="-122"/>
                <a:cs typeface="Roboto" pitchFamily="34" charset="-120"/>
              </a:rPr>
              <a:t> and paste your three sentences.</a:t>
            </a:r>
            <a:endParaRPr lang="en-US" sz="1200" dirty="0"/>
          </a:p>
        </p:txBody>
      </p:sp>
      <p:grpSp>
        <p:nvGrpSpPr>
          <p:cNvPr id="26" name="Group 25">
            <a:extLst>
              <a:ext uri="{FF2B5EF4-FFF2-40B4-BE49-F238E27FC236}">
                <a16:creationId xmlns:a16="http://schemas.microsoft.com/office/drawing/2014/main" id="{75D2F8BA-D801-24DA-A659-99A7F930DBBD}"/>
              </a:ext>
            </a:extLst>
          </p:cNvPr>
          <p:cNvGrpSpPr/>
          <p:nvPr/>
        </p:nvGrpSpPr>
        <p:grpSpPr>
          <a:xfrm>
            <a:off x="3254648" y="3487415"/>
            <a:ext cx="2634630" cy="1314748"/>
            <a:chOff x="3254648" y="3487415"/>
            <a:chExt cx="2634630" cy="1314748"/>
          </a:xfrm>
        </p:grpSpPr>
        <p:sp>
          <p:nvSpPr>
            <p:cNvPr id="18" name="Shape 16"/>
            <p:cNvSpPr/>
            <p:nvPr/>
          </p:nvSpPr>
          <p:spPr>
            <a:xfrm>
              <a:off x="3254648" y="3487415"/>
              <a:ext cx="2634630" cy="1314748"/>
            </a:xfrm>
            <a:prstGeom prst="roundRect">
              <a:avLst>
                <a:gd name="adj" fmla="val 1415"/>
              </a:avLst>
            </a:prstGeom>
            <a:solidFill>
              <a:srgbClr val="E9ECF2"/>
            </a:solidFill>
            <a:ln/>
          </p:spPr>
          <p:txBody>
            <a:bodyPr/>
            <a:lstStyle/>
            <a:p>
              <a:endParaRPr lang="en-IN"/>
            </a:p>
          </p:txBody>
        </p:sp>
        <p:sp>
          <p:nvSpPr>
            <p:cNvPr id="19" name="Text 17"/>
            <p:cNvSpPr/>
            <p:nvPr/>
          </p:nvSpPr>
          <p:spPr>
            <a:xfrm>
              <a:off x="3378622" y="3611389"/>
              <a:ext cx="23866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Choose a Template</a:t>
              </a:r>
              <a:endParaRPr lang="en-US" sz="1200" dirty="0"/>
            </a:p>
          </p:txBody>
        </p:sp>
      </p:grpSp>
      <p:sp>
        <p:nvSpPr>
          <p:cNvPr id="20" name="Text 18"/>
          <p:cNvSpPr/>
          <p:nvPr/>
        </p:nvSpPr>
        <p:spPr>
          <a:xfrm>
            <a:off x="3378622" y="3933899"/>
            <a:ext cx="23866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Select a template that fits the mood of your story.</a:t>
            </a:r>
            <a:endParaRPr lang="en-US" sz="1200" dirty="0"/>
          </a:p>
        </p:txBody>
      </p:sp>
      <p:grpSp>
        <p:nvGrpSpPr>
          <p:cNvPr id="28" name="Group 27">
            <a:extLst>
              <a:ext uri="{FF2B5EF4-FFF2-40B4-BE49-F238E27FC236}">
                <a16:creationId xmlns:a16="http://schemas.microsoft.com/office/drawing/2014/main" id="{7F2A2B90-9DBA-9B3A-433A-31B2859CC40D}"/>
              </a:ext>
            </a:extLst>
          </p:cNvPr>
          <p:cNvGrpSpPr/>
          <p:nvPr/>
        </p:nvGrpSpPr>
        <p:grpSpPr>
          <a:xfrm>
            <a:off x="6013252" y="3487415"/>
            <a:ext cx="2634555" cy="1314748"/>
            <a:chOff x="6013252" y="3487415"/>
            <a:chExt cx="2634555" cy="1314748"/>
          </a:xfrm>
        </p:grpSpPr>
        <p:sp>
          <p:nvSpPr>
            <p:cNvPr id="21" name="Shape 19"/>
            <p:cNvSpPr/>
            <p:nvPr/>
          </p:nvSpPr>
          <p:spPr>
            <a:xfrm>
              <a:off x="6013252" y="3487415"/>
              <a:ext cx="2634555" cy="1314748"/>
            </a:xfrm>
            <a:prstGeom prst="roundRect">
              <a:avLst>
                <a:gd name="adj" fmla="val 1415"/>
              </a:avLst>
            </a:prstGeom>
            <a:solidFill>
              <a:srgbClr val="E9ECF2"/>
            </a:solidFill>
            <a:ln/>
          </p:spPr>
          <p:txBody>
            <a:bodyPr/>
            <a:lstStyle/>
            <a:p>
              <a:endParaRPr lang="en-IN"/>
            </a:p>
          </p:txBody>
        </p:sp>
        <p:sp>
          <p:nvSpPr>
            <p:cNvPr id="22" name="Text 20"/>
            <p:cNvSpPr/>
            <p:nvPr/>
          </p:nvSpPr>
          <p:spPr>
            <a:xfrm>
              <a:off x="6137225" y="3611389"/>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Make One Creative Edit</a:t>
              </a:r>
              <a:endParaRPr lang="en-US" sz="1200" dirty="0"/>
            </a:p>
          </p:txBody>
        </p:sp>
      </p:grpSp>
      <p:sp>
        <p:nvSpPr>
          <p:cNvPr id="23" name="Text 21"/>
          <p:cNvSpPr/>
          <p:nvPr/>
        </p:nvSpPr>
        <p:spPr>
          <a:xfrm>
            <a:off x="6137225" y="3933899"/>
            <a:ext cx="2386608"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Swap a scene for something unexpected, then generate your film.</a:t>
            </a:r>
            <a:endParaRPr lang="en-US" sz="1200" dirty="0"/>
          </a:p>
        </p:txBody>
      </p:sp>
      <p:sp>
        <p:nvSpPr>
          <p:cNvPr id="24" name="Text 10">
            <a:extLst>
              <a:ext uri="{FF2B5EF4-FFF2-40B4-BE49-F238E27FC236}">
                <a16:creationId xmlns:a16="http://schemas.microsoft.com/office/drawing/2014/main" id="{5F9EC509-A577-214D-9250-4FA9FDCB6E0D}"/>
              </a:ext>
            </a:extLst>
          </p:cNvPr>
          <p:cNvSpPr/>
          <p:nvPr/>
        </p:nvSpPr>
        <p:spPr>
          <a:xfrm>
            <a:off x="2024665" y="3032144"/>
            <a:ext cx="6523137" cy="248096"/>
          </a:xfrm>
          <a:prstGeom prst="rect">
            <a:avLst/>
          </a:prstGeom>
          <a:noFill/>
          <a:ln/>
        </p:spPr>
        <p:txBody>
          <a:bodyPr wrap="none" lIns="0" tIns="0" rIns="0" bIns="0" rtlCol="0" anchor="t"/>
          <a:lstStyle/>
          <a:p>
            <a:r>
              <a:rPr lang="en-US" sz="1200" dirty="0">
                <a:latin typeface="Roboto" panose="02000000000000000000" pitchFamily="2" charset="0"/>
                <a:ea typeface="Roboto" panose="02000000000000000000" pitchFamily="2" charset="0"/>
                <a:cs typeface="Roboto" panose="02000000000000000000" pitchFamily="2" charset="0"/>
              </a:rPr>
              <a:t>[Write your own opening 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7" grpId="0" animBg="1"/>
      <p:bldP spid="20" grpId="0" animBg="1"/>
      <p:bldP spid="23" grpId="0" animBg="1"/>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6119" y="1233041"/>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Summary</a:t>
            </a:r>
            <a:endParaRPr lang="en-US" sz="2400" dirty="0"/>
          </a:p>
        </p:txBody>
      </p:sp>
      <p:sp>
        <p:nvSpPr>
          <p:cNvPr id="3" name="Shape 1"/>
          <p:cNvSpPr/>
          <p:nvPr/>
        </p:nvSpPr>
        <p:spPr>
          <a:xfrm>
            <a:off x="496119" y="1868612"/>
            <a:ext cx="8151763" cy="2041773"/>
          </a:xfrm>
          <a:prstGeom prst="roundRect">
            <a:avLst>
              <a:gd name="adj" fmla="val 911"/>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873374"/>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952551"/>
            <a:ext cx="17339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Concept</a:t>
            </a:r>
            <a:endParaRPr lang="en-US" sz="1200" dirty="0"/>
          </a:p>
        </p:txBody>
      </p:sp>
      <p:sp>
        <p:nvSpPr>
          <p:cNvPr id="6" name="Text 4"/>
          <p:cNvSpPr/>
          <p:nvPr/>
        </p:nvSpPr>
        <p:spPr>
          <a:xfrm>
            <a:off x="2611562" y="1952551"/>
            <a:ext cx="590758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Key Idea</a:t>
            </a:r>
            <a:endParaRPr lang="en-US" sz="1200" dirty="0"/>
          </a:p>
        </p:txBody>
      </p:sp>
      <p:sp>
        <p:nvSpPr>
          <p:cNvPr id="7" name="Shape 5"/>
          <p:cNvSpPr/>
          <p:nvPr/>
        </p:nvSpPr>
        <p:spPr>
          <a:xfrm>
            <a:off x="500881" y="2279824"/>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2359000"/>
            <a:ext cx="17339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Multimodal AI</a:t>
            </a:r>
            <a:endParaRPr lang="en-US" sz="1200" dirty="0"/>
          </a:p>
        </p:txBody>
      </p:sp>
      <p:sp>
        <p:nvSpPr>
          <p:cNvPr id="9" name="Text 7"/>
          <p:cNvSpPr/>
          <p:nvPr/>
        </p:nvSpPr>
        <p:spPr>
          <a:xfrm>
            <a:off x="2611562" y="2359000"/>
            <a:ext cx="590758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that processes text, images, audio, video, and code together.</a:t>
            </a:r>
            <a:endParaRPr lang="en-US" sz="1200" dirty="0"/>
          </a:p>
        </p:txBody>
      </p:sp>
      <p:sp>
        <p:nvSpPr>
          <p:cNvPr id="10" name="Shape 8"/>
          <p:cNvSpPr/>
          <p:nvPr/>
        </p:nvSpPr>
        <p:spPr>
          <a:xfrm>
            <a:off x="500881" y="2686273"/>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2765450"/>
            <a:ext cx="17339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Modality</a:t>
            </a:r>
            <a:endParaRPr lang="en-US" sz="1200" dirty="0"/>
          </a:p>
        </p:txBody>
      </p:sp>
      <p:sp>
        <p:nvSpPr>
          <p:cNvPr id="12" name="Text 10"/>
          <p:cNvSpPr/>
          <p:nvPr/>
        </p:nvSpPr>
        <p:spPr>
          <a:xfrm>
            <a:off x="2611562" y="2765450"/>
            <a:ext cx="590758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single type of data (text, image, sound, video, code).</a:t>
            </a:r>
            <a:endParaRPr lang="en-US" sz="1200" dirty="0"/>
          </a:p>
        </p:txBody>
      </p:sp>
      <p:sp>
        <p:nvSpPr>
          <p:cNvPr id="13" name="Shape 11"/>
          <p:cNvSpPr/>
          <p:nvPr/>
        </p:nvSpPr>
        <p:spPr>
          <a:xfrm>
            <a:off x="500881" y="3092723"/>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3171899"/>
            <a:ext cx="17339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Fusion</a:t>
            </a:r>
            <a:endParaRPr lang="en-US" sz="1200" dirty="0"/>
          </a:p>
        </p:txBody>
      </p:sp>
      <p:sp>
        <p:nvSpPr>
          <p:cNvPr id="15" name="Text 13"/>
          <p:cNvSpPr/>
          <p:nvPr/>
        </p:nvSpPr>
        <p:spPr>
          <a:xfrm>
            <a:off x="2611562" y="3171899"/>
            <a:ext cx="590758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Combining clues from different modalities for deeper insight.</a:t>
            </a:r>
            <a:endParaRPr lang="en-US" sz="1200" dirty="0"/>
          </a:p>
        </p:txBody>
      </p:sp>
      <p:sp>
        <p:nvSpPr>
          <p:cNvPr id="16" name="Shape 14"/>
          <p:cNvSpPr/>
          <p:nvPr/>
        </p:nvSpPr>
        <p:spPr>
          <a:xfrm>
            <a:off x="500881" y="3499172"/>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3578349"/>
            <a:ext cx="17339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Sense → Think → Act</a:t>
            </a:r>
            <a:endParaRPr lang="en-US" sz="1200" dirty="0"/>
          </a:p>
        </p:txBody>
      </p:sp>
      <p:sp>
        <p:nvSpPr>
          <p:cNvPr id="18" name="Text 16"/>
          <p:cNvSpPr/>
          <p:nvPr/>
        </p:nvSpPr>
        <p:spPr>
          <a:xfrm>
            <a:off x="2611562" y="3578349"/>
            <a:ext cx="590758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foundational framework - now applied across multiple senses.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96119" y="1312218"/>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Summary</a:t>
            </a:r>
            <a:endParaRPr lang="en-US" sz="2400" dirty="0"/>
          </a:p>
        </p:txBody>
      </p:sp>
      <p:sp>
        <p:nvSpPr>
          <p:cNvPr id="3" name="Shape 1"/>
          <p:cNvSpPr/>
          <p:nvPr/>
        </p:nvSpPr>
        <p:spPr>
          <a:xfrm>
            <a:off x="496119" y="1947788"/>
            <a:ext cx="8151763" cy="1883420"/>
          </a:xfrm>
          <a:prstGeom prst="roundRect">
            <a:avLst>
              <a:gd name="adj" fmla="val 988"/>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952551"/>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2031727"/>
            <a:ext cx="15042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Concept</a:t>
            </a:r>
            <a:endParaRPr lang="en-US" sz="1200" dirty="0"/>
          </a:p>
        </p:txBody>
      </p:sp>
      <p:sp>
        <p:nvSpPr>
          <p:cNvPr id="6" name="Text 4"/>
          <p:cNvSpPr/>
          <p:nvPr/>
        </p:nvSpPr>
        <p:spPr>
          <a:xfrm>
            <a:off x="2381920" y="2031727"/>
            <a:ext cx="613722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Key Idea</a:t>
            </a:r>
            <a:endParaRPr lang="en-US" sz="1200" dirty="0"/>
          </a:p>
        </p:txBody>
      </p:sp>
      <p:sp>
        <p:nvSpPr>
          <p:cNvPr id="7" name="Shape 5"/>
          <p:cNvSpPr/>
          <p:nvPr/>
        </p:nvSpPr>
        <p:spPr>
          <a:xfrm>
            <a:off x="500881" y="2359000"/>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2438177"/>
            <a:ext cx="15042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Multimodal Models</a:t>
            </a:r>
            <a:endParaRPr lang="en-US" sz="1200" dirty="0"/>
          </a:p>
        </p:txBody>
      </p:sp>
      <p:sp>
        <p:nvSpPr>
          <p:cNvPr id="9" name="Text 7"/>
          <p:cNvSpPr/>
          <p:nvPr/>
        </p:nvSpPr>
        <p:spPr>
          <a:xfrm>
            <a:off x="2381920" y="2438177"/>
            <a:ext cx="613722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Can mix inputs: image + text, video + text, audio + text, code + diagrams.</a:t>
            </a:r>
            <a:endParaRPr lang="en-US" sz="1200" dirty="0"/>
          </a:p>
        </p:txBody>
      </p:sp>
      <p:sp>
        <p:nvSpPr>
          <p:cNvPr id="10" name="Shape 8"/>
          <p:cNvSpPr/>
          <p:nvPr/>
        </p:nvSpPr>
        <p:spPr>
          <a:xfrm>
            <a:off x="500881" y="2765450"/>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2844626"/>
            <a:ext cx="15042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Text-to-Video AI</a:t>
            </a:r>
            <a:endParaRPr lang="en-US" sz="1200" dirty="0"/>
          </a:p>
        </p:txBody>
      </p:sp>
      <p:sp>
        <p:nvSpPr>
          <p:cNvPr id="12" name="Text 10"/>
          <p:cNvSpPr/>
          <p:nvPr/>
        </p:nvSpPr>
        <p:spPr>
          <a:xfrm>
            <a:off x="2381920" y="2844626"/>
            <a:ext cx="613722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Senses text; thinks by matching visuals; acts by generating a video.</a:t>
            </a:r>
            <a:endParaRPr lang="en-US" sz="1200" dirty="0"/>
          </a:p>
        </p:txBody>
      </p:sp>
      <p:sp>
        <p:nvSpPr>
          <p:cNvPr id="13" name="Shape 11"/>
          <p:cNvSpPr/>
          <p:nvPr/>
        </p:nvSpPr>
        <p:spPr>
          <a:xfrm>
            <a:off x="500881" y="3171899"/>
            <a:ext cx="8142238" cy="654546"/>
          </a:xfrm>
          <a:prstGeom prst="rect">
            <a:avLst/>
          </a:prstGeom>
          <a:solidFill>
            <a:srgbClr val="000000">
              <a:alpha val="4000"/>
            </a:srgbClr>
          </a:solidFill>
          <a:ln/>
        </p:spPr>
        <p:txBody>
          <a:bodyPr/>
          <a:lstStyle/>
          <a:p>
            <a:endParaRPr lang="en-IN"/>
          </a:p>
        </p:txBody>
      </p:sp>
      <p:sp>
        <p:nvSpPr>
          <p:cNvPr id="14" name="Text 12"/>
          <p:cNvSpPr/>
          <p:nvPr/>
        </p:nvSpPr>
        <p:spPr>
          <a:xfrm>
            <a:off x="624929" y="3251076"/>
            <a:ext cx="15042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Video AI</a:t>
            </a:r>
            <a:endParaRPr lang="en-US" sz="1200" dirty="0"/>
          </a:p>
        </p:txBody>
      </p:sp>
      <p:sp>
        <p:nvSpPr>
          <p:cNvPr id="15" name="Text 13"/>
          <p:cNvSpPr/>
          <p:nvPr/>
        </p:nvSpPr>
        <p:spPr>
          <a:xfrm>
            <a:off x="2381920" y="3251076"/>
            <a:ext cx="6137225"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Senses video or text; thinks across time or imagination; acts with descriptions or new video.</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17" name="Shape 15"/>
          <p:cNvSpPr/>
          <p:nvPr/>
        </p:nvSpPr>
        <p:spPr>
          <a:xfrm>
            <a:off x="496119" y="3439864"/>
            <a:ext cx="8151763" cy="1066651"/>
          </a:xfrm>
          <a:prstGeom prst="roundRect">
            <a:avLst>
              <a:gd name="adj" fmla="val 1744"/>
            </a:avLst>
          </a:prstGeom>
          <a:solidFill>
            <a:srgbClr val="E9ECF2"/>
          </a:solidFill>
          <a:ln/>
        </p:spPr>
        <p:txBody>
          <a:bodyPr/>
          <a:lstStyle/>
          <a:p>
            <a:endParaRPr lang="en-IN" dirty="0"/>
          </a:p>
        </p:txBody>
      </p:sp>
      <p:grpSp>
        <p:nvGrpSpPr>
          <p:cNvPr id="49" name="Group 48">
            <a:extLst>
              <a:ext uri="{FF2B5EF4-FFF2-40B4-BE49-F238E27FC236}">
                <a16:creationId xmlns:a16="http://schemas.microsoft.com/office/drawing/2014/main" id="{D4816AFE-6CBE-DAAD-A94A-C26CDD6E9159}"/>
              </a:ext>
            </a:extLst>
          </p:cNvPr>
          <p:cNvGrpSpPr/>
          <p:nvPr/>
        </p:nvGrpSpPr>
        <p:grpSpPr>
          <a:xfrm>
            <a:off x="3213348" y="3439864"/>
            <a:ext cx="2717229" cy="1066651"/>
            <a:chOff x="3213348" y="3439864"/>
            <a:chExt cx="2717229" cy="1066651"/>
          </a:xfrm>
        </p:grpSpPr>
        <p:sp>
          <p:nvSpPr>
            <p:cNvPr id="21" name="Shape 19"/>
            <p:cNvSpPr/>
            <p:nvPr/>
          </p:nvSpPr>
          <p:spPr>
            <a:xfrm>
              <a:off x="3213348" y="3439864"/>
              <a:ext cx="2717229" cy="1066651"/>
            </a:xfrm>
            <a:prstGeom prst="rect">
              <a:avLst/>
            </a:prstGeom>
            <a:solidFill>
              <a:srgbClr val="E9ECF2"/>
            </a:solidFill>
            <a:ln/>
          </p:spPr>
          <p:txBody>
            <a:bodyPr/>
            <a:lstStyle/>
            <a:p>
              <a:endParaRPr lang="en-IN" dirty="0"/>
            </a:p>
          </p:txBody>
        </p:sp>
        <p:sp>
          <p:nvSpPr>
            <p:cNvPr id="23" name="Text 21"/>
            <p:cNvSpPr/>
            <p:nvPr/>
          </p:nvSpPr>
          <p:spPr>
            <a:xfrm>
              <a:off x="3337322" y="3563838"/>
              <a:ext cx="24692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Mixed-Input Reasoning</a:t>
              </a:r>
              <a:endParaRPr lang="en-US" sz="1200" dirty="0"/>
            </a:p>
          </p:txBody>
        </p:sp>
      </p:grpSp>
      <p:grpSp>
        <p:nvGrpSpPr>
          <p:cNvPr id="45" name="Group 44">
            <a:extLst>
              <a:ext uri="{FF2B5EF4-FFF2-40B4-BE49-F238E27FC236}">
                <a16:creationId xmlns:a16="http://schemas.microsoft.com/office/drawing/2014/main" id="{7A13289D-2BD9-7221-8ADE-58DD29034397}"/>
              </a:ext>
            </a:extLst>
          </p:cNvPr>
          <p:cNvGrpSpPr/>
          <p:nvPr/>
        </p:nvGrpSpPr>
        <p:grpSpPr>
          <a:xfrm>
            <a:off x="5930577" y="1649991"/>
            <a:ext cx="2717229" cy="1314748"/>
            <a:chOff x="5930577" y="1649991"/>
            <a:chExt cx="2717229" cy="1314748"/>
          </a:xfrm>
        </p:grpSpPr>
        <p:sp>
          <p:nvSpPr>
            <p:cNvPr id="12" name="Shape 10"/>
            <p:cNvSpPr/>
            <p:nvPr/>
          </p:nvSpPr>
          <p:spPr>
            <a:xfrm>
              <a:off x="5930577" y="1649991"/>
              <a:ext cx="2717229" cy="1314748"/>
            </a:xfrm>
            <a:prstGeom prst="rect">
              <a:avLst/>
            </a:prstGeom>
            <a:solidFill>
              <a:srgbClr val="E9ECF2"/>
            </a:solidFill>
            <a:ln/>
          </p:spPr>
          <p:txBody>
            <a:bodyPr/>
            <a:lstStyle/>
            <a:p>
              <a:endParaRPr lang="en-IN" dirty="0"/>
            </a:p>
          </p:txBody>
        </p:sp>
        <p:sp>
          <p:nvSpPr>
            <p:cNvPr id="14" name="Text 12"/>
            <p:cNvSpPr/>
            <p:nvPr/>
          </p:nvSpPr>
          <p:spPr>
            <a:xfrm>
              <a:off x="6054550" y="1773965"/>
              <a:ext cx="24692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ACT</a:t>
              </a:r>
              <a:endParaRPr lang="en-US" sz="1200" dirty="0"/>
            </a:p>
          </p:txBody>
        </p:sp>
      </p:grpSp>
      <p:grpSp>
        <p:nvGrpSpPr>
          <p:cNvPr id="43" name="Group 42">
            <a:extLst>
              <a:ext uri="{FF2B5EF4-FFF2-40B4-BE49-F238E27FC236}">
                <a16:creationId xmlns:a16="http://schemas.microsoft.com/office/drawing/2014/main" id="{9D2A333D-B5B1-9970-FEB2-3D45072A35E1}"/>
              </a:ext>
            </a:extLst>
          </p:cNvPr>
          <p:cNvGrpSpPr/>
          <p:nvPr/>
        </p:nvGrpSpPr>
        <p:grpSpPr>
          <a:xfrm>
            <a:off x="496118" y="1649991"/>
            <a:ext cx="2717229" cy="1314748"/>
            <a:chOff x="496118" y="1649991"/>
            <a:chExt cx="2717229" cy="1314748"/>
          </a:xfrm>
        </p:grpSpPr>
        <p:sp>
          <p:nvSpPr>
            <p:cNvPr id="5" name="Shape 3"/>
            <p:cNvSpPr/>
            <p:nvPr/>
          </p:nvSpPr>
          <p:spPr>
            <a:xfrm>
              <a:off x="496118" y="1649991"/>
              <a:ext cx="2717229" cy="1314748"/>
            </a:xfrm>
            <a:prstGeom prst="roundRect">
              <a:avLst>
                <a:gd name="adj" fmla="val 1415"/>
              </a:avLst>
            </a:prstGeom>
            <a:solidFill>
              <a:srgbClr val="E9ECF2"/>
            </a:solidFill>
            <a:ln/>
          </p:spPr>
          <p:txBody>
            <a:bodyPr/>
            <a:lstStyle/>
            <a:p>
              <a:endParaRPr lang="en-IN" dirty="0"/>
            </a:p>
          </p:txBody>
        </p:sp>
        <p:sp>
          <p:nvSpPr>
            <p:cNvPr id="6" name="Text 4"/>
            <p:cNvSpPr/>
            <p:nvPr/>
          </p:nvSpPr>
          <p:spPr>
            <a:xfrm>
              <a:off x="620091" y="1773965"/>
              <a:ext cx="24692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SENSE</a:t>
              </a:r>
              <a:endParaRPr lang="en-US" sz="1200" dirty="0"/>
            </a:p>
          </p:txBody>
        </p:sp>
      </p:grpSp>
      <p:sp>
        <p:nvSpPr>
          <p:cNvPr id="2" name="Text 0"/>
          <p:cNvSpPr/>
          <p:nvPr/>
        </p:nvSpPr>
        <p:spPr>
          <a:xfrm>
            <a:off x="496119" y="636910"/>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Key Takeaway</a:t>
            </a:r>
            <a:endParaRPr lang="en-US" sz="2400" dirty="0"/>
          </a:p>
        </p:txBody>
      </p:sp>
      <p:sp>
        <p:nvSpPr>
          <p:cNvPr id="3" name="Text 1"/>
          <p:cNvSpPr/>
          <p:nvPr/>
        </p:nvSpPr>
        <p:spPr>
          <a:xfrm>
            <a:off x="496119" y="1074018"/>
            <a:ext cx="5659934"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Multimodal AI = Sense → Think → Act</a:t>
            </a:r>
            <a:endParaRPr lang="en-US" sz="2400" dirty="0"/>
          </a:p>
        </p:txBody>
      </p:sp>
      <p:sp>
        <p:nvSpPr>
          <p:cNvPr id="22" name="Shape 20"/>
          <p:cNvSpPr/>
          <p:nvPr/>
        </p:nvSpPr>
        <p:spPr>
          <a:xfrm>
            <a:off x="3213348" y="3439864"/>
            <a:ext cx="14288" cy="1066651"/>
          </a:xfrm>
          <a:prstGeom prst="roundRect">
            <a:avLst>
              <a:gd name="adj" fmla="val 130228"/>
            </a:avLst>
          </a:prstGeom>
          <a:solidFill>
            <a:srgbClr val="CFD2D8"/>
          </a:solidFill>
          <a:ln/>
        </p:spPr>
        <p:txBody>
          <a:bodyPr/>
          <a:lstStyle/>
          <a:p>
            <a:endParaRPr lang="en-IN"/>
          </a:p>
        </p:txBody>
      </p:sp>
      <p:sp>
        <p:nvSpPr>
          <p:cNvPr id="26" name="Shape 24"/>
          <p:cNvSpPr/>
          <p:nvPr/>
        </p:nvSpPr>
        <p:spPr>
          <a:xfrm>
            <a:off x="5930578" y="3439864"/>
            <a:ext cx="14288" cy="1066651"/>
          </a:xfrm>
          <a:prstGeom prst="roundRect">
            <a:avLst>
              <a:gd name="adj" fmla="val 130228"/>
            </a:avLst>
          </a:prstGeom>
          <a:solidFill>
            <a:srgbClr val="CFD2D8"/>
          </a:solidFill>
          <a:ln/>
        </p:spPr>
        <p:txBody>
          <a:bodyPr/>
          <a:lstStyle/>
          <a:p>
            <a:endParaRPr lang="en-IN"/>
          </a:p>
        </p:txBody>
      </p:sp>
      <p:sp>
        <p:nvSpPr>
          <p:cNvPr id="20" name="Text 18"/>
          <p:cNvSpPr/>
          <p:nvPr/>
        </p:nvSpPr>
        <p:spPr>
          <a:xfrm>
            <a:off x="620092" y="3886349"/>
            <a:ext cx="24692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Connect information across different input types.</a:t>
            </a:r>
            <a:endParaRPr lang="en-US" sz="1200" dirty="0"/>
          </a:p>
        </p:txBody>
      </p:sp>
      <p:sp>
        <p:nvSpPr>
          <p:cNvPr id="24" name="Text 22"/>
          <p:cNvSpPr/>
          <p:nvPr/>
        </p:nvSpPr>
        <p:spPr>
          <a:xfrm>
            <a:off x="3337322" y="3886349"/>
            <a:ext cx="24692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Answer questions that require combining multiple sources.</a:t>
            </a:r>
            <a:endParaRPr lang="en-US" sz="1200" dirty="0"/>
          </a:p>
        </p:txBody>
      </p:sp>
      <p:grpSp>
        <p:nvGrpSpPr>
          <p:cNvPr id="51" name="Group 50">
            <a:extLst>
              <a:ext uri="{FF2B5EF4-FFF2-40B4-BE49-F238E27FC236}">
                <a16:creationId xmlns:a16="http://schemas.microsoft.com/office/drawing/2014/main" id="{50745D32-0595-550D-669C-4779EB552909}"/>
              </a:ext>
            </a:extLst>
          </p:cNvPr>
          <p:cNvGrpSpPr/>
          <p:nvPr/>
        </p:nvGrpSpPr>
        <p:grpSpPr>
          <a:xfrm>
            <a:off x="5959154" y="3439864"/>
            <a:ext cx="2688653" cy="1066651"/>
            <a:chOff x="5959154" y="3439864"/>
            <a:chExt cx="2688653" cy="1066651"/>
          </a:xfrm>
        </p:grpSpPr>
        <p:sp>
          <p:nvSpPr>
            <p:cNvPr id="25" name="Shape 23"/>
            <p:cNvSpPr/>
            <p:nvPr/>
          </p:nvSpPr>
          <p:spPr>
            <a:xfrm>
              <a:off x="5959154" y="3439864"/>
              <a:ext cx="2688653" cy="1066651"/>
            </a:xfrm>
            <a:prstGeom prst="rect">
              <a:avLst/>
            </a:prstGeom>
            <a:solidFill>
              <a:srgbClr val="E9ECF2"/>
            </a:solidFill>
            <a:ln/>
          </p:spPr>
          <p:txBody>
            <a:bodyPr/>
            <a:lstStyle/>
            <a:p>
              <a:endParaRPr lang="en-IN" dirty="0"/>
            </a:p>
          </p:txBody>
        </p:sp>
        <p:sp>
          <p:nvSpPr>
            <p:cNvPr id="27" name="Text 25"/>
            <p:cNvSpPr/>
            <p:nvPr/>
          </p:nvSpPr>
          <p:spPr>
            <a:xfrm>
              <a:off x="6081823" y="3563838"/>
              <a:ext cx="244331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Multimodal Generation</a:t>
              </a:r>
              <a:endParaRPr lang="en-US" sz="1200" dirty="0"/>
            </a:p>
          </p:txBody>
        </p:sp>
      </p:grpSp>
      <p:sp>
        <p:nvSpPr>
          <p:cNvPr id="28" name="Text 26"/>
          <p:cNvSpPr/>
          <p:nvPr/>
        </p:nvSpPr>
        <p:spPr>
          <a:xfrm>
            <a:off x="6081823" y="3886349"/>
            <a:ext cx="244331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Create new content in one format from another.</a:t>
            </a:r>
            <a:endParaRPr lang="en-US" sz="1200" dirty="0"/>
          </a:p>
        </p:txBody>
      </p:sp>
      <p:sp>
        <p:nvSpPr>
          <p:cNvPr id="7" name="Text 5"/>
          <p:cNvSpPr/>
          <p:nvPr/>
        </p:nvSpPr>
        <p:spPr>
          <a:xfrm>
            <a:off x="620091" y="2096475"/>
            <a:ext cx="24692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Gather text, image, audio, video, code - any combination.</a:t>
            </a:r>
            <a:endParaRPr lang="en-US" sz="1200" dirty="0"/>
          </a:p>
        </p:txBody>
      </p:sp>
      <p:grpSp>
        <p:nvGrpSpPr>
          <p:cNvPr id="44" name="Group 43">
            <a:extLst>
              <a:ext uri="{FF2B5EF4-FFF2-40B4-BE49-F238E27FC236}">
                <a16:creationId xmlns:a16="http://schemas.microsoft.com/office/drawing/2014/main" id="{D03EB699-9930-73C6-E4F4-8EFA0F8CFC28}"/>
              </a:ext>
            </a:extLst>
          </p:cNvPr>
          <p:cNvGrpSpPr/>
          <p:nvPr/>
        </p:nvGrpSpPr>
        <p:grpSpPr>
          <a:xfrm>
            <a:off x="3213347" y="1649991"/>
            <a:ext cx="2717229" cy="1314748"/>
            <a:chOff x="3213347" y="1649991"/>
            <a:chExt cx="2717229" cy="1314748"/>
          </a:xfrm>
        </p:grpSpPr>
        <p:sp>
          <p:nvSpPr>
            <p:cNvPr id="8" name="Shape 6"/>
            <p:cNvSpPr/>
            <p:nvPr/>
          </p:nvSpPr>
          <p:spPr>
            <a:xfrm>
              <a:off x="3213347" y="1649991"/>
              <a:ext cx="2717229" cy="1314748"/>
            </a:xfrm>
            <a:prstGeom prst="rect">
              <a:avLst/>
            </a:prstGeom>
            <a:solidFill>
              <a:srgbClr val="E9ECF2"/>
            </a:solidFill>
            <a:ln/>
          </p:spPr>
          <p:txBody>
            <a:bodyPr/>
            <a:lstStyle/>
            <a:p>
              <a:endParaRPr lang="en-IN" dirty="0"/>
            </a:p>
          </p:txBody>
        </p:sp>
        <p:sp>
          <p:nvSpPr>
            <p:cNvPr id="10" name="Text 8"/>
            <p:cNvSpPr/>
            <p:nvPr/>
          </p:nvSpPr>
          <p:spPr>
            <a:xfrm>
              <a:off x="3337321" y="1773965"/>
              <a:ext cx="24692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THINK</a:t>
              </a:r>
              <a:endParaRPr lang="en-US" sz="1200" dirty="0"/>
            </a:p>
          </p:txBody>
        </p:sp>
      </p:grpSp>
      <p:sp>
        <p:nvSpPr>
          <p:cNvPr id="11" name="Text 9"/>
          <p:cNvSpPr/>
          <p:nvPr/>
        </p:nvSpPr>
        <p:spPr>
          <a:xfrm>
            <a:off x="3337321" y="2096475"/>
            <a:ext cx="2469282"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Translate all senses into a shared internal language; fuse clues for deeper understanding.</a:t>
            </a:r>
            <a:endParaRPr lang="en-US" sz="1200" dirty="0"/>
          </a:p>
        </p:txBody>
      </p:sp>
      <p:sp>
        <p:nvSpPr>
          <p:cNvPr id="15" name="Text 13"/>
          <p:cNvSpPr/>
          <p:nvPr/>
        </p:nvSpPr>
        <p:spPr>
          <a:xfrm>
            <a:off x="6054550" y="2096475"/>
            <a:ext cx="24692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Generate text, descriptions, videos, code, or coordinated actions.</a:t>
            </a:r>
            <a:endParaRPr lang="en-US" sz="1200" dirty="0"/>
          </a:p>
        </p:txBody>
      </p:sp>
      <p:sp>
        <p:nvSpPr>
          <p:cNvPr id="9" name="Shape 7"/>
          <p:cNvSpPr/>
          <p:nvPr/>
        </p:nvSpPr>
        <p:spPr>
          <a:xfrm>
            <a:off x="3213348" y="1647602"/>
            <a:ext cx="14288" cy="1314748"/>
          </a:xfrm>
          <a:prstGeom prst="roundRect">
            <a:avLst>
              <a:gd name="adj" fmla="val 130228"/>
            </a:avLst>
          </a:prstGeom>
          <a:solidFill>
            <a:srgbClr val="CFD2D8"/>
          </a:solidFill>
          <a:ln/>
        </p:spPr>
        <p:txBody>
          <a:bodyPr/>
          <a:lstStyle/>
          <a:p>
            <a:endParaRPr lang="en-IN"/>
          </a:p>
        </p:txBody>
      </p:sp>
      <p:sp>
        <p:nvSpPr>
          <p:cNvPr id="13" name="Shape 11"/>
          <p:cNvSpPr/>
          <p:nvPr/>
        </p:nvSpPr>
        <p:spPr>
          <a:xfrm>
            <a:off x="5930578" y="1647602"/>
            <a:ext cx="14288" cy="1314748"/>
          </a:xfrm>
          <a:prstGeom prst="roundRect">
            <a:avLst>
              <a:gd name="adj" fmla="val 130228"/>
            </a:avLst>
          </a:prstGeom>
          <a:solidFill>
            <a:srgbClr val="CFD2D8"/>
          </a:solidFill>
          <a:ln/>
        </p:spPr>
        <p:txBody>
          <a:bodyPr/>
          <a:lstStyle/>
          <a:p>
            <a:endParaRPr lang="en-IN" dirty="0"/>
          </a:p>
        </p:txBody>
      </p:sp>
      <p:sp>
        <p:nvSpPr>
          <p:cNvPr id="19" name="Text 17"/>
          <p:cNvSpPr/>
          <p:nvPr/>
        </p:nvSpPr>
        <p:spPr>
          <a:xfrm>
            <a:off x="620092" y="3563838"/>
            <a:ext cx="24692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Cross-Modal Understanding</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2" grpId="0" animBg="1"/>
      <p:bldP spid="26" grpId="0" animBg="1"/>
      <p:bldP spid="20" grpId="0" animBg="1"/>
      <p:bldP spid="24" grpId="0" animBg="1"/>
      <p:bldP spid="28" grpId="0" animBg="1"/>
      <p:bldP spid="7" grpId="0" animBg="1"/>
      <p:bldP spid="11" grpId="0" animBg="1"/>
      <p:bldP spid="15" grpId="0" animBg="1"/>
      <p:bldP spid="9" grpId="0" animBg="1"/>
      <p:bldP spid="13" grpId="0" animBg="1"/>
      <p:bldP spid="1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A8FC3469-2B43-ED6C-82E3-C05A950D02D2}"/>
              </a:ext>
            </a:extLst>
          </p:cNvPr>
          <p:cNvGrpSpPr/>
          <p:nvPr/>
        </p:nvGrpSpPr>
        <p:grpSpPr>
          <a:xfrm>
            <a:off x="496119" y="1611883"/>
            <a:ext cx="8151688" cy="2555230"/>
            <a:chOff x="496119" y="1611883"/>
            <a:chExt cx="8151688" cy="2555230"/>
          </a:xfrm>
        </p:grpSpPr>
        <p:sp>
          <p:nvSpPr>
            <p:cNvPr id="4" name="Shape 2"/>
            <p:cNvSpPr/>
            <p:nvPr/>
          </p:nvSpPr>
          <p:spPr>
            <a:xfrm>
              <a:off x="496119" y="1611883"/>
              <a:ext cx="2717229" cy="2555230"/>
            </a:xfrm>
            <a:prstGeom prst="roundRect">
              <a:avLst>
                <a:gd name="adj" fmla="val 728"/>
              </a:avLst>
            </a:prstGeom>
            <a:solidFill>
              <a:srgbClr val="E9ECF2"/>
            </a:solidFill>
            <a:ln/>
          </p:spPr>
          <p:txBody>
            <a:bodyPr/>
            <a:lstStyle/>
            <a:p>
              <a:endParaRPr lang="en-IN"/>
            </a:p>
          </p:txBody>
        </p:sp>
        <p:sp>
          <p:nvSpPr>
            <p:cNvPr id="7" name="Shape 5"/>
            <p:cNvSpPr/>
            <p:nvPr/>
          </p:nvSpPr>
          <p:spPr>
            <a:xfrm>
              <a:off x="3213348" y="1611883"/>
              <a:ext cx="2717229" cy="2555230"/>
            </a:xfrm>
            <a:prstGeom prst="rect">
              <a:avLst/>
            </a:prstGeom>
            <a:solidFill>
              <a:srgbClr val="E9ECF2"/>
            </a:solidFill>
            <a:ln/>
          </p:spPr>
          <p:txBody>
            <a:bodyPr/>
            <a:lstStyle/>
            <a:p>
              <a:endParaRPr lang="en-IN"/>
            </a:p>
          </p:txBody>
        </p:sp>
        <p:sp>
          <p:nvSpPr>
            <p:cNvPr id="13" name="Shape 10"/>
            <p:cNvSpPr/>
            <p:nvPr/>
          </p:nvSpPr>
          <p:spPr>
            <a:xfrm>
              <a:off x="5930578" y="1611883"/>
              <a:ext cx="2717229" cy="2555230"/>
            </a:xfrm>
            <a:prstGeom prst="rect">
              <a:avLst/>
            </a:prstGeom>
            <a:solidFill>
              <a:srgbClr val="E9ECF2"/>
            </a:solidFill>
            <a:ln/>
          </p:spPr>
          <p:txBody>
            <a:bodyPr/>
            <a:lstStyle/>
            <a:p>
              <a:endParaRPr lang="en-IN"/>
            </a:p>
          </p:txBody>
        </p:sp>
      </p:grpSp>
      <p:sp>
        <p:nvSpPr>
          <p:cNvPr id="2" name="Text 0"/>
          <p:cNvSpPr/>
          <p:nvPr/>
        </p:nvSpPr>
        <p:spPr>
          <a:xfrm>
            <a:off x="496119" y="976312"/>
            <a:ext cx="464269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Homework: Make a Mini-Movie</a:t>
            </a:r>
            <a:endParaRPr lang="en-US" sz="2400" dirty="0"/>
          </a:p>
        </p:txBody>
      </p:sp>
      <p:sp>
        <p:nvSpPr>
          <p:cNvPr id="3" name="Shape 1"/>
          <p:cNvSpPr/>
          <p:nvPr/>
        </p:nvSpPr>
        <p:spPr>
          <a:xfrm>
            <a:off x="496119" y="1611883"/>
            <a:ext cx="8151763" cy="2555230"/>
          </a:xfrm>
          <a:prstGeom prst="roundRect">
            <a:avLst>
              <a:gd name="adj" fmla="val 728"/>
            </a:avLst>
          </a:prstGeom>
          <a:solidFill>
            <a:srgbClr val="E9ECF2"/>
          </a:solidFill>
          <a:ln/>
        </p:spPr>
        <p:txBody>
          <a:bodyPr/>
          <a:lstStyle/>
          <a:p>
            <a:endParaRPr lang="en-IN" dirty="0"/>
          </a:p>
        </p:txBody>
      </p:sp>
      <p:sp>
        <p:nvSpPr>
          <p:cNvPr id="5" name="Text 3"/>
          <p:cNvSpPr/>
          <p:nvPr/>
        </p:nvSpPr>
        <p:spPr>
          <a:xfrm>
            <a:off x="620092" y="1735857"/>
            <a:ext cx="22831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Get a Story Idea (3 min)</a:t>
            </a:r>
            <a:endParaRPr lang="en-US" sz="1200" dirty="0"/>
          </a:p>
        </p:txBody>
      </p:sp>
      <p:sp>
        <p:nvSpPr>
          <p:cNvPr id="6" name="Text 4"/>
          <p:cNvSpPr/>
          <p:nvPr/>
        </p:nvSpPr>
        <p:spPr>
          <a:xfrm>
            <a:off x="620092" y="2058367"/>
            <a:ext cx="2283172"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Open </a:t>
            </a:r>
            <a:r>
              <a:rPr lang="en-US" sz="1200" b="1" dirty="0">
                <a:solidFill>
                  <a:srgbClr val="15213F"/>
                </a:solidFill>
                <a:latin typeface="Roboto" pitchFamily="34" charset="0"/>
                <a:ea typeface="Roboto" pitchFamily="34" charset="-122"/>
                <a:cs typeface="Roboto" pitchFamily="34" charset="-120"/>
              </a:rPr>
              <a:t>Gemini</a:t>
            </a:r>
            <a:r>
              <a:rPr lang="en-US" sz="1200" dirty="0">
                <a:solidFill>
                  <a:srgbClr val="15213F"/>
                </a:solidFill>
                <a:latin typeface="Roboto" pitchFamily="34" charset="0"/>
                <a:ea typeface="Roboto" pitchFamily="34" charset="-122"/>
                <a:cs typeface="Roboto" pitchFamily="34" charset="-120"/>
              </a:rPr>
              <a:t> and ask: </a:t>
            </a:r>
            <a:r>
              <a:rPr lang="en-US" sz="1200" i="1" dirty="0">
                <a:solidFill>
                  <a:srgbClr val="15213F"/>
                </a:solidFill>
                <a:latin typeface="Roboto" pitchFamily="34" charset="0"/>
                <a:ea typeface="Roboto" pitchFamily="34" charset="-122"/>
                <a:cs typeface="Roboto" pitchFamily="34" charset="-120"/>
              </a:rPr>
              <a:t>"Give me a short three-sentence story about an unusual animal on a small adventure."</a:t>
            </a:r>
            <a:r>
              <a:rPr lang="en-US" sz="1200" dirty="0">
                <a:solidFill>
                  <a:srgbClr val="15213F"/>
                </a:solidFill>
                <a:latin typeface="Roboto" pitchFamily="34" charset="0"/>
                <a:ea typeface="Roboto" pitchFamily="34" charset="-122"/>
                <a:cs typeface="Roboto" pitchFamily="34" charset="-120"/>
              </a:rPr>
              <a:t> Copy the story.</a:t>
            </a:r>
            <a:endParaRPr lang="en-US" sz="1200" dirty="0"/>
          </a:p>
        </p:txBody>
      </p:sp>
      <p:sp>
        <p:nvSpPr>
          <p:cNvPr id="8" name="Shape 6"/>
          <p:cNvSpPr/>
          <p:nvPr/>
        </p:nvSpPr>
        <p:spPr>
          <a:xfrm>
            <a:off x="3213348" y="1611883"/>
            <a:ext cx="14288" cy="2555230"/>
          </a:xfrm>
          <a:prstGeom prst="roundRect">
            <a:avLst>
              <a:gd name="adj" fmla="val 130228"/>
            </a:avLst>
          </a:prstGeom>
          <a:solidFill>
            <a:srgbClr val="CFD2D8"/>
          </a:solidFill>
          <a:ln/>
        </p:spPr>
        <p:txBody>
          <a:bodyPr/>
          <a:lstStyle/>
          <a:p>
            <a:endParaRPr lang="en-IN"/>
          </a:p>
        </p:txBody>
      </p:sp>
      <p:sp>
        <p:nvSpPr>
          <p:cNvPr id="9" name="Text 7"/>
          <p:cNvSpPr/>
          <p:nvPr/>
        </p:nvSpPr>
        <p:spPr>
          <a:xfrm>
            <a:off x="3523431" y="1735857"/>
            <a:ext cx="20970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Create One Scene (3 min)</a:t>
            </a:r>
            <a:endParaRPr lang="en-US" sz="1200" dirty="0"/>
          </a:p>
        </p:txBody>
      </p:sp>
      <p:sp>
        <p:nvSpPr>
          <p:cNvPr id="10" name="Text 8"/>
          <p:cNvSpPr/>
          <p:nvPr/>
        </p:nvSpPr>
        <p:spPr>
          <a:xfrm>
            <a:off x="3523431" y="2058367"/>
            <a:ext cx="2097063" cy="1984772"/>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Open </a:t>
            </a:r>
            <a:r>
              <a:rPr lang="en-US" sz="1200" b="1" dirty="0">
                <a:solidFill>
                  <a:srgbClr val="15213F"/>
                </a:solidFill>
                <a:latin typeface="Roboto" pitchFamily="34" charset="0"/>
                <a:ea typeface="Roboto" pitchFamily="34" charset="-122"/>
                <a:cs typeface="Roboto" pitchFamily="34" charset="-120"/>
              </a:rPr>
              <a:t>Veo 3</a:t>
            </a:r>
            <a:r>
              <a:rPr lang="en-US" sz="1200" dirty="0">
                <a:solidFill>
                  <a:srgbClr val="15213F"/>
                </a:solidFill>
                <a:latin typeface="Roboto" pitchFamily="34" charset="0"/>
                <a:ea typeface="Roboto" pitchFamily="34" charset="-122"/>
                <a:cs typeface="Roboto" pitchFamily="34" charset="-120"/>
              </a:rPr>
              <a:t> (or any video tool). Type a description of the most exciting moment from your story. Example: </a:t>
            </a:r>
            <a:r>
              <a:rPr lang="en-US" sz="1200" i="1" dirty="0">
                <a:solidFill>
                  <a:srgbClr val="15213F"/>
                </a:solidFill>
                <a:latin typeface="Roboto" pitchFamily="34" charset="0"/>
                <a:ea typeface="Roboto" pitchFamily="34" charset="-122"/>
                <a:cs typeface="Roboto" pitchFamily="34" charset="-120"/>
              </a:rPr>
              <a:t>"A small glowing mushroom in a dark forest with a curious mouse nearby."</a:t>
            </a:r>
            <a:r>
              <a:rPr lang="en-US" sz="1200" dirty="0">
                <a:solidFill>
                  <a:srgbClr val="15213F"/>
                </a:solidFill>
                <a:latin typeface="Roboto" pitchFamily="34" charset="0"/>
                <a:ea typeface="Roboto" pitchFamily="34" charset="-122"/>
                <a:cs typeface="Roboto" pitchFamily="34" charset="-120"/>
              </a:rPr>
              <a:t> Generate the short clip.</a:t>
            </a:r>
            <a:endParaRPr lang="en-US" sz="1200" dirty="0"/>
          </a:p>
        </p:txBody>
      </p:sp>
      <p:grpSp>
        <p:nvGrpSpPr>
          <p:cNvPr id="20" name="Group 19">
            <a:extLst>
              <a:ext uri="{FF2B5EF4-FFF2-40B4-BE49-F238E27FC236}">
                <a16:creationId xmlns:a16="http://schemas.microsoft.com/office/drawing/2014/main" id="{30E64843-943E-C730-8C88-4B491D0FB5A9}"/>
              </a:ext>
            </a:extLst>
          </p:cNvPr>
          <p:cNvGrpSpPr/>
          <p:nvPr/>
        </p:nvGrpSpPr>
        <p:grpSpPr>
          <a:xfrm>
            <a:off x="3058344" y="2734456"/>
            <a:ext cx="310083" cy="310083"/>
            <a:chOff x="3058344" y="2734456"/>
            <a:chExt cx="310083" cy="310083"/>
          </a:xfrm>
        </p:grpSpPr>
        <p:sp>
          <p:nvSpPr>
            <p:cNvPr id="11" name="Shape 9"/>
            <p:cNvSpPr/>
            <p:nvPr/>
          </p:nvSpPr>
          <p:spPr>
            <a:xfrm>
              <a:off x="3058344" y="2734456"/>
              <a:ext cx="310083" cy="310083"/>
            </a:xfrm>
            <a:prstGeom prst="roundRect">
              <a:avLst>
                <a:gd name="adj" fmla="val 6001"/>
              </a:avLst>
            </a:prstGeom>
            <a:solidFill>
              <a:srgbClr val="FBFCFE"/>
            </a:solidFill>
            <a:ln w="14288">
              <a:solidFill>
                <a:srgbClr val="CFD2D8"/>
              </a:solidFill>
              <a:prstDash val="solid"/>
            </a:ln>
          </p:spPr>
          <p:txBody>
            <a:bodyPr/>
            <a:lstStyle/>
            <a:p>
              <a:endParaRPr lang="en-IN"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35883" y="2811921"/>
              <a:ext cx="155004" cy="155004"/>
            </a:xfrm>
            <a:prstGeom prst="rect">
              <a:avLst/>
            </a:prstGeom>
          </p:spPr>
        </p:pic>
      </p:grpSp>
      <p:sp>
        <p:nvSpPr>
          <p:cNvPr id="14" name="Shape 11"/>
          <p:cNvSpPr/>
          <p:nvPr/>
        </p:nvSpPr>
        <p:spPr>
          <a:xfrm>
            <a:off x="5930578" y="1611883"/>
            <a:ext cx="14288" cy="2555230"/>
          </a:xfrm>
          <a:prstGeom prst="roundRect">
            <a:avLst>
              <a:gd name="adj" fmla="val 130228"/>
            </a:avLst>
          </a:prstGeom>
          <a:solidFill>
            <a:srgbClr val="CFD2D8"/>
          </a:solidFill>
          <a:ln/>
        </p:spPr>
        <p:txBody>
          <a:bodyPr/>
          <a:lstStyle/>
          <a:p>
            <a:endParaRPr lang="en-IN"/>
          </a:p>
        </p:txBody>
      </p:sp>
      <p:sp>
        <p:nvSpPr>
          <p:cNvPr id="15" name="Text 12"/>
          <p:cNvSpPr/>
          <p:nvPr/>
        </p:nvSpPr>
        <p:spPr>
          <a:xfrm>
            <a:off x="6240661" y="1735857"/>
            <a:ext cx="22831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Make the Movie (7 min)</a:t>
            </a:r>
            <a:endParaRPr lang="en-US" sz="1200" dirty="0"/>
          </a:p>
        </p:txBody>
      </p:sp>
      <p:sp>
        <p:nvSpPr>
          <p:cNvPr id="16" name="Text 13"/>
          <p:cNvSpPr/>
          <p:nvPr/>
        </p:nvSpPr>
        <p:spPr>
          <a:xfrm>
            <a:off x="6240661" y="2058367"/>
            <a:ext cx="2283172" cy="148857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Open </a:t>
            </a:r>
            <a:r>
              <a:rPr lang="en-US" sz="1200" b="1" dirty="0">
                <a:solidFill>
                  <a:srgbClr val="15213F"/>
                </a:solidFill>
                <a:latin typeface="Roboto" pitchFamily="34" charset="0"/>
                <a:ea typeface="Roboto" pitchFamily="34" charset="-122"/>
                <a:cs typeface="Roboto" pitchFamily="34" charset="-120"/>
              </a:rPr>
              <a:t>Pictory</a:t>
            </a:r>
            <a:r>
              <a:rPr lang="en-US" sz="1200" dirty="0">
                <a:solidFill>
                  <a:srgbClr val="15213F"/>
                </a:solidFill>
                <a:latin typeface="Roboto" pitchFamily="34" charset="0"/>
                <a:ea typeface="Roboto" pitchFamily="34" charset="-122"/>
                <a:cs typeface="Roboto" pitchFamily="34" charset="-120"/>
              </a:rPr>
              <a:t> and click </a:t>
            </a:r>
            <a:r>
              <a:rPr lang="en-US" sz="1200" b="1" dirty="0">
                <a:solidFill>
                  <a:srgbClr val="15213F"/>
                </a:solidFill>
                <a:latin typeface="Roboto" pitchFamily="34" charset="0"/>
                <a:ea typeface="Roboto" pitchFamily="34" charset="-122"/>
                <a:cs typeface="Roboto" pitchFamily="34" charset="-120"/>
              </a:rPr>
              <a:t>"Script to Video."</a:t>
            </a:r>
            <a:r>
              <a:rPr lang="en-US" sz="1200" dirty="0">
                <a:solidFill>
                  <a:srgbClr val="15213F"/>
                </a:solidFill>
                <a:latin typeface="Roboto" pitchFamily="34" charset="0"/>
                <a:ea typeface="Roboto" pitchFamily="34" charset="-122"/>
                <a:cs typeface="Roboto" pitchFamily="34" charset="-120"/>
              </a:rPr>
              <a:t> Paste your three-sentence story. Choose any template. If possible, add your Veo 3 clip. Generate and save your video.</a:t>
            </a:r>
            <a:endParaRPr lang="en-US" sz="1200" dirty="0"/>
          </a:p>
        </p:txBody>
      </p:sp>
      <p:grpSp>
        <p:nvGrpSpPr>
          <p:cNvPr id="21" name="Group 20">
            <a:extLst>
              <a:ext uri="{FF2B5EF4-FFF2-40B4-BE49-F238E27FC236}">
                <a16:creationId xmlns:a16="http://schemas.microsoft.com/office/drawing/2014/main" id="{724A6848-67F3-0664-E663-18D80E734CAA}"/>
              </a:ext>
            </a:extLst>
          </p:cNvPr>
          <p:cNvGrpSpPr/>
          <p:nvPr/>
        </p:nvGrpSpPr>
        <p:grpSpPr>
          <a:xfrm>
            <a:off x="5775573" y="2734456"/>
            <a:ext cx="310083" cy="310083"/>
            <a:chOff x="5775573" y="2734456"/>
            <a:chExt cx="310083" cy="310083"/>
          </a:xfrm>
        </p:grpSpPr>
        <p:sp>
          <p:nvSpPr>
            <p:cNvPr id="17" name="Shape 14"/>
            <p:cNvSpPr/>
            <p:nvPr/>
          </p:nvSpPr>
          <p:spPr>
            <a:xfrm>
              <a:off x="5775573" y="2734456"/>
              <a:ext cx="310083" cy="310083"/>
            </a:xfrm>
            <a:prstGeom prst="roundRect">
              <a:avLst>
                <a:gd name="adj" fmla="val 6001"/>
              </a:avLst>
            </a:prstGeom>
            <a:solidFill>
              <a:srgbClr val="FBFCFE"/>
            </a:solidFill>
            <a:ln w="14288">
              <a:solidFill>
                <a:srgbClr val="CFD2D8"/>
              </a:solidFill>
              <a:prstDash val="solid"/>
            </a:ln>
          </p:spPr>
          <p:txBody>
            <a:bodyPr/>
            <a:lstStyle/>
            <a:p>
              <a:endParaRPr lang="en-IN"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53113" y="2811921"/>
              <a:ext cx="155004" cy="155004"/>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4" grpId="0" animBg="1"/>
      <p:bldP spid="15" grpId="0" animBg="1"/>
      <p:bldP spid="1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990427"/>
            <a:ext cx="4722763" cy="1162645"/>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Next Session Preview </a:t>
            </a:r>
            <a:endParaRPr lang="en-US" sz="2400" dirty="0"/>
          </a:p>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AI in Everyday Life &amp; Across Industries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TotalTime>
  <Words>2322</Words>
  <Application>Microsoft Office PowerPoint</Application>
  <PresentationFormat>On-screen Show (16:9)</PresentationFormat>
  <Paragraphs>306</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Roboto</vt:lpstr>
      <vt:lpstr>Roboto Slab Light</vt:lpstr>
      <vt:lpstr>Roboto Slab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sneha arya</dc:creator>
  <cp:lastModifiedBy>Office</cp:lastModifiedBy>
  <cp:revision>2</cp:revision>
  <dcterms:created xsi:type="dcterms:W3CDTF">2026-05-12T02:51:27Z</dcterms:created>
  <dcterms:modified xsi:type="dcterms:W3CDTF">2026-05-12T04:41:48Z</dcterms:modified>
</cp:coreProperties>
</file>