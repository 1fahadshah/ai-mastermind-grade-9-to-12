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91" r:id="rId18"/>
    <p:sldId id="274" r:id="rId19"/>
    <p:sldId id="275" r:id="rId20"/>
    <p:sldId id="292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</p:sldIdLst>
  <p:sldSz cx="9144000" cy="5143500" type="screen16x9"/>
  <p:notesSz cx="5143500" cy="9144000"/>
  <p:embeddedFontLst>
    <p:embeddedFont>
      <p:font typeface="Roboto" panose="02000000000000000000" pitchFamily="2" charset="0"/>
      <p:regular r:id="rId36"/>
      <p:bold r:id="rId37"/>
      <p:italic r:id="rId38"/>
    </p:embeddedFont>
    <p:embeddedFont>
      <p:font typeface="Roboto Slab" pitchFamily="2" charset="0"/>
      <p:regular r:id="rId39"/>
    </p:embeddedFont>
    <p:embeddedFont>
      <p:font typeface="Roboto Slab Light" pitchFamily="2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2820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elevenlabs.io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65647"/>
            <a:ext cx="3641378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16: </a:t>
            </a:r>
            <a:endParaRPr lang="en-US" sz="2400" dirty="0"/>
          </a:p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That Hears &amp; Speaks -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790304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Voice AI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0412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6598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62435"/>
            <a:ext cx="1944960" cy="14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952997"/>
            <a:ext cx="194496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Voice AI and explain its core challenges.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523604"/>
            <a:ext cx="194496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565053" y="166598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053" y="1862435"/>
            <a:ext cx="1944960" cy="142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65053" y="1952997"/>
            <a:ext cx="194496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Describe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565053" y="2275508"/>
            <a:ext cx="194496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Voice AI framework: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Hear → Process → Speak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633987" y="166598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987" y="1874862"/>
            <a:ext cx="1944960" cy="142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33987" y="1952997"/>
            <a:ext cx="1944960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 what happens inside each stage of the Voice AI pipeline.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702921" y="166598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921" y="1874862"/>
            <a:ext cx="1944960" cy="142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02921" y="1952997"/>
            <a:ext cx="194496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common Voice AI tasks.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96119" y="298869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172792"/>
            <a:ext cx="1944960" cy="142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6119" y="3275707"/>
            <a:ext cx="194496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Recognize the key challenges in Voice AI.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2565053" y="298869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9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053" y="3172792"/>
            <a:ext cx="1944960" cy="142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2565053" y="3275707"/>
            <a:ext cx="194496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 real-world Voice AI applications.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633987" y="298869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07</a:t>
            </a:r>
            <a:endParaRPr lang="en-US" sz="9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987" y="3172792"/>
            <a:ext cx="1944960" cy="142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633987" y="3275707"/>
            <a:ext cx="1944960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ElevenLabs to generate and experiment with synthetic speech.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6702921" y="298869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08</a:t>
            </a:r>
            <a:endParaRPr lang="en-US" sz="95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921" y="3185145"/>
            <a:ext cx="1944960" cy="1428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702921" y="3275707"/>
            <a:ext cx="194496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a Voice AI prompt to your Prompt Library.</a:t>
            </a:r>
            <a:endParaRPr lang="en-US" sz="12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A476646-A04A-8AAB-0012-4AFD2A1BF562}"/>
              </a:ext>
            </a:extLst>
          </p:cNvPr>
          <p:cNvCxnSpPr>
            <a:stCxn id="4" idx="1"/>
            <a:endCxn id="4" idx="3"/>
          </p:cNvCxnSpPr>
          <p:nvPr/>
        </p:nvCxnSpPr>
        <p:spPr>
          <a:xfrm>
            <a:off x="496119" y="1869579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CABAAE-049D-784E-FD31-6D753AB4851A}"/>
              </a:ext>
            </a:extLst>
          </p:cNvPr>
          <p:cNvCxnSpPr/>
          <p:nvPr/>
        </p:nvCxnSpPr>
        <p:spPr>
          <a:xfrm>
            <a:off x="2542434" y="1870224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C1E8366-3EAC-59B9-7576-67B39CE4214C}"/>
              </a:ext>
            </a:extLst>
          </p:cNvPr>
          <p:cNvCxnSpPr/>
          <p:nvPr/>
        </p:nvCxnSpPr>
        <p:spPr>
          <a:xfrm>
            <a:off x="4613266" y="1871918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DF38B99-D02D-8954-955E-6710B7955F71}"/>
              </a:ext>
            </a:extLst>
          </p:cNvPr>
          <p:cNvCxnSpPr/>
          <p:nvPr/>
        </p:nvCxnSpPr>
        <p:spPr>
          <a:xfrm>
            <a:off x="6671825" y="1869572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08DA0D4-CFAB-6A02-25E6-FAF4F6C8D71C}"/>
              </a:ext>
            </a:extLst>
          </p:cNvPr>
          <p:cNvCxnSpPr/>
          <p:nvPr/>
        </p:nvCxnSpPr>
        <p:spPr>
          <a:xfrm>
            <a:off x="493773" y="3210701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E317BFB-F1F6-FEE7-72E3-541BC68E6186}"/>
              </a:ext>
            </a:extLst>
          </p:cNvPr>
          <p:cNvCxnSpPr/>
          <p:nvPr/>
        </p:nvCxnSpPr>
        <p:spPr>
          <a:xfrm>
            <a:off x="6653065" y="3208357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A6EB213-079C-CD3B-C993-F454F284DBA8}"/>
              </a:ext>
            </a:extLst>
          </p:cNvPr>
          <p:cNvCxnSpPr/>
          <p:nvPr/>
        </p:nvCxnSpPr>
        <p:spPr>
          <a:xfrm>
            <a:off x="4596848" y="3206012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0670CA8-7645-1889-680A-E44AE518CECF}"/>
              </a:ext>
            </a:extLst>
          </p:cNvPr>
          <p:cNvCxnSpPr/>
          <p:nvPr/>
        </p:nvCxnSpPr>
        <p:spPr>
          <a:xfrm>
            <a:off x="2526557" y="3210703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2667"/>
            <a:ext cx="561498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Recap: What We Learned in Session 15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38238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we dive in, let's quickly revisit what we covered last time.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525860"/>
            <a:ext cx="8151763" cy="2060823"/>
          </a:xfrm>
          <a:prstGeom prst="roundRect">
            <a:avLst>
              <a:gd name="adj" fmla="val 90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855" y="1609799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Idea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355" y="1609799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55" y="2021012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 Vision (CV)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355" y="2021012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that interprets images and videos.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4855" y="2432224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 → Process → 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98355" y="2432224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three‑stage framework for visual AI.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855" y="2843436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Pixels, Features, Patterns, Prediction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8355" y="2843436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AI turns images into understanding.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855" y="3254648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98355" y="3254648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CV is pattern matching, not true seeing.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726210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6119" y="4064198"/>
            <a:ext cx="8151763" cy="576635"/>
          </a:xfrm>
          <a:prstGeom prst="roundRect">
            <a:avLst>
              <a:gd name="adj" fmla="val 322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259684"/>
            <a:ext cx="193774" cy="15500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37840" y="4219129"/>
            <a:ext cx="758606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Today we move from seeing to hearing and speaking - Voice AI.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965647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Big Question: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402756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does AI turn Voice into meaningful words and then back into spoken language?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67817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Voice AI?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441400"/>
            <a:ext cx="472276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AI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branch of AI that gives computers the ability to hear, interpret, and generate spoken language. It combines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major technologies:</a:t>
            </a:r>
            <a:endParaRPr lang="en-US" sz="1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4AE5CE7-FEFE-379A-02DF-121FCEE8A269}"/>
              </a:ext>
            </a:extLst>
          </p:cNvPr>
          <p:cNvGrpSpPr/>
          <p:nvPr/>
        </p:nvGrpSpPr>
        <p:grpSpPr>
          <a:xfrm>
            <a:off x="3925119" y="2325216"/>
            <a:ext cx="2299395" cy="1066651"/>
            <a:chOff x="3925119" y="2325216"/>
            <a:chExt cx="2299395" cy="1066651"/>
          </a:xfrm>
        </p:grpSpPr>
        <p:sp>
          <p:nvSpPr>
            <p:cNvPr id="5" name="Shape 2"/>
            <p:cNvSpPr/>
            <p:nvPr/>
          </p:nvSpPr>
          <p:spPr>
            <a:xfrm>
              <a:off x="3925119" y="2325216"/>
              <a:ext cx="2299395" cy="1066651"/>
            </a:xfrm>
            <a:prstGeom prst="roundRect">
              <a:avLst>
                <a:gd name="adj" fmla="val 174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3"/>
            <p:cNvSpPr/>
            <p:nvPr/>
          </p:nvSpPr>
          <p:spPr>
            <a:xfrm>
              <a:off x="4049092" y="2449190"/>
              <a:ext cx="20514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ASR / STT</a:t>
              </a:r>
              <a:endParaRPr lang="en-US" sz="1200" dirty="0"/>
            </a:p>
          </p:txBody>
        </p:sp>
      </p:grpSp>
      <p:sp>
        <p:nvSpPr>
          <p:cNvPr id="7" name="Text 4"/>
          <p:cNvSpPr/>
          <p:nvPr/>
        </p:nvSpPr>
        <p:spPr>
          <a:xfrm>
            <a:off x="4049092" y="2771701"/>
            <a:ext cx="2051447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Speech Recognition / Speech-to-Text </a:t>
            </a:r>
            <a:endParaRPr lang="en-US" sz="1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D551F6-B872-31B3-628F-AA56C9C84F5A}"/>
              </a:ext>
            </a:extLst>
          </p:cNvPr>
          <p:cNvGrpSpPr/>
          <p:nvPr/>
        </p:nvGrpSpPr>
        <p:grpSpPr>
          <a:xfrm>
            <a:off x="6348487" y="2325216"/>
            <a:ext cx="2299395" cy="1066651"/>
            <a:chOff x="6348487" y="2325216"/>
            <a:chExt cx="2299395" cy="1066651"/>
          </a:xfrm>
        </p:grpSpPr>
        <p:sp>
          <p:nvSpPr>
            <p:cNvPr id="8" name="Shape 5"/>
            <p:cNvSpPr/>
            <p:nvPr/>
          </p:nvSpPr>
          <p:spPr>
            <a:xfrm>
              <a:off x="6348487" y="2325216"/>
              <a:ext cx="2299395" cy="1066651"/>
            </a:xfrm>
            <a:prstGeom prst="roundRect">
              <a:avLst>
                <a:gd name="adj" fmla="val 1744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6"/>
            <p:cNvSpPr/>
            <p:nvPr/>
          </p:nvSpPr>
          <p:spPr>
            <a:xfrm>
              <a:off x="6472461" y="2449190"/>
              <a:ext cx="20514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TTS</a:t>
              </a:r>
              <a:endParaRPr lang="en-US" sz="1200" dirty="0"/>
            </a:p>
          </p:txBody>
        </p:sp>
      </p:grpSp>
      <p:sp>
        <p:nvSpPr>
          <p:cNvPr id="10" name="Text 7"/>
          <p:cNvSpPr/>
          <p:nvPr/>
        </p:nvSpPr>
        <p:spPr>
          <a:xfrm>
            <a:off x="6472461" y="2771701"/>
            <a:ext cx="2051447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Text‑to‑Speech - turning text into spoken audio.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25119" y="3531394"/>
            <a:ext cx="472276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AI translates between sound and text — converting speech into words, understanding intent, and responding in a synthetic voice.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9753"/>
            <a:ext cx="503604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Where You See Voice AI Every Day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35323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73312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1206" y="1973312"/>
            <a:ext cx="214878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Assistants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991" y="1973312"/>
            <a:ext cx="310083" cy="3100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0079" y="1973312"/>
            <a:ext cx="21488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Typing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3939" y="1973312"/>
            <a:ext cx="310083" cy="3100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99027" y="1973312"/>
            <a:ext cx="21488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Audiobooks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531418"/>
            <a:ext cx="310083" cy="3100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1206" y="2531418"/>
            <a:ext cx="214878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Captions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4991" y="2531418"/>
            <a:ext cx="310083" cy="31008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730079" y="2531418"/>
            <a:ext cx="21488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Translation Apps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496119" y="2981027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15" name="Shape 8"/>
          <p:cNvSpPr/>
          <p:nvPr/>
        </p:nvSpPr>
        <p:spPr>
          <a:xfrm>
            <a:off x="496119" y="3319016"/>
            <a:ext cx="8151763" cy="824731"/>
          </a:xfrm>
          <a:prstGeom prst="roundRect">
            <a:avLst>
              <a:gd name="adj" fmla="val 225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092" y="3514502"/>
            <a:ext cx="193774" cy="15500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37840" y="3473946"/>
            <a:ext cx="7586067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AI does not "hear" or "understand" like you do. It finds mathematical patterns in </a:t>
            </a: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sound waves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matches them to words it has seen millions of times. It's pattern matching, not true comprehension.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99654"/>
            <a:ext cx="681260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Voice AI Works: Hear → Process → Speak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35224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AI follows a three‑stage framework that matches what you learned in Session 1 (Sense → Think → Act).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822847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7180FEB-636F-4FE0-D7A9-F9AB8374B519}"/>
              </a:ext>
            </a:extLst>
          </p:cNvPr>
          <p:cNvGrpSpPr/>
          <p:nvPr/>
        </p:nvGrpSpPr>
        <p:grpSpPr>
          <a:xfrm>
            <a:off x="496119" y="2210470"/>
            <a:ext cx="2717229" cy="868188"/>
            <a:chOff x="496119" y="2210470"/>
            <a:chExt cx="2717229" cy="868188"/>
          </a:xfrm>
        </p:grpSpPr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119" y="2210470"/>
              <a:ext cx="2717229" cy="496119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620092" y="2830562"/>
              <a:ext cx="24692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Hear</a:t>
              </a:r>
              <a:endParaRPr lang="en-US" sz="1200" dirty="0"/>
            </a:p>
          </p:txBody>
        </p:sp>
      </p:grpSp>
      <p:sp>
        <p:nvSpPr>
          <p:cNvPr id="7" name="Text 4"/>
          <p:cNvSpPr/>
          <p:nvPr/>
        </p:nvSpPr>
        <p:spPr>
          <a:xfrm>
            <a:off x="620092" y="3153073"/>
            <a:ext cx="246928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 sound waves and convert to digital data.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0092" y="3723680"/>
            <a:ext cx="246928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Sound Waves, Microphone, Waveform</a:t>
            </a:r>
            <a:endParaRPr lang="en-US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6B9CCE7-8357-4F0B-20F5-7C25B3864207}"/>
              </a:ext>
            </a:extLst>
          </p:cNvPr>
          <p:cNvGrpSpPr/>
          <p:nvPr/>
        </p:nvGrpSpPr>
        <p:grpSpPr>
          <a:xfrm>
            <a:off x="3213348" y="2210470"/>
            <a:ext cx="2717229" cy="868188"/>
            <a:chOff x="3213348" y="2210470"/>
            <a:chExt cx="2717229" cy="868188"/>
          </a:xfrm>
        </p:grpSpPr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13348" y="2210470"/>
              <a:ext cx="2717229" cy="496119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3337322" y="2830562"/>
              <a:ext cx="24692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Process</a:t>
              </a:r>
              <a:endParaRPr lang="en-US" sz="1200" dirty="0"/>
            </a:p>
          </p:txBody>
        </p:sp>
      </p:grpSp>
      <p:sp>
        <p:nvSpPr>
          <p:cNvPr id="11" name="Text 7"/>
          <p:cNvSpPr/>
          <p:nvPr/>
        </p:nvSpPr>
        <p:spPr>
          <a:xfrm>
            <a:off x="3337322" y="3153073"/>
            <a:ext cx="246928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speech to text, understand meaning, plan response.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37322" y="3723680"/>
            <a:ext cx="246928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ASR/STT → Phonemes → Words, NLU, Response Planning</a:t>
            </a:r>
            <a:endParaRPr lang="en-US" sz="1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ABC840A-0365-118F-6C13-D8B5C8DF0DB4}"/>
              </a:ext>
            </a:extLst>
          </p:cNvPr>
          <p:cNvGrpSpPr/>
          <p:nvPr/>
        </p:nvGrpSpPr>
        <p:grpSpPr>
          <a:xfrm>
            <a:off x="5930578" y="2210470"/>
            <a:ext cx="2717229" cy="868188"/>
            <a:chOff x="5930578" y="2210470"/>
            <a:chExt cx="2717229" cy="868188"/>
          </a:xfrm>
        </p:grpSpPr>
        <p:pic>
          <p:nvPicPr>
            <p:cNvPr id="13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30578" y="2210470"/>
              <a:ext cx="2717229" cy="496119"/>
            </a:xfrm>
            <a:prstGeom prst="rect">
              <a:avLst/>
            </a:prstGeom>
          </p:spPr>
        </p:pic>
        <p:sp>
          <p:nvSpPr>
            <p:cNvPr id="14" name="Text 9"/>
            <p:cNvSpPr/>
            <p:nvPr/>
          </p:nvSpPr>
          <p:spPr>
            <a:xfrm>
              <a:off x="6054551" y="2830562"/>
              <a:ext cx="24692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Speak</a:t>
              </a:r>
              <a:endParaRPr lang="en-US" sz="1200" dirty="0"/>
            </a:p>
          </p:txBody>
        </p:sp>
      </p:grpSp>
      <p:sp>
        <p:nvSpPr>
          <p:cNvPr id="15" name="Text 10"/>
          <p:cNvSpPr/>
          <p:nvPr/>
        </p:nvSpPr>
        <p:spPr>
          <a:xfrm>
            <a:off x="6054551" y="3153073"/>
            <a:ext cx="246928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response text into spoken audio.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054551" y="3723680"/>
            <a:ext cx="246928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TTS: Words → Tokens → Prosody → Waveform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7999"/>
            <a:ext cx="334052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Inside the "Hear" Stage</a:t>
            </a:r>
            <a:endParaRPr lang="en-US" sz="24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C30331B-856F-7FEB-A67B-72058598AF61}"/>
              </a:ext>
            </a:extLst>
          </p:cNvPr>
          <p:cNvGrpSpPr/>
          <p:nvPr/>
        </p:nvGrpSpPr>
        <p:grpSpPr>
          <a:xfrm>
            <a:off x="624929" y="1497509"/>
            <a:ext cx="7894216" cy="248096"/>
            <a:chOff x="624929" y="1497509"/>
            <a:chExt cx="7894216" cy="248096"/>
          </a:xfrm>
        </p:grpSpPr>
        <p:sp>
          <p:nvSpPr>
            <p:cNvPr id="4" name="Text 2"/>
            <p:cNvSpPr/>
            <p:nvPr/>
          </p:nvSpPr>
          <p:spPr>
            <a:xfrm>
              <a:off x="624929" y="1497509"/>
              <a:ext cx="135530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Term</a:t>
              </a:r>
              <a:endParaRPr lang="en-US" sz="1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2232943" y="1497509"/>
              <a:ext cx="628620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it means</a:t>
              </a:r>
              <a:endParaRPr lang="en-US" sz="12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624929" y="1908721"/>
            <a:ext cx="135530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Sound Wave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32943" y="1908721"/>
            <a:ext cx="628620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Vibrations in the air that your ear detects.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4929" y="2319933"/>
            <a:ext cx="135530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Microphone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32943" y="2319933"/>
            <a:ext cx="628620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sensor that converts sound waves into an electrical signal.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4929" y="2731145"/>
            <a:ext cx="135530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Waveform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32943" y="2731145"/>
            <a:ext cx="628620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visual graph of sound over time – the "shape" of the sound.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119" y="3202707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10D4EFE-6F09-3D5B-26EE-2B88ACA69C82}"/>
              </a:ext>
            </a:extLst>
          </p:cNvPr>
          <p:cNvGrpSpPr/>
          <p:nvPr/>
        </p:nvGrpSpPr>
        <p:grpSpPr>
          <a:xfrm>
            <a:off x="496119" y="3540696"/>
            <a:ext cx="8151763" cy="824731"/>
            <a:chOff x="496119" y="3540696"/>
            <a:chExt cx="8151763" cy="824731"/>
          </a:xfrm>
        </p:grpSpPr>
        <p:sp>
          <p:nvSpPr>
            <p:cNvPr id="13" name="Shape 11"/>
            <p:cNvSpPr/>
            <p:nvPr/>
          </p:nvSpPr>
          <p:spPr>
            <a:xfrm>
              <a:off x="496119" y="3540696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37AF8EC-86B3-20EE-4403-1E24732A081B}"/>
                </a:ext>
              </a:extLst>
            </p:cNvPr>
            <p:cNvGrpSpPr/>
            <p:nvPr/>
          </p:nvGrpSpPr>
          <p:grpSpPr>
            <a:xfrm>
              <a:off x="620092" y="3695626"/>
              <a:ext cx="7903815" cy="496193"/>
              <a:chOff x="620092" y="3695626"/>
              <a:chExt cx="7903815" cy="496193"/>
            </a:xfrm>
          </p:grpSpPr>
          <p:pic>
            <p:nvPicPr>
              <p:cNvPr id="14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0092" y="3736181"/>
                <a:ext cx="193774" cy="155004"/>
              </a:xfrm>
              <a:prstGeom prst="rect">
                <a:avLst/>
              </a:prstGeom>
            </p:spPr>
          </p:pic>
          <p:sp>
            <p:nvSpPr>
              <p:cNvPr id="15" name="Text 12"/>
              <p:cNvSpPr/>
              <p:nvPr/>
            </p:nvSpPr>
            <p:spPr>
              <a:xfrm>
                <a:off x="937840" y="3695626"/>
                <a:ext cx="7586067" cy="49619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dirty="0">
                    <a:solidFill>
                      <a:srgbClr val="000000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Voice AI samples sound thousands of times per second to capture all the details of speech. This is called the </a:t>
                </a:r>
                <a:r>
                  <a:rPr lang="en-US" sz="1200" b="1" dirty="0">
                    <a:solidFill>
                      <a:srgbClr val="000000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sampling rate</a:t>
                </a:r>
                <a:r>
                  <a:rPr lang="en-US" sz="1200" dirty="0">
                    <a:solidFill>
                      <a:srgbClr val="000000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- how many measurements the computer takes each second. More samples = better quality.</a:t>
                </a:r>
                <a:endParaRPr lang="en-US" sz="1200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2926"/>
            <a:ext cx="376996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Inside the "Process" Stage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78496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"Process" stage has three parts: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ASR/STT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NLU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Response Planning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166119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750195"/>
            <a:ext cx="2634555" cy="1428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7B4BFBF-B66A-13E3-231F-AD26A87AE8DA}"/>
              </a:ext>
            </a:extLst>
          </p:cNvPr>
          <p:cNvGrpSpPr/>
          <p:nvPr/>
        </p:nvGrpSpPr>
        <p:grpSpPr>
          <a:xfrm>
            <a:off x="496119" y="2553742"/>
            <a:ext cx="2634555" cy="535111"/>
            <a:chOff x="496119" y="2553742"/>
            <a:chExt cx="2634555" cy="535111"/>
          </a:xfrm>
        </p:grpSpPr>
        <p:sp>
          <p:nvSpPr>
            <p:cNvPr id="5" name="Text 3"/>
            <p:cNvSpPr/>
            <p:nvPr/>
          </p:nvSpPr>
          <p:spPr>
            <a:xfrm>
              <a:off x="496119" y="2553742"/>
              <a:ext cx="248022" cy="1550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950" dirty="0">
                  <a:solidFill>
                    <a:srgbClr val="15213F"/>
                  </a:solidFill>
                  <a:latin typeface="Roboto Slab Light" pitchFamily="34" charset="0"/>
                  <a:ea typeface="Roboto Slab Light" pitchFamily="34" charset="-122"/>
                  <a:cs typeface="Roboto Slab Light" pitchFamily="34" charset="-120"/>
                </a:rPr>
                <a:t>01</a:t>
              </a:r>
              <a:endParaRPr lang="en-US" sz="9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496119" y="2840757"/>
              <a:ext cx="263455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ASR/STT</a:t>
              </a:r>
              <a:endParaRPr lang="en-US" sz="1200" dirty="0"/>
            </a:p>
          </p:txBody>
        </p:sp>
      </p:grpSp>
      <p:sp>
        <p:nvSpPr>
          <p:cNvPr id="8" name="Text 5"/>
          <p:cNvSpPr/>
          <p:nvPr/>
        </p:nvSpPr>
        <p:spPr>
          <a:xfrm>
            <a:off x="496119" y="3163267"/>
            <a:ext cx="2634555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Speech Recognition / Speech-to-Text - converts the waveform into written words.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8" y="2750195"/>
            <a:ext cx="2634630" cy="14288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470EE6C9-2946-072F-B3D4-BFFF83E77712}"/>
              </a:ext>
            </a:extLst>
          </p:cNvPr>
          <p:cNvGrpSpPr/>
          <p:nvPr/>
        </p:nvGrpSpPr>
        <p:grpSpPr>
          <a:xfrm>
            <a:off x="3254648" y="2553742"/>
            <a:ext cx="2634630" cy="535111"/>
            <a:chOff x="3254648" y="2553742"/>
            <a:chExt cx="2634630" cy="535111"/>
          </a:xfrm>
        </p:grpSpPr>
        <p:sp>
          <p:nvSpPr>
            <p:cNvPr id="9" name="Text 6"/>
            <p:cNvSpPr/>
            <p:nvPr/>
          </p:nvSpPr>
          <p:spPr>
            <a:xfrm>
              <a:off x="3254648" y="2553742"/>
              <a:ext cx="248022" cy="1550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950" dirty="0">
                  <a:solidFill>
                    <a:srgbClr val="15213F"/>
                  </a:solidFill>
                  <a:latin typeface="Roboto Slab Light" pitchFamily="34" charset="0"/>
                  <a:ea typeface="Roboto Slab Light" pitchFamily="34" charset="-122"/>
                  <a:cs typeface="Roboto Slab Light" pitchFamily="34" charset="-120"/>
                </a:rPr>
                <a:t>02</a:t>
              </a:r>
              <a:endParaRPr lang="en-US" sz="95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3254648" y="2840757"/>
              <a:ext cx="2634630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NLU</a:t>
              </a:r>
              <a:endParaRPr lang="en-US" sz="1200" dirty="0"/>
            </a:p>
          </p:txBody>
        </p:sp>
      </p:grpSp>
      <p:sp>
        <p:nvSpPr>
          <p:cNvPr id="12" name="Text 8"/>
          <p:cNvSpPr/>
          <p:nvPr/>
        </p:nvSpPr>
        <p:spPr>
          <a:xfrm>
            <a:off x="3254648" y="3163267"/>
            <a:ext cx="2634630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 Language Understanding - figures out what you want: intent, entities, sentiment.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52" y="2750195"/>
            <a:ext cx="2634555" cy="1428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4BAD974-82DF-0305-16DB-28BDD78EED50}"/>
              </a:ext>
            </a:extLst>
          </p:cNvPr>
          <p:cNvGrpSpPr/>
          <p:nvPr/>
        </p:nvGrpSpPr>
        <p:grpSpPr>
          <a:xfrm>
            <a:off x="6013252" y="2553742"/>
            <a:ext cx="2634555" cy="535111"/>
            <a:chOff x="6013252" y="2553742"/>
            <a:chExt cx="2634555" cy="535111"/>
          </a:xfrm>
        </p:grpSpPr>
        <p:sp>
          <p:nvSpPr>
            <p:cNvPr id="13" name="Text 9"/>
            <p:cNvSpPr/>
            <p:nvPr/>
          </p:nvSpPr>
          <p:spPr>
            <a:xfrm>
              <a:off x="6013252" y="2553742"/>
              <a:ext cx="248022" cy="1550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950" dirty="0">
                  <a:solidFill>
                    <a:srgbClr val="15213F"/>
                  </a:solidFill>
                  <a:latin typeface="Roboto Slab Light" pitchFamily="34" charset="0"/>
                  <a:ea typeface="Roboto Slab Light" pitchFamily="34" charset="-122"/>
                  <a:cs typeface="Roboto Slab Light" pitchFamily="34" charset="-120"/>
                </a:rPr>
                <a:t>03</a:t>
              </a:r>
              <a:endParaRPr lang="en-US" sz="950" dirty="0"/>
            </a:p>
          </p:txBody>
        </p:sp>
        <p:sp>
          <p:nvSpPr>
            <p:cNvPr id="15" name="Text 10"/>
            <p:cNvSpPr/>
            <p:nvPr/>
          </p:nvSpPr>
          <p:spPr>
            <a:xfrm>
              <a:off x="6013252" y="2840757"/>
              <a:ext cx="263455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Response Planning</a:t>
              </a:r>
              <a:endParaRPr lang="en-US" sz="1200" dirty="0"/>
            </a:p>
          </p:txBody>
        </p:sp>
      </p:grpSp>
      <p:sp>
        <p:nvSpPr>
          <p:cNvPr id="16" name="Text 11"/>
          <p:cNvSpPr/>
          <p:nvPr/>
        </p:nvSpPr>
        <p:spPr>
          <a:xfrm>
            <a:off x="6013252" y="3163267"/>
            <a:ext cx="2634555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 decides what to say or do next: fetch information, trigger an action, or formulate a text response.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2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4751"/>
            <a:ext cx="3677022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 1: ASR/STT - Sound to Text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62856"/>
            <a:ext cx="8151763" cy="35758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66551" y="3460793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Acoustic Features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966551" y="3964735"/>
            <a:ext cx="1232034" cy="352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Pitch, energy, formants extracted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80432" y="3504913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Words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80432" y="3788257"/>
            <a:ext cx="1232034" cy="52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Assembled words via dictionary and context.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2751" y="1384241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Sound Waves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52751" y="1667585"/>
            <a:ext cx="1232034" cy="52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audio captured by microphone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50944" y="1384241"/>
            <a:ext cx="1232034" cy="22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Phonemes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950943" y="1667585"/>
            <a:ext cx="1323247" cy="52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Smallest sound units like /f/ /r/ /ɒ/ /g/.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550863"/>
            <a:ext cx="8151763" cy="2041773"/>
          </a:xfrm>
          <a:prstGeom prst="roundRect">
            <a:avLst>
              <a:gd name="adj" fmla="val 9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0881" y="1555626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24929" y="1634803"/>
            <a:ext cx="158568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63329" y="1634803"/>
            <a:ext cx="605581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0881" y="1962076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4929" y="2041252"/>
            <a:ext cx="158568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Sound Waves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3329" y="2041252"/>
            <a:ext cx="605581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audio captured by microphone.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0881" y="2368525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4929" y="2447702"/>
            <a:ext cx="158568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Acoustic 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3329" y="2447702"/>
            <a:ext cx="605581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extracts clues from the sound: pitch, energy, frequency patterns.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0881" y="2774975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4929" y="2854151"/>
            <a:ext cx="158568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Phonemes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3329" y="2854151"/>
            <a:ext cx="605581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smallest units of sound in a language. English has about 40 phonemes.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0881" y="318142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4929" y="3260601"/>
            <a:ext cx="158568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3329" y="3260601"/>
            <a:ext cx="605581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assembles phonemes into complete words using a dictionary and context.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93453"/>
            <a:ext cx="545470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 2: NLU - Natural Language Understanding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751558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412" y="2365400"/>
            <a:ext cx="167432" cy="16743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9D2885D-FAE5-BDB0-9E98-3F45235A29A5}"/>
              </a:ext>
            </a:extLst>
          </p:cNvPr>
          <p:cNvGrpSpPr/>
          <p:nvPr/>
        </p:nvGrpSpPr>
        <p:grpSpPr>
          <a:xfrm>
            <a:off x="496119" y="2139181"/>
            <a:ext cx="2634555" cy="1810792"/>
            <a:chOff x="496119" y="2139181"/>
            <a:chExt cx="2634555" cy="1810792"/>
          </a:xfrm>
        </p:grpSpPr>
        <p:sp>
          <p:nvSpPr>
            <p:cNvPr id="4" name="Shape 2"/>
            <p:cNvSpPr/>
            <p:nvPr/>
          </p:nvSpPr>
          <p:spPr>
            <a:xfrm>
              <a:off x="496119" y="2139181"/>
              <a:ext cx="2634555" cy="1810792"/>
            </a:xfrm>
            <a:prstGeom prst="roundRect">
              <a:avLst>
                <a:gd name="adj" fmla="val 102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0092" y="2263155"/>
              <a:ext cx="372070" cy="372070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620092" y="2759199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Intent</a:t>
              </a:r>
              <a:endParaRPr lang="en-US" sz="1200" dirty="0"/>
            </a:p>
          </p:txBody>
        </p:sp>
      </p:grpSp>
      <p:sp>
        <p:nvSpPr>
          <p:cNvPr id="8" name="Text 4"/>
          <p:cNvSpPr/>
          <p:nvPr/>
        </p:nvSpPr>
        <p:spPr>
          <a:xfrm>
            <a:off x="620092" y="3081710"/>
            <a:ext cx="2386608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action do you want? (e.g., set a reminder, get weather, play music)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0941" y="2365400"/>
            <a:ext cx="167432" cy="167432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02F29CE-6A47-F82F-2524-CD8DCD95BEE5}"/>
              </a:ext>
            </a:extLst>
          </p:cNvPr>
          <p:cNvGrpSpPr/>
          <p:nvPr/>
        </p:nvGrpSpPr>
        <p:grpSpPr>
          <a:xfrm>
            <a:off x="3254648" y="2139181"/>
            <a:ext cx="2634630" cy="1810792"/>
            <a:chOff x="3254648" y="2139181"/>
            <a:chExt cx="2634630" cy="1810792"/>
          </a:xfrm>
        </p:grpSpPr>
        <p:sp>
          <p:nvSpPr>
            <p:cNvPr id="9" name="Shape 5"/>
            <p:cNvSpPr/>
            <p:nvPr/>
          </p:nvSpPr>
          <p:spPr>
            <a:xfrm>
              <a:off x="3254648" y="2139181"/>
              <a:ext cx="2634630" cy="1810792"/>
            </a:xfrm>
            <a:prstGeom prst="roundRect">
              <a:avLst>
                <a:gd name="adj" fmla="val 102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4B904A3-D3BF-E698-813C-4C495A9CA579}"/>
                </a:ext>
              </a:extLst>
            </p:cNvPr>
            <p:cNvGrpSpPr/>
            <p:nvPr/>
          </p:nvGrpSpPr>
          <p:grpSpPr>
            <a:xfrm>
              <a:off x="3378622" y="2263155"/>
              <a:ext cx="2386682" cy="744140"/>
              <a:chOff x="3378622" y="2263155"/>
              <a:chExt cx="2386682" cy="744140"/>
            </a:xfrm>
          </p:grpSpPr>
          <p:pic>
            <p:nvPicPr>
              <p:cNvPr id="10" name="Image 2" descr="preencoded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78622" y="2263155"/>
                <a:ext cx="372070" cy="372070"/>
              </a:xfrm>
              <a:prstGeom prst="rect">
                <a:avLst/>
              </a:prstGeom>
            </p:spPr>
          </p:pic>
          <p:sp>
            <p:nvSpPr>
              <p:cNvPr id="12" name="Text 6"/>
              <p:cNvSpPr/>
              <p:nvPr/>
            </p:nvSpPr>
            <p:spPr>
              <a:xfrm>
                <a:off x="3378622" y="2759199"/>
                <a:ext cx="2386682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Entities</a:t>
                </a:r>
                <a:endParaRPr lang="en-US" sz="1200" dirty="0"/>
              </a:p>
            </p:txBody>
          </p:sp>
        </p:grpSp>
      </p:grpSp>
      <p:sp>
        <p:nvSpPr>
          <p:cNvPr id="13" name="Text 7"/>
          <p:cNvSpPr/>
          <p:nvPr/>
        </p:nvSpPr>
        <p:spPr>
          <a:xfrm>
            <a:off x="3378622" y="3081710"/>
            <a:ext cx="238668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Important details (e.g., task = call home, time = 6 PM)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9545" y="2365400"/>
            <a:ext cx="167432" cy="16743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6016B14-427D-5BBE-891E-3395DEF13670}"/>
              </a:ext>
            </a:extLst>
          </p:cNvPr>
          <p:cNvGrpSpPr/>
          <p:nvPr/>
        </p:nvGrpSpPr>
        <p:grpSpPr>
          <a:xfrm>
            <a:off x="6013252" y="2139181"/>
            <a:ext cx="2634555" cy="1810792"/>
            <a:chOff x="6013252" y="2139181"/>
            <a:chExt cx="2634555" cy="1810792"/>
          </a:xfrm>
        </p:grpSpPr>
        <p:sp>
          <p:nvSpPr>
            <p:cNvPr id="14" name="Shape 8"/>
            <p:cNvSpPr/>
            <p:nvPr/>
          </p:nvSpPr>
          <p:spPr>
            <a:xfrm>
              <a:off x="6013252" y="2139181"/>
              <a:ext cx="2634555" cy="1810792"/>
            </a:xfrm>
            <a:prstGeom prst="roundRect">
              <a:avLst>
                <a:gd name="adj" fmla="val 102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82EAB2B-214D-87B1-F26E-D202BD4F167F}"/>
                </a:ext>
              </a:extLst>
            </p:cNvPr>
            <p:cNvGrpSpPr/>
            <p:nvPr/>
          </p:nvGrpSpPr>
          <p:grpSpPr>
            <a:xfrm>
              <a:off x="6137225" y="2263155"/>
              <a:ext cx="2386608" cy="744140"/>
              <a:chOff x="6137225" y="2263155"/>
              <a:chExt cx="2386608" cy="744140"/>
            </a:xfrm>
          </p:grpSpPr>
          <p:pic>
            <p:nvPicPr>
              <p:cNvPr id="15" name="Image 4" descr="preencoded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37225" y="2263155"/>
                <a:ext cx="372070" cy="372070"/>
              </a:xfrm>
              <a:prstGeom prst="rect">
                <a:avLst/>
              </a:prstGeom>
            </p:spPr>
          </p:pic>
          <p:sp>
            <p:nvSpPr>
              <p:cNvPr id="17" name="Text 9"/>
              <p:cNvSpPr/>
              <p:nvPr/>
            </p:nvSpPr>
            <p:spPr>
              <a:xfrm>
                <a:off x="6137225" y="2759199"/>
                <a:ext cx="2386608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Sentiment</a:t>
                </a:r>
                <a:endParaRPr lang="en-US" sz="1200" dirty="0"/>
              </a:p>
            </p:txBody>
          </p:sp>
        </p:grpSp>
      </p:grpSp>
      <p:sp>
        <p:nvSpPr>
          <p:cNvPr id="18" name="Text 10"/>
          <p:cNvSpPr/>
          <p:nvPr/>
        </p:nvSpPr>
        <p:spPr>
          <a:xfrm>
            <a:off x="6137225" y="3081710"/>
            <a:ext cx="238660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Positive, negative, or neutral tone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3066"/>
            <a:ext cx="2904976" cy="294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 3: Response Planning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496119" y="881435"/>
            <a:ext cx="8151763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 decides what to say or do next. It might fetch information (weather data), trigger an action (turn on lights), or formulate a text response.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96119" y="1508894"/>
            <a:ext cx="3647033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Example: "Remind me to call home at 6 PM"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96119" y="1897633"/>
            <a:ext cx="8151763" cy="2882801"/>
          </a:xfrm>
          <a:prstGeom prst="roundRect">
            <a:avLst>
              <a:gd name="adj" fmla="val 61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8753" y="1974279"/>
            <a:ext cx="141245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71564" y="1974279"/>
            <a:ext cx="6253758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happens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8753" y="2352601"/>
            <a:ext cx="141245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Sound Waves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71564" y="2352601"/>
            <a:ext cx="6253758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Microphone records your voice.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8753" y="2730922"/>
            <a:ext cx="141245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Acoustic Features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71564" y="2730922"/>
            <a:ext cx="6253758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extracts pitch and frequency patterns.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8753" y="3109243"/>
            <a:ext cx="141245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Phonemes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71564" y="3109243"/>
            <a:ext cx="5451599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/r/ /ɪ/ /ˈm/ /aɪ/ /n/ /d/ /m/ /iː/ /t/ /ə/ /k/ /ɔː/ /l/ /h/ /əʊ/ /m/ /æ/ /t/ /s/ /ɪ/ /k/ /s/ /p/ /iː/ /ˈɛ/ /m/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8753" y="3717354"/>
            <a:ext cx="141245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71564" y="3717354"/>
            <a:ext cx="6253758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"Remind me to call home at 6 PM"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8753" y="4095676"/>
            <a:ext cx="141245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NLU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71564" y="4095676"/>
            <a:ext cx="6253758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 = set_reminder, Task = call home, Time = 6 PM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8753" y="4473997"/>
            <a:ext cx="141245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Response Planning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71564" y="4473997"/>
            <a:ext cx="6253758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response: "Okay, I'll remind you to call home at 6 PM."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9526"/>
            <a:ext cx="353466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Inside the "Speak" Stage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45096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Once the AI has a text response, it uses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Text‑to‑Speech (TTS)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turn words back into sound using this four‑step flow: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632719"/>
            <a:ext cx="6339185" cy="290125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9492" y="2357085"/>
            <a:ext cx="407583" cy="4075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56361" y="3845018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Waveform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7357" y="2357849"/>
            <a:ext cx="407583" cy="4075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56456" y="3845018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Prosody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5603" y="2357849"/>
            <a:ext cx="407583" cy="40758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264702" y="3845018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Tokens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35697" y="2357849"/>
            <a:ext cx="407583" cy="40758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740341" y="3845018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Words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  <p:bldP spid="10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78693"/>
            <a:ext cx="8151763" cy="2786063"/>
          </a:xfrm>
          <a:prstGeom prst="roundRect">
            <a:avLst>
              <a:gd name="adj" fmla="val 66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0881" y="383456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24929" y="462632"/>
            <a:ext cx="767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072" y="462632"/>
            <a:ext cx="37149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12755" y="462632"/>
            <a:ext cx="29063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0881" y="789905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929" y="869082"/>
            <a:ext cx="767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072" y="869082"/>
            <a:ext cx="371497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text response from the Process stage.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12755" y="869082"/>
            <a:ext cx="29063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"Timer set for 5 minutes."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0881" y="1196355"/>
            <a:ext cx="8142238" cy="6545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4929" y="1275531"/>
            <a:ext cx="767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072" y="1275531"/>
            <a:ext cx="371497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is broken into small pieces (like Session 8 and 14).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12755" y="1275531"/>
            <a:ext cx="29063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["Timer", "set", "for", "5", "minutes"]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0881" y="1850901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4929" y="1930078"/>
            <a:ext cx="767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Prosody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072" y="1930078"/>
            <a:ext cx="371497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"music" of speech – rhythm, pitch, stress, and emotion. AI predicts how the words should sound.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12755" y="1930078"/>
            <a:ext cx="290639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Like a director telling an actor: "Say this calmly and clearly."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0881" y="2505447"/>
            <a:ext cx="8142238" cy="6545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4929" y="2584624"/>
            <a:ext cx="767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Waveform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072" y="2584624"/>
            <a:ext cx="371497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generates the actual sound wave and plays it through the speaker.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12755" y="2584624"/>
            <a:ext cx="29063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voice you hear.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6119" y="3304282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F96628F-66B6-E03C-202D-B55C2F4EA60F}"/>
              </a:ext>
            </a:extLst>
          </p:cNvPr>
          <p:cNvGrpSpPr/>
          <p:nvPr/>
        </p:nvGrpSpPr>
        <p:grpSpPr>
          <a:xfrm>
            <a:off x="496119" y="3691905"/>
            <a:ext cx="8151763" cy="1072828"/>
            <a:chOff x="496119" y="3691905"/>
            <a:chExt cx="8151763" cy="1072828"/>
          </a:xfrm>
        </p:grpSpPr>
        <p:sp>
          <p:nvSpPr>
            <p:cNvPr id="24" name="Shape 22"/>
            <p:cNvSpPr/>
            <p:nvPr/>
          </p:nvSpPr>
          <p:spPr>
            <a:xfrm>
              <a:off x="496119" y="3691905"/>
              <a:ext cx="8151763" cy="1072828"/>
            </a:xfrm>
            <a:prstGeom prst="roundRect">
              <a:avLst>
                <a:gd name="adj" fmla="val 1734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37E9860-E17B-8F54-D662-8E8C388AAFF7}"/>
                </a:ext>
              </a:extLst>
            </p:cNvPr>
            <p:cNvGrpSpPr/>
            <p:nvPr/>
          </p:nvGrpSpPr>
          <p:grpSpPr>
            <a:xfrm>
              <a:off x="620092" y="3846835"/>
              <a:ext cx="7903815" cy="744289"/>
              <a:chOff x="620092" y="3846835"/>
              <a:chExt cx="7903815" cy="744289"/>
            </a:xfrm>
          </p:grpSpPr>
          <p:pic>
            <p:nvPicPr>
              <p:cNvPr id="25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0092" y="3887391"/>
                <a:ext cx="193774" cy="155004"/>
              </a:xfrm>
              <a:prstGeom prst="rect">
                <a:avLst/>
              </a:prstGeom>
            </p:spPr>
          </p:pic>
          <p:sp>
            <p:nvSpPr>
              <p:cNvPr id="26" name="Text 23"/>
              <p:cNvSpPr/>
              <p:nvPr/>
            </p:nvSpPr>
            <p:spPr>
              <a:xfrm>
                <a:off x="937840" y="3846835"/>
                <a:ext cx="7586067" cy="74428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b="1" dirty="0">
                    <a:solidFill>
                      <a:srgbClr val="000000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Prosody is what makes AI voices sound human.</a:t>
                </a:r>
                <a:r>
                  <a:rPr lang="en-US" sz="1200" dirty="0">
                    <a:solidFill>
                      <a:srgbClr val="000000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 Without it, speech would be flat and robotic. Modern TTS (like ElevenLabs) uses deep learning to predict natural prosody - where to pause, which words to emphasize, and what tone to use.</a:t>
                </a:r>
                <a:endParaRPr lang="en-US" sz="1200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9788"/>
            <a:ext cx="5837039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See It All Together: "Hey Siri, what's the weather?"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96119" y="1127894"/>
            <a:ext cx="8151763" cy="2720132"/>
          </a:xfrm>
          <a:prstGeom prst="roundRect">
            <a:avLst>
              <a:gd name="adj" fmla="val 68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24929" y="1211833"/>
            <a:ext cx="17509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28602" y="1211833"/>
            <a:ext cx="589054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929" y="1623045"/>
            <a:ext cx="17509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28602" y="1623045"/>
            <a:ext cx="589054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Microphone captures "Hey Siri, what's the weather?" as a waveform.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4929" y="2034257"/>
            <a:ext cx="17509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(ASR/STT)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28602" y="2034257"/>
            <a:ext cx="589054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Sound Waves → Acoustic Features → Phonemes → Words: "Hey Siri what's the weather"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4929" y="2693566"/>
            <a:ext cx="17509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(NLU)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28602" y="2693566"/>
            <a:ext cx="589054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 = get_weather; Location = current location.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4929" y="3104778"/>
            <a:ext cx="17509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(Response)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8602" y="3104778"/>
            <a:ext cx="589054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fetches weather data, forms text: "It's currently 35 degrees and sunny."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4929" y="3515990"/>
            <a:ext cx="17509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28602" y="3515990"/>
            <a:ext cx="589054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Words → Tokens → Prosody → Waveform: AI speaks the response.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119" y="3987552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6119" y="4325541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of this happens in less than a second!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7588"/>
            <a:ext cx="5703689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Mini Activity 1: Match the Voice AI Concept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897359"/>
            <a:ext cx="8151763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Instructions: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each description, write which Voice AI concept it matches. Choose from: </a:t>
            </a: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Waveform, Acoustic Features, Phoneme, ASR/STT, TTS, NLU, Prosody, Tokens.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434554"/>
            <a:ext cx="8151763" cy="3361283"/>
          </a:xfrm>
          <a:prstGeom prst="roundRect">
            <a:avLst>
              <a:gd name="adj" fmla="val 49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439317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577" y="1504355"/>
            <a:ext cx="411011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50693" y="1504355"/>
            <a:ext cx="3580805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0881" y="1781473"/>
            <a:ext cx="8142238" cy="61451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2577" y="1846511"/>
            <a:ext cx="411011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process of converting spoken audio into written text.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50693" y="1846511"/>
            <a:ext cx="3580805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ASR/STT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50693" y="2118866"/>
            <a:ext cx="3580805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Speech Recognition / Speech-to-Text</a:t>
            </a: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0881" y="2395984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2577" y="2461022"/>
            <a:ext cx="411011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visual graph of sound over time - the "shape" of the sound wave.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50693" y="2461022"/>
            <a:ext cx="3580805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Waveform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0881" y="2738140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577" y="2803178"/>
            <a:ext cx="411011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smallest unit of sound in a language (e.g., /b/ in "bat").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50693" y="2803178"/>
            <a:ext cx="3580805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Phoneme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0881" y="3080296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2577" y="3145334"/>
            <a:ext cx="411011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process of converting text into spoken audio.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50693" y="3145334"/>
            <a:ext cx="3580805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TTS (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Text‑to‑Speech</a:t>
            </a: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0881" y="3422452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2577" y="3487489"/>
            <a:ext cx="411011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Clues extracted from sound: pitch, energy, frequency patterns.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50693" y="3487489"/>
            <a:ext cx="3580805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Acoustic Features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0881" y="3764607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12577" y="3829645"/>
            <a:ext cx="411011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Figuring out the intent and meaning behind the words.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50693" y="3829645"/>
            <a:ext cx="3580805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NLU (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 Language Understanding</a:t>
            </a: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0881" y="4106763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12577" y="4171801"/>
            <a:ext cx="411011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rhythm, pitch, and stress that make speech sound human.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50693" y="4171801"/>
            <a:ext cx="3580805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Prosody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0881" y="4448919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12577" y="4513957"/>
            <a:ext cx="4110112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 pieces that words are broken into for processing.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50693" y="4513957"/>
            <a:ext cx="3580805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17910"/>
            <a:ext cx="357872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Common Voice AI Tasks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653480"/>
            <a:ext cx="8151763" cy="2472035"/>
          </a:xfrm>
          <a:prstGeom prst="roundRect">
            <a:avLst>
              <a:gd name="adj" fmla="val 75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3B7162-DCE2-9C9A-BBDC-C97A593D295D}"/>
              </a:ext>
            </a:extLst>
          </p:cNvPr>
          <p:cNvGrpSpPr/>
          <p:nvPr/>
        </p:nvGrpSpPr>
        <p:grpSpPr>
          <a:xfrm>
            <a:off x="624929" y="1737420"/>
            <a:ext cx="7894216" cy="248096"/>
            <a:chOff x="624929" y="1737420"/>
            <a:chExt cx="7894216" cy="248096"/>
          </a:xfrm>
        </p:grpSpPr>
        <p:sp>
          <p:nvSpPr>
            <p:cNvPr id="4" name="Text 2"/>
            <p:cNvSpPr/>
            <p:nvPr/>
          </p:nvSpPr>
          <p:spPr>
            <a:xfrm>
              <a:off x="624929" y="1737420"/>
              <a:ext cx="329475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Task</a:t>
              </a:r>
              <a:endParaRPr lang="en-US" sz="1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4172396" y="1737420"/>
              <a:ext cx="4346749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it does</a:t>
              </a:r>
              <a:endParaRPr lang="en-US" sz="12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624929" y="2148632"/>
            <a:ext cx="329475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Speech‑to‑Text (STT) / ASR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72396" y="2148632"/>
            <a:ext cx="434674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Converts spoken words into written text.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4929" y="2559844"/>
            <a:ext cx="329475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Text‑to‑Speech (TTS)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72396" y="2559844"/>
            <a:ext cx="434674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Converts written text into spoken audio.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4929" y="2971056"/>
            <a:ext cx="329475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Commands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72396" y="2971056"/>
            <a:ext cx="434674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Understands and executes spoken instructions.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4929" y="3382268"/>
            <a:ext cx="329475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Recognition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72396" y="3382268"/>
            <a:ext cx="434674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Identifies who is speaking based on voice characteristics.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4929" y="3793480"/>
            <a:ext cx="329475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Cloning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72396" y="3793480"/>
            <a:ext cx="434674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Creates a synthetic copy of a specific person's voice.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7034"/>
            <a:ext cx="328679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Challenges in Voice AI</a:t>
            </a:r>
            <a:endParaRPr lang="en-US" sz="2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6AD7686-4EB7-18F9-1130-BE686D908F9C}"/>
              </a:ext>
            </a:extLst>
          </p:cNvPr>
          <p:cNvGrpSpPr/>
          <p:nvPr/>
        </p:nvGrpSpPr>
        <p:grpSpPr>
          <a:xfrm>
            <a:off x="496119" y="1672605"/>
            <a:ext cx="2634555" cy="496044"/>
            <a:chOff x="496119" y="1672605"/>
            <a:chExt cx="2634555" cy="496044"/>
          </a:xfrm>
        </p:grpSpPr>
        <p:sp>
          <p:nvSpPr>
            <p:cNvPr id="3" name="Shape 1"/>
            <p:cNvSpPr/>
            <p:nvPr/>
          </p:nvSpPr>
          <p:spPr>
            <a:xfrm>
              <a:off x="496119" y="1672605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 2"/>
            <p:cNvSpPr/>
            <p:nvPr/>
          </p:nvSpPr>
          <p:spPr>
            <a:xfrm>
              <a:off x="620092" y="1796579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Background Noise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B75B606-3F3A-CF8E-1FDC-59A6C0928E2F}"/>
              </a:ext>
            </a:extLst>
          </p:cNvPr>
          <p:cNvGrpSpPr/>
          <p:nvPr/>
        </p:nvGrpSpPr>
        <p:grpSpPr>
          <a:xfrm>
            <a:off x="3254648" y="1672605"/>
            <a:ext cx="2634630" cy="496044"/>
            <a:chOff x="3254648" y="1672605"/>
            <a:chExt cx="2634630" cy="496044"/>
          </a:xfrm>
        </p:grpSpPr>
        <p:sp>
          <p:nvSpPr>
            <p:cNvPr id="5" name="Shape 3"/>
            <p:cNvSpPr/>
            <p:nvPr/>
          </p:nvSpPr>
          <p:spPr>
            <a:xfrm>
              <a:off x="3254648" y="1672605"/>
              <a:ext cx="263463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4"/>
            <p:cNvSpPr/>
            <p:nvPr/>
          </p:nvSpPr>
          <p:spPr>
            <a:xfrm>
              <a:off x="3378622" y="1796579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Accents &amp; Dialects</a:t>
              </a:r>
              <a:endParaRPr lang="en-US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F14A2DA-97D6-DF87-A2BB-652B9E71EC34}"/>
              </a:ext>
            </a:extLst>
          </p:cNvPr>
          <p:cNvGrpSpPr/>
          <p:nvPr/>
        </p:nvGrpSpPr>
        <p:grpSpPr>
          <a:xfrm>
            <a:off x="6013252" y="1672605"/>
            <a:ext cx="2634555" cy="496044"/>
            <a:chOff x="6013252" y="1672605"/>
            <a:chExt cx="2634555" cy="496044"/>
          </a:xfrm>
        </p:grpSpPr>
        <p:sp>
          <p:nvSpPr>
            <p:cNvPr id="7" name="Shape 5"/>
            <p:cNvSpPr/>
            <p:nvPr/>
          </p:nvSpPr>
          <p:spPr>
            <a:xfrm>
              <a:off x="6013252" y="1672605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6137225" y="1796579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Homophones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660C55C-C540-1FF6-8AFF-13478C0A8A2A}"/>
              </a:ext>
            </a:extLst>
          </p:cNvPr>
          <p:cNvGrpSpPr/>
          <p:nvPr/>
        </p:nvGrpSpPr>
        <p:grpSpPr>
          <a:xfrm>
            <a:off x="496119" y="2308175"/>
            <a:ext cx="2634555" cy="496044"/>
            <a:chOff x="496119" y="2308175"/>
            <a:chExt cx="2634555" cy="496044"/>
          </a:xfrm>
        </p:grpSpPr>
        <p:sp>
          <p:nvSpPr>
            <p:cNvPr id="9" name="Shape 7"/>
            <p:cNvSpPr/>
            <p:nvPr/>
          </p:nvSpPr>
          <p:spPr>
            <a:xfrm>
              <a:off x="496119" y="2308175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620092" y="2432149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Bias in Training Data</a:t>
              </a:r>
              <a:endParaRPr lang="en-US" sz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D6DF0EA-09AF-BAB6-F348-6AA991AF76D9}"/>
              </a:ext>
            </a:extLst>
          </p:cNvPr>
          <p:cNvGrpSpPr/>
          <p:nvPr/>
        </p:nvGrpSpPr>
        <p:grpSpPr>
          <a:xfrm>
            <a:off x="3254648" y="2308175"/>
            <a:ext cx="2634630" cy="496044"/>
            <a:chOff x="3254648" y="2308175"/>
            <a:chExt cx="2634630" cy="496044"/>
          </a:xfrm>
        </p:grpSpPr>
        <p:sp>
          <p:nvSpPr>
            <p:cNvPr id="11" name="Shape 9"/>
            <p:cNvSpPr/>
            <p:nvPr/>
          </p:nvSpPr>
          <p:spPr>
            <a:xfrm>
              <a:off x="3254648" y="2308175"/>
              <a:ext cx="263463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10"/>
            <p:cNvSpPr/>
            <p:nvPr/>
          </p:nvSpPr>
          <p:spPr>
            <a:xfrm>
              <a:off x="3378622" y="2432149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Privacy Concerns</a:t>
              </a:r>
              <a:endParaRPr lang="en-US" sz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826A553-6D45-82B6-4EA4-A104BD36DA7A}"/>
              </a:ext>
            </a:extLst>
          </p:cNvPr>
          <p:cNvGrpSpPr/>
          <p:nvPr/>
        </p:nvGrpSpPr>
        <p:grpSpPr>
          <a:xfrm>
            <a:off x="6013252" y="2308175"/>
            <a:ext cx="2634555" cy="496044"/>
            <a:chOff x="6013252" y="2308175"/>
            <a:chExt cx="2634555" cy="496044"/>
          </a:xfrm>
        </p:grpSpPr>
        <p:sp>
          <p:nvSpPr>
            <p:cNvPr id="13" name="Shape 11"/>
            <p:cNvSpPr/>
            <p:nvPr/>
          </p:nvSpPr>
          <p:spPr>
            <a:xfrm>
              <a:off x="6013252" y="2308175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2"/>
            <p:cNvSpPr/>
            <p:nvPr/>
          </p:nvSpPr>
          <p:spPr>
            <a:xfrm>
              <a:off x="6137225" y="2432149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Emotional Tone</a:t>
              </a:r>
              <a:endParaRPr lang="en-US" sz="12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496119" y="2943746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F465EA7-54CB-90E3-04B8-605FD1A434F4}"/>
              </a:ext>
            </a:extLst>
          </p:cNvPr>
          <p:cNvGrpSpPr/>
          <p:nvPr/>
        </p:nvGrpSpPr>
        <p:grpSpPr>
          <a:xfrm>
            <a:off x="496119" y="3281735"/>
            <a:ext cx="8151763" cy="824731"/>
            <a:chOff x="496119" y="3281735"/>
            <a:chExt cx="8151763" cy="82473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7BD04EA-7B9F-B174-958C-140403F4B27C}"/>
                </a:ext>
              </a:extLst>
            </p:cNvPr>
            <p:cNvGrpSpPr/>
            <p:nvPr/>
          </p:nvGrpSpPr>
          <p:grpSpPr>
            <a:xfrm>
              <a:off x="496119" y="3281735"/>
              <a:ext cx="8151763" cy="824731"/>
              <a:chOff x="496119" y="3281735"/>
              <a:chExt cx="8151763" cy="824731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496119" y="3281735"/>
                <a:ext cx="8151763" cy="824731"/>
              </a:xfrm>
              <a:prstGeom prst="roundRect">
                <a:avLst>
                  <a:gd name="adj" fmla="val 2256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pic>
            <p:nvPicPr>
              <p:cNvPr id="17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0092" y="3477220"/>
                <a:ext cx="193774" cy="155004"/>
              </a:xfrm>
              <a:prstGeom prst="rect">
                <a:avLst/>
              </a:prstGeom>
            </p:spPr>
          </p:pic>
        </p:grpSp>
        <p:sp>
          <p:nvSpPr>
            <p:cNvPr id="18" name="Text 15"/>
            <p:cNvSpPr/>
            <p:nvPr/>
          </p:nvSpPr>
          <p:spPr>
            <a:xfrm>
              <a:off x="937840" y="3436665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Voice AI</a:t>
              </a: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is powerful but not perfect. Noise, accents, bias, and privacy are active areas of research and improvement.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5873"/>
            <a:ext cx="6044505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Mini Activity 2: Spot the Voice AI Challenge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1147911"/>
            <a:ext cx="8151763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Instructions: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each scenario, identify which Voice AI challenge is present.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from: </a:t>
            </a: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Background Noise, Accent, Homophone, Bias, Privacy, Emotional Tone.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6119" y="1733401"/>
            <a:ext cx="8151763" cy="2854226"/>
          </a:xfrm>
          <a:prstGeom prst="roundRect">
            <a:avLst>
              <a:gd name="adj" fmla="val 61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738164"/>
            <a:ext cx="8142238" cy="3735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8753" y="1810048"/>
            <a:ext cx="576188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435298" y="1810048"/>
            <a:ext cx="553655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Scenario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212211" y="1810048"/>
            <a:ext cx="1313111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Challenge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0881" y="2111722"/>
            <a:ext cx="8142238" cy="3735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8753" y="2183606"/>
            <a:ext cx="576188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435298" y="2183606"/>
            <a:ext cx="553655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smart speaker in a busy kitchen hears "Add milk" but writes "Add silk."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212211" y="2183606"/>
            <a:ext cx="1313111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Background Noise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0881" y="2485281"/>
            <a:ext cx="8142238" cy="60334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8753" y="2557165"/>
            <a:ext cx="576188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435298" y="2557165"/>
            <a:ext cx="5536555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voice assistant fails to understand someone from rural Ireland but works fine for a California accent.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212211" y="2557165"/>
            <a:ext cx="1313111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0881" y="3088630"/>
            <a:ext cx="8142238" cy="3735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8753" y="3160514"/>
            <a:ext cx="576188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435298" y="3160514"/>
            <a:ext cx="553655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user says "I need to book a flight" and the AI hears "I need to book a fight."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12211" y="3160514"/>
            <a:ext cx="1313111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Homophone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0881" y="3462189"/>
            <a:ext cx="8142238" cy="3735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8753" y="3534073"/>
            <a:ext cx="576188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435298" y="3534073"/>
            <a:ext cx="553655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ASR/STT system has a 20% higher error rate for female voices than male voices.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12211" y="3534073"/>
            <a:ext cx="1313111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0881" y="3835747"/>
            <a:ext cx="8142238" cy="3735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8753" y="3907631"/>
            <a:ext cx="576188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435298" y="3907631"/>
            <a:ext cx="553655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user says "Oh, wonderful" sarcastically, but the AI thinks it's positive.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12211" y="3907631"/>
            <a:ext cx="1313111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Emotional Tone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0881" y="4209306"/>
            <a:ext cx="8142238" cy="3735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8753" y="4281190"/>
            <a:ext cx="576188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435298" y="4281190"/>
            <a:ext cx="553655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family discovers their smart speaker recorded a private conversation.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212211" y="4281190"/>
            <a:ext cx="1313111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Privacy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16769"/>
            <a:ext cx="382823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Voice AI in the Real World</a:t>
            </a:r>
            <a:endParaRPr lang="en-US" sz="2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B6FDDED-BB54-7A48-75D1-AF0B5932AAD1}"/>
              </a:ext>
            </a:extLst>
          </p:cNvPr>
          <p:cNvGrpSpPr/>
          <p:nvPr/>
        </p:nvGrpSpPr>
        <p:grpSpPr>
          <a:xfrm>
            <a:off x="496119" y="2052340"/>
            <a:ext cx="2613868" cy="713184"/>
            <a:chOff x="496119" y="2052340"/>
            <a:chExt cx="2613868" cy="713184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119" y="2052340"/>
              <a:ext cx="310083" cy="310083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496119" y="2517428"/>
              <a:ext cx="261386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Voice Assistants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704F46-F329-4E41-55F4-56841AFEE3E5}"/>
              </a:ext>
            </a:extLst>
          </p:cNvPr>
          <p:cNvGrpSpPr/>
          <p:nvPr/>
        </p:nvGrpSpPr>
        <p:grpSpPr>
          <a:xfrm>
            <a:off x="3264991" y="2052340"/>
            <a:ext cx="2613943" cy="713184"/>
            <a:chOff x="3264991" y="2052340"/>
            <a:chExt cx="2613943" cy="713184"/>
          </a:xfrm>
        </p:grpSpPr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64991" y="2052340"/>
              <a:ext cx="310083" cy="310083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3264991" y="2517428"/>
              <a:ext cx="261394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Audiobook Narration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5E08DD8-4090-5372-5002-CBBAD7300030}"/>
              </a:ext>
            </a:extLst>
          </p:cNvPr>
          <p:cNvGrpSpPr/>
          <p:nvPr/>
        </p:nvGrpSpPr>
        <p:grpSpPr>
          <a:xfrm>
            <a:off x="6033939" y="2052340"/>
            <a:ext cx="2613943" cy="713184"/>
            <a:chOff x="6033939" y="2052340"/>
            <a:chExt cx="2613943" cy="713184"/>
          </a:xfrm>
        </p:grpSpPr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33939" y="2052340"/>
              <a:ext cx="310083" cy="310083"/>
            </a:xfrm>
            <a:prstGeom prst="rect">
              <a:avLst/>
            </a:prstGeom>
          </p:spPr>
        </p:pic>
        <p:sp>
          <p:nvSpPr>
            <p:cNvPr id="8" name="Text 3"/>
            <p:cNvSpPr/>
            <p:nvPr/>
          </p:nvSpPr>
          <p:spPr>
            <a:xfrm>
              <a:off x="6033939" y="2517428"/>
              <a:ext cx="261394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Accessibility Tools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90A231B-CF1A-5883-770E-E67AFFA33BA1}"/>
              </a:ext>
            </a:extLst>
          </p:cNvPr>
          <p:cNvGrpSpPr/>
          <p:nvPr/>
        </p:nvGrpSpPr>
        <p:grpSpPr>
          <a:xfrm>
            <a:off x="496119" y="3013546"/>
            <a:ext cx="2613868" cy="713184"/>
            <a:chOff x="496119" y="3013546"/>
            <a:chExt cx="2613868" cy="713184"/>
          </a:xfrm>
        </p:grpSpPr>
        <p:pic>
          <p:nvPicPr>
            <p:cNvPr id="9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6119" y="3013546"/>
              <a:ext cx="310083" cy="310083"/>
            </a:xfrm>
            <a:prstGeom prst="rect">
              <a:avLst/>
            </a:prstGeom>
          </p:spPr>
        </p:pic>
        <p:sp>
          <p:nvSpPr>
            <p:cNvPr id="10" name="Text 4"/>
            <p:cNvSpPr/>
            <p:nvPr/>
          </p:nvSpPr>
          <p:spPr>
            <a:xfrm>
              <a:off x="496119" y="3478634"/>
              <a:ext cx="261386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Language Learning Apps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75442B-D024-3BFD-0E61-44950625CB5E}"/>
              </a:ext>
            </a:extLst>
          </p:cNvPr>
          <p:cNvGrpSpPr/>
          <p:nvPr/>
        </p:nvGrpSpPr>
        <p:grpSpPr>
          <a:xfrm>
            <a:off x="3264991" y="3013546"/>
            <a:ext cx="2613943" cy="713184"/>
            <a:chOff x="3264991" y="3013546"/>
            <a:chExt cx="2613943" cy="713184"/>
          </a:xfrm>
        </p:grpSpPr>
        <p:pic>
          <p:nvPicPr>
            <p:cNvPr id="11" name="Image 4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64991" y="3013546"/>
              <a:ext cx="310083" cy="310083"/>
            </a:xfrm>
            <a:prstGeom prst="rect">
              <a:avLst/>
            </a:prstGeom>
          </p:spPr>
        </p:pic>
        <p:sp>
          <p:nvSpPr>
            <p:cNvPr id="12" name="Text 5"/>
            <p:cNvSpPr/>
            <p:nvPr/>
          </p:nvSpPr>
          <p:spPr>
            <a:xfrm>
              <a:off x="3264991" y="3478634"/>
              <a:ext cx="261394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Customer Service Chatbots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49B56DF-C4F9-E73C-C37C-F3DDFE47A370}"/>
              </a:ext>
            </a:extLst>
          </p:cNvPr>
          <p:cNvGrpSpPr/>
          <p:nvPr/>
        </p:nvGrpSpPr>
        <p:grpSpPr>
          <a:xfrm>
            <a:off x="6033939" y="3013546"/>
            <a:ext cx="2613943" cy="713184"/>
            <a:chOff x="6033939" y="3013546"/>
            <a:chExt cx="2613943" cy="713184"/>
          </a:xfrm>
        </p:grpSpPr>
        <p:pic>
          <p:nvPicPr>
            <p:cNvPr id="13" name="Image 5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33939" y="3013546"/>
              <a:ext cx="310083" cy="310083"/>
            </a:xfrm>
            <a:prstGeom prst="rect">
              <a:avLst/>
            </a:prstGeom>
          </p:spPr>
        </p:pic>
        <p:sp>
          <p:nvSpPr>
            <p:cNvPr id="14" name="Text 6"/>
            <p:cNvSpPr/>
            <p:nvPr/>
          </p:nvSpPr>
          <p:spPr>
            <a:xfrm>
              <a:off x="6033939" y="3478634"/>
              <a:ext cx="261394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Real‑time Translation Earbuds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49239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Hands‑On Activity: Create Your Own AI Voice with ElevenLabs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610371"/>
            <a:ext cx="4722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Goal: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 ElevenLabs to design a custom voice from a text description, then make it speak a sentence you choose.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3246090"/>
            <a:ext cx="4722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Tool: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ElevenLabs (free tier at 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/>
              </a:rPr>
              <a:t>elevenlabs.io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34641"/>
            <a:ext cx="620167" cy="8185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0259" y="1058614"/>
            <a:ext cx="740762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1: Open Voice Design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240259" y="1381125"/>
            <a:ext cx="740762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 into ElevenLabs. Find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Design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the Home page or under the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section.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753195"/>
            <a:ext cx="620167" cy="81855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40259" y="1877169"/>
            <a:ext cx="740762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2: Describe Your Voice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240259" y="2199680"/>
            <a:ext cx="740762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the prompt box, type a short description of the voice you want to create. Click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listen.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571750"/>
            <a:ext cx="620167" cy="81855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40259" y="2695724"/>
            <a:ext cx="740762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3: Use in Text to Speech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240259" y="3018234"/>
            <a:ext cx="740762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 to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to Speech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Select your voice, type a sentence, click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listen.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390305"/>
            <a:ext cx="620167" cy="81855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40259" y="3514279"/>
            <a:ext cx="740762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4: Reflection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1240259" y="3836789"/>
            <a:ext cx="740762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Answer reflection questions in your head or discuss with your mentor.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0063"/>
            <a:ext cx="633911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Hands‑On Activity: Example Voice Prompts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35634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the prompt box, type a short description of the voice you want to create.</a:t>
            </a:r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 prompts (choose one or create your own):</a:t>
            </a:r>
            <a:endParaRPr lang="en-US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9D65CEC-86AC-45D3-AAE8-7898E09EA86F}"/>
              </a:ext>
            </a:extLst>
          </p:cNvPr>
          <p:cNvGrpSpPr/>
          <p:nvPr/>
        </p:nvGrpSpPr>
        <p:grpSpPr>
          <a:xfrm>
            <a:off x="435992" y="2311226"/>
            <a:ext cx="2754808" cy="1017092"/>
            <a:chOff x="435992" y="2311226"/>
            <a:chExt cx="2754808" cy="1017092"/>
          </a:xfrm>
        </p:grpSpPr>
        <p:sp>
          <p:nvSpPr>
            <p:cNvPr id="4" name="Shape 2"/>
            <p:cNvSpPr/>
            <p:nvPr/>
          </p:nvSpPr>
          <p:spPr>
            <a:xfrm>
              <a:off x="496119" y="2371353"/>
              <a:ext cx="2634555" cy="896838"/>
            </a:xfrm>
            <a:prstGeom prst="roundRect">
              <a:avLst>
                <a:gd name="adj" fmla="val 2075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992" y="2311226"/>
              <a:ext cx="148828" cy="148828"/>
            </a:xfrm>
            <a:prstGeom prst="rect">
              <a:avLst/>
            </a:prstGeom>
          </p:spPr>
        </p:pic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1972" y="3179490"/>
              <a:ext cx="148828" cy="148828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696441" y="2571676"/>
              <a:ext cx="2233910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"A friendly wizard with a warm, slightly crackly voice."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42C8902-20DB-2792-99AB-964FFD1D6D09}"/>
              </a:ext>
            </a:extLst>
          </p:cNvPr>
          <p:cNvGrpSpPr/>
          <p:nvPr/>
        </p:nvGrpSpPr>
        <p:grpSpPr>
          <a:xfrm>
            <a:off x="3194521" y="2311226"/>
            <a:ext cx="2754883" cy="1017092"/>
            <a:chOff x="3194521" y="2311226"/>
            <a:chExt cx="2754883" cy="1017092"/>
          </a:xfrm>
        </p:grpSpPr>
        <p:sp>
          <p:nvSpPr>
            <p:cNvPr id="8" name="Shape 4"/>
            <p:cNvSpPr/>
            <p:nvPr/>
          </p:nvSpPr>
          <p:spPr>
            <a:xfrm>
              <a:off x="3254648" y="2371353"/>
              <a:ext cx="2634630" cy="896838"/>
            </a:xfrm>
            <a:prstGeom prst="roundRect">
              <a:avLst>
                <a:gd name="adj" fmla="val 2075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E712129-B7C5-F96F-6BCB-7AF8FA9210F4}"/>
                </a:ext>
              </a:extLst>
            </p:cNvPr>
            <p:cNvGrpSpPr/>
            <p:nvPr/>
          </p:nvGrpSpPr>
          <p:grpSpPr>
            <a:xfrm>
              <a:off x="3194521" y="2311226"/>
              <a:ext cx="2754883" cy="1017092"/>
              <a:chOff x="3194521" y="2311226"/>
              <a:chExt cx="2754883" cy="1017092"/>
            </a:xfrm>
          </p:grpSpPr>
          <p:pic>
            <p:nvPicPr>
              <p:cNvPr id="9" name="Image 2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4521" y="2311226"/>
                <a:ext cx="148828" cy="148828"/>
              </a:xfrm>
              <a:prstGeom prst="rect">
                <a:avLst/>
              </a:prstGeom>
            </p:spPr>
          </p:pic>
          <p:pic>
            <p:nvPicPr>
              <p:cNvPr id="10" name="Image 3" descr="preencod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00576" y="3179490"/>
                <a:ext cx="148828" cy="148828"/>
              </a:xfrm>
              <a:prstGeom prst="rect">
                <a:avLst/>
              </a:prstGeom>
            </p:spPr>
          </p:pic>
          <p:sp>
            <p:nvSpPr>
              <p:cNvPr id="11" name="Text 5"/>
              <p:cNvSpPr/>
              <p:nvPr/>
            </p:nvSpPr>
            <p:spPr>
              <a:xfrm>
                <a:off x="3454971" y="2571676"/>
                <a:ext cx="2233985" cy="49619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"An energetic sports commentator who talks fast."</a:t>
                </a:r>
                <a:endParaRPr lang="en-US" sz="1200" dirty="0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B963B52-2A44-AB1E-8573-032428862F95}"/>
              </a:ext>
            </a:extLst>
          </p:cNvPr>
          <p:cNvGrpSpPr/>
          <p:nvPr/>
        </p:nvGrpSpPr>
        <p:grpSpPr>
          <a:xfrm>
            <a:off x="5953125" y="2311226"/>
            <a:ext cx="2754808" cy="1017092"/>
            <a:chOff x="5953125" y="2311226"/>
            <a:chExt cx="2754808" cy="1017092"/>
          </a:xfrm>
        </p:grpSpPr>
        <p:sp>
          <p:nvSpPr>
            <p:cNvPr id="12" name="Shape 6"/>
            <p:cNvSpPr/>
            <p:nvPr/>
          </p:nvSpPr>
          <p:spPr>
            <a:xfrm>
              <a:off x="6013252" y="2371353"/>
              <a:ext cx="2634555" cy="896838"/>
            </a:xfrm>
            <a:prstGeom prst="roundRect">
              <a:avLst>
                <a:gd name="adj" fmla="val 2075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3" name="Image 4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53125" y="2311226"/>
              <a:ext cx="148828" cy="148828"/>
            </a:xfrm>
            <a:prstGeom prst="rect">
              <a:avLst/>
            </a:prstGeom>
          </p:spPr>
        </p:pic>
        <p:pic>
          <p:nvPicPr>
            <p:cNvPr id="14" name="Image 5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59105" y="3179490"/>
              <a:ext cx="148828" cy="148828"/>
            </a:xfrm>
            <a:prstGeom prst="rect">
              <a:avLst/>
            </a:prstGeom>
          </p:spPr>
        </p:pic>
        <p:sp>
          <p:nvSpPr>
            <p:cNvPr id="15" name="Text 7"/>
            <p:cNvSpPr/>
            <p:nvPr/>
          </p:nvSpPr>
          <p:spPr>
            <a:xfrm>
              <a:off x="6213574" y="2571676"/>
              <a:ext cx="2233910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"A calm, soft voice for reading bedtime stories."</a:t>
              </a:r>
              <a:endParaRPr lang="en-US" sz="1200" dirty="0"/>
            </a:p>
          </p:txBody>
        </p:sp>
      </p:grpSp>
      <p:sp>
        <p:nvSpPr>
          <p:cNvPr id="16" name="Text 8"/>
          <p:cNvSpPr/>
          <p:nvPr/>
        </p:nvSpPr>
        <p:spPr>
          <a:xfrm>
            <a:off x="496119" y="3407718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496119" y="3795340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listen to the result.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0078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Hands‑On Activity: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95648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1E9927-D7DC-012C-5D95-D38B7F39D44A}"/>
              </a:ext>
            </a:extLst>
          </p:cNvPr>
          <p:cNvGrpSpPr/>
          <p:nvPr/>
        </p:nvGrpSpPr>
        <p:grpSpPr>
          <a:xfrm>
            <a:off x="406822" y="1833637"/>
            <a:ext cx="4103191" cy="2449785"/>
            <a:chOff x="406822" y="1833637"/>
            <a:chExt cx="4103191" cy="2449785"/>
          </a:xfrm>
        </p:grpSpPr>
        <p:sp>
          <p:nvSpPr>
            <p:cNvPr id="4" name="Shape 2"/>
            <p:cNvSpPr/>
            <p:nvPr/>
          </p:nvSpPr>
          <p:spPr>
            <a:xfrm>
              <a:off x="406822" y="1833637"/>
              <a:ext cx="4103191" cy="2449785"/>
            </a:xfrm>
            <a:prstGeom prst="roundRect">
              <a:avLst>
                <a:gd name="adj" fmla="val 760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530796" y="1945258"/>
              <a:ext cx="3855244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Text to Speech</a:t>
              </a:r>
              <a:endParaRPr lang="en-US" sz="12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530796" y="2304976"/>
            <a:ext cx="3855244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 to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to Speech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Select the voice you just created from the voice dropdown. Type a short sentence into the text box. For example: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3160886"/>
            <a:ext cx="3855244" cy="53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"Hello! This is my custom AI voice."</a:t>
            </a:r>
            <a:endParaRPr lang="en-US" sz="11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 created this voice just by describing it."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796" y="3812084"/>
            <a:ext cx="385524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listen.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1945258"/>
            <a:ext cx="392459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Reflection Questions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8046" y="2304976"/>
            <a:ext cx="392459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Answer these in your head or discuss with your mentor: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8046" y="2664693"/>
            <a:ext cx="3924598" cy="157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close was the generated voice to what you imagined?</a:t>
            </a:r>
            <a:endParaRPr lang="en-US" sz="1100" dirty="0"/>
          </a:p>
          <a:p>
            <a:pPr marL="342900" indent="-342900" algn="l">
              <a:lnSpc>
                <a:spcPts val="15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do you think the AI did to turn your description into a voice?</a:t>
            </a:r>
            <a:endParaRPr lang="en-US" sz="1100" dirty="0"/>
          </a:p>
          <a:p>
            <a:pPr marL="342900" indent="-342900" algn="l">
              <a:lnSpc>
                <a:spcPts val="155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might a tool like this be useful? Where could it be misused?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373"/>
            <a:ext cx="364264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Most Important Idea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46944"/>
            <a:ext cx="2717229" cy="4961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0092" y="1767036"/>
            <a:ext cx="246928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ASR/STT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0092" y="2089547"/>
            <a:ext cx="246928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Sound Waves → Acoustic Features → Phonemes → Words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1146944"/>
            <a:ext cx="2717229" cy="4961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37322" y="1767036"/>
            <a:ext cx="246928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NLU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337322" y="2089547"/>
            <a:ext cx="246928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Figures out meaning and intent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1146944"/>
            <a:ext cx="2717229" cy="4961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54551" y="1767036"/>
            <a:ext cx="246928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TTS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054551" y="2089547"/>
            <a:ext cx="246928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Words → Tokens → Prosody → Waveform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96119" y="2849240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496119" y="3233738"/>
            <a:ext cx="446960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 are the human in the loop.</a:t>
            </a:r>
            <a:endParaRPr lang="en-US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EA8C8C-2219-0CEC-3093-B252DD189333}"/>
              </a:ext>
            </a:extLst>
          </p:cNvPr>
          <p:cNvGrpSpPr/>
          <p:nvPr/>
        </p:nvGrpSpPr>
        <p:grpSpPr>
          <a:xfrm>
            <a:off x="496119" y="3807321"/>
            <a:ext cx="8151763" cy="824731"/>
            <a:chOff x="496119" y="3807321"/>
            <a:chExt cx="8151763" cy="824731"/>
          </a:xfrm>
        </p:grpSpPr>
        <p:sp>
          <p:nvSpPr>
            <p:cNvPr id="14" name="Shape 9"/>
            <p:cNvSpPr/>
            <p:nvPr/>
          </p:nvSpPr>
          <p:spPr>
            <a:xfrm>
              <a:off x="496119" y="3807321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5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092" y="4002807"/>
              <a:ext cx="193774" cy="155004"/>
            </a:xfrm>
            <a:prstGeom prst="rect">
              <a:avLst/>
            </a:prstGeom>
          </p:spPr>
        </p:pic>
        <p:sp>
          <p:nvSpPr>
            <p:cNvPr id="16" name="Text 10"/>
            <p:cNvSpPr/>
            <p:nvPr/>
          </p:nvSpPr>
          <p:spPr>
            <a:xfrm>
              <a:off x="937840" y="3962251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Voice AI is pattern matching, not true understanding, not true hearing.</a:t>
              </a: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Be aware of its limits and use it responsibly.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33041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Summary: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868612"/>
            <a:ext cx="8151763" cy="2041773"/>
          </a:xfrm>
          <a:prstGeom prst="roundRect">
            <a:avLst>
              <a:gd name="adj" fmla="val 9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87337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929" y="1952551"/>
            <a:ext cx="163376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Term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11400" y="1952551"/>
            <a:ext cx="600774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0881" y="2279824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929" y="2359000"/>
            <a:ext cx="163376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1400" y="2359000"/>
            <a:ext cx="600774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that hears, interprets, and generates spoken language.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268627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4929" y="2765450"/>
            <a:ext cx="163376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ASR/STT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1400" y="2765450"/>
            <a:ext cx="600774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Speech Recognition / Speech‑to‑Text – converts speech to text.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3092723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929" y="3171899"/>
            <a:ext cx="163376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1400" y="3171899"/>
            <a:ext cx="600774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Text‑to‑Speech – converts text to speech.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881" y="3499172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4929" y="3578349"/>
            <a:ext cx="163376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Waveform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1400" y="3578349"/>
            <a:ext cx="600774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graph of sound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6591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Summary: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462162"/>
            <a:ext cx="8151763" cy="2854672"/>
          </a:xfrm>
          <a:prstGeom prst="roundRect">
            <a:avLst>
              <a:gd name="adj" fmla="val 65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46692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929" y="1546101"/>
            <a:ext cx="189182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Term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69468" y="1546101"/>
            <a:ext cx="574967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0881" y="1873374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929" y="1952551"/>
            <a:ext cx="189182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Acoustic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69468" y="1952551"/>
            <a:ext cx="574967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Clues extracted from sound: pitch, energy, frequency patterns.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227982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4929" y="2359000"/>
            <a:ext cx="189182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Phoneme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69468" y="2359000"/>
            <a:ext cx="574967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Smallest unit of sound in a language.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2686273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929" y="2765450"/>
            <a:ext cx="189182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69468" y="2765450"/>
            <a:ext cx="574967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intent and meaning from text.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881" y="309272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4929" y="3171899"/>
            <a:ext cx="189182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Prosody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69468" y="3171899"/>
            <a:ext cx="574967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rhythm, pitch, and stress that make speech sound human.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0881" y="3499172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4929" y="3578349"/>
            <a:ext cx="189182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69468" y="3578349"/>
            <a:ext cx="574967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 pieces words are broken into for processing.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0881" y="3905622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4929" y="3984799"/>
            <a:ext cx="189182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Hear → Process → Speak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69468" y="3984799"/>
            <a:ext cx="574967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AI framework.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4132"/>
            <a:ext cx="4722763" cy="73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Homework: Creative Project - From Idea to Audio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925119" y="1338411"/>
            <a:ext cx="4722763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ChatGPT (or Google Gemini) and ElevenLabs together to create a short narrated story.</a:t>
            </a:r>
            <a:endParaRPr lang="en-US" sz="115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83BBE1D-8F22-EDE3-61CD-A98FD580AD43}"/>
              </a:ext>
            </a:extLst>
          </p:cNvPr>
          <p:cNvGrpSpPr/>
          <p:nvPr/>
        </p:nvGrpSpPr>
        <p:grpSpPr>
          <a:xfrm>
            <a:off x="3925119" y="1923901"/>
            <a:ext cx="4722763" cy="1221879"/>
            <a:chOff x="3925119" y="1923901"/>
            <a:chExt cx="4722763" cy="1221879"/>
          </a:xfrm>
        </p:grpSpPr>
        <p:sp>
          <p:nvSpPr>
            <p:cNvPr id="5" name="Shape 2"/>
            <p:cNvSpPr/>
            <p:nvPr/>
          </p:nvSpPr>
          <p:spPr>
            <a:xfrm>
              <a:off x="3925119" y="1923901"/>
              <a:ext cx="4722763" cy="1221879"/>
            </a:xfrm>
            <a:prstGeom prst="roundRect">
              <a:avLst>
                <a:gd name="adj" fmla="val 1447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3"/>
            <p:cNvSpPr/>
            <p:nvPr/>
          </p:nvSpPr>
          <p:spPr>
            <a:xfrm>
              <a:off x="4042916" y="2041699"/>
              <a:ext cx="4487168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>
                <a:lnSpc>
                  <a:spcPts val="1400"/>
                </a:lnSpc>
                <a:buSzPct val="100000"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1. Brainstorm Ideas</a:t>
              </a:r>
              <a:endParaRPr lang="en-US" sz="1150" dirty="0"/>
            </a:p>
          </p:txBody>
        </p:sp>
      </p:grpSp>
      <p:sp>
        <p:nvSpPr>
          <p:cNvPr id="7" name="Text 4"/>
          <p:cNvSpPr/>
          <p:nvPr/>
        </p:nvSpPr>
        <p:spPr>
          <a:xfrm>
            <a:off x="4042916" y="2338611"/>
            <a:ext cx="4487168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ChatGPT or Gemini. Ask for 3 short story ideas using a prompt like: </a:t>
            </a:r>
            <a:r>
              <a:rPr lang="en-US" sz="115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"Give me 3 short story ideas about a mysterious sound heard at night. Each idea should be one sentence."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Pick your favorite.</a:t>
            </a:r>
            <a:endParaRPr lang="en-US" sz="115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D2C751-C493-81BB-29A3-4C9B6A8D1C29}"/>
              </a:ext>
            </a:extLst>
          </p:cNvPr>
          <p:cNvGrpSpPr/>
          <p:nvPr/>
        </p:nvGrpSpPr>
        <p:grpSpPr>
          <a:xfrm>
            <a:off x="3925119" y="3257699"/>
            <a:ext cx="4722763" cy="1451670"/>
            <a:chOff x="3925119" y="3257699"/>
            <a:chExt cx="4722763" cy="1451670"/>
          </a:xfrm>
        </p:grpSpPr>
        <p:sp>
          <p:nvSpPr>
            <p:cNvPr id="8" name="Shape 5"/>
            <p:cNvSpPr/>
            <p:nvPr/>
          </p:nvSpPr>
          <p:spPr>
            <a:xfrm>
              <a:off x="3925119" y="3257699"/>
              <a:ext cx="4722763" cy="1451670"/>
            </a:xfrm>
            <a:prstGeom prst="roundRect">
              <a:avLst>
                <a:gd name="adj" fmla="val 121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6"/>
            <p:cNvSpPr/>
            <p:nvPr/>
          </p:nvSpPr>
          <p:spPr>
            <a:xfrm>
              <a:off x="4042916" y="3375496"/>
              <a:ext cx="4487168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l">
                <a:lnSpc>
                  <a:spcPts val="1800"/>
                </a:lnSpc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2. Write the Story</a:t>
              </a:r>
              <a:endParaRPr lang="en-US" sz="1150" dirty="0"/>
            </a:p>
          </p:txBody>
        </p:sp>
      </p:grpSp>
      <p:sp>
        <p:nvSpPr>
          <p:cNvPr id="10" name="Text 7"/>
          <p:cNvSpPr/>
          <p:nvPr/>
        </p:nvSpPr>
        <p:spPr>
          <a:xfrm>
            <a:off x="4042916" y="3672408"/>
            <a:ext cx="4487168" cy="919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the AI to write a short story: </a:t>
            </a:r>
            <a:r>
              <a:rPr lang="en-US" sz="115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"Write a short story based on this idea: [paste idea]. Make it about 100–150 words. Use simple, vivid language."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Read the story. Edit anything you want - it's your story now.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728D1C1-3C14-A193-910D-134BC5750622}"/>
              </a:ext>
            </a:extLst>
          </p:cNvPr>
          <p:cNvGrpSpPr/>
          <p:nvPr/>
        </p:nvGrpSpPr>
        <p:grpSpPr>
          <a:xfrm>
            <a:off x="496119" y="1666280"/>
            <a:ext cx="4013895" cy="1810941"/>
            <a:chOff x="496119" y="1666280"/>
            <a:chExt cx="4013895" cy="1810941"/>
          </a:xfrm>
        </p:grpSpPr>
        <p:sp>
          <p:nvSpPr>
            <p:cNvPr id="2" name="Shape 0"/>
            <p:cNvSpPr/>
            <p:nvPr/>
          </p:nvSpPr>
          <p:spPr>
            <a:xfrm>
              <a:off x="496119" y="1666280"/>
              <a:ext cx="4013895" cy="1810941"/>
            </a:xfrm>
            <a:prstGeom prst="roundRect">
              <a:avLst>
                <a:gd name="adj" fmla="val 1027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" name="Text 1"/>
            <p:cNvSpPr/>
            <p:nvPr/>
          </p:nvSpPr>
          <p:spPr>
            <a:xfrm>
              <a:off x="620092" y="1790254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3. Create a Voice</a:t>
              </a:r>
              <a:endParaRPr lang="en-US" sz="12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620092" y="2112764"/>
            <a:ext cx="3765947" cy="124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 into ElevenLabs. Use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 Design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create a voice that fits your story's mood. Example descriptions: </a:t>
            </a:r>
            <a:r>
              <a:rPr lang="en-US" sz="12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calm, gentle voice for a bedtime story."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/ </a:t>
            </a:r>
            <a:r>
              <a:rPr lang="en-US" sz="12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mysterious, whispery voice."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/ </a:t>
            </a:r>
            <a:r>
              <a:rPr lang="en-US" sz="12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"An excited, curious voice."</a:t>
            </a:r>
            <a:endParaRPr lang="en-US" sz="12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C89ABD2-B0DB-8E4A-49F2-1BF3D42398FF}"/>
              </a:ext>
            </a:extLst>
          </p:cNvPr>
          <p:cNvGrpSpPr/>
          <p:nvPr/>
        </p:nvGrpSpPr>
        <p:grpSpPr>
          <a:xfrm>
            <a:off x="4633987" y="1666280"/>
            <a:ext cx="4013895" cy="1810941"/>
            <a:chOff x="4633987" y="1666280"/>
            <a:chExt cx="4013895" cy="1810941"/>
          </a:xfrm>
        </p:grpSpPr>
        <p:sp>
          <p:nvSpPr>
            <p:cNvPr id="5" name="Shape 3"/>
            <p:cNvSpPr/>
            <p:nvPr/>
          </p:nvSpPr>
          <p:spPr>
            <a:xfrm>
              <a:off x="4633987" y="1666280"/>
              <a:ext cx="4013895" cy="1810941"/>
            </a:xfrm>
            <a:prstGeom prst="roundRect">
              <a:avLst>
                <a:gd name="adj" fmla="val 1027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4"/>
            <p:cNvSpPr/>
            <p:nvPr/>
          </p:nvSpPr>
          <p:spPr>
            <a:xfrm>
              <a:off x="4757961" y="1790254"/>
              <a:ext cx="376594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4. Narrate Your Story</a:t>
              </a:r>
              <a:endParaRPr lang="en-US" sz="120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4757961" y="2112764"/>
            <a:ext cx="3765947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 to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to Speech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Select your custom voice. Paste your story and generate the audio. Listen to your story narrated by your own AI voice.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03375"/>
            <a:ext cx="478497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Homework: Reflection Questions</a:t>
            </a:r>
            <a:endParaRPr lang="en-US" sz="2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C291A7F-34BE-8BB7-BB7A-1C8B907E5C5E}"/>
              </a:ext>
            </a:extLst>
          </p:cNvPr>
          <p:cNvGrpSpPr/>
          <p:nvPr/>
        </p:nvGrpSpPr>
        <p:grpSpPr>
          <a:xfrm>
            <a:off x="496119" y="2210693"/>
            <a:ext cx="2634555" cy="1529432"/>
            <a:chOff x="496119" y="2210693"/>
            <a:chExt cx="2634555" cy="152943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8A4130C-82A6-FCF8-516C-00D1A265EE26}"/>
                </a:ext>
              </a:extLst>
            </p:cNvPr>
            <p:cNvGrpSpPr/>
            <p:nvPr/>
          </p:nvGrpSpPr>
          <p:grpSpPr>
            <a:xfrm>
              <a:off x="496119" y="2224980"/>
              <a:ext cx="2634555" cy="1515145"/>
              <a:chOff x="496119" y="2224980"/>
              <a:chExt cx="2634555" cy="1515145"/>
            </a:xfrm>
          </p:grpSpPr>
          <p:sp>
            <p:nvSpPr>
              <p:cNvPr id="3" name="Shape 1"/>
              <p:cNvSpPr/>
              <p:nvPr/>
            </p:nvSpPr>
            <p:spPr>
              <a:xfrm>
                <a:off x="496119" y="2224980"/>
                <a:ext cx="2634555" cy="1515145"/>
              </a:xfrm>
              <a:prstGeom prst="roundRect">
                <a:avLst>
                  <a:gd name="adj" fmla="val 4526"/>
                </a:avLst>
              </a:prstGeom>
              <a:solidFill>
                <a:srgbClr val="FBFCFE"/>
              </a:solidFill>
              <a:ln w="14288">
                <a:solidFill>
                  <a:srgbClr val="CFD2D8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" name="Text 3"/>
              <p:cNvSpPr/>
              <p:nvPr/>
            </p:nvSpPr>
            <p:spPr>
              <a:xfrm>
                <a:off x="634380" y="2535064"/>
                <a:ext cx="2358033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AI Collaboration</a:t>
                </a:r>
                <a:endParaRPr lang="en-US" sz="1200" dirty="0"/>
              </a:p>
            </p:txBody>
          </p:sp>
        </p:grpSp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119" y="2210693"/>
              <a:ext cx="2634555" cy="57150"/>
            </a:xfrm>
            <a:prstGeom prst="rect">
              <a:avLst/>
            </a:prstGeom>
          </p:spPr>
        </p:pic>
      </p:grp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361" y="2038945"/>
            <a:ext cx="372070" cy="3720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38982" y="2131963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34380" y="2857574"/>
            <a:ext cx="235803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did the AI help you with the story? What did you change or add?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890" y="2038945"/>
            <a:ext cx="372070" cy="3720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497512" y="2131963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15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AF36755-5120-83EA-ED23-339292C57489}"/>
              </a:ext>
            </a:extLst>
          </p:cNvPr>
          <p:cNvGrpSpPr/>
          <p:nvPr/>
        </p:nvGrpSpPr>
        <p:grpSpPr>
          <a:xfrm>
            <a:off x="3254648" y="2210693"/>
            <a:ext cx="2634630" cy="1529432"/>
            <a:chOff x="3254648" y="2210693"/>
            <a:chExt cx="2634630" cy="1529432"/>
          </a:xfrm>
        </p:grpSpPr>
        <p:sp>
          <p:nvSpPr>
            <p:cNvPr id="9" name="Shape 5"/>
            <p:cNvSpPr/>
            <p:nvPr/>
          </p:nvSpPr>
          <p:spPr>
            <a:xfrm>
              <a:off x="3254648" y="2224980"/>
              <a:ext cx="2634630" cy="1515145"/>
            </a:xfrm>
            <a:prstGeom prst="roundRect">
              <a:avLst>
                <a:gd name="adj" fmla="val 4526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54648" y="2210693"/>
              <a:ext cx="2634630" cy="57150"/>
            </a:xfrm>
            <a:prstGeom prst="rect">
              <a:avLst/>
            </a:prstGeom>
          </p:spPr>
        </p:pic>
        <p:sp>
          <p:nvSpPr>
            <p:cNvPr id="13" name="Text 7"/>
            <p:cNvSpPr/>
            <p:nvPr/>
          </p:nvSpPr>
          <p:spPr>
            <a:xfrm>
              <a:off x="3392909" y="2535064"/>
              <a:ext cx="235810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Voice &amp; Mood</a:t>
              </a:r>
              <a:endParaRPr lang="en-US" sz="1200" dirty="0"/>
            </a:p>
          </p:txBody>
        </p:sp>
      </p:grpSp>
      <p:sp>
        <p:nvSpPr>
          <p:cNvPr id="14" name="Text 8"/>
          <p:cNvSpPr/>
          <p:nvPr/>
        </p:nvSpPr>
        <p:spPr>
          <a:xfrm>
            <a:off x="3392909" y="2857574"/>
            <a:ext cx="2358107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Did the voice match the mood of your story? Why or why not?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494" y="2038945"/>
            <a:ext cx="372070" cy="37207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256115" y="2131963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15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15F57F1-8FE2-2A7C-A398-CE113CB82844}"/>
              </a:ext>
            </a:extLst>
          </p:cNvPr>
          <p:cNvGrpSpPr/>
          <p:nvPr/>
        </p:nvGrpSpPr>
        <p:grpSpPr>
          <a:xfrm>
            <a:off x="6013252" y="2210693"/>
            <a:ext cx="2634555" cy="1529432"/>
            <a:chOff x="6013252" y="2210693"/>
            <a:chExt cx="2634555" cy="1529432"/>
          </a:xfrm>
        </p:grpSpPr>
        <p:sp>
          <p:nvSpPr>
            <p:cNvPr id="15" name="Shape 9"/>
            <p:cNvSpPr/>
            <p:nvPr/>
          </p:nvSpPr>
          <p:spPr>
            <a:xfrm>
              <a:off x="6013252" y="2224980"/>
              <a:ext cx="2634555" cy="1515145"/>
            </a:xfrm>
            <a:prstGeom prst="roundRect">
              <a:avLst>
                <a:gd name="adj" fmla="val 4526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6" name="Image 4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13252" y="2210693"/>
              <a:ext cx="2634555" cy="57150"/>
            </a:xfrm>
            <a:prstGeom prst="rect">
              <a:avLst/>
            </a:prstGeom>
          </p:spPr>
        </p:pic>
        <p:sp>
          <p:nvSpPr>
            <p:cNvPr id="19" name="Text 11"/>
            <p:cNvSpPr/>
            <p:nvPr/>
          </p:nvSpPr>
          <p:spPr>
            <a:xfrm>
              <a:off x="6151513" y="2535064"/>
              <a:ext cx="235803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Multi-Tool Learning</a:t>
              </a:r>
              <a:endParaRPr lang="en-US" sz="1200" dirty="0"/>
            </a:p>
          </p:txBody>
        </p:sp>
      </p:grpSp>
      <p:sp>
        <p:nvSpPr>
          <p:cNvPr id="20" name="Text 12"/>
          <p:cNvSpPr/>
          <p:nvPr/>
        </p:nvSpPr>
        <p:spPr>
          <a:xfrm>
            <a:off x="6151513" y="2857574"/>
            <a:ext cx="235803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What's one thing you learned about working with multiple AI tools together?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1108"/>
            <a:ext cx="402282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Add to Your Prompt Library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26679"/>
            <a:ext cx="815176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New Prompt: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"Explain how a voice assistant understands the command 'Set an alarm for 7 AM.' Use the Hear → Process → Speak framework. Describe the ASR/STT steps (Sound Waves → Acoustic Features → Phonemes → Words) and mention prosody in TTS."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410495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798118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This Prompt Works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3185740"/>
            <a:ext cx="2634555" cy="1066651"/>
          </a:xfrm>
          <a:prstGeom prst="roundRect">
            <a:avLst>
              <a:gd name="adj" fmla="val 174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0092" y="3309714"/>
            <a:ext cx="238660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Specific Example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0092" y="3632225"/>
            <a:ext cx="238660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asks for a concrete command: "Set an alarm for 7 AM."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54648" y="3185740"/>
            <a:ext cx="2634630" cy="1066651"/>
          </a:xfrm>
          <a:prstGeom prst="roundRect">
            <a:avLst>
              <a:gd name="adj" fmla="val 174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78622" y="3309714"/>
            <a:ext cx="238668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the Framework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78622" y="3632225"/>
            <a:ext cx="238668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Forces use of the Hear → Process → Speak structure.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13252" y="3185740"/>
            <a:ext cx="2634555" cy="1066651"/>
          </a:xfrm>
          <a:prstGeom prst="roundRect">
            <a:avLst>
              <a:gd name="adj" fmla="val 1744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37225" y="3309714"/>
            <a:ext cx="238660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Sub‑Steps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37225" y="3632225"/>
            <a:ext cx="238660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the detailed sub‑steps you learned today.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06637"/>
            <a:ext cx="317085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Next Session Preview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743745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That Combines Everything - Multimodal AI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96119" y="2704877"/>
            <a:ext cx="4722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3092500"/>
            <a:ext cx="472276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Now that you've seen how AI reads (NLP), sees (CV), and hears/speaks (Voice AI), next we'll explore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multimodal AI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systems that understand text, images, audio, and video together.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2729</Words>
  <Application>Microsoft Office PowerPoint</Application>
  <PresentationFormat>On-screen Show (16:9)</PresentationFormat>
  <Paragraphs>363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Roboto Slab Light</vt:lpstr>
      <vt:lpstr>Roboto</vt:lpstr>
      <vt:lpstr>Roboto Slab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sneha arya</dc:creator>
  <cp:lastModifiedBy>Office</cp:lastModifiedBy>
  <cp:revision>2</cp:revision>
  <dcterms:created xsi:type="dcterms:W3CDTF">2026-05-11T09:43:46Z</dcterms:created>
  <dcterms:modified xsi:type="dcterms:W3CDTF">2026-05-11T10:28:22Z</dcterms:modified>
</cp:coreProperties>
</file>