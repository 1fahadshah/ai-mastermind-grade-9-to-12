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0"/>
      <p:bold r:id="rId31"/>
      <p:italic r:id="rId32"/>
    </p:embeddedFont>
    <p:embeddedFont>
      <p:font typeface="Roboto Slab" pitchFamily="2" charset="0"/>
      <p:regular r:id="rId33"/>
      <p:bold r:id="rId34"/>
    </p:embeddedFont>
    <p:embeddedFont>
      <p:font typeface="Roboto Slab Light" pitchFamily="2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1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11.pn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8420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21: AI Safety, Misuse &amp; Governance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381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9938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395835"/>
            <a:ext cx="2634555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86397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Misuse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54648" y="219938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395835"/>
            <a:ext cx="2634630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54648" y="2486397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AI Safety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013252" y="219938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395835"/>
            <a:ext cx="2634555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13252" y="2486397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 Deepfakes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135585"/>
            <a:ext cx="2634555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238500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Privacy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254648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3135585"/>
            <a:ext cx="2634630" cy="142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54648" y="3238500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Governance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013252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3135585"/>
            <a:ext cx="2634555" cy="142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13252" y="3238500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Human-in-the-Loop</a:t>
            </a:r>
            <a:endParaRPr lang="en-US" sz="12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C4A13F-9831-2803-90E7-B0BE031BA7C3}"/>
              </a:ext>
            </a:extLst>
          </p:cNvPr>
          <p:cNvCxnSpPr>
            <a:cxnSpLocks/>
          </p:cNvCxnSpPr>
          <p:nvPr/>
        </p:nvCxnSpPr>
        <p:spPr>
          <a:xfrm>
            <a:off x="489084" y="2410013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135C25-8BCA-8E4B-72CD-659E3B272380}"/>
              </a:ext>
            </a:extLst>
          </p:cNvPr>
          <p:cNvCxnSpPr/>
          <p:nvPr/>
        </p:nvCxnSpPr>
        <p:spPr>
          <a:xfrm>
            <a:off x="3229150" y="2410123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1E2F7F-E8D7-6610-2BF8-DE93D1F72033}"/>
              </a:ext>
            </a:extLst>
          </p:cNvPr>
          <p:cNvCxnSpPr/>
          <p:nvPr/>
        </p:nvCxnSpPr>
        <p:spPr>
          <a:xfrm>
            <a:off x="5962972" y="2410123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FD2B1B-5C8E-952A-1BCF-8FF3E9F28B65}"/>
              </a:ext>
            </a:extLst>
          </p:cNvPr>
          <p:cNvCxnSpPr/>
          <p:nvPr/>
        </p:nvCxnSpPr>
        <p:spPr>
          <a:xfrm>
            <a:off x="496120" y="315690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2ADFAF-222A-4A20-C8F0-C28FED87673E}"/>
              </a:ext>
            </a:extLst>
          </p:cNvPr>
          <p:cNvCxnSpPr/>
          <p:nvPr/>
        </p:nvCxnSpPr>
        <p:spPr>
          <a:xfrm>
            <a:off x="3236187" y="315690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45C565-CD3E-AA1E-F406-EBE897858525}"/>
              </a:ext>
            </a:extLst>
          </p:cNvPr>
          <p:cNvCxnSpPr/>
          <p:nvPr/>
        </p:nvCxnSpPr>
        <p:spPr>
          <a:xfrm>
            <a:off x="5965316" y="315690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6107"/>
            <a:ext cx="330911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Recap: AI Bias &amp; Fairness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75879"/>
            <a:ext cx="815176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we dive into today's session, let's revisit what we covered in Session 20.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00994"/>
            <a:ext cx="8151763" cy="2404616"/>
          </a:xfrm>
          <a:prstGeom prst="roundRect">
            <a:avLst>
              <a:gd name="adj" fmla="val 69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405756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577" y="1470794"/>
            <a:ext cx="1477714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18296" y="1470794"/>
            <a:ext cx="621320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0881" y="1747912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577" y="1812950"/>
            <a:ext cx="1477714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18296" y="1812950"/>
            <a:ext cx="621320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produces systematically unfair outcomes when trained on imbalanced data or poorly designed.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0881" y="2090068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577" y="2155106"/>
            <a:ext cx="1477714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Fairness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18296" y="2155106"/>
            <a:ext cx="621320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active, ongoing effort to ensure AI treats all groups equitably.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0881" y="2432224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577" y="2497262"/>
            <a:ext cx="1477714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18296" y="2497262"/>
            <a:ext cx="621320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Diverse data and diverse teams are essential for fair AI.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0881" y="2774379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577" y="2839417"/>
            <a:ext cx="1477714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of Bias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18296" y="2839417"/>
            <a:ext cx="621320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bias, algorithm bias, and human bias often overlap.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0881" y="3116535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577" y="3181573"/>
            <a:ext cx="1477714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&amp; Mitigation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18296" y="3181573"/>
            <a:ext cx="621320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Auditing data, testing across groups, and Human-in-the-Loop oversight are key.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0881" y="3458691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2577" y="3523729"/>
            <a:ext cx="1477714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Impact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18296" y="3523729"/>
            <a:ext cx="621320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Biased AI has denied jobs, misallocated healthcare, and rendered people invisible.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6119" y="3918645"/>
            <a:ext cx="8151763" cy="698748"/>
          </a:xfrm>
          <a:prstGeom prst="roundRect">
            <a:avLst>
              <a:gd name="adj" fmla="val 239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0" y="4077295"/>
            <a:ext cx="174427" cy="1395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93787" y="4047009"/>
            <a:ext cx="7642473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 we go further beyond fairness, into safety. When AI is deliberately misused or unintentionally fails, the consequences can be severe, and humans must be ready.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7091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Misuse: When AI Becomes a Weapon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632049"/>
            <a:ext cx="4722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misuse happens when people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deliberately use artificial intelligence to cause harm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AI itself has no intentions - it is a tool, like a hammer. A hammer can build a house or break a window. The choice belongs to the person holding it.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763962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C9F1238-D302-92ED-4D2B-4D5D29E59D8D}"/>
              </a:ext>
            </a:extLst>
          </p:cNvPr>
          <p:cNvGrpSpPr/>
          <p:nvPr/>
        </p:nvGrpSpPr>
        <p:grpSpPr>
          <a:xfrm>
            <a:off x="3925119" y="3241989"/>
            <a:ext cx="4722763" cy="865777"/>
            <a:chOff x="3925119" y="3241989"/>
            <a:chExt cx="4722763" cy="865777"/>
          </a:xfrm>
        </p:grpSpPr>
        <p:sp>
          <p:nvSpPr>
            <p:cNvPr id="6" name="Shape 3"/>
            <p:cNvSpPr/>
            <p:nvPr/>
          </p:nvSpPr>
          <p:spPr>
            <a:xfrm>
              <a:off x="3925119" y="3241989"/>
              <a:ext cx="4722763" cy="865777"/>
            </a:xfrm>
            <a:prstGeom prst="roundRect">
              <a:avLst>
                <a:gd name="adj" fmla="val 1409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9092" y="3347070"/>
              <a:ext cx="193774" cy="15500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366840" y="3306514"/>
              <a:ext cx="4157067" cy="8012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misuse is rarely about AI "going rogue." It is almost always about humans using AI as a tool to harm other humans. The technology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amplifies human intent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- for better or for worse.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5087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Misuse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28644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471BFA-AA17-3570-89A0-71585940E70C}"/>
              </a:ext>
            </a:extLst>
          </p:cNvPr>
          <p:cNvGrpSpPr/>
          <p:nvPr/>
        </p:nvGrpSpPr>
        <p:grpSpPr>
          <a:xfrm>
            <a:off x="496119" y="2624435"/>
            <a:ext cx="3998341" cy="310083"/>
            <a:chOff x="496119" y="2624435"/>
            <a:chExt cx="3998341" cy="310083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2624435"/>
              <a:ext cx="310083" cy="310083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961206" y="2624435"/>
              <a:ext cx="353325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Disinformation at Scale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4E84E6-CE2F-8154-39EF-D3A79199EFD7}"/>
              </a:ext>
            </a:extLst>
          </p:cNvPr>
          <p:cNvGrpSpPr/>
          <p:nvPr/>
        </p:nvGrpSpPr>
        <p:grpSpPr>
          <a:xfrm>
            <a:off x="4649465" y="2624435"/>
            <a:ext cx="3998417" cy="310083"/>
            <a:chOff x="4649465" y="2624435"/>
            <a:chExt cx="3998417" cy="310083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49465" y="2624435"/>
              <a:ext cx="310083" cy="31008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5114553" y="2624435"/>
              <a:ext cx="353332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Fraud and Impersonation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23AF3-2047-85E5-91C7-5614B91B404F}"/>
              </a:ext>
            </a:extLst>
          </p:cNvPr>
          <p:cNvGrpSpPr/>
          <p:nvPr/>
        </p:nvGrpSpPr>
        <p:grpSpPr>
          <a:xfrm>
            <a:off x="496119" y="3182541"/>
            <a:ext cx="3998341" cy="310083"/>
            <a:chOff x="496119" y="3182541"/>
            <a:chExt cx="3998341" cy="310083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6119" y="3182541"/>
              <a:ext cx="310083" cy="310083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961206" y="3182541"/>
              <a:ext cx="353325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Cyber Attacks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871563-8B60-C005-AABD-3E78CCE29380}"/>
              </a:ext>
            </a:extLst>
          </p:cNvPr>
          <p:cNvGrpSpPr/>
          <p:nvPr/>
        </p:nvGrpSpPr>
        <p:grpSpPr>
          <a:xfrm>
            <a:off x="4649465" y="3182541"/>
            <a:ext cx="3998417" cy="310083"/>
            <a:chOff x="4649465" y="3182541"/>
            <a:chExt cx="3998417" cy="310083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49465" y="3182541"/>
              <a:ext cx="310083" cy="310083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5114553" y="3182541"/>
              <a:ext cx="353332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Harassment &amp; Exploitation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88740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Safety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562323"/>
            <a:ext cx="4722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AI misuse is deliberate,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safety concerns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about unintended failures - situations where an AI system behaves in a way its creators did not intend, causing harm even though no one meant for it to happen.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694236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3BC9BD-4FBF-B3FF-3A8C-33EFF5F0CAFB}"/>
              </a:ext>
            </a:extLst>
          </p:cNvPr>
          <p:cNvGrpSpPr/>
          <p:nvPr/>
        </p:nvGrpSpPr>
        <p:grpSpPr>
          <a:xfrm>
            <a:off x="3925119" y="3165230"/>
            <a:ext cx="4722763" cy="900333"/>
            <a:chOff x="3925119" y="3165230"/>
            <a:chExt cx="4722763" cy="900333"/>
          </a:xfrm>
        </p:grpSpPr>
        <p:sp>
          <p:nvSpPr>
            <p:cNvPr id="6" name="Shape 3"/>
            <p:cNvSpPr/>
            <p:nvPr/>
          </p:nvSpPr>
          <p:spPr>
            <a:xfrm>
              <a:off x="3925119" y="3165230"/>
              <a:ext cx="4722763" cy="900333"/>
            </a:xfrm>
            <a:prstGeom prst="roundRect">
              <a:avLst>
                <a:gd name="adj" fmla="val 1734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9092" y="3277344"/>
              <a:ext cx="193774" cy="15500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366840" y="3236788"/>
              <a:ext cx="4157067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has no intentions - good or bad. AI Safety depends entirely on how humans design, test, and oversee AI systems before they are deployed.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3179"/>
            <a:ext cx="357083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of AI Safety Failures</a:t>
            </a:r>
            <a:endParaRPr lang="en-US" sz="19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CF176F-51A2-544E-14BE-087B39AAB6F9}"/>
              </a:ext>
            </a:extLst>
          </p:cNvPr>
          <p:cNvGrpSpPr/>
          <p:nvPr/>
        </p:nvGrpSpPr>
        <p:grpSpPr>
          <a:xfrm>
            <a:off x="496119" y="1821284"/>
            <a:ext cx="2634555" cy="2059037"/>
            <a:chOff x="496119" y="1821284"/>
            <a:chExt cx="2634555" cy="2059037"/>
          </a:xfrm>
        </p:grpSpPr>
        <p:sp>
          <p:nvSpPr>
            <p:cNvPr id="3" name="Shape 1"/>
            <p:cNvSpPr/>
            <p:nvPr/>
          </p:nvSpPr>
          <p:spPr>
            <a:xfrm>
              <a:off x="496119" y="1821284"/>
              <a:ext cx="2634555" cy="2059037"/>
            </a:xfrm>
            <a:prstGeom prst="roundRect">
              <a:avLst>
                <a:gd name="adj" fmla="val 90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194525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🚗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Self-Driving Car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620092" y="2267769"/>
            <a:ext cx="2386608" cy="148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self-driving vehicle fails to detect a pedestrian in unusual lighting conditions, resulting in a fatal collision. The system was never tested in that specific scenario.</a:t>
            </a: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06F625-3B46-70BF-ADEF-77410A5867ED}"/>
              </a:ext>
            </a:extLst>
          </p:cNvPr>
          <p:cNvGrpSpPr/>
          <p:nvPr/>
        </p:nvGrpSpPr>
        <p:grpSpPr>
          <a:xfrm>
            <a:off x="3254648" y="1821284"/>
            <a:ext cx="2634630" cy="2059037"/>
            <a:chOff x="3254648" y="1821284"/>
            <a:chExt cx="2634630" cy="2059037"/>
          </a:xfrm>
        </p:grpSpPr>
        <p:sp>
          <p:nvSpPr>
            <p:cNvPr id="6" name="Shape 4"/>
            <p:cNvSpPr/>
            <p:nvPr/>
          </p:nvSpPr>
          <p:spPr>
            <a:xfrm>
              <a:off x="3254648" y="1821284"/>
              <a:ext cx="2634630" cy="2059037"/>
            </a:xfrm>
            <a:prstGeom prst="roundRect">
              <a:avLst>
                <a:gd name="adj" fmla="val 90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1945258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🤖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Medical Chatbot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3378622" y="2267769"/>
            <a:ext cx="2386682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 health assistant provides dangerously incorrect medical advice to a user in crisis, because it was trained on general data and lacked clinical safeguards.</a:t>
            </a: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7F9F33-7BE0-2FC5-CC32-B442AB19DE7C}"/>
              </a:ext>
            </a:extLst>
          </p:cNvPr>
          <p:cNvGrpSpPr/>
          <p:nvPr/>
        </p:nvGrpSpPr>
        <p:grpSpPr>
          <a:xfrm>
            <a:off x="6013252" y="1821284"/>
            <a:ext cx="2634555" cy="2059037"/>
            <a:chOff x="6013252" y="1821284"/>
            <a:chExt cx="2634555" cy="2059037"/>
          </a:xfrm>
        </p:grpSpPr>
        <p:sp>
          <p:nvSpPr>
            <p:cNvPr id="9" name="Shape 7"/>
            <p:cNvSpPr/>
            <p:nvPr/>
          </p:nvSpPr>
          <p:spPr>
            <a:xfrm>
              <a:off x="6013252" y="1821284"/>
              <a:ext cx="2634555" cy="2059037"/>
            </a:xfrm>
            <a:prstGeom prst="roundRect">
              <a:avLst>
                <a:gd name="adj" fmla="val 90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137225" y="194525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👤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Facial Recognition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137225" y="2267769"/>
            <a:ext cx="2386608" cy="148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facial recognition system misidentifies an innocent person as a criminal suspect, leading to wrongful arrest with documented higher error rates for darker skin tones.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154"/>
            <a:ext cx="4476304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1: Misuse or Safety Failure?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77416"/>
            <a:ext cx="815176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each scenario. Decide whether the AI incident is a case of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Misuse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 human deliberately used AI to cause harm) or an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Safety Failure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(the AI caused unintended harm due to a design flaw, bad data, or an unforeseen situation).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281485"/>
            <a:ext cx="815176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9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8F438C-CC8F-C5F9-3787-12B641C12D96}"/>
              </a:ext>
            </a:extLst>
          </p:cNvPr>
          <p:cNvGrpSpPr/>
          <p:nvPr/>
        </p:nvGrpSpPr>
        <p:grpSpPr>
          <a:xfrm>
            <a:off x="496119" y="1522735"/>
            <a:ext cx="8151763" cy="3173611"/>
            <a:chOff x="496119" y="1522735"/>
            <a:chExt cx="8151763" cy="3173611"/>
          </a:xfrm>
        </p:grpSpPr>
        <p:sp>
          <p:nvSpPr>
            <p:cNvPr id="5" name="Shape 3"/>
            <p:cNvSpPr/>
            <p:nvPr/>
          </p:nvSpPr>
          <p:spPr>
            <a:xfrm>
              <a:off x="496119" y="1522735"/>
              <a:ext cx="8151763" cy="3173611"/>
            </a:xfrm>
            <a:prstGeom prst="roundRect">
              <a:avLst>
                <a:gd name="adj" fmla="val 440"/>
              </a:avLst>
            </a:prstGeom>
            <a:noFill/>
            <a:ln w="4763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500881" y="1527497"/>
              <a:ext cx="8142238" cy="255984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593973" y="1574081"/>
              <a:ext cx="4428232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Scenario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13003" y="1574081"/>
              <a:ext cx="997148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Answer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400949" y="1574081"/>
              <a:ext cx="2149153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Reasoning</a:t>
              </a:r>
              <a:endParaRPr lang="en-US" sz="9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500881" y="1783482"/>
            <a:ext cx="8142238" cy="5816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3973" y="1830065"/>
            <a:ext cx="442823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political campaign team uses a generative AI tool to create and distribute thousands of fake videos showing an opponent saying offensive things.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3003" y="1830065"/>
            <a:ext cx="99714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Misuse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949" y="1830065"/>
            <a:ext cx="214915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Humans deliberately used generative AI to deceive voters and damage a reputation.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0881" y="2365102"/>
            <a:ext cx="8142238" cy="5816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3973" y="2411685"/>
            <a:ext cx="442823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self-driving delivery robot fails to recognise a person in a wheelchair as a pedestrian because the training data contained mostly standing adults. The robot does not stop.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3003" y="2411685"/>
            <a:ext cx="99714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Safety Failure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949" y="2411685"/>
            <a:ext cx="214915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was not trained on diverse enough examples - an unintended flaw, not a deliberate act.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0881" y="2946722"/>
            <a:ext cx="8142238" cy="5816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3973" y="2993306"/>
            <a:ext cx="442823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student uses an AI voice-cloning tool to create a fake recording of a classmate saying threatening things about the school, then shares it with the principal.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3003" y="2993306"/>
            <a:ext cx="99714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Misuse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949" y="2993306"/>
            <a:ext cx="214915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tool was intentionally used to harass and deceive. The harm was deliberate.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881" y="3528343"/>
            <a:ext cx="8142238" cy="5816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3973" y="3574926"/>
            <a:ext cx="4428232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 system used to screen rental applications starts rejecting every applicant from a specific city because a software update accidentally introduced a bug that misreads those addresses.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3003" y="3574926"/>
            <a:ext cx="99714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Safety Failure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949" y="3574926"/>
            <a:ext cx="214915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accidental software bug caused the harm. There was no human intention to discriminate.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881" y="4109963"/>
            <a:ext cx="8142238" cy="5816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3973" y="4156546"/>
            <a:ext cx="4428232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company trains a customer-service chatbot on its internal help documents, but the chatbot gives dangerously wrong instructions to a customer because the training documents contained errors no one had reviewed.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3003" y="4156546"/>
            <a:ext cx="99714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Safety Failure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949" y="4156546"/>
            <a:ext cx="214915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faithfully learned from flawed training data—an oversight in design and testing, not intentional harm.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4306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Deepfakes: When Seeing Is No Longer Believing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004194"/>
            <a:ext cx="4722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piece of media - a video, image, or audio recording—that has been artificially generated or manipulated using AI to make it look or sound like a real person said or did something they never actually did. 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3136106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FCC710D-7CEF-D5BC-2A67-8581DB04E785}"/>
              </a:ext>
            </a:extLst>
          </p:cNvPr>
          <p:cNvGrpSpPr/>
          <p:nvPr/>
        </p:nvGrpSpPr>
        <p:grpSpPr>
          <a:xfrm>
            <a:off x="3925119" y="3523729"/>
            <a:ext cx="4722763" cy="576635"/>
            <a:chOff x="3925119" y="3523729"/>
            <a:chExt cx="4722763" cy="576635"/>
          </a:xfrm>
        </p:grpSpPr>
        <p:sp>
          <p:nvSpPr>
            <p:cNvPr id="6" name="Shape 3"/>
            <p:cNvSpPr/>
            <p:nvPr/>
          </p:nvSpPr>
          <p:spPr>
            <a:xfrm>
              <a:off x="3925119" y="3523729"/>
              <a:ext cx="4722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9092" y="3719215"/>
              <a:ext cx="193774" cy="15500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366840" y="3678659"/>
              <a:ext cx="4157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word comes from combining </a:t>
              </a:r>
              <a:r>
                <a:rPr lang="en-US" sz="1200" i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"deep learning"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with </a:t>
              </a:r>
              <a:r>
                <a:rPr lang="en-US" sz="1200" i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"fake."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5488"/>
            <a:ext cx="356949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Harms of Deepfakes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12" y="1255291"/>
            <a:ext cx="167432" cy="16743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F16B1A1-7BD3-C200-41DF-868C3C7B527F}"/>
              </a:ext>
            </a:extLst>
          </p:cNvPr>
          <p:cNvGrpSpPr/>
          <p:nvPr/>
        </p:nvGrpSpPr>
        <p:grpSpPr>
          <a:xfrm>
            <a:off x="496119" y="1029072"/>
            <a:ext cx="1944960" cy="2306985"/>
            <a:chOff x="496119" y="1029072"/>
            <a:chExt cx="1944960" cy="2306985"/>
          </a:xfrm>
        </p:grpSpPr>
        <p:sp>
          <p:nvSpPr>
            <p:cNvPr id="3" name="Shape 1"/>
            <p:cNvSpPr/>
            <p:nvPr/>
          </p:nvSpPr>
          <p:spPr>
            <a:xfrm>
              <a:off x="496119" y="1029072"/>
              <a:ext cx="1944960" cy="2306985"/>
            </a:xfrm>
            <a:prstGeom prst="roundRect">
              <a:avLst>
                <a:gd name="adj" fmla="val 95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92" y="1153046"/>
              <a:ext cx="372070" cy="372070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620092" y="1649090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Political Manipulation</a:t>
              </a:r>
              <a:endParaRPr lang="en-US" sz="1200" dirty="0"/>
            </a:p>
          </p:txBody>
        </p:sp>
      </p:grpSp>
      <p:sp>
        <p:nvSpPr>
          <p:cNvPr id="7" name="Text 3"/>
          <p:cNvSpPr/>
          <p:nvPr/>
        </p:nvSpPr>
        <p:spPr>
          <a:xfrm>
            <a:off x="620092" y="1971601"/>
            <a:ext cx="169701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Fake videos of leaders can influence elections and destabilise democracies.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1346" y="1255291"/>
            <a:ext cx="167432" cy="167432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EEBD73B-35FF-325C-4391-22ABF4DB9AE7}"/>
              </a:ext>
            </a:extLst>
          </p:cNvPr>
          <p:cNvGrpSpPr/>
          <p:nvPr/>
        </p:nvGrpSpPr>
        <p:grpSpPr>
          <a:xfrm>
            <a:off x="2565053" y="1029072"/>
            <a:ext cx="1944960" cy="2306985"/>
            <a:chOff x="2565053" y="1029072"/>
            <a:chExt cx="1944960" cy="2306985"/>
          </a:xfrm>
        </p:grpSpPr>
        <p:sp>
          <p:nvSpPr>
            <p:cNvPr id="8" name="Shape 4"/>
            <p:cNvSpPr/>
            <p:nvPr/>
          </p:nvSpPr>
          <p:spPr>
            <a:xfrm>
              <a:off x="2565053" y="1029072"/>
              <a:ext cx="1944960" cy="2306985"/>
            </a:xfrm>
            <a:prstGeom prst="roundRect">
              <a:avLst>
                <a:gd name="adj" fmla="val 95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89027" y="1153046"/>
              <a:ext cx="372070" cy="372070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2689027" y="1649090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Personal Harm</a:t>
              </a:r>
              <a:endParaRPr lang="en-US" sz="1200" dirty="0"/>
            </a:p>
          </p:txBody>
        </p:sp>
      </p:grpSp>
      <p:sp>
        <p:nvSpPr>
          <p:cNvPr id="12" name="Text 6"/>
          <p:cNvSpPr/>
          <p:nvPr/>
        </p:nvSpPr>
        <p:spPr>
          <a:xfrm>
            <a:off x="2689027" y="1971601"/>
            <a:ext cx="1697013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Innocent people can be depicted in fake, compromising situations without consent.</a:t>
            </a:r>
            <a:endParaRPr lang="en-US" sz="1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8845E7-8894-3C24-495A-9743FC8DC751}"/>
              </a:ext>
            </a:extLst>
          </p:cNvPr>
          <p:cNvGrpSpPr/>
          <p:nvPr/>
        </p:nvGrpSpPr>
        <p:grpSpPr>
          <a:xfrm>
            <a:off x="4633987" y="1029072"/>
            <a:ext cx="1944960" cy="2306985"/>
            <a:chOff x="4633987" y="1029072"/>
            <a:chExt cx="1944960" cy="2306985"/>
          </a:xfrm>
        </p:grpSpPr>
        <p:sp>
          <p:nvSpPr>
            <p:cNvPr id="13" name="Shape 7"/>
            <p:cNvSpPr/>
            <p:nvPr/>
          </p:nvSpPr>
          <p:spPr>
            <a:xfrm>
              <a:off x="4633987" y="1029072"/>
              <a:ext cx="1944960" cy="2306985"/>
            </a:xfrm>
            <a:prstGeom prst="roundRect">
              <a:avLst>
                <a:gd name="adj" fmla="val 95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57961" y="1153046"/>
              <a:ext cx="372070" cy="372070"/>
            </a:xfrm>
            <a:prstGeom prst="rect">
              <a:avLst/>
            </a:prstGeom>
          </p:spPr>
        </p:pic>
        <p:pic>
          <p:nvPicPr>
            <p:cNvPr id="15" name="Image 5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60280" y="1255291"/>
              <a:ext cx="167432" cy="167432"/>
            </a:xfrm>
            <a:prstGeom prst="rect">
              <a:avLst/>
            </a:prstGeom>
          </p:spPr>
        </p:pic>
        <p:sp>
          <p:nvSpPr>
            <p:cNvPr id="16" name="Text 8"/>
            <p:cNvSpPr/>
            <p:nvPr/>
          </p:nvSpPr>
          <p:spPr>
            <a:xfrm>
              <a:off x="4757961" y="1649090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Fraud</a:t>
              </a:r>
              <a:endParaRPr lang="en-US" sz="1200" dirty="0"/>
            </a:p>
          </p:txBody>
        </p:sp>
      </p:grpSp>
      <p:sp>
        <p:nvSpPr>
          <p:cNvPr id="17" name="Text 9"/>
          <p:cNvSpPr/>
          <p:nvPr/>
        </p:nvSpPr>
        <p:spPr>
          <a:xfrm>
            <a:off x="4757961" y="1971601"/>
            <a:ext cx="1697013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 deepfakes have already been used to trick companies into transferring large sums of money.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9214" y="1255291"/>
            <a:ext cx="167432" cy="16743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F1B93-FD49-ACF1-C013-6AEB965F388C}"/>
              </a:ext>
            </a:extLst>
          </p:cNvPr>
          <p:cNvGrpSpPr/>
          <p:nvPr/>
        </p:nvGrpSpPr>
        <p:grpSpPr>
          <a:xfrm>
            <a:off x="6702921" y="1029072"/>
            <a:ext cx="1944960" cy="2306985"/>
            <a:chOff x="6702921" y="1029072"/>
            <a:chExt cx="1944960" cy="2306985"/>
          </a:xfrm>
        </p:grpSpPr>
        <p:sp>
          <p:nvSpPr>
            <p:cNvPr id="18" name="Shape 10"/>
            <p:cNvSpPr/>
            <p:nvPr/>
          </p:nvSpPr>
          <p:spPr>
            <a:xfrm>
              <a:off x="6702921" y="1029072"/>
              <a:ext cx="1944960" cy="2306985"/>
            </a:xfrm>
            <a:prstGeom prst="roundRect">
              <a:avLst>
                <a:gd name="adj" fmla="val 95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C0EE573-1339-0415-5FC5-AEB720EB3DD8}"/>
                </a:ext>
              </a:extLst>
            </p:cNvPr>
            <p:cNvGrpSpPr/>
            <p:nvPr/>
          </p:nvGrpSpPr>
          <p:grpSpPr>
            <a:xfrm>
              <a:off x="6826895" y="1153046"/>
              <a:ext cx="1697013" cy="744140"/>
              <a:chOff x="6826895" y="1153046"/>
              <a:chExt cx="1697013" cy="744140"/>
            </a:xfrm>
          </p:grpSpPr>
          <p:pic>
            <p:nvPicPr>
              <p:cNvPr id="19" name="Image 6" descr="preencoded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26895" y="1153046"/>
                <a:ext cx="372070" cy="372070"/>
              </a:xfrm>
              <a:prstGeom prst="rect">
                <a:avLst/>
              </a:prstGeom>
            </p:spPr>
          </p:pic>
          <p:sp>
            <p:nvSpPr>
              <p:cNvPr id="21" name="Text 11"/>
              <p:cNvSpPr/>
              <p:nvPr/>
            </p:nvSpPr>
            <p:spPr>
              <a:xfrm>
                <a:off x="6826895" y="1649090"/>
                <a:ext cx="1697013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Erosion of Trust</a:t>
                </a:r>
                <a:endParaRPr lang="en-US" sz="1200" dirty="0"/>
              </a:p>
            </p:txBody>
          </p:sp>
        </p:grpSp>
      </p:grpSp>
      <p:sp>
        <p:nvSpPr>
          <p:cNvPr id="22" name="Text 12"/>
          <p:cNvSpPr/>
          <p:nvPr/>
        </p:nvSpPr>
        <p:spPr>
          <a:xfrm>
            <a:off x="6826895" y="1971601"/>
            <a:ext cx="1697013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anyone can claim a real video is "just a deepfake," even genuine evidence becomes questionable.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496119" y="347558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9521EE-9EDF-93E0-99A9-944F6C2ED618}"/>
              </a:ext>
            </a:extLst>
          </p:cNvPr>
          <p:cNvGrpSpPr/>
          <p:nvPr/>
        </p:nvGrpSpPr>
        <p:grpSpPr>
          <a:xfrm>
            <a:off x="496119" y="3863206"/>
            <a:ext cx="8151763" cy="824731"/>
            <a:chOff x="496119" y="3863206"/>
            <a:chExt cx="8151763" cy="824731"/>
          </a:xfrm>
        </p:grpSpPr>
        <p:sp>
          <p:nvSpPr>
            <p:cNvPr id="24" name="Shape 14"/>
            <p:cNvSpPr/>
            <p:nvPr/>
          </p:nvSpPr>
          <p:spPr>
            <a:xfrm>
              <a:off x="496119" y="3863206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5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0092" y="4058692"/>
              <a:ext cx="193774" cy="155004"/>
            </a:xfrm>
            <a:prstGeom prst="rect">
              <a:avLst/>
            </a:prstGeom>
          </p:spPr>
        </p:pic>
        <p:sp>
          <p:nvSpPr>
            <p:cNvPr id="26" name="Text 15"/>
            <p:cNvSpPr/>
            <p:nvPr/>
          </p:nvSpPr>
          <p:spPr>
            <a:xfrm>
              <a:off x="937840" y="4018136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Deepfakes exploit a fundamental human instinct - we tend to believe what we see and hear. In an age where AI can manufacture evidence, we must learn a new kind of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digital skepticism: verify before you trust.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8390"/>
            <a:ext cx="4579218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Deepfake Detection Techniques</a:t>
            </a:r>
            <a:endParaRPr lang="en-US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894272-C4BA-E65D-6469-0107B128C404}"/>
              </a:ext>
            </a:extLst>
          </p:cNvPr>
          <p:cNvGrpSpPr/>
          <p:nvPr/>
        </p:nvGrpSpPr>
        <p:grpSpPr>
          <a:xfrm>
            <a:off x="496119" y="1951509"/>
            <a:ext cx="1921669" cy="713184"/>
            <a:chOff x="496119" y="1951509"/>
            <a:chExt cx="1921669" cy="713184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1951509"/>
              <a:ext cx="310083" cy="310083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496119" y="2416597"/>
              <a:ext cx="192166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Blink Rate Analysis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E497D-2409-6A34-6A07-9EF5DB758BE6}"/>
              </a:ext>
            </a:extLst>
          </p:cNvPr>
          <p:cNvGrpSpPr/>
          <p:nvPr/>
        </p:nvGrpSpPr>
        <p:grpSpPr>
          <a:xfrm>
            <a:off x="2572792" y="1951509"/>
            <a:ext cx="1921669" cy="961281"/>
            <a:chOff x="2572792" y="1951509"/>
            <a:chExt cx="1921669" cy="961281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72792" y="1951509"/>
              <a:ext cx="310083" cy="310083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2572792" y="2416597"/>
              <a:ext cx="1921669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Lighting &amp; Shadow Inconsistencies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640D8A-B4C1-20F9-0A10-D7DC5BA0C573}"/>
              </a:ext>
            </a:extLst>
          </p:cNvPr>
          <p:cNvGrpSpPr/>
          <p:nvPr/>
        </p:nvGrpSpPr>
        <p:grpSpPr>
          <a:xfrm>
            <a:off x="4649465" y="1951509"/>
            <a:ext cx="1921669" cy="713184"/>
            <a:chOff x="4649465" y="1951509"/>
            <a:chExt cx="1921669" cy="713184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49465" y="1951509"/>
              <a:ext cx="310083" cy="310083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4649465" y="2416597"/>
              <a:ext cx="192166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Heartbeat Detection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D858BF-F903-1CEB-5DC4-A196E90900A0}"/>
              </a:ext>
            </a:extLst>
          </p:cNvPr>
          <p:cNvGrpSpPr/>
          <p:nvPr/>
        </p:nvGrpSpPr>
        <p:grpSpPr>
          <a:xfrm>
            <a:off x="6726138" y="1951509"/>
            <a:ext cx="1921743" cy="713184"/>
            <a:chOff x="6726138" y="1951509"/>
            <a:chExt cx="1921743" cy="713184"/>
          </a:xfrm>
        </p:grpSpPr>
        <p:pic>
          <p:nvPicPr>
            <p:cNvPr id="9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26138" y="1951509"/>
              <a:ext cx="310083" cy="310083"/>
            </a:xfrm>
            <a:prstGeom prst="rect">
              <a:avLst/>
            </a:prstGeom>
          </p:spPr>
        </p:pic>
        <p:sp>
          <p:nvSpPr>
            <p:cNvPr id="10" name="Text 4"/>
            <p:cNvSpPr/>
            <p:nvPr/>
          </p:nvSpPr>
          <p:spPr>
            <a:xfrm>
              <a:off x="6726138" y="2416597"/>
              <a:ext cx="19217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Audio-Visual Mismatch</a:t>
              </a:r>
              <a:endParaRPr lang="en-US" sz="1200" dirty="0"/>
            </a:p>
          </p:txBody>
        </p:sp>
      </p:grpSp>
      <p:sp>
        <p:nvSpPr>
          <p:cNvPr id="11" name="Text 5"/>
          <p:cNvSpPr/>
          <p:nvPr/>
        </p:nvSpPr>
        <p:spPr>
          <a:xfrm>
            <a:off x="496119" y="305231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C4DD08-E8CA-17BB-9819-A3D6FCCBD0CE}"/>
              </a:ext>
            </a:extLst>
          </p:cNvPr>
          <p:cNvGrpSpPr/>
          <p:nvPr/>
        </p:nvGrpSpPr>
        <p:grpSpPr>
          <a:xfrm>
            <a:off x="496119" y="3390305"/>
            <a:ext cx="8151763" cy="824731"/>
            <a:chOff x="496119" y="3390305"/>
            <a:chExt cx="8151763" cy="824731"/>
          </a:xfrm>
        </p:grpSpPr>
        <p:sp>
          <p:nvSpPr>
            <p:cNvPr id="12" name="Shape 6"/>
            <p:cNvSpPr/>
            <p:nvPr/>
          </p:nvSpPr>
          <p:spPr>
            <a:xfrm>
              <a:off x="496119" y="3390305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0092" y="3585790"/>
              <a:ext cx="193774" cy="155004"/>
            </a:xfrm>
            <a:prstGeom prst="rect">
              <a:avLst/>
            </a:prstGeom>
          </p:spPr>
        </p:pic>
        <p:sp>
          <p:nvSpPr>
            <p:cNvPr id="14" name="Text 7"/>
            <p:cNvSpPr/>
            <p:nvPr/>
          </p:nvSpPr>
          <p:spPr>
            <a:xfrm>
              <a:off x="937840" y="3545235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 detection improves, so does generation. This is why human judgment, skepticism, and verification remain essential - technology alone cannot solve this problem.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77094"/>
            <a:ext cx="3399904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Privacy Risks: </a:t>
            </a:r>
            <a:endParaRPr lang="en-US" sz="2400" dirty="0"/>
          </a:p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Data in the AI Age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238226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625849"/>
            <a:ext cx="4722763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AI systems are hungry for data. The more data they consume, the better they perform. But this creates a fundamental tension: the AI that helps you may also be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collecting, storing, and analyzing vast amounts of your personal information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often without you fully understanding the extent.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7941"/>
            <a:ext cx="46708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Kinds of Data Are at Risk?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1475F1-7CAE-0021-76EC-0CF4D8307F3E}"/>
              </a:ext>
            </a:extLst>
          </p:cNvPr>
          <p:cNvGrpSpPr/>
          <p:nvPr/>
        </p:nvGrpSpPr>
        <p:grpSpPr>
          <a:xfrm>
            <a:off x="496119" y="1303511"/>
            <a:ext cx="2634555" cy="1165845"/>
            <a:chOff x="496119" y="1303511"/>
            <a:chExt cx="2634555" cy="1165845"/>
          </a:xfrm>
        </p:grpSpPr>
        <p:sp>
          <p:nvSpPr>
            <p:cNvPr id="3" name="Shape 1"/>
            <p:cNvSpPr/>
            <p:nvPr/>
          </p:nvSpPr>
          <p:spPr>
            <a:xfrm>
              <a:off x="496119" y="1303511"/>
              <a:ext cx="2634555" cy="1165845"/>
            </a:xfrm>
            <a:prstGeom prst="roundRect">
              <a:avLst>
                <a:gd name="adj" fmla="val 159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1427485"/>
              <a:ext cx="1550566" cy="198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🎙️</a:t>
              </a: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 Voice Data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620091" y="1700510"/>
            <a:ext cx="244666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speakers and voice assistants are always listening. Recordings may be stored and reviewed.</a:t>
            </a:r>
            <a:endParaRPr lang="en-US" sz="11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5C0293-4F2D-01BB-C823-C505BDE279BD}"/>
              </a:ext>
            </a:extLst>
          </p:cNvPr>
          <p:cNvGrpSpPr/>
          <p:nvPr/>
        </p:nvGrpSpPr>
        <p:grpSpPr>
          <a:xfrm>
            <a:off x="3254648" y="1303511"/>
            <a:ext cx="2634630" cy="1165845"/>
            <a:chOff x="3254648" y="1303511"/>
            <a:chExt cx="2634630" cy="1165845"/>
          </a:xfrm>
        </p:grpSpPr>
        <p:sp>
          <p:nvSpPr>
            <p:cNvPr id="6" name="Shape 4"/>
            <p:cNvSpPr/>
            <p:nvPr/>
          </p:nvSpPr>
          <p:spPr>
            <a:xfrm>
              <a:off x="3254648" y="1303511"/>
              <a:ext cx="2634630" cy="1165845"/>
            </a:xfrm>
            <a:prstGeom prst="roundRect">
              <a:avLst>
                <a:gd name="adj" fmla="val 159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1427485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👤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Facial Data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3378622" y="1749996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Facial recognition systems capture mathematical maps of your face from cameras and uploaded photos.</a:t>
            </a:r>
            <a:endParaRPr lang="en-US" sz="11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EB87F9-D1C5-FA4B-831D-06ADB64D9443}"/>
              </a:ext>
            </a:extLst>
          </p:cNvPr>
          <p:cNvGrpSpPr/>
          <p:nvPr/>
        </p:nvGrpSpPr>
        <p:grpSpPr>
          <a:xfrm>
            <a:off x="6013252" y="1303511"/>
            <a:ext cx="2634555" cy="1165845"/>
            <a:chOff x="6013252" y="1303511"/>
            <a:chExt cx="2634555" cy="1165845"/>
          </a:xfrm>
        </p:grpSpPr>
        <p:sp>
          <p:nvSpPr>
            <p:cNvPr id="9" name="Shape 7"/>
            <p:cNvSpPr/>
            <p:nvPr/>
          </p:nvSpPr>
          <p:spPr>
            <a:xfrm>
              <a:off x="6013252" y="1303511"/>
              <a:ext cx="2634555" cy="1165845"/>
            </a:xfrm>
            <a:prstGeom prst="roundRect">
              <a:avLst>
                <a:gd name="adj" fmla="val 159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137225" y="1427485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🖱️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Behavioural Data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137224" y="1749996"/>
            <a:ext cx="25106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click, scroll, pause, and purchase is logged. AI builds profiles predicting your interests and emotions.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99C0C1-F27F-D6B1-A25B-D26C0E1A4BD5}"/>
              </a:ext>
            </a:extLst>
          </p:cNvPr>
          <p:cNvGrpSpPr/>
          <p:nvPr/>
        </p:nvGrpSpPr>
        <p:grpSpPr>
          <a:xfrm>
            <a:off x="496119" y="2593330"/>
            <a:ext cx="4013820" cy="917897"/>
            <a:chOff x="496119" y="2593330"/>
            <a:chExt cx="4013820" cy="917897"/>
          </a:xfrm>
        </p:grpSpPr>
        <p:sp>
          <p:nvSpPr>
            <p:cNvPr id="12" name="Shape 10"/>
            <p:cNvSpPr/>
            <p:nvPr/>
          </p:nvSpPr>
          <p:spPr>
            <a:xfrm>
              <a:off x="496119" y="2593330"/>
              <a:ext cx="4013820" cy="917897"/>
            </a:xfrm>
            <a:prstGeom prst="roundRect">
              <a:avLst>
                <a:gd name="adj" fmla="val 202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620092" y="2717304"/>
              <a:ext cx="1550566" cy="198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📍</a:t>
              </a: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 Location Data</a:t>
              </a:r>
              <a:endParaRPr lang="en-US" sz="12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620092" y="2990329"/>
            <a:ext cx="37658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phone constantly tracks your movements. AI can infer where you live, work, and socialise.</a:t>
            </a:r>
            <a:endParaRPr lang="en-US" sz="11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D842AFA-C412-91B1-F01C-423E0167A1C8}"/>
              </a:ext>
            </a:extLst>
          </p:cNvPr>
          <p:cNvGrpSpPr/>
          <p:nvPr/>
        </p:nvGrpSpPr>
        <p:grpSpPr>
          <a:xfrm>
            <a:off x="4633913" y="2593330"/>
            <a:ext cx="4013895" cy="917897"/>
            <a:chOff x="4633913" y="2593330"/>
            <a:chExt cx="4013895" cy="917897"/>
          </a:xfrm>
        </p:grpSpPr>
        <p:sp>
          <p:nvSpPr>
            <p:cNvPr id="15" name="Shape 13"/>
            <p:cNvSpPr/>
            <p:nvPr/>
          </p:nvSpPr>
          <p:spPr>
            <a:xfrm>
              <a:off x="4633913" y="2593330"/>
              <a:ext cx="4013895" cy="917897"/>
            </a:xfrm>
            <a:prstGeom prst="roundRect">
              <a:avLst>
                <a:gd name="adj" fmla="val 202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4"/>
            <p:cNvSpPr/>
            <p:nvPr/>
          </p:nvSpPr>
          <p:spPr>
            <a:xfrm>
              <a:off x="4757886" y="2717304"/>
              <a:ext cx="1550566" cy="198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🔬</a:t>
              </a: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 Biometric Data</a:t>
              </a:r>
              <a:endParaRPr lang="en-US" sz="12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4757886" y="2990329"/>
            <a:ext cx="4013895" cy="396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Fingerprints, iris scans, and voiceprints are used for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A5185B-2212-1D75-C4CE-3B2984731828}"/>
              </a:ext>
            </a:extLst>
          </p:cNvPr>
          <p:cNvGrpSpPr/>
          <p:nvPr/>
        </p:nvGrpSpPr>
        <p:grpSpPr>
          <a:xfrm>
            <a:off x="496119" y="3650754"/>
            <a:ext cx="8151763" cy="824731"/>
            <a:chOff x="496119" y="3650754"/>
            <a:chExt cx="8151763" cy="824731"/>
          </a:xfrm>
        </p:grpSpPr>
        <p:sp>
          <p:nvSpPr>
            <p:cNvPr id="18" name="Shape 16"/>
            <p:cNvSpPr/>
            <p:nvPr/>
          </p:nvSpPr>
          <p:spPr>
            <a:xfrm>
              <a:off x="496119" y="3650754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846240"/>
              <a:ext cx="193774" cy="155004"/>
            </a:xfrm>
            <a:prstGeom prst="rect">
              <a:avLst/>
            </a:prstGeom>
          </p:spPr>
        </p:pic>
        <p:sp>
          <p:nvSpPr>
            <p:cNvPr id="20" name="Text 17"/>
            <p:cNvSpPr/>
            <p:nvPr/>
          </p:nvSpPr>
          <p:spPr>
            <a:xfrm>
              <a:off x="937840" y="3805684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Privacy is not just about hiding things.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It is about control - the right to decide what information about you is collected, how it is used, and who can access it.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4542"/>
            <a:ext cx="469113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AI Amplifies Privacy Risks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0812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6C16C9-50BD-4385-928E-E369239FB0F0}"/>
              </a:ext>
            </a:extLst>
          </p:cNvPr>
          <p:cNvGrpSpPr/>
          <p:nvPr/>
        </p:nvGrpSpPr>
        <p:grpSpPr>
          <a:xfrm>
            <a:off x="496119" y="2246114"/>
            <a:ext cx="2634555" cy="1562844"/>
            <a:chOff x="496119" y="2246114"/>
            <a:chExt cx="2634555" cy="1562844"/>
          </a:xfrm>
        </p:grpSpPr>
        <p:sp>
          <p:nvSpPr>
            <p:cNvPr id="4" name="Shape 2"/>
            <p:cNvSpPr/>
            <p:nvPr/>
          </p:nvSpPr>
          <p:spPr>
            <a:xfrm>
              <a:off x="496119" y="2246114"/>
              <a:ext cx="2634555" cy="1562844"/>
            </a:xfrm>
            <a:prstGeom prst="roundRect">
              <a:avLst>
                <a:gd name="adj" fmla="val 119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370088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Connecting the Dots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0092" y="2638351"/>
            <a:ext cx="2386608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connect dots across datasets to reveal sensitive information you never explicitly shared.</a:t>
            </a: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90BD02-6C46-73B5-BF4A-C9C2BE27A32F}"/>
              </a:ext>
            </a:extLst>
          </p:cNvPr>
          <p:cNvGrpSpPr/>
          <p:nvPr/>
        </p:nvGrpSpPr>
        <p:grpSpPr>
          <a:xfrm>
            <a:off x="3254648" y="2246114"/>
            <a:ext cx="2634630" cy="1562844"/>
            <a:chOff x="3254648" y="2246114"/>
            <a:chExt cx="2634630" cy="1562844"/>
          </a:xfrm>
        </p:grpSpPr>
        <p:sp>
          <p:nvSpPr>
            <p:cNvPr id="7" name="Shape 5"/>
            <p:cNvSpPr/>
            <p:nvPr/>
          </p:nvSpPr>
          <p:spPr>
            <a:xfrm>
              <a:off x="3254648" y="2246114"/>
              <a:ext cx="2634630" cy="1562844"/>
            </a:xfrm>
            <a:prstGeom prst="roundRect">
              <a:avLst>
                <a:gd name="adj" fmla="val 119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3378622" y="2370088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Inference Without Consent</a:t>
              </a:r>
              <a:endParaRPr lang="en-US" sz="12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3378622" y="2692598"/>
            <a:ext cx="238668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infer things about you - like your mood from your typing speed, or your health from your shopping habits.</a:t>
            </a:r>
            <a:endParaRPr 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C8430A-0970-0698-6D27-8FA885910F86}"/>
              </a:ext>
            </a:extLst>
          </p:cNvPr>
          <p:cNvGrpSpPr/>
          <p:nvPr/>
        </p:nvGrpSpPr>
        <p:grpSpPr>
          <a:xfrm>
            <a:off x="6013252" y="2246114"/>
            <a:ext cx="2634555" cy="1562844"/>
            <a:chOff x="6013252" y="2246114"/>
            <a:chExt cx="2634555" cy="1562844"/>
          </a:xfrm>
        </p:grpSpPr>
        <p:sp>
          <p:nvSpPr>
            <p:cNvPr id="10" name="Shape 8"/>
            <p:cNvSpPr/>
            <p:nvPr/>
          </p:nvSpPr>
          <p:spPr>
            <a:xfrm>
              <a:off x="6013252" y="2246114"/>
              <a:ext cx="2634555" cy="1562844"/>
            </a:xfrm>
            <a:prstGeom prst="roundRect">
              <a:avLst>
                <a:gd name="adj" fmla="val 119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6137225" y="2370088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Opacity of Systems</a:t>
              </a:r>
              <a:endParaRPr lang="en-US" sz="12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6137225" y="2692598"/>
            <a:ext cx="2386608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systems are often opaque: you may not know what data was collected, how it is being used, or who has access to it.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6370"/>
            <a:ext cx="3626421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2: Spot the Concern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916632"/>
            <a:ext cx="815176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each scenario. Identify whether it primarily involves a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concern, a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concern, or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Be prepared to explain your reasoning.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0881" y="1162645"/>
            <a:ext cx="8142238" cy="25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12179A-1B4A-04AC-775A-61CA0436A64C}"/>
              </a:ext>
            </a:extLst>
          </p:cNvPr>
          <p:cNvGrpSpPr/>
          <p:nvPr/>
        </p:nvGrpSpPr>
        <p:grpSpPr>
          <a:xfrm>
            <a:off x="496119" y="1157883"/>
            <a:ext cx="8151763" cy="3499247"/>
            <a:chOff x="496119" y="1157883"/>
            <a:chExt cx="8151763" cy="3499247"/>
          </a:xfrm>
        </p:grpSpPr>
        <p:sp>
          <p:nvSpPr>
            <p:cNvPr id="4" name="Shape 2"/>
            <p:cNvSpPr/>
            <p:nvPr/>
          </p:nvSpPr>
          <p:spPr>
            <a:xfrm>
              <a:off x="496119" y="1157883"/>
              <a:ext cx="8151763" cy="3499247"/>
            </a:xfrm>
            <a:prstGeom prst="roundRect">
              <a:avLst>
                <a:gd name="adj" fmla="val 399"/>
              </a:avLst>
            </a:prstGeom>
            <a:noFill/>
            <a:ln w="4763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593973" y="1209229"/>
              <a:ext cx="3308672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Scenario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093443" y="1209229"/>
              <a:ext cx="623367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Answer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907607" y="1209229"/>
              <a:ext cx="364249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Reasoning</a:t>
              </a:r>
              <a:endParaRPr lang="en-US" sz="9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500881" y="1418630"/>
            <a:ext cx="8142238" cy="7444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3973" y="1465213"/>
            <a:ext cx="330867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social media account posts a video of a famous singer apparently confessing to a crime. The singer immediately denies it. Analysts find strange shadows around the singer's mouth.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3443" y="1465213"/>
            <a:ext cx="62336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7607" y="1465213"/>
            <a:ext cx="36424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AI-generated video is used to damage reputation. The primary concern is the creation of convincing fake media.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0881" y="2163068"/>
            <a:ext cx="8142238" cy="5816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3973" y="2209651"/>
            <a:ext cx="3308672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smart TV manufacturer admits that their devices were recording living-room conversations even when the TV appeared to be off, and storing those recordings on company servers.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93443" y="2209651"/>
            <a:ext cx="62336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7607" y="2209651"/>
            <a:ext cx="36424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 audio data was collected without consent, even when users believed the device was off.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0881" y="2744688"/>
            <a:ext cx="8142238" cy="5816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3973" y="2791271"/>
            <a:ext cx="3308672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criminal uses AI to clone a child's voice from videos posted online, then calls the child's parent, mimicking the child's voice and claiming to be in trouble, demanding money.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93443" y="2791271"/>
            <a:ext cx="62336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07607" y="2791271"/>
            <a:ext cx="3642494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voice deepfake is used for fraud (deepfake concern), and the child's voice data was scraped from online videos without consent (privacy concern).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0881" y="3326309"/>
            <a:ext cx="8142238" cy="7444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3973" y="3372892"/>
            <a:ext cx="330867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health insurance company buys data from a fitness app that shows users' heart rates, sleep patterns, and running routes. The company uses this to adjust premiums without telling the users.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93443" y="3372892"/>
            <a:ext cx="62336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07607" y="3372892"/>
            <a:ext cx="36424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Sensitive personal health data was shared without user knowledge or permission.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0881" y="4070747"/>
            <a:ext cx="8142238" cy="5816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3973" y="4117330"/>
            <a:ext cx="3308672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fake video of a school principal making racist remarks goes viral. The video is later proven to be AI-generated, but the principal has already been suspended and received threats.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93443" y="4117330"/>
            <a:ext cx="62336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07607" y="4117330"/>
            <a:ext cx="364249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AI-generated video caused severe personal and professional harm. The concern is the malicious creation and spread of a deepfake.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39155"/>
            <a:ext cx="409895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Governance &amp; Regulation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912739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governance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refers to the laws, policies, ethical guidelines, and institutions that shape how AI is developed, deployed, and used.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548458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5E73D0-5F6D-ED3A-65D3-D325583E505E}"/>
              </a:ext>
            </a:extLst>
          </p:cNvPr>
          <p:cNvGrpSpPr/>
          <p:nvPr/>
        </p:nvGrpSpPr>
        <p:grpSpPr>
          <a:xfrm>
            <a:off x="496119" y="2936081"/>
            <a:ext cx="2283841" cy="310083"/>
            <a:chOff x="496119" y="2936081"/>
            <a:chExt cx="2283841" cy="310083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119" y="2936081"/>
              <a:ext cx="310083" cy="31008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961206" y="2936081"/>
              <a:ext cx="181875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Who Can Build?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77E4BF-D5A2-0795-D706-3106EAFFB258}"/>
              </a:ext>
            </a:extLst>
          </p:cNvPr>
          <p:cNvGrpSpPr/>
          <p:nvPr/>
        </p:nvGrpSpPr>
        <p:grpSpPr>
          <a:xfrm>
            <a:off x="2934965" y="2936081"/>
            <a:ext cx="2283917" cy="310083"/>
            <a:chOff x="2934965" y="2936081"/>
            <a:chExt cx="2283917" cy="310083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34965" y="2936081"/>
              <a:ext cx="310083" cy="310083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3400053" y="2936081"/>
              <a:ext cx="181882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Testing Is Required?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1980E5-C3C6-8652-BC7E-1725C14D2B81}"/>
              </a:ext>
            </a:extLst>
          </p:cNvPr>
          <p:cNvGrpSpPr/>
          <p:nvPr/>
        </p:nvGrpSpPr>
        <p:grpSpPr>
          <a:xfrm>
            <a:off x="496119" y="3494187"/>
            <a:ext cx="2283841" cy="310083"/>
            <a:chOff x="496119" y="3494187"/>
            <a:chExt cx="2283841" cy="310083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119" y="3494187"/>
              <a:ext cx="310083" cy="310083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961206" y="3494187"/>
              <a:ext cx="181875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Who Is Accountable?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E4B687B-3BA9-6873-8AB3-DD85C54FC77D}"/>
              </a:ext>
            </a:extLst>
          </p:cNvPr>
          <p:cNvGrpSpPr/>
          <p:nvPr/>
        </p:nvGrpSpPr>
        <p:grpSpPr>
          <a:xfrm>
            <a:off x="2934965" y="3494187"/>
            <a:ext cx="2283917" cy="310083"/>
            <a:chOff x="2934965" y="3494187"/>
            <a:chExt cx="2283917" cy="310083"/>
          </a:xfrm>
        </p:grpSpPr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34965" y="3494187"/>
              <a:ext cx="310083" cy="310083"/>
            </a:xfrm>
            <a:prstGeom prst="rect">
              <a:avLst/>
            </a:prstGeom>
          </p:spPr>
        </p:pic>
        <p:sp>
          <p:nvSpPr>
            <p:cNvPr id="13" name="Text 6"/>
            <p:cNvSpPr/>
            <p:nvPr/>
          </p:nvSpPr>
          <p:spPr>
            <a:xfrm>
              <a:off x="3400053" y="3494187"/>
              <a:ext cx="181882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Innovation vs. Safety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1700"/>
            <a:ext cx="3878535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Governance Around the World</a:t>
            </a:r>
            <a:endParaRPr lang="en-US" sz="19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EFDA70-E8F6-8162-B9A1-98165A730CC2}"/>
              </a:ext>
            </a:extLst>
          </p:cNvPr>
          <p:cNvGrpSpPr/>
          <p:nvPr/>
        </p:nvGrpSpPr>
        <p:grpSpPr>
          <a:xfrm>
            <a:off x="496119" y="970508"/>
            <a:ext cx="4036219" cy="1401663"/>
            <a:chOff x="496119" y="970508"/>
            <a:chExt cx="4036219" cy="1401663"/>
          </a:xfrm>
        </p:grpSpPr>
        <p:sp>
          <p:nvSpPr>
            <p:cNvPr id="3" name="Shape 1"/>
            <p:cNvSpPr/>
            <p:nvPr/>
          </p:nvSpPr>
          <p:spPr>
            <a:xfrm>
              <a:off x="496119" y="970508"/>
              <a:ext cx="4036219" cy="1401663"/>
            </a:xfrm>
            <a:prstGeom prst="roundRect">
              <a:avLst>
                <a:gd name="adj" fmla="val 106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09600" y="1083990"/>
              <a:ext cx="3809256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EU AI Act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588498" y="1310208"/>
            <a:ext cx="3809256" cy="94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world's first comprehensive AI law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Classifies AI applications by risk level — from minimal (spam filters) to unacceptable (social scoring by governments)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High-risk AI systems must meet strict requirements before deployment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BD8AC4-E4E4-653D-C0F0-A94BB23ABB96}"/>
              </a:ext>
            </a:extLst>
          </p:cNvPr>
          <p:cNvGrpSpPr/>
          <p:nvPr/>
        </p:nvGrpSpPr>
        <p:grpSpPr>
          <a:xfrm>
            <a:off x="4611663" y="970508"/>
            <a:ext cx="4036219" cy="1401663"/>
            <a:chOff x="4611663" y="970508"/>
            <a:chExt cx="4036219" cy="1401663"/>
          </a:xfrm>
        </p:grpSpPr>
        <p:sp>
          <p:nvSpPr>
            <p:cNvPr id="6" name="Shape 4"/>
            <p:cNvSpPr/>
            <p:nvPr/>
          </p:nvSpPr>
          <p:spPr>
            <a:xfrm>
              <a:off x="4611663" y="970508"/>
              <a:ext cx="4036219" cy="1401663"/>
            </a:xfrm>
            <a:prstGeom prst="roundRect">
              <a:avLst>
                <a:gd name="adj" fmla="val 1062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4725144" y="1083990"/>
              <a:ext cx="3809256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Blueprint for an AI Bill of Rights (USA)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4725144" y="1310208"/>
            <a:ext cx="3809256" cy="79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Establishes principles to guide AI policy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the right to know when AI is being used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right to opt out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right to protection from unsafe or discriminatory systems</a:t>
            </a:r>
            <a:endParaRPr lang="en-US" sz="10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107FDD-15E0-5508-FB95-9E140A417D84}"/>
              </a:ext>
            </a:extLst>
          </p:cNvPr>
          <p:cNvGrpSpPr/>
          <p:nvPr/>
        </p:nvGrpSpPr>
        <p:grpSpPr>
          <a:xfrm>
            <a:off x="496119" y="2451497"/>
            <a:ext cx="4036219" cy="1250826"/>
            <a:chOff x="496119" y="2451497"/>
            <a:chExt cx="4036219" cy="1250826"/>
          </a:xfrm>
        </p:grpSpPr>
        <p:sp>
          <p:nvSpPr>
            <p:cNvPr id="9" name="Shape 7"/>
            <p:cNvSpPr/>
            <p:nvPr/>
          </p:nvSpPr>
          <p:spPr>
            <a:xfrm>
              <a:off x="496119" y="2451497"/>
              <a:ext cx="4036219" cy="1250826"/>
            </a:xfrm>
            <a:prstGeom prst="roundRect">
              <a:avLst>
                <a:gd name="adj" fmla="val 119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09600" y="2564978"/>
              <a:ext cx="3809256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GDPR (EU)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09600" y="2791197"/>
            <a:ext cx="3809256" cy="79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Gives individuals rights over their personal data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the right to know what data is collected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right to have it deleted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right to object to automated decisions</a:t>
            </a:r>
            <a:endParaRPr lang="en-US" sz="10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8F2175-A353-D2A1-61B9-AF0185CE2556}"/>
              </a:ext>
            </a:extLst>
          </p:cNvPr>
          <p:cNvGrpSpPr/>
          <p:nvPr/>
        </p:nvGrpSpPr>
        <p:grpSpPr>
          <a:xfrm>
            <a:off x="4611663" y="2451497"/>
            <a:ext cx="4036219" cy="1250826"/>
            <a:chOff x="4611663" y="2451497"/>
            <a:chExt cx="4036219" cy="1250826"/>
          </a:xfrm>
        </p:grpSpPr>
        <p:sp>
          <p:nvSpPr>
            <p:cNvPr id="12" name="Shape 10"/>
            <p:cNvSpPr/>
            <p:nvPr/>
          </p:nvSpPr>
          <p:spPr>
            <a:xfrm>
              <a:off x="4611663" y="2451497"/>
              <a:ext cx="4036219" cy="1250826"/>
            </a:xfrm>
            <a:prstGeom prst="roundRect">
              <a:avLst>
                <a:gd name="adj" fmla="val 119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4725144" y="2564978"/>
              <a:ext cx="3809256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Global Partnership on AI (GPAI)</a:t>
              </a:r>
              <a:endParaRPr lang="en-US" sz="12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725144" y="2791197"/>
            <a:ext cx="3809256" cy="38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international coalition of countries working together</a:t>
            </a:r>
            <a:endParaRPr lang="en-US" sz="1050" dirty="0"/>
          </a:p>
          <a:p>
            <a:pPr marL="171450" indent="-171450" algn="l">
              <a:lnSpc>
                <a:spcPts val="1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Promotes responsible AI development and shares best practices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3791620"/>
            <a:ext cx="81517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247B8A-288D-1305-4320-4341A42072BD}"/>
              </a:ext>
            </a:extLst>
          </p:cNvPr>
          <p:cNvGrpSpPr/>
          <p:nvPr/>
        </p:nvGrpSpPr>
        <p:grpSpPr>
          <a:xfrm>
            <a:off x="496119" y="4059510"/>
            <a:ext cx="8151763" cy="751630"/>
            <a:chOff x="496119" y="4059510"/>
            <a:chExt cx="8151763" cy="582290"/>
          </a:xfrm>
        </p:grpSpPr>
        <p:sp>
          <p:nvSpPr>
            <p:cNvPr id="16" name="Shape 14"/>
            <p:cNvSpPr/>
            <p:nvPr/>
          </p:nvSpPr>
          <p:spPr>
            <a:xfrm>
              <a:off x="496119" y="4059510"/>
              <a:ext cx="8151763" cy="582290"/>
            </a:xfrm>
            <a:prstGeom prst="roundRect">
              <a:avLst>
                <a:gd name="adj" fmla="val 25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313" y="4183707"/>
              <a:ext cx="155004" cy="123974"/>
            </a:xfrm>
            <a:prstGeom prst="rect">
              <a:avLst/>
            </a:prstGeom>
          </p:spPr>
        </p:pic>
        <p:sp>
          <p:nvSpPr>
            <p:cNvPr id="18" name="Text 15"/>
            <p:cNvSpPr/>
            <p:nvPr/>
          </p:nvSpPr>
          <p:spPr>
            <a:xfrm>
              <a:off x="849511" y="4163615"/>
              <a:ext cx="7699177" cy="4073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Technology moves fast. Laws move slowly. </a:t>
              </a:r>
            </a:p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gap between what AI </a:t>
              </a:r>
              <a:r>
                <a:rPr lang="en-US" sz="1100" i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can</a:t>
              </a:r>
              <a:r>
                <a:rPr lang="en-US" sz="11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do and what it </a:t>
              </a:r>
              <a:r>
                <a:rPr lang="en-US" sz="1100" i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should</a:t>
              </a:r>
              <a:r>
                <a:rPr lang="en-US" sz="11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do is where governance lives. Closing that gap is one of the great global challenges.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70384"/>
            <a:ext cx="3302422" cy="73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Human-in-the-Loop: </a:t>
            </a:r>
            <a:endParaRPr lang="en-US" sz="23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Ultimate Safeguard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1474663"/>
            <a:ext cx="4722763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every concern discussed today - misuse, safety failures, deepfakes, privacy violations - one principle remains constant: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humans must stay in the loop.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2289944"/>
            <a:ext cx="4722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A85638-6A2F-BF54-83DA-7E1069721F47}"/>
              </a:ext>
            </a:extLst>
          </p:cNvPr>
          <p:cNvGrpSpPr/>
          <p:nvPr/>
        </p:nvGrpSpPr>
        <p:grpSpPr>
          <a:xfrm>
            <a:off x="411212" y="2645643"/>
            <a:ext cx="2287191" cy="1927473"/>
            <a:chOff x="411212" y="2645643"/>
            <a:chExt cx="2287191" cy="1927473"/>
          </a:xfrm>
        </p:grpSpPr>
        <p:sp>
          <p:nvSpPr>
            <p:cNvPr id="6" name="Shape 3"/>
            <p:cNvSpPr/>
            <p:nvPr/>
          </p:nvSpPr>
          <p:spPr>
            <a:xfrm>
              <a:off x="411212" y="2645643"/>
              <a:ext cx="2287191" cy="1927473"/>
            </a:xfrm>
            <a:prstGeom prst="roundRect">
              <a:avLst>
                <a:gd name="adj" fmla="val 91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4"/>
            <p:cNvSpPr/>
            <p:nvPr/>
          </p:nvSpPr>
          <p:spPr>
            <a:xfrm>
              <a:off x="529010" y="2746400"/>
              <a:ext cx="2051596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AI Can Do</a:t>
              </a:r>
              <a:endParaRPr lang="en-US" sz="120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529010" y="3076947"/>
            <a:ext cx="2051596" cy="145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millions of data points per second</a:t>
            </a:r>
            <a:endParaRPr lang="en-US" sz="1200" dirty="0"/>
          </a:p>
          <a:p>
            <a:pPr marL="171450" indent="-171450" algn="l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Spots patterns no human would notice</a:t>
            </a:r>
            <a:endParaRPr lang="en-US" sz="1200" dirty="0"/>
          </a:p>
          <a:p>
            <a:pPr marL="171450" indent="-171450" algn="l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information at superhuman speed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05795" y="2746400"/>
            <a:ext cx="231777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AI Can't 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05795" y="3076947"/>
            <a:ext cx="2317775" cy="145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Cannot make ethical judgments</a:t>
            </a:r>
            <a:endParaRPr lang="en-US" sz="1200" dirty="0"/>
          </a:p>
          <a:p>
            <a:pPr marL="171450" indent="-171450" algn="l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Cannot understand context the way a human can</a:t>
            </a:r>
            <a:endParaRPr lang="en-US" sz="1200" dirty="0"/>
          </a:p>
          <a:p>
            <a:pPr marL="171450" indent="-171450" algn="l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Cannot feel the weight of a decision affecting someone's freedom, health, or life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82414"/>
            <a:ext cx="4738241" cy="108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Activity: </a:t>
            </a:r>
            <a:endParaRPr lang="en-US" sz="22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Investigating an AI Safety Incident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488379" y="1632496"/>
            <a:ext cx="2314873" cy="1643955"/>
          </a:xfrm>
          <a:prstGeom prst="roundRect">
            <a:avLst>
              <a:gd name="adj" fmla="val 105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04317" y="1748433"/>
            <a:ext cx="2082998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4317" y="2037978"/>
            <a:ext cx="2082998" cy="112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NotebookLM to analyse a real-world AI safety and misuse incident, and propose governance and oversight measures.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11673" y="1632496"/>
            <a:ext cx="2314947" cy="1643955"/>
          </a:xfrm>
          <a:prstGeom prst="roundRect">
            <a:avLst>
              <a:gd name="adj" fmla="val 105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027611" y="1748433"/>
            <a:ext cx="2083073" cy="22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27611" y="2037978"/>
            <a:ext cx="2083073" cy="449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NotebookLM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notebooklm.google.com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8379" y="3384872"/>
            <a:ext cx="4738241" cy="1376214"/>
          </a:xfrm>
          <a:prstGeom prst="roundRect">
            <a:avLst>
              <a:gd name="adj" fmla="val 126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04317" y="3500810"/>
            <a:ext cx="1450032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4317" y="3747120"/>
            <a:ext cx="4506367" cy="89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will upload a short case study, ask targeted questions, record NotebookLM's grounded answers, and then apply what you have learned today to recommend safeguards. This is the work of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policy advisors, compliance analysts, and Guardians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3919"/>
            <a:ext cx="601578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Case Study: The Deepfake Phone Call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09489"/>
            <a:ext cx="8151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2019, the CEO of a UK-based energy company received a phone call from what sounded exactly like his boss - the head of the parent company in Germany. The voice on the line instructed him to urgently transfer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€220,000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(about $243,000) to a Hungarian supplier. The CEO recognised the voice, the tone, and even the slight German accent. He authorised the transfer.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641402"/>
            <a:ext cx="8151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money was gone within hours - routed through accounts in Hungary and Mexico before disappearing. The CEO later discovered his boss had never made that call. Criminals had used AI-powered voice synthesis software, trained on recordings of the executive's public speeches, to create an audio deepfake convincing enough to fool a trained professional.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3773314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was one of the first documented cases of AI-powered voice fraud. No suspects were ever identified, and the money was never recovered.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1554"/>
            <a:ext cx="365454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Activity: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9712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33511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31566"/>
            <a:ext cx="2634555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22128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to NotebookLM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2944639"/>
            <a:ext cx="2634555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NotebookLM and create a new notebook titled "AI Safety Case Study." Add the case study text as a source.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54648" y="233511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531566"/>
            <a:ext cx="2634630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4648" y="2622128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Guided Questions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54648" y="2944639"/>
            <a:ext cx="263463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questions on the next slide to query NotebookLM and record its grounded answers.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013252" y="233511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531566"/>
            <a:ext cx="2634555" cy="1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13252" y="2622128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Propose Safeguards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13252" y="2944639"/>
            <a:ext cx="2634555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the case study and today's session, write two or three concrete measures to prevent similar incidents.</a:t>
            </a:r>
            <a:endParaRPr lang="en-US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B42FC8-613E-5765-5176-744DE349C01E}"/>
              </a:ext>
            </a:extLst>
          </p:cNvPr>
          <p:cNvCxnSpPr>
            <a:stCxn id="5" idx="1"/>
          </p:cNvCxnSpPr>
          <p:nvPr/>
        </p:nvCxnSpPr>
        <p:spPr>
          <a:xfrm flipV="1">
            <a:off x="496119" y="2531566"/>
            <a:ext cx="2486232" cy="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1914A1-EAA5-5CB3-EDFC-6900DE3E66F2}"/>
              </a:ext>
            </a:extLst>
          </p:cNvPr>
          <p:cNvCxnSpPr/>
          <p:nvPr/>
        </p:nvCxnSpPr>
        <p:spPr>
          <a:xfrm flipV="1">
            <a:off x="3240256" y="2521789"/>
            <a:ext cx="2486232" cy="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A20076-CC02-5509-974E-7B5B97386F6D}"/>
              </a:ext>
            </a:extLst>
          </p:cNvPr>
          <p:cNvCxnSpPr/>
          <p:nvPr/>
        </p:nvCxnSpPr>
        <p:spPr>
          <a:xfrm flipV="1">
            <a:off x="5980175" y="2515023"/>
            <a:ext cx="2486232" cy="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4047"/>
            <a:ext cx="683656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 : Questions for NotebookLM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699617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70438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855" y="178355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355" y="178355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NotebookLM's Answer (Based on the Source)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211082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855" y="219000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AI technology was used in this incident?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355" y="219000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51727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855" y="259645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made the deception so convincing?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355" y="259645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92372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855" y="300290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was the immediate consequence of the incident?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8355" y="300290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33017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855" y="340935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made this case difficult to solve?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8355" y="340935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119" y="388091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1300"/>
            <a:ext cx="58169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 : Propose Safeguards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46870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the case study and today's session, write two or three concrete measures the company or society - could put in place to prevent similar incidents in the future.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382589"/>
            <a:ext cx="8151763" cy="1649611"/>
          </a:xfrm>
          <a:prstGeom prst="roundRect">
            <a:avLst>
              <a:gd name="adj" fmla="val 112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855" y="2466529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Proposed Safeguard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877741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3288953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855" y="3700165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640"/>
            <a:ext cx="4539481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Activity: Sample Answers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96119" y="916260"/>
            <a:ext cx="8151763" cy="1959694"/>
          </a:xfrm>
          <a:prstGeom prst="roundRect">
            <a:avLst>
              <a:gd name="adj" fmla="val 80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921023"/>
            <a:ext cx="8142238" cy="3120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6326" y="979512"/>
            <a:ext cx="2220590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42419" y="979512"/>
            <a:ext cx="5495330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Answer (from Source)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0881" y="1233041"/>
            <a:ext cx="8142238" cy="3120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06326" y="1291530"/>
            <a:ext cx="2220590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AI technology was used?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42419" y="1291530"/>
            <a:ext cx="5495330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voice synthesis software - an audio deepfake.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0881" y="1545059"/>
            <a:ext cx="8142238" cy="50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6326" y="1603549"/>
            <a:ext cx="2220590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made the deception convincing?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42419" y="1603549"/>
            <a:ext cx="5495330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voice matched the boss's exact tone, accent, and speech patterns because it was trained on public recordings.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0881" y="2052117"/>
            <a:ext cx="8142238" cy="3120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6326" y="2110606"/>
            <a:ext cx="2220590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consequence?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2419" y="2110606"/>
            <a:ext cx="5495330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€220,000 was transferred and routed through multiple countries before disappearing.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0881" y="2364135"/>
            <a:ext cx="8142238" cy="507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6326" y="2422624"/>
            <a:ext cx="2220590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was it hard to solve?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42419" y="2422624"/>
            <a:ext cx="5495330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suspects were identified; the money was never recovered; audio evidence alone is difficult to trace.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119" y="2976711"/>
            <a:ext cx="8151763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Safeguards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6119" y="3272507"/>
            <a:ext cx="2657475" cy="1463278"/>
          </a:xfrm>
          <a:prstGeom prst="roundRect">
            <a:avLst>
              <a:gd name="adj" fmla="val 1081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5776" y="3392165"/>
            <a:ext cx="241815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Multi-Factor Verification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776" y="3640931"/>
            <a:ext cx="2418159" cy="78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 that any financial transfer above a certain amount be confirmed through a second, independent channel - such as a video call or a pre-agreed code word.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3188" y="3272507"/>
            <a:ext cx="2657549" cy="1463278"/>
          </a:xfrm>
          <a:prstGeom prst="roundRect">
            <a:avLst>
              <a:gd name="adj" fmla="val 1081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62846" y="3392165"/>
            <a:ext cx="2418234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Employee Training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2846" y="3640931"/>
            <a:ext cx="2418234" cy="97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all employees who handle finances to recognize the possibility of voice-deepfake fraud and to verify unusual requests even when they seem to come from trusted sources.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0332" y="3272507"/>
            <a:ext cx="2657549" cy="1463278"/>
          </a:xfrm>
          <a:prstGeom prst="roundRect">
            <a:avLst>
              <a:gd name="adj" fmla="val 1081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09990" y="3392165"/>
            <a:ext cx="2418234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 Authentication Technology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9990" y="3640931"/>
            <a:ext cx="2418234" cy="58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 in or advocate for tools that can analyze audio for subtle digital artifacts that indicate AI generation.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749"/>
            <a:ext cx="5883920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Summary: AI Safety, Misuse &amp; Governance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966788"/>
            <a:ext cx="8151763" cy="3801963"/>
          </a:xfrm>
          <a:prstGeom prst="roundRect">
            <a:avLst>
              <a:gd name="adj" fmla="val 46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18753" y="1043434"/>
            <a:ext cx="17307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589907" y="1043434"/>
            <a:ext cx="5935414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Idea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8753" y="1421755"/>
            <a:ext cx="17307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Misuse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89907" y="1421755"/>
            <a:ext cx="593541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Deliberate harmful use of AI by humans - disinformation, fraud, autonomous weapons, cyber attacks, harassment.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8753" y="2029867"/>
            <a:ext cx="17307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Safety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89907" y="2029867"/>
            <a:ext cx="593541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AI systems behave as intended and do not cause unintended harm - through robust design, testing, and alignment.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8753" y="2637979"/>
            <a:ext cx="17307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89907" y="2637979"/>
            <a:ext cx="5935414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AI-generated fake media that threatens trust, truth, and personal safety.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8753" y="3016300"/>
            <a:ext cx="17307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Risks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89907" y="3016300"/>
            <a:ext cx="593541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AI's hunger for personal data creates risks around voice, facial, behavioural, location, and biometric information.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8753" y="3624411"/>
            <a:ext cx="17307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&amp; Regulation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89907" y="3624411"/>
            <a:ext cx="593541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Laws, policies, and guidelines (like the EU AI Act and GDPR) that aim to keep AI safe, transparent, and accountable.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8753" y="4232523"/>
            <a:ext cx="173079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89907" y="4232523"/>
            <a:ext cx="593541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essential principle that humans must review and take responsibility for high-stakes AI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64778"/>
            <a:ext cx="3523059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Homework: Safety Detection</a:t>
            </a:r>
            <a:endParaRPr lang="en-US" sz="20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68E666-8838-40A4-3856-A78E09454345}"/>
              </a:ext>
            </a:extLst>
          </p:cNvPr>
          <p:cNvGrpSpPr/>
          <p:nvPr/>
        </p:nvGrpSpPr>
        <p:grpSpPr>
          <a:xfrm>
            <a:off x="496119" y="828601"/>
            <a:ext cx="4722763" cy="1321966"/>
            <a:chOff x="496119" y="828601"/>
            <a:chExt cx="4722763" cy="1321966"/>
          </a:xfrm>
        </p:grpSpPr>
        <p:sp>
          <p:nvSpPr>
            <p:cNvPr id="4" name="Shape 1"/>
            <p:cNvSpPr/>
            <p:nvPr/>
          </p:nvSpPr>
          <p:spPr>
            <a:xfrm>
              <a:off x="496119" y="828601"/>
              <a:ext cx="4722763" cy="1321966"/>
            </a:xfrm>
            <a:prstGeom prst="roundRect">
              <a:avLst>
                <a:gd name="adj" fmla="val 119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2"/>
            <p:cNvSpPr/>
            <p:nvPr/>
          </p:nvSpPr>
          <p:spPr>
            <a:xfrm>
              <a:off x="510406" y="842888"/>
              <a:ext cx="421704" cy="1293391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642193" y="1390724"/>
              <a:ext cx="158130" cy="1976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21705" y="948258"/>
              <a:ext cx="4077519" cy="1950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Part 1: Spot a Concern</a:t>
              </a:r>
              <a:endParaRPr lang="en-US" sz="100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1021705" y="1197025"/>
            <a:ext cx="4077519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of an AI tool you use or have heard about. Write down one specific AI misuse, safety, or privacy concern related to that tool.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1705" y="1640830"/>
            <a:ext cx="4077519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Tool: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_______________</a:t>
            </a:r>
            <a:endParaRPr lang="en-US" sz="10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Concern: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_______________</a:t>
            </a:r>
            <a:endParaRPr lang="en-US" sz="1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F2FD6E-1196-2D90-1AD4-3E83F05DB882}"/>
              </a:ext>
            </a:extLst>
          </p:cNvPr>
          <p:cNvGrpSpPr/>
          <p:nvPr/>
        </p:nvGrpSpPr>
        <p:grpSpPr>
          <a:xfrm>
            <a:off x="496119" y="2240161"/>
            <a:ext cx="4722763" cy="1126927"/>
            <a:chOff x="496119" y="2240161"/>
            <a:chExt cx="4722763" cy="1126927"/>
          </a:xfrm>
        </p:grpSpPr>
        <p:sp>
          <p:nvSpPr>
            <p:cNvPr id="10" name="Shape 7"/>
            <p:cNvSpPr/>
            <p:nvPr/>
          </p:nvSpPr>
          <p:spPr>
            <a:xfrm>
              <a:off x="496119" y="2240161"/>
              <a:ext cx="4722763" cy="1126927"/>
            </a:xfrm>
            <a:prstGeom prst="roundRect">
              <a:avLst>
                <a:gd name="adj" fmla="val 1403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8"/>
            <p:cNvSpPr/>
            <p:nvPr/>
          </p:nvSpPr>
          <p:spPr>
            <a:xfrm>
              <a:off x="510406" y="2254448"/>
              <a:ext cx="421704" cy="1098352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9"/>
            <p:cNvSpPr/>
            <p:nvPr/>
          </p:nvSpPr>
          <p:spPr>
            <a:xfrm>
              <a:off x="642193" y="2704802"/>
              <a:ext cx="158130" cy="1976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021705" y="2359819"/>
              <a:ext cx="4077519" cy="1950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Part 2: Propose a Safeguard</a:t>
              </a:r>
              <a:endParaRPr lang="en-US" sz="1000" dirty="0"/>
            </a:p>
          </p:txBody>
        </p:sp>
      </p:grpSp>
      <p:sp>
        <p:nvSpPr>
          <p:cNvPr id="14" name="Text 11"/>
          <p:cNvSpPr/>
          <p:nvPr/>
        </p:nvSpPr>
        <p:spPr>
          <a:xfrm>
            <a:off x="1021705" y="2608585"/>
            <a:ext cx="4077519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one concrete action that could reduce or prevent that concern. Think like a policymaker or a Guardian.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1705" y="3052390"/>
            <a:ext cx="407751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Safeguard: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_______________</a:t>
            </a:r>
            <a:endParaRPr lang="en-US" sz="1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DA2ED9C-BE05-DAA8-2F45-2623A230C645}"/>
              </a:ext>
            </a:extLst>
          </p:cNvPr>
          <p:cNvGrpSpPr/>
          <p:nvPr/>
        </p:nvGrpSpPr>
        <p:grpSpPr>
          <a:xfrm>
            <a:off x="496119" y="3456682"/>
            <a:ext cx="4722763" cy="1321966"/>
            <a:chOff x="496119" y="3456682"/>
            <a:chExt cx="4722763" cy="1321966"/>
          </a:xfrm>
        </p:grpSpPr>
        <p:sp>
          <p:nvSpPr>
            <p:cNvPr id="16" name="Shape 13"/>
            <p:cNvSpPr/>
            <p:nvPr/>
          </p:nvSpPr>
          <p:spPr>
            <a:xfrm>
              <a:off x="496119" y="3456682"/>
              <a:ext cx="4722763" cy="1321966"/>
            </a:xfrm>
            <a:prstGeom prst="roundRect">
              <a:avLst>
                <a:gd name="adj" fmla="val 119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4"/>
            <p:cNvSpPr/>
            <p:nvPr/>
          </p:nvSpPr>
          <p:spPr>
            <a:xfrm>
              <a:off x="510406" y="3470970"/>
              <a:ext cx="421704" cy="1293391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5"/>
            <p:cNvSpPr/>
            <p:nvPr/>
          </p:nvSpPr>
          <p:spPr>
            <a:xfrm>
              <a:off x="642193" y="4018806"/>
              <a:ext cx="158130" cy="1976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3</a:t>
              </a:r>
              <a:endParaRPr lang="en-US" sz="12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1021705" y="3576340"/>
              <a:ext cx="4077519" cy="1950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Part 3: Add to Your Prompt Library</a:t>
              </a:r>
              <a:endParaRPr lang="en-US" sz="100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1021705" y="3825106"/>
            <a:ext cx="407751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this prompt to your Prompt Library: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1705" y="4073872"/>
            <a:ext cx="4077519" cy="58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"Explain the difference between AI misuse and an AI safety failure. Give one real-world example of each, and describe how governance or Human-in-the-Loop oversight could address the problem."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5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004"/>
            <a:ext cx="324787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Session Preview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73113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Discover &amp; Define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546696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the next four sessions, you'll research and write a paper investigating how AI is being applied in a domain you choose.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04070"/>
            <a:ext cx="186035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6128" y="2182416"/>
            <a:ext cx="368833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Your Domain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6128" y="2504926"/>
            <a:ext cx="36883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area of the world do you want to investigate   - healthcare, education, sport, music, climate?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204070"/>
            <a:ext cx="186035" cy="1860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59474" y="2182416"/>
            <a:ext cx="368840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Your Question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59474" y="2504926"/>
            <a:ext cx="3688407" cy="103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the one research question your paper will try to answer?</a:t>
            </a:r>
            <a:endParaRPr lang="en-US" sz="12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can AI be misused to spread disinformation or conduct surveillance?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810372"/>
            <a:ext cx="186035" cy="1860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128" y="3788718"/>
            <a:ext cx="368833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Your Sources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6128" y="4111228"/>
            <a:ext cx="36883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does real evidence come from, and how do researchers evaluate what's credible?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3810372"/>
            <a:ext cx="186035" cy="1860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59474" y="3788718"/>
            <a:ext cx="368840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Your Paper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959474" y="4111228"/>
            <a:ext cx="368840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does a research paper actually look like, and how do you structure one from scratch?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2879</Words>
  <Application>Microsoft Office PowerPoint</Application>
  <PresentationFormat>On-screen Show (16:9)</PresentationFormat>
  <Paragraphs>290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Roboto Slab</vt:lpstr>
      <vt:lpstr>Roboto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2</cp:revision>
  <dcterms:created xsi:type="dcterms:W3CDTF">2026-05-12T09:50:11Z</dcterms:created>
  <dcterms:modified xsi:type="dcterms:W3CDTF">2026-05-12T10:22:21Z</dcterms:modified>
</cp:coreProperties>
</file>