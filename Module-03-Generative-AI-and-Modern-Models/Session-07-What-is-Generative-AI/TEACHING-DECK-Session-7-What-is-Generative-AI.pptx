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3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5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 type="screen16x9"/>
  <p:notesSz cx="5143500" cy="9144000"/>
  <p:embeddedFontLst>
    <p:embeddedFont>
      <p:font typeface="Roboto" panose="02000000000000000000" pitchFamily="2" charset="0"/>
      <p:regular r:id="rId34"/>
      <p:bold r:id="rId35"/>
      <p:italic r:id="rId36"/>
      <p:boldItalic r:id="rId37"/>
    </p:embeddedFont>
    <p:embeddedFont>
      <p:font typeface="Roboto Slab" pitchFamily="2" charset="0"/>
      <p:regular r:id="rId38"/>
      <p:bold r:id="rId39"/>
    </p:embeddedFont>
    <p:embeddedFont>
      <p:font typeface="Roboto Slab Light" pitchFamily="2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4B2F92-F75C-4A9B-8CB8-84091F85CFD0}" v="1" dt="2026-05-08T10:21:37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46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159422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7: 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596530"/>
            <a:ext cx="334736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Generative AI?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7324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62894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this session, you will be able to: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35051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46970"/>
            <a:ext cx="2634555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3753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Define Generative AI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54648" y="235051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2546970"/>
            <a:ext cx="2634630" cy="142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54648" y="2637532"/>
            <a:ext cx="263463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Identify (</a:t>
            </a:r>
            <a:r>
              <a:rPr lang="en-US" sz="1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Generative or Discriminative?</a:t>
            </a: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)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013252" y="235051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2559397"/>
            <a:ext cx="2634555" cy="142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13252" y="2637532"/>
            <a:ext cx="18545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Explain (How AI Creates)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96119" y="324222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426321"/>
            <a:ext cx="2634555" cy="142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3529236"/>
            <a:ext cx="18165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List main types of GenAI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254648" y="324222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9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648" y="3426321"/>
            <a:ext cx="2634630" cy="142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54648" y="3529236"/>
            <a:ext cx="169202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Recognize GenAI Tools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6013252" y="3242221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06</a:t>
            </a:r>
            <a:endParaRPr lang="en-US" sz="9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52" y="3426321"/>
            <a:ext cx="2634555" cy="142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13252" y="3529236"/>
            <a:ext cx="237477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prompts to bring ideas alive</a:t>
            </a:r>
            <a:endParaRPr lang="en-US" sz="12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F5B25CD-5079-C167-26E8-C45732D806FE}"/>
              </a:ext>
            </a:extLst>
          </p:cNvPr>
          <p:cNvCxnSpPr>
            <a:cxnSpLocks/>
            <a:stCxn id="5" idx="1"/>
            <a:endCxn id="5" idx="3"/>
          </p:cNvCxnSpPr>
          <p:nvPr/>
        </p:nvCxnSpPr>
        <p:spPr>
          <a:xfrm>
            <a:off x="496119" y="2554114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51D7D4-4C8B-07EE-1B2E-12C31520C321}"/>
              </a:ext>
            </a:extLst>
          </p:cNvPr>
          <p:cNvCxnSpPr>
            <a:cxnSpLocks/>
          </p:cNvCxnSpPr>
          <p:nvPr/>
        </p:nvCxnSpPr>
        <p:spPr>
          <a:xfrm>
            <a:off x="3240578" y="2554114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9E3ACE8-D3FE-D9A3-3FF8-C9E603DABE2D}"/>
              </a:ext>
            </a:extLst>
          </p:cNvPr>
          <p:cNvCxnSpPr>
            <a:cxnSpLocks/>
          </p:cNvCxnSpPr>
          <p:nvPr/>
        </p:nvCxnSpPr>
        <p:spPr>
          <a:xfrm>
            <a:off x="6006694" y="2554114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AC04338-61E5-0857-A063-858D79D23AB9}"/>
              </a:ext>
            </a:extLst>
          </p:cNvPr>
          <p:cNvCxnSpPr>
            <a:cxnSpLocks/>
          </p:cNvCxnSpPr>
          <p:nvPr/>
        </p:nvCxnSpPr>
        <p:spPr>
          <a:xfrm>
            <a:off x="489084" y="3440609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DD06EF3-4690-AC15-524D-378AE06D476E}"/>
              </a:ext>
            </a:extLst>
          </p:cNvPr>
          <p:cNvCxnSpPr>
            <a:cxnSpLocks/>
          </p:cNvCxnSpPr>
          <p:nvPr/>
        </p:nvCxnSpPr>
        <p:spPr>
          <a:xfrm>
            <a:off x="3250251" y="3440499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74C200-0A89-22F2-0A8D-C1C3DCA61197}"/>
              </a:ext>
            </a:extLst>
          </p:cNvPr>
          <p:cNvCxnSpPr>
            <a:cxnSpLocks/>
          </p:cNvCxnSpPr>
          <p:nvPr/>
        </p:nvCxnSpPr>
        <p:spPr>
          <a:xfrm>
            <a:off x="6001820" y="3440499"/>
            <a:ext cx="2634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42492"/>
            <a:ext cx="508084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Imagine It's Your Friend's Birthday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78062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265685"/>
            <a:ext cx="8151763" cy="1635323"/>
          </a:xfrm>
          <a:prstGeom prst="roundRect">
            <a:avLst>
              <a:gd name="adj" fmla="val 113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2270447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4855" y="2349624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98355" y="2349624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Would You Need?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0881" y="2676897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4855" y="2756074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funny birthday poem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98355" y="2756074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way to generate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881" y="3083347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4855" y="3162523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custom birthday card with their favorite animal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98355" y="3162523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way to generate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881" y="3489796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4855" y="3568973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silly birthday song about inside jokes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8355" y="3568973"/>
            <a:ext cx="3820790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way to generate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audio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39230"/>
            <a:ext cx="334736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Generative AI?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912813"/>
            <a:ext cx="4722763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 type of artificial intelligence that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new content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text, images, music based on patterns it learned from training data.</a:t>
            </a:r>
            <a:endParaRPr lang="en-US" sz="1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B4793A-E3DA-7815-22FB-7B0A9F26356A}"/>
              </a:ext>
            </a:extLst>
          </p:cNvPr>
          <p:cNvGrpSpPr/>
          <p:nvPr/>
        </p:nvGrpSpPr>
        <p:grpSpPr>
          <a:xfrm>
            <a:off x="3925119" y="2796629"/>
            <a:ext cx="2299395" cy="441796"/>
            <a:chOff x="3925119" y="2796629"/>
            <a:chExt cx="2299395" cy="441796"/>
          </a:xfrm>
        </p:grpSpPr>
        <p:sp>
          <p:nvSpPr>
            <p:cNvPr id="5" name="Shape 2"/>
            <p:cNvSpPr/>
            <p:nvPr/>
          </p:nvSpPr>
          <p:spPr>
            <a:xfrm>
              <a:off x="3925119" y="2796629"/>
              <a:ext cx="2299395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4049092" y="2920603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Creates</a:t>
              </a:r>
              <a:endParaRPr lang="en-US" sz="12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6AFB2D-A006-5635-4DFF-ECED5C29CE57}"/>
              </a:ext>
            </a:extLst>
          </p:cNvPr>
          <p:cNvGrpSpPr/>
          <p:nvPr/>
        </p:nvGrpSpPr>
        <p:grpSpPr>
          <a:xfrm>
            <a:off x="6348487" y="2796629"/>
            <a:ext cx="2299395" cy="441796"/>
            <a:chOff x="6348487" y="2796629"/>
            <a:chExt cx="2299395" cy="441796"/>
          </a:xfrm>
        </p:grpSpPr>
        <p:sp>
          <p:nvSpPr>
            <p:cNvPr id="7" name="Shape 4"/>
            <p:cNvSpPr/>
            <p:nvPr/>
          </p:nvSpPr>
          <p:spPr>
            <a:xfrm>
              <a:off x="6348487" y="2796629"/>
              <a:ext cx="2299395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/>
            <p:cNvSpPr/>
            <p:nvPr/>
          </p:nvSpPr>
          <p:spPr>
            <a:xfrm>
              <a:off x="6472461" y="2920603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Learns patterns</a:t>
              </a:r>
              <a:endParaRPr lang="en-US" sz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C413E13-FB55-7C9E-ACB5-431087732534}"/>
              </a:ext>
            </a:extLst>
          </p:cNvPr>
          <p:cNvGrpSpPr/>
          <p:nvPr/>
        </p:nvGrpSpPr>
        <p:grpSpPr>
          <a:xfrm>
            <a:off x="3925119" y="3362399"/>
            <a:ext cx="2299395" cy="441796"/>
            <a:chOff x="3925119" y="3362399"/>
            <a:chExt cx="2299395" cy="441796"/>
          </a:xfrm>
        </p:grpSpPr>
        <p:sp>
          <p:nvSpPr>
            <p:cNvPr id="9" name="Shape 6"/>
            <p:cNvSpPr/>
            <p:nvPr/>
          </p:nvSpPr>
          <p:spPr>
            <a:xfrm>
              <a:off x="3925119" y="3362399"/>
              <a:ext cx="2299395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7"/>
            <p:cNvSpPr/>
            <p:nvPr/>
          </p:nvSpPr>
          <p:spPr>
            <a:xfrm>
              <a:off x="4049092" y="3486373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Remixes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47F7A2-D197-6C79-F841-72F88309D340}"/>
              </a:ext>
            </a:extLst>
          </p:cNvPr>
          <p:cNvGrpSpPr/>
          <p:nvPr/>
        </p:nvGrpSpPr>
        <p:grpSpPr>
          <a:xfrm>
            <a:off x="6348487" y="3362399"/>
            <a:ext cx="2299395" cy="441796"/>
            <a:chOff x="6348487" y="3362399"/>
            <a:chExt cx="2299395" cy="441796"/>
          </a:xfrm>
        </p:grpSpPr>
        <p:sp>
          <p:nvSpPr>
            <p:cNvPr id="11" name="Shape 8"/>
            <p:cNvSpPr/>
            <p:nvPr/>
          </p:nvSpPr>
          <p:spPr>
            <a:xfrm>
              <a:off x="6348487" y="3362399"/>
              <a:ext cx="2299395" cy="441796"/>
            </a:xfrm>
            <a:prstGeom prst="roundRect">
              <a:avLst>
                <a:gd name="adj" fmla="val 4212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472461" y="3486373"/>
              <a:ext cx="1553468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Responds to prompts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29816"/>
            <a:ext cx="69776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Generative AI vs Traditional AI (Discriminative)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665387"/>
            <a:ext cx="8151763" cy="2448223"/>
          </a:xfrm>
          <a:prstGeom prst="roundRect">
            <a:avLst>
              <a:gd name="adj" fmla="val 7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67014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5004" y="1749326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62907" y="1749326"/>
            <a:ext cx="267518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90803" y="1749326"/>
            <a:ext cx="2928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(Discriminative)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0881" y="207659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5004" y="215577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62907" y="2155775"/>
            <a:ext cx="267518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new content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90803" y="2155775"/>
            <a:ext cx="2928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ANALYZES / CLASSIFIES existing content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0881" y="248304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5004" y="256222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 it answers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62907" y="2562225"/>
            <a:ext cx="267518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can I make?"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90803" y="2562225"/>
            <a:ext cx="2928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"What is this?"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2889498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5004" y="2968675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62907" y="2968675"/>
            <a:ext cx="267518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 text, images, audio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90803" y="2968675"/>
            <a:ext cx="2928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Labels, categories, predictions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0881" y="329594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5004" y="3375124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You've used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662907" y="3375124"/>
            <a:ext cx="267518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Storybook, Gemini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90803" y="3375124"/>
            <a:ext cx="2928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Teachable Machine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0881" y="3702397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5004" y="3781574"/>
            <a:ext cx="1785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Analogy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662907" y="3781574"/>
            <a:ext cx="2675186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Artist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90803" y="3781574"/>
            <a:ext cx="292834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Detective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411212" y="964481"/>
            <a:ext cx="2387426" cy="2784128"/>
          </a:xfrm>
          <a:prstGeom prst="roundRect">
            <a:avLst>
              <a:gd name="adj" fmla="val 74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8402"/>
            <a:ext cx="2946053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Think of It This Way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529010" y="1076399"/>
            <a:ext cx="1473026" cy="1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🎨</a:t>
            </a:r>
            <a:r>
              <a:rPr lang="en-US" sz="1150" b="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Generative AI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17339" y="1396008"/>
            <a:ext cx="14288" cy="2226692"/>
          </a:xfrm>
          <a:prstGeom prst="roundRect">
            <a:avLst>
              <a:gd name="adj" fmla="val 123716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74" y="1484375"/>
            <a:ext cx="88329" cy="88329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C8465B61-4FA9-B066-BC9A-302AE20720EC}"/>
              </a:ext>
            </a:extLst>
          </p:cNvPr>
          <p:cNvGrpSpPr/>
          <p:nvPr/>
        </p:nvGrpSpPr>
        <p:grpSpPr>
          <a:xfrm>
            <a:off x="603052" y="1436489"/>
            <a:ext cx="2077789" cy="552524"/>
            <a:chOff x="603052" y="1436489"/>
            <a:chExt cx="2077789" cy="552524"/>
          </a:xfrm>
        </p:grpSpPr>
        <p:sp>
          <p:nvSpPr>
            <p:cNvPr id="7" name="Shape 4"/>
            <p:cNvSpPr/>
            <p:nvPr/>
          </p:nvSpPr>
          <p:spPr>
            <a:xfrm>
              <a:off x="603052" y="1521396"/>
              <a:ext cx="235669" cy="14288"/>
            </a:xfrm>
            <a:prstGeom prst="roundRect">
              <a:avLst>
                <a:gd name="adj" fmla="val 123716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5"/>
            <p:cNvSpPr/>
            <p:nvPr/>
          </p:nvSpPr>
          <p:spPr>
            <a:xfrm>
              <a:off x="1088752" y="1436489"/>
              <a:ext cx="1592089" cy="5525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"Write a funny poem for my friend who loves pizza"</a:t>
              </a:r>
              <a:endParaRPr lang="en-US" sz="1150" dirty="0"/>
            </a:p>
          </p:txBody>
        </p:sp>
      </p:grp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74" y="2301218"/>
            <a:ext cx="88329" cy="88329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FB72FB0E-5621-2320-9066-0067A21F0E93}"/>
              </a:ext>
            </a:extLst>
          </p:cNvPr>
          <p:cNvGrpSpPr/>
          <p:nvPr/>
        </p:nvGrpSpPr>
        <p:grpSpPr>
          <a:xfrm>
            <a:off x="603052" y="2253332"/>
            <a:ext cx="2077789" cy="552524"/>
            <a:chOff x="603052" y="2253332"/>
            <a:chExt cx="2077789" cy="552524"/>
          </a:xfrm>
        </p:grpSpPr>
        <p:sp>
          <p:nvSpPr>
            <p:cNvPr id="10" name="Shape 6"/>
            <p:cNvSpPr/>
            <p:nvPr/>
          </p:nvSpPr>
          <p:spPr>
            <a:xfrm>
              <a:off x="603052" y="2338239"/>
              <a:ext cx="235669" cy="14288"/>
            </a:xfrm>
            <a:prstGeom prst="roundRect">
              <a:avLst>
                <a:gd name="adj" fmla="val 123716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7"/>
            <p:cNvSpPr/>
            <p:nvPr/>
          </p:nvSpPr>
          <p:spPr>
            <a:xfrm>
              <a:off x="1088752" y="2253332"/>
              <a:ext cx="1592089" cy="5525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"Draw a birthday card with a unicorn wearing a party hat"</a:t>
              </a:r>
              <a:endParaRPr lang="en-US" sz="1150" dirty="0"/>
            </a:p>
          </p:txBody>
        </p:sp>
      </p:grp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74" y="3118061"/>
            <a:ext cx="88329" cy="88329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57AB6DA8-994F-A973-8473-8009CF62C990}"/>
              </a:ext>
            </a:extLst>
          </p:cNvPr>
          <p:cNvGrpSpPr/>
          <p:nvPr/>
        </p:nvGrpSpPr>
        <p:grpSpPr>
          <a:xfrm>
            <a:off x="603052" y="3070175"/>
            <a:ext cx="2077789" cy="552524"/>
            <a:chOff x="603052" y="3070175"/>
            <a:chExt cx="2077789" cy="552524"/>
          </a:xfrm>
        </p:grpSpPr>
        <p:sp>
          <p:nvSpPr>
            <p:cNvPr id="13" name="Shape 8"/>
            <p:cNvSpPr/>
            <p:nvPr/>
          </p:nvSpPr>
          <p:spPr>
            <a:xfrm>
              <a:off x="603052" y="3155082"/>
              <a:ext cx="235669" cy="14288"/>
            </a:xfrm>
            <a:prstGeom prst="roundRect">
              <a:avLst>
                <a:gd name="adj" fmla="val 123716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9"/>
            <p:cNvSpPr/>
            <p:nvPr/>
          </p:nvSpPr>
          <p:spPr>
            <a:xfrm>
              <a:off x="1088752" y="3070175"/>
              <a:ext cx="1592089" cy="5525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"Create a birthday song about our inside jokes"</a:t>
              </a:r>
              <a:endParaRPr lang="en-US" sz="1150" dirty="0"/>
            </a:p>
          </p:txBody>
        </p:sp>
      </p:grpSp>
      <p:sp>
        <p:nvSpPr>
          <p:cNvPr id="16" name="Text 10"/>
          <p:cNvSpPr/>
          <p:nvPr/>
        </p:nvSpPr>
        <p:spPr>
          <a:xfrm>
            <a:off x="3006030" y="1076399"/>
            <a:ext cx="1473026" cy="193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🔍</a:t>
            </a:r>
            <a:r>
              <a:rPr lang="en-US" sz="115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Discriminative AI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3094360" y="1396008"/>
            <a:ext cx="14288" cy="2226692"/>
          </a:xfrm>
          <a:prstGeom prst="roundRect">
            <a:avLst>
              <a:gd name="adj" fmla="val 123716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195" y="1484375"/>
            <a:ext cx="88329" cy="88329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1C5ACFE9-D7DB-6581-2825-B1E65B5EB3BB}"/>
              </a:ext>
            </a:extLst>
          </p:cNvPr>
          <p:cNvGrpSpPr/>
          <p:nvPr/>
        </p:nvGrpSpPr>
        <p:grpSpPr>
          <a:xfrm>
            <a:off x="3080072" y="1436489"/>
            <a:ext cx="2143572" cy="552524"/>
            <a:chOff x="3080072" y="1436489"/>
            <a:chExt cx="2143572" cy="552524"/>
          </a:xfrm>
        </p:grpSpPr>
        <p:sp>
          <p:nvSpPr>
            <p:cNvPr id="18" name="Shape 12"/>
            <p:cNvSpPr/>
            <p:nvPr/>
          </p:nvSpPr>
          <p:spPr>
            <a:xfrm>
              <a:off x="3080072" y="1521396"/>
              <a:ext cx="235669" cy="14288"/>
            </a:xfrm>
            <a:prstGeom prst="roundRect">
              <a:avLst>
                <a:gd name="adj" fmla="val 123716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 13"/>
            <p:cNvSpPr/>
            <p:nvPr/>
          </p:nvSpPr>
          <p:spPr>
            <a:xfrm>
              <a:off x="3565773" y="1436489"/>
              <a:ext cx="1657871" cy="5525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"Sort all these party photos by who's in them"</a:t>
              </a:r>
              <a:endParaRPr lang="en-US" sz="1150" dirty="0"/>
            </a:p>
          </p:txBody>
        </p:sp>
      </p:grp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195" y="2301218"/>
            <a:ext cx="88329" cy="88329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A4D472A8-E8AD-F832-E9D3-00E28F17C7CF}"/>
              </a:ext>
            </a:extLst>
          </p:cNvPr>
          <p:cNvGrpSpPr/>
          <p:nvPr/>
        </p:nvGrpSpPr>
        <p:grpSpPr>
          <a:xfrm>
            <a:off x="3080072" y="2253332"/>
            <a:ext cx="2143572" cy="552524"/>
            <a:chOff x="3080072" y="2253332"/>
            <a:chExt cx="2143572" cy="552524"/>
          </a:xfrm>
        </p:grpSpPr>
        <p:sp>
          <p:nvSpPr>
            <p:cNvPr id="21" name="Shape 14"/>
            <p:cNvSpPr/>
            <p:nvPr/>
          </p:nvSpPr>
          <p:spPr>
            <a:xfrm>
              <a:off x="3080072" y="2338239"/>
              <a:ext cx="235669" cy="14288"/>
            </a:xfrm>
            <a:prstGeom prst="roundRect">
              <a:avLst>
                <a:gd name="adj" fmla="val 123716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15"/>
            <p:cNvSpPr/>
            <p:nvPr/>
          </p:nvSpPr>
          <p:spPr>
            <a:xfrm>
              <a:off x="3565773" y="2253332"/>
              <a:ext cx="1657871" cy="5525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"Check if any comments on the party video are mean or nice"</a:t>
              </a:r>
              <a:endParaRPr lang="en-US" sz="1150" dirty="0"/>
            </a:p>
          </p:txBody>
        </p:sp>
      </p:grp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0195" y="3118061"/>
            <a:ext cx="88329" cy="88329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18972156-3752-B01C-ABCB-436559BE049E}"/>
              </a:ext>
            </a:extLst>
          </p:cNvPr>
          <p:cNvGrpSpPr/>
          <p:nvPr/>
        </p:nvGrpSpPr>
        <p:grpSpPr>
          <a:xfrm>
            <a:off x="3080072" y="3070175"/>
            <a:ext cx="2143572" cy="552524"/>
            <a:chOff x="3080072" y="3070175"/>
            <a:chExt cx="2143572" cy="552524"/>
          </a:xfrm>
        </p:grpSpPr>
        <p:sp>
          <p:nvSpPr>
            <p:cNvPr id="24" name="Shape 16"/>
            <p:cNvSpPr/>
            <p:nvPr/>
          </p:nvSpPr>
          <p:spPr>
            <a:xfrm>
              <a:off x="3080072" y="3155082"/>
              <a:ext cx="235669" cy="14288"/>
            </a:xfrm>
            <a:prstGeom prst="roundRect">
              <a:avLst>
                <a:gd name="adj" fmla="val 123716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 17"/>
            <p:cNvSpPr/>
            <p:nvPr/>
          </p:nvSpPr>
          <p:spPr>
            <a:xfrm>
              <a:off x="3565773" y="3070175"/>
              <a:ext cx="1657871" cy="5525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1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"Count how many people smiled in each photo"</a:t>
              </a:r>
              <a:endParaRPr lang="en-US" sz="1150" dirty="0"/>
            </a:p>
          </p:txBody>
        </p:sp>
      </p:grpSp>
      <p:sp>
        <p:nvSpPr>
          <p:cNvPr id="27" name="Text 18"/>
          <p:cNvSpPr/>
          <p:nvPr/>
        </p:nvSpPr>
        <p:spPr>
          <a:xfrm>
            <a:off x="496119" y="3874517"/>
            <a:ext cx="4722763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endParaRPr lang="en-US" sz="9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6FB5DC5-9FBA-0C2A-6F42-68D7BB423931}"/>
              </a:ext>
            </a:extLst>
          </p:cNvPr>
          <p:cNvGrpSpPr/>
          <p:nvPr/>
        </p:nvGrpSpPr>
        <p:grpSpPr>
          <a:xfrm>
            <a:off x="496119" y="4184303"/>
            <a:ext cx="4722763" cy="530721"/>
            <a:chOff x="496119" y="4184303"/>
            <a:chExt cx="4722763" cy="530721"/>
          </a:xfrm>
        </p:grpSpPr>
        <p:sp>
          <p:nvSpPr>
            <p:cNvPr id="28" name="Shape 19"/>
            <p:cNvSpPr/>
            <p:nvPr/>
          </p:nvSpPr>
          <p:spPr>
            <a:xfrm>
              <a:off x="496119" y="4184303"/>
              <a:ext cx="4722763" cy="530721"/>
            </a:xfrm>
            <a:prstGeom prst="roundRect">
              <a:avLst>
                <a:gd name="adj" fmla="val 3331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9" name="Image 7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916" y="4358655"/>
              <a:ext cx="184100" cy="147265"/>
            </a:xfrm>
            <a:prstGeom prst="rect">
              <a:avLst/>
            </a:prstGeom>
          </p:spPr>
        </p:pic>
        <p:sp>
          <p:nvSpPr>
            <p:cNvPr id="30" name="Text 20"/>
            <p:cNvSpPr/>
            <p:nvPr/>
          </p:nvSpPr>
          <p:spPr>
            <a:xfrm>
              <a:off x="915814" y="4325615"/>
              <a:ext cx="4185270" cy="22979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1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One </a:t>
              </a:r>
              <a:r>
                <a:rPr lang="en-US" sz="115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creates</a:t>
              </a:r>
              <a:r>
                <a:rPr lang="en-US" sz="11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. One </a:t>
              </a:r>
              <a:r>
                <a:rPr lang="en-US" sz="115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analyzes</a:t>
              </a:r>
              <a:r>
                <a:rPr lang="en-US" sz="11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. Both are useful for different tasks!</a:t>
              </a:r>
              <a:endParaRPr lang="en-US" sz="11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96119" y="960016"/>
            <a:ext cx="8151763" cy="3773239"/>
          </a:xfrm>
          <a:prstGeom prst="roundRect">
            <a:avLst>
              <a:gd name="adj" fmla="val 44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964778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12651" y="1029816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66379" y="1029816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6139" y="1029816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51662" y="1029816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0881" y="1306934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12651" y="1371972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66379" y="1371972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a birthday poem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6139" y="1371972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51662" y="1371972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new text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0881" y="1649090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651" y="1714128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66379" y="1714128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Sort party photos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6139" y="1714128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Discriminative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51662" y="1714128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Classifying/analyzing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0881" y="1991246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2651" y="2056284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66379" y="2056284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Draw birthday card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6139" y="2056284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51662" y="2056284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new image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0881" y="2333402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12651" y="2398440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66379" y="2398440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comment sentiment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6139" y="2398440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Discriminative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51662" y="2398440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Classifying (positive/negative)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0881" y="2675558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2651" y="2740596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66379" y="2740596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Compose birthday song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116139" y="2740596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51662" y="2740596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new audio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0881" y="3017713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12651" y="3082751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266379" y="3082751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Count people in photos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116139" y="3082751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Discriminative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51662" y="3082751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Analyzing/measuring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0881" y="3359869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12651" y="3424907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266379" y="3424907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invitation text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116139" y="3424907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151662" y="3424907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new text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0881" y="3702025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12651" y="3767063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266379" y="3767063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gift count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16139" y="3767063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Discriminative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151662" y="3767063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Predicting (Regression from S4)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00881" y="4044181"/>
            <a:ext cx="8142238" cy="342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12651" y="4109219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266379" y="4109219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coloring page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116139" y="4109219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151662" y="4109219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Creating new image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00881" y="4386337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12651" y="4451375"/>
            <a:ext cx="42572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266379" y="4451375"/>
            <a:ext cx="262175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voice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116139" y="4451375"/>
            <a:ext cx="180751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Discriminative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151662" y="4451375"/>
            <a:ext cx="2379836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Classifying/recognizing</a:t>
            </a:r>
            <a:endParaRPr lang="en-US" sz="1050" dirty="0"/>
          </a:p>
        </p:txBody>
      </p:sp>
      <p:sp>
        <p:nvSpPr>
          <p:cNvPr id="60" name="Text 0">
            <a:extLst>
              <a:ext uri="{FF2B5EF4-FFF2-40B4-BE49-F238E27FC236}">
                <a16:creationId xmlns:a16="http://schemas.microsoft.com/office/drawing/2014/main" id="{7334B384-6F3F-4945-8731-EE0EB9D81492}"/>
              </a:ext>
            </a:extLst>
          </p:cNvPr>
          <p:cNvSpPr/>
          <p:nvPr/>
        </p:nvSpPr>
        <p:spPr>
          <a:xfrm>
            <a:off x="496119" y="448642"/>
            <a:ext cx="5643042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Mini Activity 1: Generative or Discriminative?</a:t>
            </a:r>
            <a:endParaRPr lang="en-US" sz="2050" dirty="0"/>
          </a:p>
        </p:txBody>
      </p:sp>
      <p:sp>
        <p:nvSpPr>
          <p:cNvPr id="61" name="Text 1">
            <a:extLst>
              <a:ext uri="{FF2B5EF4-FFF2-40B4-BE49-F238E27FC236}">
                <a16:creationId xmlns:a16="http://schemas.microsoft.com/office/drawing/2014/main" id="{7B52BA22-5C4D-84B9-DF04-D1F4D01937F1}"/>
              </a:ext>
            </a:extLst>
          </p:cNvPr>
          <p:cNvSpPr/>
          <p:nvPr/>
        </p:nvSpPr>
        <p:spPr>
          <a:xfrm>
            <a:off x="496119" y="760975"/>
            <a:ext cx="8151763" cy="19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birthday-related task, decide: Would you use </a:t>
            </a: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(create) or </a:t>
            </a: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Discriminative AI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(analyze/classify)?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  <p:bldP spid="27" grpId="0" animBg="1"/>
      <p:bldP spid="32" grpId="0" animBg="1"/>
      <p:bldP spid="33" grpId="0" animBg="1"/>
      <p:bldP spid="37" grpId="0" animBg="1"/>
      <p:bldP spid="38" grpId="0" animBg="1"/>
      <p:bldP spid="42" grpId="0" animBg="1"/>
      <p:bldP spid="43" grpId="0" animBg="1"/>
      <p:bldP spid="47" grpId="0" animBg="1"/>
      <p:bldP spid="48" grpId="0" animBg="1"/>
      <p:bldP spid="52" grpId="0" animBg="1"/>
      <p:bldP spid="53" grpId="0" animBg="1"/>
      <p:bldP spid="57" grpId="0" animBg="1"/>
      <p:bldP spid="5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91196"/>
            <a:ext cx="454632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Does Generative AI Work?</a:t>
            </a:r>
            <a:endParaRPr lang="en-US" sz="2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51D8E61-B5AA-D125-6A5B-C382FBD9FC81}"/>
              </a:ext>
            </a:extLst>
          </p:cNvPr>
          <p:cNvGrpSpPr/>
          <p:nvPr/>
        </p:nvGrpSpPr>
        <p:grpSpPr>
          <a:xfrm>
            <a:off x="496119" y="2226766"/>
            <a:ext cx="2717229" cy="813942"/>
            <a:chOff x="496119" y="2226766"/>
            <a:chExt cx="2717229" cy="813942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119" y="2226766"/>
              <a:ext cx="2717229" cy="496119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620092" y="284685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STEP 1: TRAINING</a:t>
              </a:r>
              <a:endParaRPr lang="en-US" sz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ADAEF4-F806-06A0-89BD-D94A3556E8F1}"/>
              </a:ext>
            </a:extLst>
          </p:cNvPr>
          <p:cNvGrpSpPr/>
          <p:nvPr/>
        </p:nvGrpSpPr>
        <p:grpSpPr>
          <a:xfrm>
            <a:off x="3213348" y="2226766"/>
            <a:ext cx="2717229" cy="813942"/>
            <a:chOff x="3213348" y="2226766"/>
            <a:chExt cx="2717229" cy="813942"/>
          </a:xfrm>
        </p:grpSpPr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13348" y="2226766"/>
              <a:ext cx="2717229" cy="496119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3337322" y="284685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STEP 2: PATTERNS</a:t>
              </a:r>
              <a:endParaRPr lang="en-US" sz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C6DF9A4-7FDA-EDF4-3BBD-E58C339F1EB1}"/>
              </a:ext>
            </a:extLst>
          </p:cNvPr>
          <p:cNvGrpSpPr/>
          <p:nvPr/>
        </p:nvGrpSpPr>
        <p:grpSpPr>
          <a:xfrm>
            <a:off x="5930578" y="2226766"/>
            <a:ext cx="2717229" cy="813942"/>
            <a:chOff x="5930578" y="2226766"/>
            <a:chExt cx="2717229" cy="813942"/>
          </a:xfrm>
        </p:grpSpPr>
        <p:pic>
          <p:nvPicPr>
            <p:cNvPr id="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30578" y="2226766"/>
              <a:ext cx="2717229" cy="496119"/>
            </a:xfrm>
            <a:prstGeom prst="rect">
              <a:avLst/>
            </a:prstGeom>
          </p:spPr>
        </p:pic>
        <p:sp>
          <p:nvSpPr>
            <p:cNvPr id="8" name="Text 3"/>
            <p:cNvSpPr/>
            <p:nvPr/>
          </p:nvSpPr>
          <p:spPr>
            <a:xfrm>
              <a:off x="6054551" y="2846859"/>
              <a:ext cx="1616348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STEP 3: GENERATION</a:t>
              </a:r>
              <a:endParaRPr lang="en-US" sz="1200" dirty="0"/>
            </a:p>
          </p:txBody>
        </p:sp>
      </p:grpSp>
      <p:sp>
        <p:nvSpPr>
          <p:cNvPr id="9" name="Text 4"/>
          <p:cNvSpPr/>
          <p:nvPr/>
        </p:nvSpPr>
        <p:spPr>
          <a:xfrm>
            <a:off x="496119" y="3304208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23639"/>
            <a:ext cx="382614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Remix Artist Analogy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925119" y="997223"/>
            <a:ext cx="4722763" cy="1144786"/>
          </a:xfrm>
          <a:prstGeom prst="roundRect">
            <a:avLst>
              <a:gd name="adj" fmla="val 1625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3939406" y="1011510"/>
            <a:ext cx="4694188" cy="123974"/>
          </a:xfrm>
          <a:prstGeom prst="roundRect">
            <a:avLst>
              <a:gd name="adj" fmla="val 117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063380" y="1259458"/>
            <a:ext cx="444624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 (Training)</a:t>
            </a:r>
            <a:endParaRPr lang="en-US" sz="12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listen to everything — pop, rock, jazz, classical — and study how songs are built.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1154" y="2265983"/>
            <a:ext cx="4536728" cy="1164952"/>
          </a:xfrm>
          <a:prstGeom prst="roundRect">
            <a:avLst>
              <a:gd name="adj" fmla="val 159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25441" y="2280270"/>
            <a:ext cx="4508153" cy="123974"/>
          </a:xfrm>
          <a:prstGeom prst="roundRect">
            <a:avLst>
              <a:gd name="adj" fmla="val 117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249415" y="252821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Step 2 (Patterns)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49415" y="2796480"/>
            <a:ext cx="4260205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pick up the patterns — melodies, chords, rhythms, rhymes.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189" y="3554909"/>
            <a:ext cx="4350693" cy="1164952"/>
          </a:xfrm>
          <a:prstGeom prst="roundRect">
            <a:avLst>
              <a:gd name="adj" fmla="val 1597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311476" y="3569196"/>
            <a:ext cx="4322118" cy="123974"/>
          </a:xfrm>
          <a:prstGeom prst="roundRect">
            <a:avLst>
              <a:gd name="adj" fmla="val 117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435450" y="381714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Step 3 (Generation)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35450" y="4085406"/>
            <a:ext cx="407417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They create something brand new — original-sounding, but built from everything they've absorbed.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7271"/>
            <a:ext cx="505070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Point: AI Doesn't "Understand"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0284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240831"/>
            <a:ext cx="8151763" cy="1635323"/>
          </a:xfrm>
          <a:prstGeom prst="roundRect">
            <a:avLst>
              <a:gd name="adj" fmla="val 113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224559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4929" y="2324770"/>
            <a:ext cx="31067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Mistake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84352" y="2324770"/>
            <a:ext cx="45347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0881" y="2652043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4929" y="2731219"/>
            <a:ext cx="31067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"AI understands what it's creating"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84352" y="2731219"/>
            <a:ext cx="45347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only finds patterns, but doesn't understand meaning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881" y="305849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4929" y="3137669"/>
            <a:ext cx="31067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"AI has original ideas"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84352" y="3137669"/>
            <a:ext cx="45347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only remixes patterns it has seen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881" y="346494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4929" y="3544119"/>
            <a:ext cx="31067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"AI knows what words mean"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84352" y="3544119"/>
            <a:ext cx="45347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only knows which words usually go together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58813"/>
            <a:ext cx="639841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Example - When AI writes a birthday poem: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9136" y="1494383"/>
            <a:ext cx="14288" cy="1736154"/>
          </a:xfrm>
          <a:prstGeom prst="roundRect">
            <a:avLst>
              <a:gd name="adj" fmla="val 130228"/>
            </a:avLst>
          </a:prstGeom>
          <a:solidFill>
            <a:srgbClr val="CFD2D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27" y="1587401"/>
            <a:ext cx="93018" cy="9301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9DC20D1-C3FD-6CC5-F735-CD7FF63AAA52}"/>
              </a:ext>
            </a:extLst>
          </p:cNvPr>
          <p:cNvGrpSpPr/>
          <p:nvPr/>
        </p:nvGrpSpPr>
        <p:grpSpPr>
          <a:xfrm>
            <a:off x="574849" y="1537022"/>
            <a:ext cx="2998589" cy="193849"/>
            <a:chOff x="574849" y="1537022"/>
            <a:chExt cx="2998589" cy="193849"/>
          </a:xfrm>
        </p:grpSpPr>
        <p:sp>
          <p:nvSpPr>
            <p:cNvPr id="4" name="Shape 2"/>
            <p:cNvSpPr/>
            <p:nvPr/>
          </p:nvSpPr>
          <p:spPr>
            <a:xfrm>
              <a:off x="574849" y="1626766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1085329" y="1537022"/>
              <a:ext cx="2488109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It doesn't know what a birthday </a:t>
              </a:r>
              <a:r>
                <a:rPr lang="en-US" sz="1200" i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is</a:t>
              </a:r>
              <a:endParaRPr lang="en-US" sz="1200" dirty="0"/>
            </a:p>
          </p:txBody>
        </p:sp>
      </p:grp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27" y="2083445"/>
            <a:ext cx="93018" cy="9301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884E7C6-34CC-BC3A-78C3-B7B2A6342176}"/>
              </a:ext>
            </a:extLst>
          </p:cNvPr>
          <p:cNvGrpSpPr/>
          <p:nvPr/>
        </p:nvGrpSpPr>
        <p:grpSpPr>
          <a:xfrm>
            <a:off x="574849" y="2033067"/>
            <a:ext cx="3376984" cy="193849"/>
            <a:chOff x="574849" y="2033067"/>
            <a:chExt cx="3376984" cy="193849"/>
          </a:xfrm>
        </p:grpSpPr>
        <p:sp>
          <p:nvSpPr>
            <p:cNvPr id="7" name="Shape 4"/>
            <p:cNvSpPr/>
            <p:nvPr/>
          </p:nvSpPr>
          <p:spPr>
            <a:xfrm>
              <a:off x="574849" y="2122810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5"/>
            <p:cNvSpPr/>
            <p:nvPr/>
          </p:nvSpPr>
          <p:spPr>
            <a:xfrm>
              <a:off x="1085329" y="2033067"/>
              <a:ext cx="2866504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It doesn't know what friendship </a:t>
              </a:r>
              <a:r>
                <a:rPr lang="en-US" sz="1200" i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means</a:t>
              </a:r>
              <a:endParaRPr lang="en-US" sz="1200" dirty="0"/>
            </a:p>
          </p:txBody>
        </p:sp>
      </p:grp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27" y="2579489"/>
            <a:ext cx="93018" cy="9301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7ACCA05-C7F5-BF96-9296-BC09519C0835}"/>
              </a:ext>
            </a:extLst>
          </p:cNvPr>
          <p:cNvGrpSpPr/>
          <p:nvPr/>
        </p:nvGrpSpPr>
        <p:grpSpPr>
          <a:xfrm>
            <a:off x="574849" y="2529111"/>
            <a:ext cx="3550220" cy="193849"/>
            <a:chOff x="574849" y="2529111"/>
            <a:chExt cx="3550220" cy="193849"/>
          </a:xfrm>
        </p:grpSpPr>
        <p:sp>
          <p:nvSpPr>
            <p:cNvPr id="10" name="Shape 6"/>
            <p:cNvSpPr/>
            <p:nvPr/>
          </p:nvSpPr>
          <p:spPr>
            <a:xfrm>
              <a:off x="574849" y="2618854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7"/>
            <p:cNvSpPr/>
            <p:nvPr/>
          </p:nvSpPr>
          <p:spPr>
            <a:xfrm>
              <a:off x="1085329" y="2529111"/>
              <a:ext cx="3039740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It doesn't know why birthdays are </a:t>
              </a:r>
              <a:r>
                <a:rPr lang="en-US" sz="1200" i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special</a:t>
              </a:r>
              <a:endParaRPr lang="en-US" sz="1200" dirty="0"/>
            </a:p>
          </p:txBody>
        </p:sp>
      </p:grp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27" y="3075533"/>
            <a:ext cx="93018" cy="93018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8FE19FD4-0814-FAAD-2B36-5D45095DA832}"/>
              </a:ext>
            </a:extLst>
          </p:cNvPr>
          <p:cNvGrpSpPr/>
          <p:nvPr/>
        </p:nvGrpSpPr>
        <p:grpSpPr>
          <a:xfrm>
            <a:off x="574849" y="3025155"/>
            <a:ext cx="6963891" cy="193849"/>
            <a:chOff x="574849" y="3025155"/>
            <a:chExt cx="6963891" cy="193849"/>
          </a:xfrm>
        </p:grpSpPr>
        <p:sp>
          <p:nvSpPr>
            <p:cNvPr id="13" name="Shape 8"/>
            <p:cNvSpPr/>
            <p:nvPr/>
          </p:nvSpPr>
          <p:spPr>
            <a:xfrm>
              <a:off x="574849" y="3114898"/>
              <a:ext cx="248022" cy="14288"/>
            </a:xfrm>
            <a:prstGeom prst="roundRect">
              <a:avLst>
                <a:gd name="adj" fmla="val 130228"/>
              </a:avLst>
            </a:prstGeom>
            <a:solidFill>
              <a:srgbClr val="CFD2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9"/>
            <p:cNvSpPr/>
            <p:nvPr/>
          </p:nvSpPr>
          <p:spPr>
            <a:xfrm>
              <a:off x="1085329" y="3025155"/>
              <a:ext cx="6453411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It's seen millions of texts where "birthday," "cake," and "friend" naturally cluster together.</a:t>
              </a:r>
              <a:endParaRPr lang="en-US" sz="1200" dirty="0"/>
            </a:p>
          </p:txBody>
        </p:sp>
      </p:grpSp>
      <p:sp>
        <p:nvSpPr>
          <p:cNvPr id="16" name="Text 10"/>
          <p:cNvSpPr/>
          <p:nvPr/>
        </p:nvSpPr>
        <p:spPr>
          <a:xfrm>
            <a:off x="496119" y="3370064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D794B9-F05B-BDBF-BCF1-E4BA2805DDE7}"/>
              </a:ext>
            </a:extLst>
          </p:cNvPr>
          <p:cNvGrpSpPr/>
          <p:nvPr/>
        </p:nvGrpSpPr>
        <p:grpSpPr>
          <a:xfrm>
            <a:off x="496119" y="3708053"/>
            <a:ext cx="8151763" cy="576635"/>
            <a:chOff x="496119" y="3708053"/>
            <a:chExt cx="8151763" cy="576635"/>
          </a:xfrm>
        </p:grpSpPr>
        <p:sp>
          <p:nvSpPr>
            <p:cNvPr id="17" name="Shape 11"/>
            <p:cNvSpPr/>
            <p:nvPr/>
          </p:nvSpPr>
          <p:spPr>
            <a:xfrm>
              <a:off x="496119" y="3708053"/>
              <a:ext cx="8151763" cy="576635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9F89B64-EC24-D743-07A5-24DB25E3D9FD}"/>
                </a:ext>
              </a:extLst>
            </p:cNvPr>
            <p:cNvGrpSpPr/>
            <p:nvPr/>
          </p:nvGrpSpPr>
          <p:grpSpPr>
            <a:xfrm>
              <a:off x="620092" y="3862983"/>
              <a:ext cx="7903815" cy="248096"/>
              <a:chOff x="620092" y="3862983"/>
              <a:chExt cx="7903815" cy="248096"/>
            </a:xfrm>
          </p:grpSpPr>
          <p:pic>
            <p:nvPicPr>
              <p:cNvPr id="18" name="Image 4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0092" y="3903538"/>
                <a:ext cx="193774" cy="155004"/>
              </a:xfrm>
              <a:prstGeom prst="rect">
                <a:avLst/>
              </a:prstGeom>
            </p:spPr>
          </p:pic>
          <p:sp>
            <p:nvSpPr>
              <p:cNvPr id="19" name="Text 12"/>
              <p:cNvSpPr/>
              <p:nvPr/>
            </p:nvSpPr>
            <p:spPr>
              <a:xfrm>
                <a:off x="937840" y="3862983"/>
                <a:ext cx="7586067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Generative AI is a </a:t>
                </a:r>
                <a:r>
                  <a:rPr lang="en-US" sz="1200" b="1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PATTERN REMIXER</a:t>
                </a:r>
                <a:r>
                  <a:rPr lang="en-US" sz="1200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, not a </a:t>
                </a:r>
                <a:r>
                  <a:rPr lang="en-US" sz="1200" b="1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THINKER</a:t>
                </a:r>
                <a:r>
                  <a:rPr lang="en-US" sz="1200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.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88889"/>
            <a:ext cx="331179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Types of Generative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224460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412" y="2788667"/>
            <a:ext cx="167432" cy="167432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927F690-1078-7C56-D86B-BA0EFFC087E5}"/>
              </a:ext>
            </a:extLst>
          </p:cNvPr>
          <p:cNvGrpSpPr/>
          <p:nvPr/>
        </p:nvGrpSpPr>
        <p:grpSpPr>
          <a:xfrm>
            <a:off x="496119" y="2562448"/>
            <a:ext cx="2634555" cy="992088"/>
            <a:chOff x="496119" y="2562448"/>
            <a:chExt cx="2634555" cy="992088"/>
          </a:xfrm>
        </p:grpSpPr>
        <p:sp>
          <p:nvSpPr>
            <p:cNvPr id="4" name="Shape 2"/>
            <p:cNvSpPr/>
            <p:nvPr/>
          </p:nvSpPr>
          <p:spPr>
            <a:xfrm>
              <a:off x="496119" y="2562448"/>
              <a:ext cx="2634555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D61EB59-D843-4A69-BA83-C55ABC954242}"/>
                </a:ext>
              </a:extLst>
            </p:cNvPr>
            <p:cNvGrpSpPr/>
            <p:nvPr/>
          </p:nvGrpSpPr>
          <p:grpSpPr>
            <a:xfrm>
              <a:off x="620092" y="2686422"/>
              <a:ext cx="1550566" cy="689893"/>
              <a:chOff x="620092" y="2686422"/>
              <a:chExt cx="1550566" cy="689893"/>
            </a:xfrm>
          </p:grpSpPr>
          <p:pic>
            <p:nvPicPr>
              <p:cNvPr id="5" name="Image 0" descr="preencoded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0092" y="2686422"/>
                <a:ext cx="372070" cy="372070"/>
              </a:xfrm>
              <a:prstGeom prst="rect">
                <a:avLst/>
              </a:prstGeom>
            </p:spPr>
          </p:pic>
          <p:sp>
            <p:nvSpPr>
              <p:cNvPr id="7" name="Text 3"/>
              <p:cNvSpPr/>
              <p:nvPr/>
            </p:nvSpPr>
            <p:spPr>
              <a:xfrm>
                <a:off x="620092" y="3182466"/>
                <a:ext cx="1550566" cy="1938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50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 Slab" pitchFamily="34" charset="0"/>
                    <a:ea typeface="Roboto Slab" pitchFamily="34" charset="-122"/>
                    <a:cs typeface="Roboto Slab" pitchFamily="34" charset="-120"/>
                  </a:rPr>
                  <a:t>TEXT</a:t>
                </a:r>
                <a:endParaRPr lang="en-US" sz="1200" dirty="0"/>
              </a:p>
            </p:txBody>
          </p:sp>
        </p:grpSp>
      </p:grp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0941" y="2788667"/>
            <a:ext cx="167432" cy="16743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083479B-FF09-BEA0-E902-6DE050971F8D}"/>
              </a:ext>
            </a:extLst>
          </p:cNvPr>
          <p:cNvGrpSpPr/>
          <p:nvPr/>
        </p:nvGrpSpPr>
        <p:grpSpPr>
          <a:xfrm>
            <a:off x="3254648" y="2562448"/>
            <a:ext cx="2634630" cy="992088"/>
            <a:chOff x="3254648" y="2562448"/>
            <a:chExt cx="2634630" cy="992088"/>
          </a:xfrm>
        </p:grpSpPr>
        <p:sp>
          <p:nvSpPr>
            <p:cNvPr id="8" name="Shape 4"/>
            <p:cNvSpPr/>
            <p:nvPr/>
          </p:nvSpPr>
          <p:spPr>
            <a:xfrm>
              <a:off x="3254648" y="2562448"/>
              <a:ext cx="2634630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78622" y="2686422"/>
              <a:ext cx="372070" cy="372070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3378622" y="3182466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IMAGE</a:t>
              </a:r>
              <a:endParaRPr lang="en-US" sz="1200" dirty="0"/>
            </a:p>
          </p:txBody>
        </p:sp>
      </p:grp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9545" y="2788667"/>
            <a:ext cx="167432" cy="16743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5DB255A8-085C-323C-8D4B-AD8EE16516D9}"/>
              </a:ext>
            </a:extLst>
          </p:cNvPr>
          <p:cNvGrpSpPr/>
          <p:nvPr/>
        </p:nvGrpSpPr>
        <p:grpSpPr>
          <a:xfrm>
            <a:off x="6013252" y="2562448"/>
            <a:ext cx="2634555" cy="992088"/>
            <a:chOff x="6013252" y="2562448"/>
            <a:chExt cx="2634555" cy="992088"/>
          </a:xfrm>
        </p:grpSpPr>
        <p:sp>
          <p:nvSpPr>
            <p:cNvPr id="12" name="Shape 6"/>
            <p:cNvSpPr/>
            <p:nvPr/>
          </p:nvSpPr>
          <p:spPr>
            <a:xfrm>
              <a:off x="6013252" y="2562448"/>
              <a:ext cx="2634555" cy="992088"/>
            </a:xfrm>
            <a:prstGeom prst="roundRect">
              <a:avLst>
                <a:gd name="adj" fmla="val 1876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2CB9594-7DA2-65F5-64AD-A931558F1E07}"/>
                </a:ext>
              </a:extLst>
            </p:cNvPr>
            <p:cNvGrpSpPr/>
            <p:nvPr/>
          </p:nvGrpSpPr>
          <p:grpSpPr>
            <a:xfrm>
              <a:off x="6137225" y="2686422"/>
              <a:ext cx="2386608" cy="744140"/>
              <a:chOff x="6137225" y="2686422"/>
              <a:chExt cx="2386608" cy="744140"/>
            </a:xfrm>
          </p:grpSpPr>
          <p:pic>
            <p:nvPicPr>
              <p:cNvPr id="13" name="Image 4" descr="preencoded.png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37225" y="2686422"/>
                <a:ext cx="372070" cy="372070"/>
              </a:xfrm>
              <a:prstGeom prst="rect">
                <a:avLst/>
              </a:prstGeom>
            </p:spPr>
          </p:pic>
          <p:sp>
            <p:nvSpPr>
              <p:cNvPr id="15" name="Text 7"/>
              <p:cNvSpPr/>
              <p:nvPr/>
            </p:nvSpPr>
            <p:spPr>
              <a:xfrm>
                <a:off x="6137225" y="3182466"/>
                <a:ext cx="2386608" cy="24809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1950"/>
                  </a:lnSpc>
                  <a:buNone/>
                </a:pPr>
                <a:r>
                  <a:rPr lang="en-US" sz="1200" b="1" dirty="0">
                    <a:solidFill>
                      <a:srgbClr val="15213F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AUDIO</a:t>
                </a:r>
                <a:endParaRPr lang="en-US" sz="12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72220"/>
            <a:ext cx="38210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Training Looks Like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207791"/>
            <a:ext cx="2634555" cy="1363489"/>
          </a:xfrm>
          <a:prstGeom prst="roundRect">
            <a:avLst>
              <a:gd name="adj" fmla="val 1365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34380" y="234605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380" y="2614315"/>
            <a:ext cx="235803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Trained on: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Books, articles, websites, social media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380" y="3184922"/>
            <a:ext cx="235803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much?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Billions of pages!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54648" y="2207791"/>
            <a:ext cx="2634630" cy="1363489"/>
          </a:xfrm>
          <a:prstGeom prst="roundRect">
            <a:avLst>
              <a:gd name="adj" fmla="val 1365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92909" y="234605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92909" y="2614315"/>
            <a:ext cx="2358107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Trained on: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Photos, drawings, paintings, designs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92909" y="3184922"/>
            <a:ext cx="2358107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much?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Millions of images!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13252" y="2207791"/>
            <a:ext cx="2634555" cy="1363489"/>
          </a:xfrm>
          <a:prstGeom prst="roundRect">
            <a:avLst>
              <a:gd name="adj" fmla="val 1365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51513" y="234605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Audio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51513" y="2614315"/>
            <a:ext cx="235803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Trained on: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Songs, speeches, podcasts, sound effects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51513" y="3184922"/>
            <a:ext cx="235803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much?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Millions of hours!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1701"/>
            <a:ext cx="6105897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🎮</a:t>
            </a: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Mini Activity : Plan a Birthday Artifact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8155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mission: You're going to create something special for a friend's birthday using AI. First, let's plan!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669182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1: Choose what you want to create (pick ONE):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6119" y="2056805"/>
            <a:ext cx="2634555" cy="2454994"/>
          </a:xfrm>
          <a:prstGeom prst="roundRect">
            <a:avLst>
              <a:gd name="adj" fmla="val 758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4380" y="219506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380" y="2463329"/>
            <a:ext cx="2358033" cy="1910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funny birthday poem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heartfelt birthday message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creative invitation 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birthday-themed joke collection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short birthday story featuring your friend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54648" y="2056805"/>
            <a:ext cx="2634630" cy="2454994"/>
          </a:xfrm>
          <a:prstGeom prst="roundRect">
            <a:avLst>
              <a:gd name="adj" fmla="val 758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92909" y="219506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92909" y="2463329"/>
            <a:ext cx="2358107" cy="166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custom birthday card 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coloring page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birthday poster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personalized avatar for your friend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digital gift tag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13252" y="2056805"/>
            <a:ext cx="2634555" cy="2454994"/>
          </a:xfrm>
          <a:prstGeom prst="roundRect">
            <a:avLst>
              <a:gd name="adj" fmla="val 758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51513" y="219506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AUDIO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51513" y="2463329"/>
            <a:ext cx="2358033" cy="1662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silly birthday song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birthday rap 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voice message "from" a favorite character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Birthday sound effects</a:t>
            </a:r>
            <a:endParaRPr lang="en-US" sz="110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personalized birthday jingle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186"/>
            <a:ext cx="5225504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🎮</a:t>
            </a: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Mini Activity : Plan Your Prompt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35497"/>
            <a:ext cx="4013895" cy="1428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1353D19A-8B06-A643-1FC8-40AC842B498B}"/>
              </a:ext>
            </a:extLst>
          </p:cNvPr>
          <p:cNvGrpSpPr/>
          <p:nvPr/>
        </p:nvGrpSpPr>
        <p:grpSpPr>
          <a:xfrm>
            <a:off x="496119" y="1039044"/>
            <a:ext cx="4013895" cy="803373"/>
            <a:chOff x="496119" y="1039044"/>
            <a:chExt cx="4013895" cy="803373"/>
          </a:xfrm>
        </p:grpSpPr>
        <p:sp>
          <p:nvSpPr>
            <p:cNvPr id="3" name="Text 1"/>
            <p:cNvSpPr/>
            <p:nvPr/>
          </p:nvSpPr>
          <p:spPr>
            <a:xfrm>
              <a:off x="496119" y="1039044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01</a:t>
              </a:r>
              <a:endParaRPr lang="en-US" sz="9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496119" y="132605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Describe your idea</a:t>
              </a:r>
              <a:endParaRPr lang="en-US" sz="1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496119" y="1594321"/>
              <a:ext cx="4013895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Write your idea in 1-2 sentences.</a:t>
              </a:r>
              <a:endParaRPr lang="en-US" sz="1200" dirty="0"/>
            </a:p>
          </p:txBody>
        </p:sp>
      </p:grp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7" y="1235497"/>
            <a:ext cx="4013895" cy="1428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EEDA1AE-B286-00D4-5C5A-3F3D09189C86}"/>
              </a:ext>
            </a:extLst>
          </p:cNvPr>
          <p:cNvGrpSpPr/>
          <p:nvPr/>
        </p:nvGrpSpPr>
        <p:grpSpPr>
          <a:xfrm>
            <a:off x="4633987" y="1039044"/>
            <a:ext cx="4013895" cy="1051470"/>
            <a:chOff x="4633987" y="1039044"/>
            <a:chExt cx="4013895" cy="1051470"/>
          </a:xfrm>
        </p:grpSpPr>
        <p:sp>
          <p:nvSpPr>
            <p:cNvPr id="7" name="Text 4"/>
            <p:cNvSpPr/>
            <p:nvPr/>
          </p:nvSpPr>
          <p:spPr>
            <a:xfrm>
              <a:off x="4633987" y="1039044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02</a:t>
              </a:r>
              <a:endParaRPr lang="en-US" sz="9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4633987" y="1326059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Choose your type</a:t>
              </a:r>
              <a:endParaRPr lang="en-US" sz="12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4633987" y="1594321"/>
              <a:ext cx="4013895" cy="4961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TYPE of GenAI will you need? (circle one):</a:t>
              </a:r>
            </a:p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TEXT | IMAGE | AUDIO</a:t>
              </a:r>
              <a:endParaRPr lang="en-US" sz="1200" dirty="0"/>
            </a:p>
          </p:txBody>
        </p:sp>
      </p:grp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2491606"/>
            <a:ext cx="8151763" cy="1428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F9CEB98-5C60-3D6E-2D1F-FF48F0F0E577}"/>
              </a:ext>
            </a:extLst>
          </p:cNvPr>
          <p:cNvGrpSpPr/>
          <p:nvPr/>
        </p:nvGrpSpPr>
        <p:grpSpPr>
          <a:xfrm>
            <a:off x="496119" y="2307506"/>
            <a:ext cx="8151763" cy="1876201"/>
            <a:chOff x="496119" y="2307506"/>
            <a:chExt cx="8151763" cy="1876201"/>
          </a:xfrm>
        </p:grpSpPr>
        <p:sp>
          <p:nvSpPr>
            <p:cNvPr id="11" name="Text 7"/>
            <p:cNvSpPr/>
            <p:nvPr/>
          </p:nvSpPr>
          <p:spPr>
            <a:xfrm>
              <a:off x="496119" y="2307506"/>
              <a:ext cx="248022" cy="15500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950" dirty="0">
                  <a:solidFill>
                    <a:srgbClr val="15213F"/>
                  </a:solidFill>
                  <a:latin typeface="Roboto Slab Light" pitchFamily="34" charset="0"/>
                  <a:ea typeface="Roboto Slab Light" pitchFamily="34" charset="-122"/>
                  <a:cs typeface="Roboto Slab Light" pitchFamily="34" charset="-120"/>
                </a:rPr>
                <a:t>03</a:t>
              </a:r>
              <a:endParaRPr lang="en-US" sz="95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496119" y="2594521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Draft your prompt</a:t>
              </a:r>
              <a:endParaRPr lang="en-US" sz="12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496119" y="2862783"/>
              <a:ext cx="8151763" cy="13209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 algn="l">
                <a:lnSpc>
                  <a:spcPts val="1950"/>
                </a:lnSpc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Write a draft prompt here. Be specific! Include:</a:t>
              </a:r>
            </a:p>
            <a:p>
              <a:pPr marL="171450" indent="-171450" algn="l">
                <a:lnSpc>
                  <a:spcPts val="1950"/>
                </a:lnSpc>
                <a:buFont typeface="Arial" panose="020B0604020202020204" pitchFamily="34" charset="0"/>
                <a:buChar char="•"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What you want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(poem, card, song)</a:t>
              </a:r>
            </a:p>
            <a:p>
              <a:pPr marL="171450" indent="-171450" algn="l">
                <a:lnSpc>
                  <a:spcPts val="1950"/>
                </a:lnSpc>
                <a:buFont typeface="Arial" panose="020B0604020202020204" pitchFamily="34" charset="0"/>
                <a:buChar char="•"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Style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(funny, heartfelt, silly, cute, formal)</a:t>
              </a:r>
            </a:p>
            <a:p>
              <a:pPr marL="171450" indent="-171450" algn="l">
                <a:lnSpc>
                  <a:spcPts val="1950"/>
                </a:lnSpc>
                <a:buFont typeface="Arial" panose="020B0604020202020204" pitchFamily="34" charset="0"/>
                <a:buChar char="•"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Details about your friend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(name, age, hobbies, favorite things, inside jokes)</a:t>
              </a:r>
            </a:p>
            <a:p>
              <a:pPr marL="171450" indent="-171450" algn="l">
                <a:lnSpc>
                  <a:spcPts val="1950"/>
                </a:lnSpc>
                <a:buFont typeface="Arial" panose="020B0604020202020204" pitchFamily="34" charset="0"/>
                <a:buChar char="•"/>
              </a:pPr>
              <a:r>
                <a:rPr lang="en-US" sz="1200" b="1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Format</a:t>
              </a:r>
              <a:r>
                <a:rPr lang="en-US" sz="12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(how long, what it should include)</a:t>
              </a:r>
              <a:endParaRPr lang="en-US" sz="1200" dirty="0"/>
            </a:p>
          </p:txBody>
        </p:sp>
      </p:grpSp>
      <p:sp>
        <p:nvSpPr>
          <p:cNvPr id="15" name="Text 10"/>
          <p:cNvSpPr/>
          <p:nvPr/>
        </p:nvSpPr>
        <p:spPr>
          <a:xfrm>
            <a:off x="496119" y="3839617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A36F263-9BF7-0C08-64C8-E1D3752996D5}"/>
              </a:ext>
            </a:extLst>
          </p:cNvPr>
          <p:cNvGrpSpPr/>
          <p:nvPr/>
        </p:nvGrpSpPr>
        <p:grpSpPr>
          <a:xfrm>
            <a:off x="496119" y="4258121"/>
            <a:ext cx="8151763" cy="405320"/>
            <a:chOff x="496119" y="4258121"/>
            <a:chExt cx="8151763" cy="405320"/>
          </a:xfrm>
        </p:grpSpPr>
        <p:sp>
          <p:nvSpPr>
            <p:cNvPr id="16" name="Shape 11"/>
            <p:cNvSpPr/>
            <p:nvPr/>
          </p:nvSpPr>
          <p:spPr>
            <a:xfrm>
              <a:off x="496119" y="4258121"/>
              <a:ext cx="8151763" cy="405320"/>
            </a:xfrm>
            <a:prstGeom prst="roundRect">
              <a:avLst>
                <a:gd name="adj" fmla="val 3227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7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0092" y="4348311"/>
              <a:ext cx="193774" cy="155004"/>
            </a:xfrm>
            <a:prstGeom prst="rect">
              <a:avLst/>
            </a:prstGeom>
          </p:spPr>
        </p:pic>
        <p:sp>
          <p:nvSpPr>
            <p:cNvPr id="18" name="Text 12"/>
            <p:cNvSpPr/>
            <p:nvPr/>
          </p:nvSpPr>
          <p:spPr>
            <a:xfrm>
              <a:off x="937840" y="4332536"/>
              <a:ext cx="7586067" cy="2480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2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We'll bring this to life in our hands-on activity!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21569"/>
            <a:ext cx="4594175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Generative AI in Your Daily Life</a:t>
            </a:r>
            <a:endParaRPr lang="en-US" sz="24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D1D5C3-A62D-DB90-36C4-3B360C5F4E02}"/>
              </a:ext>
            </a:extLst>
          </p:cNvPr>
          <p:cNvGrpSpPr/>
          <p:nvPr/>
        </p:nvGrpSpPr>
        <p:grpSpPr>
          <a:xfrm>
            <a:off x="481831" y="2357140"/>
            <a:ext cx="2648843" cy="470371"/>
            <a:chOff x="481831" y="2357140"/>
            <a:chExt cx="2648843" cy="470371"/>
          </a:xfrm>
        </p:grpSpPr>
        <p:sp>
          <p:nvSpPr>
            <p:cNvPr id="3" name="Shape 1"/>
            <p:cNvSpPr/>
            <p:nvPr/>
          </p:nvSpPr>
          <p:spPr>
            <a:xfrm>
              <a:off x="496119" y="2357140"/>
              <a:ext cx="2634555" cy="470371"/>
            </a:xfrm>
            <a:prstGeom prst="roundRect">
              <a:avLst>
                <a:gd name="adj" fmla="val 1458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831" y="2357140"/>
              <a:ext cx="57150" cy="470371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677242" y="2495401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TikTok</a:t>
              </a:r>
              <a:endParaRPr lang="en-US" sz="12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4723F67-474F-334D-AE7B-CAC658DC24F5}"/>
              </a:ext>
            </a:extLst>
          </p:cNvPr>
          <p:cNvGrpSpPr/>
          <p:nvPr/>
        </p:nvGrpSpPr>
        <p:grpSpPr>
          <a:xfrm>
            <a:off x="3240360" y="2357140"/>
            <a:ext cx="2648918" cy="470371"/>
            <a:chOff x="3240360" y="2357140"/>
            <a:chExt cx="2648918" cy="470371"/>
          </a:xfrm>
        </p:grpSpPr>
        <p:sp>
          <p:nvSpPr>
            <p:cNvPr id="6" name="Shape 3"/>
            <p:cNvSpPr/>
            <p:nvPr/>
          </p:nvSpPr>
          <p:spPr>
            <a:xfrm>
              <a:off x="3254648" y="2357140"/>
              <a:ext cx="2634630" cy="470371"/>
            </a:xfrm>
            <a:prstGeom prst="roundRect">
              <a:avLst>
                <a:gd name="adj" fmla="val 1458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0360" y="2357140"/>
              <a:ext cx="57150" cy="470371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3435772" y="2495401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Instagram</a:t>
              </a:r>
              <a:endParaRPr lang="en-US" sz="12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F37B1B-90C3-57C7-1712-DA74258DA9FC}"/>
              </a:ext>
            </a:extLst>
          </p:cNvPr>
          <p:cNvGrpSpPr/>
          <p:nvPr/>
        </p:nvGrpSpPr>
        <p:grpSpPr>
          <a:xfrm>
            <a:off x="5998964" y="2357140"/>
            <a:ext cx="2648843" cy="470371"/>
            <a:chOff x="5998964" y="2357140"/>
            <a:chExt cx="2648843" cy="470371"/>
          </a:xfrm>
        </p:grpSpPr>
        <p:sp>
          <p:nvSpPr>
            <p:cNvPr id="9" name="Shape 5"/>
            <p:cNvSpPr/>
            <p:nvPr/>
          </p:nvSpPr>
          <p:spPr>
            <a:xfrm>
              <a:off x="6013252" y="2357140"/>
              <a:ext cx="2634555" cy="470371"/>
            </a:xfrm>
            <a:prstGeom prst="roundRect">
              <a:avLst>
                <a:gd name="adj" fmla="val 1458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0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8964" y="2357140"/>
              <a:ext cx="57150" cy="470371"/>
            </a:xfrm>
            <a:prstGeom prst="rect">
              <a:avLst/>
            </a:prstGeom>
          </p:spPr>
        </p:pic>
        <p:sp>
          <p:nvSpPr>
            <p:cNvPr id="11" name="Text 6"/>
            <p:cNvSpPr/>
            <p:nvPr/>
          </p:nvSpPr>
          <p:spPr>
            <a:xfrm>
              <a:off x="6194375" y="2495401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Snapchat</a:t>
              </a:r>
              <a:endParaRPr lang="en-US" sz="12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9CC7B4D-E23E-D661-B128-7B81F556EAB8}"/>
              </a:ext>
            </a:extLst>
          </p:cNvPr>
          <p:cNvGrpSpPr/>
          <p:nvPr/>
        </p:nvGrpSpPr>
        <p:grpSpPr>
          <a:xfrm>
            <a:off x="481831" y="2951485"/>
            <a:ext cx="2648843" cy="470371"/>
            <a:chOff x="481831" y="2951485"/>
            <a:chExt cx="2648843" cy="470371"/>
          </a:xfrm>
        </p:grpSpPr>
        <p:sp>
          <p:nvSpPr>
            <p:cNvPr id="12" name="Shape 7"/>
            <p:cNvSpPr/>
            <p:nvPr/>
          </p:nvSpPr>
          <p:spPr>
            <a:xfrm>
              <a:off x="496119" y="2951485"/>
              <a:ext cx="2634555" cy="470371"/>
            </a:xfrm>
            <a:prstGeom prst="roundRect">
              <a:avLst>
                <a:gd name="adj" fmla="val 1458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1831" y="2951485"/>
              <a:ext cx="57150" cy="470371"/>
            </a:xfrm>
            <a:prstGeom prst="rect">
              <a:avLst/>
            </a:prstGeom>
          </p:spPr>
        </p:pic>
        <p:sp>
          <p:nvSpPr>
            <p:cNvPr id="14" name="Text 8"/>
            <p:cNvSpPr/>
            <p:nvPr/>
          </p:nvSpPr>
          <p:spPr>
            <a:xfrm>
              <a:off x="677242" y="3089746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Google Search</a:t>
              </a:r>
              <a:endParaRPr lang="en-US" sz="12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413858-F46D-C1AF-C176-F4EE3A393370}"/>
              </a:ext>
            </a:extLst>
          </p:cNvPr>
          <p:cNvGrpSpPr/>
          <p:nvPr/>
        </p:nvGrpSpPr>
        <p:grpSpPr>
          <a:xfrm>
            <a:off x="3240360" y="2951485"/>
            <a:ext cx="2648918" cy="470371"/>
            <a:chOff x="3240360" y="2951485"/>
            <a:chExt cx="2648918" cy="470371"/>
          </a:xfrm>
        </p:grpSpPr>
        <p:sp>
          <p:nvSpPr>
            <p:cNvPr id="15" name="Shape 9"/>
            <p:cNvSpPr/>
            <p:nvPr/>
          </p:nvSpPr>
          <p:spPr>
            <a:xfrm>
              <a:off x="3254648" y="2951485"/>
              <a:ext cx="2634630" cy="470371"/>
            </a:xfrm>
            <a:prstGeom prst="roundRect">
              <a:avLst>
                <a:gd name="adj" fmla="val 1458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6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40360" y="2951485"/>
              <a:ext cx="57150" cy="470371"/>
            </a:xfrm>
            <a:prstGeom prst="rect">
              <a:avLst/>
            </a:prstGeom>
          </p:spPr>
        </p:pic>
        <p:sp>
          <p:nvSpPr>
            <p:cNvPr id="17" name="Text 10"/>
            <p:cNvSpPr/>
            <p:nvPr/>
          </p:nvSpPr>
          <p:spPr>
            <a:xfrm>
              <a:off x="3435772" y="3089746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YouTube</a:t>
              </a:r>
              <a:endParaRPr lang="en-US" sz="12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4CA9471-F133-805F-C7BD-AC34CAC84E7E}"/>
              </a:ext>
            </a:extLst>
          </p:cNvPr>
          <p:cNvGrpSpPr/>
          <p:nvPr/>
        </p:nvGrpSpPr>
        <p:grpSpPr>
          <a:xfrm>
            <a:off x="5998964" y="2951485"/>
            <a:ext cx="2648843" cy="470371"/>
            <a:chOff x="5998964" y="2951485"/>
            <a:chExt cx="2648843" cy="470371"/>
          </a:xfrm>
        </p:grpSpPr>
        <p:sp>
          <p:nvSpPr>
            <p:cNvPr id="18" name="Shape 11"/>
            <p:cNvSpPr/>
            <p:nvPr/>
          </p:nvSpPr>
          <p:spPr>
            <a:xfrm>
              <a:off x="6013252" y="2951485"/>
              <a:ext cx="2634555" cy="470371"/>
            </a:xfrm>
            <a:prstGeom prst="roundRect">
              <a:avLst>
                <a:gd name="adj" fmla="val 14580"/>
              </a:avLst>
            </a:prstGeom>
            <a:solidFill>
              <a:srgbClr val="FBFCFE"/>
            </a:solidFill>
            <a:ln w="14288">
              <a:solidFill>
                <a:srgbClr val="CFD2D8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9" name="Image 5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8964" y="2951485"/>
              <a:ext cx="57150" cy="470371"/>
            </a:xfrm>
            <a:prstGeom prst="rect">
              <a:avLst/>
            </a:prstGeom>
          </p:spPr>
        </p:pic>
        <p:sp>
          <p:nvSpPr>
            <p:cNvPr id="20" name="Text 12"/>
            <p:cNvSpPr/>
            <p:nvPr/>
          </p:nvSpPr>
          <p:spPr>
            <a:xfrm>
              <a:off x="6194375" y="3089746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Spotify</a:t>
              </a:r>
              <a:endParaRPr lang="en-US" sz="12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05831"/>
            <a:ext cx="372546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Magic Word : Prompt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641402"/>
            <a:ext cx="815176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input you give to an AI to guide its response. It can be an instruction, question, or description — anything that tells the AI what you want. </a:t>
            </a:r>
            <a:r>
              <a:rPr lang="en-US" sz="12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"Write a funny birthday poem for my friend Alex who loves gaming."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33847"/>
            <a:ext cx="520243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Birthday-themed prompt examples: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69418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2107406"/>
            <a:ext cx="2634555" cy="1902172"/>
          </a:xfrm>
          <a:prstGeom prst="roundRect">
            <a:avLst>
              <a:gd name="adj" fmla="val 9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0092" y="223138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birthday poem</a:t>
            </a:r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3D218D7-D602-ADA2-C555-14BEF44426BE}"/>
              </a:ext>
            </a:extLst>
          </p:cNvPr>
          <p:cNvGrpSpPr/>
          <p:nvPr/>
        </p:nvGrpSpPr>
        <p:grpSpPr>
          <a:xfrm>
            <a:off x="620092" y="2564755"/>
            <a:ext cx="2386608" cy="1320850"/>
            <a:chOff x="620092" y="2564755"/>
            <a:chExt cx="2386608" cy="1320850"/>
          </a:xfrm>
        </p:grpSpPr>
        <p:sp>
          <p:nvSpPr>
            <p:cNvPr id="6" name="Shape 4"/>
            <p:cNvSpPr/>
            <p:nvPr/>
          </p:nvSpPr>
          <p:spPr>
            <a:xfrm>
              <a:off x="620092" y="2564755"/>
              <a:ext cx="2386608" cy="1320850"/>
            </a:xfrm>
            <a:prstGeom prst="roundRect">
              <a:avLst>
                <a:gd name="adj" fmla="val 1409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744066" y="2719685"/>
              <a:ext cx="2138660" cy="992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9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"Write a funny birthday poem for my friend Alex who loves gaming. Make it 8 lines and include an inside joke about losing at Mario Kart. Use rhymes."</a:t>
              </a:r>
              <a:endParaRPr lang="en-US" sz="950" dirty="0"/>
            </a:p>
          </p:txBody>
        </p:sp>
      </p:grpSp>
      <p:sp>
        <p:nvSpPr>
          <p:cNvPr id="8" name="Shape 6"/>
          <p:cNvSpPr/>
          <p:nvPr/>
        </p:nvSpPr>
        <p:spPr>
          <a:xfrm>
            <a:off x="3254648" y="2107406"/>
            <a:ext cx="2634630" cy="1902172"/>
          </a:xfrm>
          <a:prstGeom prst="roundRect">
            <a:avLst>
              <a:gd name="adj" fmla="val 9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78622" y="223138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birthday card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734AA5-F16B-26A1-A1C3-7DBEADE3595E}"/>
              </a:ext>
            </a:extLst>
          </p:cNvPr>
          <p:cNvGrpSpPr/>
          <p:nvPr/>
        </p:nvGrpSpPr>
        <p:grpSpPr>
          <a:xfrm>
            <a:off x="3378622" y="2564755"/>
            <a:ext cx="2386682" cy="1122387"/>
            <a:chOff x="3378622" y="2564755"/>
            <a:chExt cx="2386682" cy="1122387"/>
          </a:xfrm>
        </p:grpSpPr>
        <p:sp>
          <p:nvSpPr>
            <p:cNvPr id="10" name="Shape 8"/>
            <p:cNvSpPr/>
            <p:nvPr/>
          </p:nvSpPr>
          <p:spPr>
            <a:xfrm>
              <a:off x="3378622" y="2564755"/>
              <a:ext cx="2386682" cy="1122387"/>
            </a:xfrm>
            <a:prstGeom prst="roundRect">
              <a:avLst>
                <a:gd name="adj" fmla="val 1658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3502596" y="2719685"/>
              <a:ext cx="2138735" cy="79384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9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"Create an image of a unicorn wearing a party hat, holding balloons, at a birthday party with cake. Style: cute, colorful digital art with bright colors."</a:t>
              </a:r>
              <a:endParaRPr lang="en-US" sz="95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6013252" y="2107406"/>
            <a:ext cx="2634555" cy="1902172"/>
          </a:xfrm>
          <a:prstGeom prst="roundRect">
            <a:avLst>
              <a:gd name="adj" fmla="val 9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137225" y="223138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birthday song</a:t>
            </a:r>
            <a:endParaRPr lang="en-US" sz="12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28F20FE-0D51-71B4-A08F-BA59E80B8B9C}"/>
              </a:ext>
            </a:extLst>
          </p:cNvPr>
          <p:cNvGrpSpPr/>
          <p:nvPr/>
        </p:nvGrpSpPr>
        <p:grpSpPr>
          <a:xfrm>
            <a:off x="6137225" y="2564755"/>
            <a:ext cx="2386608" cy="1320850"/>
            <a:chOff x="6137225" y="2564755"/>
            <a:chExt cx="2386608" cy="1320850"/>
          </a:xfrm>
        </p:grpSpPr>
        <p:sp>
          <p:nvSpPr>
            <p:cNvPr id="14" name="Shape 12"/>
            <p:cNvSpPr/>
            <p:nvPr/>
          </p:nvSpPr>
          <p:spPr>
            <a:xfrm>
              <a:off x="6137225" y="2564755"/>
              <a:ext cx="2386608" cy="1320850"/>
            </a:xfrm>
            <a:prstGeom prst="roundRect">
              <a:avLst>
                <a:gd name="adj" fmla="val 1409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/>
            <p:cNvSpPr/>
            <p:nvPr/>
          </p:nvSpPr>
          <p:spPr>
            <a:xfrm>
              <a:off x="6261199" y="2719685"/>
              <a:ext cx="2138660" cy="992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550"/>
                </a:lnSpc>
                <a:buNone/>
              </a:pPr>
              <a:r>
                <a:rPr lang="en-US" sz="95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"Compose a 30-second happy birthday song in the style of pop music. Include lyrics about friendship, cake, and having fun. Make it upbeat and catchy."</a:t>
              </a:r>
              <a:endParaRPr lang="en-US" sz="95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53467"/>
            <a:ext cx="553700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Hands-On Activity: GenAI Playground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90576"/>
            <a:ext cx="3108796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Bring Your Birthday Artifact to Life!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96119" y="180915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mission: Use ChatGPT and Gemini to create the birthday artifact you planned in Mini Activity 2!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196778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96119" y="2581275"/>
            <a:ext cx="165028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Step 1: Open both tools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6119" y="2961159"/>
            <a:ext cx="8151763" cy="1228874"/>
          </a:xfrm>
          <a:prstGeom prst="roundRect">
            <a:avLst>
              <a:gd name="adj" fmla="val 151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0881" y="296592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4929" y="3045098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4191" y="3045098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to Find 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881" y="3372371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4929" y="3451547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4191" y="3451547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chat.openai.com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0881" y="377882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4929" y="3857997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84191" y="3857997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gemini.google.com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33153"/>
            <a:ext cx="336180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Step 2: Based on your artifact type, use these :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96119" y="1975024"/>
            <a:ext cx="8151763" cy="1635323"/>
          </a:xfrm>
          <a:prstGeom prst="roundRect">
            <a:avLst>
              <a:gd name="adj" fmla="val 113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97978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2058963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 chose...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4191" y="2058963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Use...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2386236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2465412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4191" y="2465412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 or Gemini (try both!)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79268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2871862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4191" y="2871862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 or Gemini (try both!)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3199135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3278312"/>
            <a:ext cx="30065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4191" y="3278312"/>
            <a:ext cx="4634954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(We'll do this in Session 16!)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966"/>
            <a:ext cx="4124623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TEXT: Try These Prompts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90005"/>
            <a:ext cx="815176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your planned prompt from Mini Activity 2, or try one of these: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345704"/>
            <a:ext cx="8151763" cy="3399830"/>
          </a:xfrm>
          <a:prstGeom prst="roundRect">
            <a:avLst>
              <a:gd name="adj" fmla="val 52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350466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8753" y="1422350"/>
            <a:ext cx="12194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Want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78534" y="1422350"/>
            <a:ext cx="644678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0881" y="1724025"/>
            <a:ext cx="8142238" cy="6033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8753" y="1795909"/>
            <a:ext cx="12194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Funny poem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078534" y="1795909"/>
            <a:ext cx="6446788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"Write a funny birthday poem for my friend [friend's name] who loves [hobby/food]. Make it 8 lines with a funny ending and include rhymes."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0881" y="2327374"/>
            <a:ext cx="8142238" cy="6033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8753" y="2399258"/>
            <a:ext cx="12194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Heartfelt message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078534" y="2399258"/>
            <a:ext cx="6446788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"Write a heartfelt birthday message for my best friend. Mention that we've been friends for [X] years and why they're special to me. Make it warm and personal."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0881" y="2930723"/>
            <a:ext cx="8142238" cy="83314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8753" y="3002607"/>
            <a:ext cx="12194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Invitation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78534" y="3002607"/>
            <a:ext cx="6446788" cy="689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"Create a birthday party invitation text for a [age]-year-old's party. Include: date (Saturday, March 15), time (2-5 PM), place (Community Center), RSVP info, and what to bring (swimsuits and towels). Make it exciting and fun!"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0881" y="3763863"/>
            <a:ext cx="8142238" cy="37355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8753" y="3835747"/>
            <a:ext cx="12194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Joke collection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078534" y="3835747"/>
            <a:ext cx="6446788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"Write 5 birthday-themed jokes that would make a 12-year-old laugh. Keep them clean and silly."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0881" y="4137422"/>
            <a:ext cx="8142238" cy="6033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8753" y="4209306"/>
            <a:ext cx="1219423" cy="229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Short story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078534" y="4209306"/>
            <a:ext cx="6446788" cy="45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"Write a short story (about 150 words) about a birthday party where something magical happens. Include a cat, a cake, and a surprise."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6799"/>
            <a:ext cx="406159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IMAGE: Try These Prompts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1016571"/>
            <a:ext cx="8151763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your planned prompt from Mini Activity 2, or try one of these: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341686"/>
            <a:ext cx="8151763" cy="3334941"/>
          </a:xfrm>
          <a:prstGeom prst="roundRect">
            <a:avLst>
              <a:gd name="adj" fmla="val 50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346448"/>
            <a:ext cx="8142238" cy="342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577" y="1411486"/>
            <a:ext cx="140277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You Want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43361" y="1411486"/>
            <a:ext cx="6288137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0881" y="1688604"/>
            <a:ext cx="8142238" cy="7663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577" y="1753642"/>
            <a:ext cx="140277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Birthday card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43361" y="1753642"/>
            <a:ext cx="6288137" cy="63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"Create a colorful birthday card with a [dragon/unicorn/dinosaur/cat/dog] wearing a party hat and holding balloons. Include a birthday cake in the background with candles. Style: cute, colorful, digital art with bright colors and friendly look."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0881" y="2454920"/>
            <a:ext cx="8142238" cy="5542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2577" y="2519958"/>
            <a:ext cx="140277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Coloring page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43361" y="2519958"/>
            <a:ext cx="6288137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"Create a black and white line art coloring page for kids. Show a birthday party scene with a large cake, presents, balloons, and children playing games. No shading, just clear outlines."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0881" y="3009156"/>
            <a:ext cx="8142238" cy="5542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577" y="3074194"/>
            <a:ext cx="140277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43361" y="3074194"/>
            <a:ext cx="6288137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"Design a birthday party poster for a [age]-year-old. Include space for date, time, and location text. Use bright colors, balloons, confetti, and party hats. Style: fun, celebratory, eye-catching."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0881" y="3563392"/>
            <a:ext cx="8142238" cy="55423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2577" y="3628430"/>
            <a:ext cx="140277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Avatar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43361" y="3628430"/>
            <a:ext cx="6288137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"Create a fun avatar of a [cat/dog/robot/animal] celebrating a birthday with a party hat and holding a small cake with one candle. Style: cartoon, cute, simple, perfect for a profile picture."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0881" y="4117628"/>
            <a:ext cx="8142238" cy="55423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2577" y="4182666"/>
            <a:ext cx="1402779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gift tag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43361" y="4182666"/>
            <a:ext cx="6288137" cy="42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"Create a digital gift tag image with 'Happy Birthday' and [friend's name]. Include small illustrations of presents, balloons, and stars. Style: colorful, festive, printable."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70979"/>
            <a:ext cx="3660130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Discussion: What Did You Create?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96119" y="966341"/>
            <a:ext cx="4722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endParaRPr lang="en-US" sz="7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762C2E5-BDC0-67E4-45C4-C8269E60FD8E}"/>
              </a:ext>
            </a:extLst>
          </p:cNvPr>
          <p:cNvGrpSpPr/>
          <p:nvPr/>
        </p:nvGrpSpPr>
        <p:grpSpPr>
          <a:xfrm>
            <a:off x="496119" y="1174998"/>
            <a:ext cx="1329704" cy="558180"/>
            <a:chOff x="496119" y="1174998"/>
            <a:chExt cx="1329704" cy="558180"/>
          </a:xfrm>
        </p:grpSpPr>
        <p:sp>
          <p:nvSpPr>
            <p:cNvPr id="5" name="Shape 2"/>
            <p:cNvSpPr/>
            <p:nvPr/>
          </p:nvSpPr>
          <p:spPr>
            <a:xfrm>
              <a:off x="496119" y="1174998"/>
              <a:ext cx="93018" cy="558180"/>
            </a:xfrm>
            <a:prstGeom prst="roundRect">
              <a:avLst>
                <a:gd name="adj" fmla="val 1500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 3"/>
            <p:cNvSpPr/>
            <p:nvPr/>
          </p:nvSpPr>
          <p:spPr>
            <a:xfrm>
              <a:off x="658862" y="1268016"/>
              <a:ext cx="1166961" cy="1453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What did you create?</a:t>
              </a:r>
              <a:endParaRPr lang="en-US" sz="900" dirty="0"/>
            </a:p>
          </p:txBody>
        </p:sp>
      </p:grpSp>
      <p:sp>
        <p:nvSpPr>
          <p:cNvPr id="7" name="Text 4"/>
          <p:cNvSpPr/>
          <p:nvPr/>
        </p:nvSpPr>
        <p:spPr>
          <a:xfrm>
            <a:off x="658862" y="1455167"/>
            <a:ext cx="456001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your birthday artifact.</a:t>
            </a:r>
            <a:endParaRPr lang="en-US" sz="9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039950D-AB7D-042D-B591-7198DD9D302B}"/>
              </a:ext>
            </a:extLst>
          </p:cNvPr>
          <p:cNvGrpSpPr/>
          <p:nvPr/>
        </p:nvGrpSpPr>
        <p:grpSpPr>
          <a:xfrm>
            <a:off x="635645" y="1802904"/>
            <a:ext cx="1489397" cy="558180"/>
            <a:chOff x="635645" y="1802904"/>
            <a:chExt cx="1489397" cy="558180"/>
          </a:xfrm>
        </p:grpSpPr>
        <p:sp>
          <p:nvSpPr>
            <p:cNvPr id="8" name="Shape 5"/>
            <p:cNvSpPr/>
            <p:nvPr/>
          </p:nvSpPr>
          <p:spPr>
            <a:xfrm>
              <a:off x="635645" y="1802904"/>
              <a:ext cx="93018" cy="558180"/>
            </a:xfrm>
            <a:prstGeom prst="roundRect">
              <a:avLst>
                <a:gd name="adj" fmla="val 1500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6"/>
            <p:cNvSpPr/>
            <p:nvPr/>
          </p:nvSpPr>
          <p:spPr>
            <a:xfrm>
              <a:off x="798388" y="1895921"/>
              <a:ext cx="1326654" cy="1453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Which tool did you use?</a:t>
              </a:r>
              <a:endParaRPr lang="en-US" sz="900" dirty="0"/>
            </a:p>
          </p:txBody>
        </p:sp>
      </p:grpSp>
      <p:sp>
        <p:nvSpPr>
          <p:cNvPr id="10" name="Text 7"/>
          <p:cNvSpPr/>
          <p:nvPr/>
        </p:nvSpPr>
        <p:spPr>
          <a:xfrm>
            <a:off x="798388" y="2083073"/>
            <a:ext cx="442049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ChatGPT, Gemini, or both?</a:t>
            </a:r>
            <a:endParaRPr lang="en-US" sz="9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65C6B7-40E9-E96C-06D6-AE4935B3573F}"/>
              </a:ext>
            </a:extLst>
          </p:cNvPr>
          <p:cNvGrpSpPr/>
          <p:nvPr/>
        </p:nvGrpSpPr>
        <p:grpSpPr>
          <a:xfrm>
            <a:off x="775171" y="2430810"/>
            <a:ext cx="2045941" cy="558180"/>
            <a:chOff x="775171" y="2430810"/>
            <a:chExt cx="2045941" cy="558180"/>
          </a:xfrm>
        </p:grpSpPr>
        <p:sp>
          <p:nvSpPr>
            <p:cNvPr id="11" name="Shape 8"/>
            <p:cNvSpPr/>
            <p:nvPr/>
          </p:nvSpPr>
          <p:spPr>
            <a:xfrm>
              <a:off x="775171" y="2430810"/>
              <a:ext cx="93018" cy="558180"/>
            </a:xfrm>
            <a:prstGeom prst="roundRect">
              <a:avLst>
                <a:gd name="adj" fmla="val 1500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9"/>
            <p:cNvSpPr/>
            <p:nvPr/>
          </p:nvSpPr>
          <p:spPr>
            <a:xfrm>
              <a:off x="937915" y="2523827"/>
              <a:ext cx="1883197" cy="1453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Did it turn out how you imagined?</a:t>
              </a:r>
              <a:endParaRPr lang="en-US" sz="900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937915" y="2710979"/>
            <a:ext cx="428096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was similar? What was different?</a:t>
            </a:r>
            <a:endParaRPr lang="en-US" sz="90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A9F30A-265C-6D25-E1D5-50DB056ACD77}"/>
              </a:ext>
            </a:extLst>
          </p:cNvPr>
          <p:cNvGrpSpPr/>
          <p:nvPr/>
        </p:nvGrpSpPr>
        <p:grpSpPr>
          <a:xfrm>
            <a:off x="914772" y="3058716"/>
            <a:ext cx="1566937" cy="698822"/>
            <a:chOff x="914772" y="3058716"/>
            <a:chExt cx="1566937" cy="698822"/>
          </a:xfrm>
        </p:grpSpPr>
        <p:sp>
          <p:nvSpPr>
            <p:cNvPr id="14" name="Shape 11"/>
            <p:cNvSpPr/>
            <p:nvPr/>
          </p:nvSpPr>
          <p:spPr>
            <a:xfrm>
              <a:off x="914772" y="3058716"/>
              <a:ext cx="93018" cy="698822"/>
            </a:xfrm>
            <a:prstGeom prst="roundRect">
              <a:avLst>
                <a:gd name="adj" fmla="val 15003"/>
              </a:avLst>
            </a:prstGeom>
            <a:solidFill>
              <a:srgbClr val="E9ECF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1077516" y="3151733"/>
              <a:ext cx="1404193" cy="1453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100"/>
                </a:lnSpc>
                <a:buNone/>
              </a:pPr>
              <a:r>
                <a:rPr lang="en-US" sz="900" b="1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What would you change?</a:t>
              </a:r>
              <a:endParaRPr lang="en-US" sz="900" dirty="0"/>
            </a:p>
          </p:txBody>
        </p:sp>
      </p:grpSp>
      <p:sp>
        <p:nvSpPr>
          <p:cNvPr id="16" name="Text 13"/>
          <p:cNvSpPr/>
          <p:nvPr/>
        </p:nvSpPr>
        <p:spPr>
          <a:xfrm>
            <a:off x="1077516" y="3338885"/>
            <a:ext cx="414136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prompt? The tool? The idea? How did your prompt from Mini Activity 2 work?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96119" y="3835971"/>
            <a:ext cx="4722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endParaRPr lang="en-US" sz="700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5DBF1C-D57E-A1D7-228B-73CA7525E447}"/>
              </a:ext>
            </a:extLst>
          </p:cNvPr>
          <p:cNvGrpSpPr/>
          <p:nvPr/>
        </p:nvGrpSpPr>
        <p:grpSpPr>
          <a:xfrm>
            <a:off x="496119" y="4044628"/>
            <a:ext cx="4722763" cy="527819"/>
            <a:chOff x="496119" y="4044628"/>
            <a:chExt cx="4722763" cy="527819"/>
          </a:xfrm>
        </p:grpSpPr>
        <p:sp>
          <p:nvSpPr>
            <p:cNvPr id="18" name="Shape 15"/>
            <p:cNvSpPr/>
            <p:nvPr/>
          </p:nvSpPr>
          <p:spPr>
            <a:xfrm>
              <a:off x="496119" y="4044628"/>
              <a:ext cx="4722763" cy="527819"/>
            </a:xfrm>
            <a:prstGeom prst="roundRect">
              <a:avLst>
                <a:gd name="adj" fmla="val 2644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9136" y="4154909"/>
              <a:ext cx="145331" cy="116235"/>
            </a:xfrm>
            <a:prstGeom prst="rect">
              <a:avLst/>
            </a:prstGeom>
          </p:spPr>
        </p:pic>
        <p:sp>
          <p:nvSpPr>
            <p:cNvPr id="20" name="Text 16"/>
            <p:cNvSpPr/>
            <p:nvPr/>
          </p:nvSpPr>
          <p:spPr>
            <a:xfrm>
              <a:off x="827484" y="4137571"/>
              <a:ext cx="4298379" cy="3256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50"/>
                </a:lnSpc>
                <a:buNone/>
              </a:pPr>
              <a:r>
                <a:rPr lang="en-US" sz="9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AI is a </a:t>
              </a:r>
              <a:r>
                <a:rPr lang="en-US" sz="900" b="1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creative</a:t>
              </a:r>
              <a:r>
                <a:rPr lang="en-US" sz="9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partner - it takes your ideas and helps bring them to life. But YOU are the director! The quality of what you get depends on the quality of your prompt.</a:t>
              </a:r>
              <a:endParaRPr lang="en-US" sz="9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2543"/>
            <a:ext cx="528511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Summary : What We Learned Today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338114"/>
            <a:ext cx="8151763" cy="3102769"/>
          </a:xfrm>
          <a:prstGeom prst="roundRect">
            <a:avLst>
              <a:gd name="adj" fmla="val 60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0881" y="1342876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4929" y="1422053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9952" y="1422053"/>
            <a:ext cx="5449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Idea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1749326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1828502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9952" y="1828502"/>
            <a:ext cx="5449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that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new content (text, images, audio)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0881" y="2155775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4929" y="2234952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(Discriminative)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9952" y="2234952"/>
            <a:ext cx="5449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that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ANALYZES or CLASSIFIES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existing content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562225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929" y="2641402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9952" y="2641402"/>
            <a:ext cx="544919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Trained on millions of examples → 2. Learns patterns → 3. Remixes patterns to create new things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0881" y="321677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4929" y="3295948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69952" y="3295948"/>
            <a:ext cx="5449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doesn't "understand" - it's a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remixer!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0881" y="3623221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4929" y="3702397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9952" y="3702397"/>
            <a:ext cx="5449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Text, Image, Audio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0881" y="402967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4929" y="4108847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role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9952" y="4108847"/>
            <a:ext cx="544919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guide it with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PROMPTS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your ideas shape what it creates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6424"/>
            <a:ext cx="531762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 : Part 1 - Quick Warm-Up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311994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Match each term to its definition: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99617"/>
            <a:ext cx="8151763" cy="2041773"/>
          </a:xfrm>
          <a:prstGeom prst="roundRect">
            <a:avLst>
              <a:gd name="adj" fmla="val 91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0881" y="1704380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5004" y="1783556"/>
            <a:ext cx="5638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#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41549" y="1783556"/>
            <a:ext cx="25970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1310" y="1783556"/>
            <a:ext cx="42278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0881" y="211082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5004" y="2190006"/>
            <a:ext cx="5638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41549" y="2190006"/>
            <a:ext cx="25970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1310" y="2190006"/>
            <a:ext cx="42278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A. AI that analyzes or classifies existing content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0881" y="2517279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5004" y="2596455"/>
            <a:ext cx="5638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41549" y="2596455"/>
            <a:ext cx="25970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Discriminative 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1310" y="2596455"/>
            <a:ext cx="42278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B. Your instruction to an AI about what to create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0881" y="2923729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5004" y="3002905"/>
            <a:ext cx="5638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41549" y="3002905"/>
            <a:ext cx="25970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1310" y="3002905"/>
            <a:ext cx="42278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C. AI that creates new content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0881" y="3330178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5004" y="3409355"/>
            <a:ext cx="5638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41549" y="3409355"/>
            <a:ext cx="25970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Training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1310" y="3409355"/>
            <a:ext cx="4227835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D. The examples AI learns from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6119" y="3880917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6119" y="4218905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Answers: 1-___, 2-___, 3-___, 4-___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0818"/>
            <a:ext cx="75199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Homework : Part 2 - Improve Your Birthday Artifact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06389"/>
            <a:ext cx="815176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Take your birthday artifact from today's activity and make it </a:t>
            </a: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BETTER!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09401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28454"/>
            <a:ext cx="1944960" cy="142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7190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96119" y="2987278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what you created in class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053" y="2628454"/>
            <a:ext cx="1944960" cy="142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5053" y="2719015"/>
            <a:ext cx="158211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Improve your prompt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565053" y="2987278"/>
            <a:ext cx="1944960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it more specific, add details, clarify the style, include more about your friend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987" y="2640806"/>
            <a:ext cx="1944960" cy="142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33987" y="27190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Try again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633987" y="2987278"/>
            <a:ext cx="1944960" cy="744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again with your improved prompt using the same tool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921" y="2640806"/>
            <a:ext cx="1944960" cy="142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02921" y="27190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6702921" y="2987278"/>
            <a:ext cx="1944960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the new version to the old one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630040"/>
            <a:ext cx="8151763" cy="1883420"/>
          </a:xfrm>
          <a:prstGeom prst="roundRect">
            <a:avLst>
              <a:gd name="adj" fmla="val 98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0881" y="1634803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24929" y="1713979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69952" y="1713979"/>
            <a:ext cx="25970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 Prompt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19713" y="1713979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Improved Prompt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0881" y="2041252"/>
            <a:ext cx="8142238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929" y="2120429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9952" y="2120429"/>
            <a:ext cx="25970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19713" y="2120429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0881" y="2447702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4929" y="2526878"/>
            <a:ext cx="219231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AI Created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9952" y="2526878"/>
            <a:ext cx="25970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(paste or describe)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19713" y="2526878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(paste or describe)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881" y="2854151"/>
            <a:ext cx="8142238" cy="6545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4929" y="2933328"/>
            <a:ext cx="2192313" cy="4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What's better about the new version?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9952" y="2933328"/>
            <a:ext cx="2597051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19713" y="2933328"/>
            <a:ext cx="2599432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84908"/>
            <a:ext cx="317085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 Session Preview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722016"/>
            <a:ext cx="472276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Session 8: Large Language Models (LLMs)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3925119" y="2528218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25119" y="2866206"/>
            <a:ext cx="4722763" cy="99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You've used ChatGPT and Gemini — next session, we go inside the machine. What makes a language model "large"? How does it predict the next word? What are parameters, and how was it trained? Time to meet the engine behind the magic.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D1C97E870F6D7542BABA8D0CA62BEE9C" ma:contentTypeVersion="4" ma:contentTypeDescription="新建文档。" ma:contentTypeScope="" ma:versionID="2a884758a1a96afdab5f030d69ab96dc">
  <xsd:schema xmlns:xsd="http://www.w3.org/2001/XMLSchema" xmlns:xs="http://www.w3.org/2001/XMLSchema" xmlns:p="http://schemas.microsoft.com/office/2006/metadata/properties" xmlns:ns3="e0221f9d-b794-42ac-8043-be0753f8addc" targetNamespace="http://schemas.microsoft.com/office/2006/metadata/properties" ma:root="true" ma:fieldsID="c6778a65063483b2d790b89d984a301d" ns3:_="">
    <xsd:import namespace="e0221f9d-b794-42ac-8043-be0753f8add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221f9d-b794-42ac-8043-be0753f8add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7D1AF5-BF75-43E4-9B58-400319C27A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0221f9d-b794-42ac-8043-be0753f8ad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BF3C029-D576-4B9B-B742-5B8EA027E6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9DFDF3-97D3-44B7-8F4C-3DABC301BBE4}">
  <ds:schemaRefs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e0221f9d-b794-42ac-8043-be0753f8add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2093</Words>
  <Application>Microsoft Office PowerPoint</Application>
  <PresentationFormat>On-screen Show (16:9)</PresentationFormat>
  <Paragraphs>336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Roboto Slab</vt:lpstr>
      <vt:lpstr>Roboto</vt:lpstr>
      <vt:lpstr>Arial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sneha arya</dc:creator>
  <cp:lastModifiedBy>Office</cp:lastModifiedBy>
  <cp:revision>3</cp:revision>
  <dcterms:created xsi:type="dcterms:W3CDTF">2026-05-08T09:38:53Z</dcterms:created>
  <dcterms:modified xsi:type="dcterms:W3CDTF">2026-05-08T10:21:38Z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0x010100D1C97E870F6D7542BABA8D0CA62BEE9C</vt:lpwstr>
  </property>
</Properties>
</file>