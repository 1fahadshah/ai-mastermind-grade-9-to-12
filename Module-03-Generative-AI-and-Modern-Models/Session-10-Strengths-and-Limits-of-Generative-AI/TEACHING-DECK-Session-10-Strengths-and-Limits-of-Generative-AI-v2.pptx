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9144000" cy="5143500" type="screen16x9"/>
  <p:notesSz cx="5143500" cy="9144000"/>
  <p:embeddedFontLst>
    <p:embeddedFont>
      <p:font typeface="Roboto" panose="02000000000000000000" pitchFamily="2" charset="0"/>
      <p:regular r:id="rId23"/>
      <p:bold r:id="rId24"/>
    </p:embeddedFont>
    <p:embeddedFont>
      <p:font typeface="Roboto Slab" pitchFamily="2" charset="0"/>
      <p:regular r:id="rId25"/>
      <p:bold r:id="rId26"/>
    </p:embeddedFont>
    <p:embeddedFont>
      <p:font typeface="Roboto Slab Light" pitchFamily="2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4547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104" y="1999371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10: 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85104" y="2386919"/>
            <a:ext cx="5271635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Strengths &amp; Limits of Generative AI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24211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05978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256234"/>
            <a:ext cx="2634555" cy="14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346796"/>
            <a:ext cx="2634555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Identify common strengths of Generative AI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54648" y="205978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48" y="2256234"/>
            <a:ext cx="2634630" cy="142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54648" y="2346796"/>
            <a:ext cx="263463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Identify common limitations of Generative AI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013252" y="205978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52" y="2256234"/>
            <a:ext cx="2634555" cy="142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13252" y="2346796"/>
            <a:ext cx="2634555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Decide when to use AI and when NOT to use it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96119" y="295148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135585"/>
            <a:ext cx="4013820" cy="142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238500"/>
            <a:ext cx="401382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Apply the Human-in-the-Loop approach to responsible AI use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633913" y="295148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913" y="3147938"/>
            <a:ext cx="4013895" cy="142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33913" y="3238500"/>
            <a:ext cx="229478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Analysis of a Generative AI tool</a:t>
            </a:r>
            <a:endParaRPr lang="en-US" sz="12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D13ACF-0344-57FD-0C18-2F5293CD8CB3}"/>
              </a:ext>
            </a:extLst>
          </p:cNvPr>
          <p:cNvCxnSpPr>
            <a:cxnSpLocks/>
            <a:stCxn id="4" idx="1"/>
            <a:endCxn id="4" idx="3"/>
          </p:cNvCxnSpPr>
          <p:nvPr/>
        </p:nvCxnSpPr>
        <p:spPr>
          <a:xfrm>
            <a:off x="496119" y="2263378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FC0B522-E697-B209-AB9B-C074A758BAAA}"/>
              </a:ext>
            </a:extLst>
          </p:cNvPr>
          <p:cNvCxnSpPr>
            <a:cxnSpLocks/>
          </p:cNvCxnSpPr>
          <p:nvPr/>
        </p:nvCxnSpPr>
        <p:spPr>
          <a:xfrm>
            <a:off x="3215876" y="2263268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D501520-82AB-E158-FF4E-A133515070C8}"/>
              </a:ext>
            </a:extLst>
          </p:cNvPr>
          <p:cNvCxnSpPr>
            <a:cxnSpLocks/>
          </p:cNvCxnSpPr>
          <p:nvPr/>
        </p:nvCxnSpPr>
        <p:spPr>
          <a:xfrm>
            <a:off x="5984868" y="2263268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FE4DCD8-D8C0-D0FC-8BD8-D264149C50A0}"/>
              </a:ext>
            </a:extLst>
          </p:cNvPr>
          <p:cNvCxnSpPr>
            <a:cxnSpLocks/>
          </p:cNvCxnSpPr>
          <p:nvPr/>
        </p:nvCxnSpPr>
        <p:spPr>
          <a:xfrm>
            <a:off x="489085" y="3162226"/>
            <a:ext cx="4013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49B6694-71C7-EE00-A375-CA9179273872}"/>
              </a:ext>
            </a:extLst>
          </p:cNvPr>
          <p:cNvCxnSpPr>
            <a:cxnSpLocks/>
          </p:cNvCxnSpPr>
          <p:nvPr/>
        </p:nvCxnSpPr>
        <p:spPr>
          <a:xfrm>
            <a:off x="4608582" y="3162226"/>
            <a:ext cx="4013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2512"/>
            <a:ext cx="5068937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Recap - What We Learned in Session 9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496119" y="1002283"/>
            <a:ext cx="8151763" cy="3088928"/>
          </a:xfrm>
          <a:prstGeom prst="roundRect">
            <a:avLst>
              <a:gd name="adj" fmla="val 54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007046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2577" y="1072083"/>
            <a:ext cx="180989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Hallucination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650480" y="1072083"/>
            <a:ext cx="5881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AI confidently generates false information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0881" y="1349201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577" y="1414239"/>
            <a:ext cx="180989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 Score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50480" y="1414239"/>
            <a:ext cx="5881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percentage showing how sure the AI seems about its answer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0881" y="1691357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2577" y="1756395"/>
            <a:ext cx="180989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50480" y="1756395"/>
            <a:ext cx="5881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Whether the information is actually correct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0881" y="2033513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577" y="2098551"/>
            <a:ext cx="180989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Hallucinations Happen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50480" y="2098551"/>
            <a:ext cx="5881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real understanding + pattern matching gone wrong + data gaps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0881" y="2375669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577" y="2440707"/>
            <a:ext cx="180989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Famous Examples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50480" y="2440707"/>
            <a:ext cx="5881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Lawyer who used fake ChatGPT cases; Airline chatbot gave wrong policy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0881" y="2717825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12577" y="2782863"/>
            <a:ext cx="180989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Types of Hallucinations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50480" y="2782863"/>
            <a:ext cx="5881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Factual, Source, Logical, Entity, Relationship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0881" y="3059981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12577" y="3125019"/>
            <a:ext cx="180989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to Spot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50480" y="3125019"/>
            <a:ext cx="5881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 specific without sources, mixes real/fake, contradicts common knowledge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0881" y="3402137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2577" y="3467174"/>
            <a:ext cx="180989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to Reduce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50480" y="3467174"/>
            <a:ext cx="5881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 specific, provide context, ask for sources, verify output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0881" y="3744292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12577" y="3809330"/>
            <a:ext cx="180989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 Difference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650480" y="3809330"/>
            <a:ext cx="5881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NotebookLM refuses to answer without sources; ChatGPT always tries to answer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6119" y="4204246"/>
            <a:ext cx="8151763" cy="486668"/>
          </a:xfrm>
          <a:prstGeom prst="roundRect">
            <a:avLst>
              <a:gd name="adj" fmla="val 344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40" y="4362896"/>
            <a:ext cx="174427" cy="139526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93787" y="4332610"/>
            <a:ext cx="764247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Remember: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AI can be confidently wrong. </a:t>
            </a:r>
            <a:r>
              <a:rPr lang="en-US" sz="10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 ≠ accuracy.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Always verify important information.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843088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GenAI Does Well (Strengths)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804220"/>
            <a:ext cx="505710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 AI has several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common strengths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things it's generally good at. </a:t>
            </a:r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Different AI tools may have different strengths.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8908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Strengths: </a:t>
            </a:r>
            <a:endParaRPr lang="en-US" sz="195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501882-8217-806A-109C-8B0E3F809921}"/>
              </a:ext>
            </a:extLst>
          </p:cNvPr>
          <p:cNvGrpSpPr/>
          <p:nvPr/>
        </p:nvGrpSpPr>
        <p:grpSpPr>
          <a:xfrm>
            <a:off x="496119" y="1227013"/>
            <a:ext cx="4013895" cy="1079674"/>
            <a:chOff x="496119" y="1227013"/>
            <a:chExt cx="4013895" cy="1079674"/>
          </a:xfrm>
        </p:grpSpPr>
        <p:sp>
          <p:nvSpPr>
            <p:cNvPr id="3" name="Shape 1"/>
            <p:cNvSpPr/>
            <p:nvPr/>
          </p:nvSpPr>
          <p:spPr>
            <a:xfrm>
              <a:off x="496119" y="1227013"/>
              <a:ext cx="4013895" cy="1079674"/>
            </a:xfrm>
            <a:prstGeom prst="roundRect">
              <a:avLst>
                <a:gd name="adj" fmla="val 1723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34380" y="1365275"/>
              <a:ext cx="2325886" cy="2325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45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Explaining Complex Ideas</a:t>
              </a:r>
              <a:endParaRPr lang="en-US" sz="145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34380" y="1672233"/>
              <a:ext cx="3737372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AI can rephrase difficult concepts in simpler language.</a:t>
              </a:r>
              <a:endParaRPr lang="en-US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5615EF-27B1-C512-83A6-66B23D05BCCD}"/>
              </a:ext>
            </a:extLst>
          </p:cNvPr>
          <p:cNvGrpSpPr/>
          <p:nvPr/>
        </p:nvGrpSpPr>
        <p:grpSpPr>
          <a:xfrm>
            <a:off x="4633987" y="1227013"/>
            <a:ext cx="4013895" cy="1079674"/>
            <a:chOff x="4633987" y="1227013"/>
            <a:chExt cx="4013895" cy="1079674"/>
          </a:xfrm>
        </p:grpSpPr>
        <p:sp>
          <p:nvSpPr>
            <p:cNvPr id="6" name="Shape 4"/>
            <p:cNvSpPr/>
            <p:nvPr/>
          </p:nvSpPr>
          <p:spPr>
            <a:xfrm>
              <a:off x="4633987" y="1227013"/>
              <a:ext cx="4013895" cy="1079674"/>
            </a:xfrm>
            <a:prstGeom prst="roundRect">
              <a:avLst>
                <a:gd name="adj" fmla="val 1723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4772248" y="1365275"/>
              <a:ext cx="1860649" cy="2325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45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Translation</a:t>
              </a:r>
              <a:endParaRPr lang="en-US" sz="14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772248" y="1672233"/>
              <a:ext cx="37373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AI helps bridge language gaps</a:t>
              </a:r>
              <a:endParaRPr lang="en-US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E9C9251-6A66-C68E-D234-AF9A0B5E5B27}"/>
              </a:ext>
            </a:extLst>
          </p:cNvPr>
          <p:cNvGrpSpPr/>
          <p:nvPr/>
        </p:nvGrpSpPr>
        <p:grpSpPr>
          <a:xfrm>
            <a:off x="496119" y="2430661"/>
            <a:ext cx="4013895" cy="1079674"/>
            <a:chOff x="496119" y="2430661"/>
            <a:chExt cx="4013895" cy="1079674"/>
          </a:xfrm>
        </p:grpSpPr>
        <p:sp>
          <p:nvSpPr>
            <p:cNvPr id="9" name="Shape 7"/>
            <p:cNvSpPr/>
            <p:nvPr/>
          </p:nvSpPr>
          <p:spPr>
            <a:xfrm>
              <a:off x="496119" y="2430661"/>
              <a:ext cx="4013895" cy="1079674"/>
            </a:xfrm>
            <a:prstGeom prst="roundRect">
              <a:avLst>
                <a:gd name="adj" fmla="val 1723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634380" y="2568922"/>
              <a:ext cx="1860649" cy="2325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450" b="1" dirty="0">
                  <a:solidFill>
                    <a:srgbClr val="000000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Brainstorming</a:t>
              </a:r>
              <a:endParaRPr lang="en-US" sz="1450" b="1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34380" y="2875880"/>
              <a:ext cx="37373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AI produces endless ideas when you're stuck.</a:t>
              </a:r>
              <a:endParaRPr lang="en-US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D6D17FE-F571-7B6A-0853-7DF701EFEAFD}"/>
              </a:ext>
            </a:extLst>
          </p:cNvPr>
          <p:cNvGrpSpPr/>
          <p:nvPr/>
        </p:nvGrpSpPr>
        <p:grpSpPr>
          <a:xfrm>
            <a:off x="4633987" y="2430661"/>
            <a:ext cx="4013895" cy="1079674"/>
            <a:chOff x="4633987" y="2430661"/>
            <a:chExt cx="4013895" cy="1079674"/>
          </a:xfrm>
        </p:grpSpPr>
        <p:sp>
          <p:nvSpPr>
            <p:cNvPr id="12" name="Shape 10"/>
            <p:cNvSpPr/>
            <p:nvPr/>
          </p:nvSpPr>
          <p:spPr>
            <a:xfrm>
              <a:off x="4633987" y="2430661"/>
              <a:ext cx="4013895" cy="1079674"/>
            </a:xfrm>
            <a:prstGeom prst="roundRect">
              <a:avLst>
                <a:gd name="adj" fmla="val 1723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4C35CC6-EFEF-B060-A13D-F422BF51C1BF}"/>
                </a:ext>
              </a:extLst>
            </p:cNvPr>
            <p:cNvGrpSpPr/>
            <p:nvPr/>
          </p:nvGrpSpPr>
          <p:grpSpPr>
            <a:xfrm>
              <a:off x="4772248" y="2568922"/>
              <a:ext cx="3737372" cy="803151"/>
              <a:chOff x="4772248" y="2568922"/>
              <a:chExt cx="3737372" cy="803151"/>
            </a:xfrm>
          </p:grpSpPr>
          <p:sp>
            <p:nvSpPr>
              <p:cNvPr id="13" name="Text 11"/>
              <p:cNvSpPr/>
              <p:nvPr/>
            </p:nvSpPr>
            <p:spPr>
              <a:xfrm>
                <a:off x="4772248" y="2568922"/>
                <a:ext cx="1860649" cy="23254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800"/>
                  </a:lnSpc>
                  <a:buNone/>
                </a:pPr>
                <a:r>
                  <a:rPr lang="en-US" sz="1450" b="1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Speed</a:t>
                </a:r>
                <a:endParaRPr lang="en-US" sz="145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4772248" y="2875880"/>
                <a:ext cx="3737372" cy="49619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AI generates content in seconds. A task that might take you an hour can be drafted in moments.</a:t>
                </a:r>
                <a:endParaRPr lang="en-US" sz="1200" dirty="0"/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FB87E00-56A6-F761-0564-1F42EC4EC9A5}"/>
              </a:ext>
            </a:extLst>
          </p:cNvPr>
          <p:cNvGrpSpPr/>
          <p:nvPr/>
        </p:nvGrpSpPr>
        <p:grpSpPr>
          <a:xfrm>
            <a:off x="496119" y="3649861"/>
            <a:ext cx="8151763" cy="824731"/>
            <a:chOff x="496119" y="3649861"/>
            <a:chExt cx="8151763" cy="824731"/>
          </a:xfrm>
        </p:grpSpPr>
        <p:sp>
          <p:nvSpPr>
            <p:cNvPr id="15" name="Shape 13"/>
            <p:cNvSpPr/>
            <p:nvPr/>
          </p:nvSpPr>
          <p:spPr>
            <a:xfrm>
              <a:off x="496119" y="3649861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845347"/>
              <a:ext cx="193774" cy="155004"/>
            </a:xfrm>
            <a:prstGeom prst="rect">
              <a:avLst/>
            </a:prstGeom>
          </p:spPr>
        </p:pic>
        <p:sp>
          <p:nvSpPr>
            <p:cNvPr id="17" name="Text 14"/>
            <p:cNvSpPr/>
            <p:nvPr/>
          </p:nvSpPr>
          <p:spPr>
            <a:xfrm>
              <a:off x="937840" y="3804791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Generative AI has common built-in strengths, but performance varies across tools. Explore them hands-on to discover what each does best.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4338" y="1843088"/>
            <a:ext cx="528570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GenAI Struggles With (Limits)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48406" y="2469787"/>
            <a:ext cx="4722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 AI also has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common limits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things it generally struggles with. Different AI tools may have different weaknesses.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4187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Limits :</a:t>
            </a:r>
            <a:endParaRPr lang="en-US" sz="24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6F24361-ADE0-021A-5EE4-52B51D9DF10B}"/>
              </a:ext>
            </a:extLst>
          </p:cNvPr>
          <p:cNvGrpSpPr/>
          <p:nvPr/>
        </p:nvGrpSpPr>
        <p:grpSpPr>
          <a:xfrm>
            <a:off x="496119" y="1389757"/>
            <a:ext cx="4013895" cy="1079674"/>
            <a:chOff x="496119" y="1389757"/>
            <a:chExt cx="4013895" cy="1079674"/>
          </a:xfrm>
        </p:grpSpPr>
        <p:sp>
          <p:nvSpPr>
            <p:cNvPr id="3" name="Shape 1"/>
            <p:cNvSpPr/>
            <p:nvPr/>
          </p:nvSpPr>
          <p:spPr>
            <a:xfrm>
              <a:off x="496119" y="1389757"/>
              <a:ext cx="4013895" cy="1079674"/>
            </a:xfrm>
            <a:prstGeom prst="roundRect">
              <a:avLst>
                <a:gd name="adj" fmla="val 1723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34380" y="1528018"/>
              <a:ext cx="2058144" cy="2325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45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No Real Understanding</a:t>
              </a:r>
              <a:endParaRPr lang="en-US" sz="145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34380" y="1834976"/>
              <a:ext cx="37373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AI mimics patterns but doesn't comprehend meaning.</a:t>
              </a:r>
              <a:endParaRPr lang="en-US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5D9CB17-C7EF-8B28-0E7B-B778947B66B3}"/>
              </a:ext>
            </a:extLst>
          </p:cNvPr>
          <p:cNvGrpSpPr/>
          <p:nvPr/>
        </p:nvGrpSpPr>
        <p:grpSpPr>
          <a:xfrm>
            <a:off x="4633987" y="1389757"/>
            <a:ext cx="4013895" cy="1079674"/>
            <a:chOff x="4633987" y="1389757"/>
            <a:chExt cx="4013895" cy="1079674"/>
          </a:xfrm>
        </p:grpSpPr>
        <p:sp>
          <p:nvSpPr>
            <p:cNvPr id="6" name="Shape 4"/>
            <p:cNvSpPr/>
            <p:nvPr/>
          </p:nvSpPr>
          <p:spPr>
            <a:xfrm>
              <a:off x="4633987" y="1389757"/>
              <a:ext cx="4013895" cy="1079674"/>
            </a:xfrm>
            <a:prstGeom prst="roundRect">
              <a:avLst>
                <a:gd name="adj" fmla="val 1723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4772248" y="1528018"/>
              <a:ext cx="2911822" cy="2325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45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Outdated or Missing Information</a:t>
              </a:r>
              <a:endParaRPr lang="en-US" sz="14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772248" y="1834976"/>
              <a:ext cx="3737372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AI only knows what was in its training data, which has a cutoff date.</a:t>
              </a:r>
              <a:endParaRPr lang="en-US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005C555-C328-6CF3-81C2-ED2D0307E056}"/>
              </a:ext>
            </a:extLst>
          </p:cNvPr>
          <p:cNvGrpSpPr/>
          <p:nvPr/>
        </p:nvGrpSpPr>
        <p:grpSpPr>
          <a:xfrm>
            <a:off x="496119" y="2593404"/>
            <a:ext cx="4013895" cy="831577"/>
            <a:chOff x="496119" y="2593404"/>
            <a:chExt cx="4013895" cy="831577"/>
          </a:xfrm>
        </p:grpSpPr>
        <p:sp>
          <p:nvSpPr>
            <p:cNvPr id="9" name="Shape 7"/>
            <p:cNvSpPr/>
            <p:nvPr/>
          </p:nvSpPr>
          <p:spPr>
            <a:xfrm>
              <a:off x="496119" y="2593404"/>
              <a:ext cx="4013895" cy="831577"/>
            </a:xfrm>
            <a:prstGeom prst="roundRect">
              <a:avLst>
                <a:gd name="adj" fmla="val 2238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634380" y="2731666"/>
              <a:ext cx="1860649" cy="2325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45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Hallucinations</a:t>
              </a:r>
              <a:endParaRPr lang="en-US" sz="14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34380" y="3038624"/>
              <a:ext cx="37373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AI confidently makes things up.</a:t>
              </a:r>
              <a:endParaRPr lang="en-US" sz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CB5A882-E394-9E9C-E347-AA034CD017A2}"/>
              </a:ext>
            </a:extLst>
          </p:cNvPr>
          <p:cNvGrpSpPr/>
          <p:nvPr/>
        </p:nvGrpSpPr>
        <p:grpSpPr>
          <a:xfrm>
            <a:off x="4633987" y="2593404"/>
            <a:ext cx="4013895" cy="831577"/>
            <a:chOff x="4633987" y="2593404"/>
            <a:chExt cx="4013895" cy="831577"/>
          </a:xfrm>
        </p:grpSpPr>
        <p:sp>
          <p:nvSpPr>
            <p:cNvPr id="12" name="Shape 10"/>
            <p:cNvSpPr/>
            <p:nvPr/>
          </p:nvSpPr>
          <p:spPr>
            <a:xfrm>
              <a:off x="4633987" y="2593404"/>
              <a:ext cx="4013895" cy="831577"/>
            </a:xfrm>
            <a:prstGeom prst="roundRect">
              <a:avLst>
                <a:gd name="adj" fmla="val 2238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1"/>
            <p:cNvSpPr/>
            <p:nvPr/>
          </p:nvSpPr>
          <p:spPr>
            <a:xfrm>
              <a:off x="4772248" y="2731666"/>
              <a:ext cx="1860649" cy="2325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45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Bias</a:t>
              </a:r>
              <a:endParaRPr lang="en-US" sz="14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772248" y="3038624"/>
              <a:ext cx="37373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AI repeats stereotypes from its training data.</a:t>
              </a:r>
              <a:endParaRPr lang="en-US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D71AC4D-EF06-9480-48E3-5E62A0D3B9B6}"/>
              </a:ext>
            </a:extLst>
          </p:cNvPr>
          <p:cNvGrpSpPr/>
          <p:nvPr/>
        </p:nvGrpSpPr>
        <p:grpSpPr>
          <a:xfrm>
            <a:off x="496119" y="3564508"/>
            <a:ext cx="8151763" cy="824731"/>
            <a:chOff x="496119" y="3564508"/>
            <a:chExt cx="8151763" cy="824731"/>
          </a:xfrm>
        </p:grpSpPr>
        <p:sp>
          <p:nvSpPr>
            <p:cNvPr id="15" name="Shape 13"/>
            <p:cNvSpPr/>
            <p:nvPr/>
          </p:nvSpPr>
          <p:spPr>
            <a:xfrm>
              <a:off x="496119" y="3564508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759994"/>
              <a:ext cx="193774" cy="155004"/>
            </a:xfrm>
            <a:prstGeom prst="rect">
              <a:avLst/>
            </a:prstGeom>
          </p:spPr>
        </p:pic>
        <p:sp>
          <p:nvSpPr>
            <p:cNvPr id="17" name="Text 14"/>
            <p:cNvSpPr/>
            <p:nvPr/>
          </p:nvSpPr>
          <p:spPr>
            <a:xfrm>
              <a:off x="937840" y="3719438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AI tools share common limits, but not all struggle equally. The smarter move is learning the specific strengths and weaknesses of each tool you use.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96119" y="978917"/>
            <a:ext cx="8151763" cy="3615928"/>
          </a:xfrm>
          <a:prstGeom prst="roundRect">
            <a:avLst>
              <a:gd name="adj" fmla="val 38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983679"/>
            <a:ext cx="8142238" cy="2559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047" y="1030263"/>
            <a:ext cx="462930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47775" y="1030263"/>
            <a:ext cx="306608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04655" y="1030263"/>
            <a:ext cx="143760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Answer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133058" y="1030263"/>
            <a:ext cx="241704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0881" y="1239664"/>
            <a:ext cx="8142238" cy="4188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047" y="1286247"/>
            <a:ext cx="462930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47775" y="1286247"/>
            <a:ext cx="306608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 picnic sign-up sheet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04655" y="1286247"/>
            <a:ext cx="143760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Strength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33058" y="1286247"/>
            <a:ext cx="2417043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Creating simple templates and forms is something AI can help with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0881" y="1658466"/>
            <a:ext cx="8142238" cy="4188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047" y="1705049"/>
            <a:ext cx="462930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47775" y="1705049"/>
            <a:ext cx="306608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Wrong library hours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04655" y="1705049"/>
            <a:ext cx="143760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33058" y="1705049"/>
            <a:ext cx="2417043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may have outdated information - a common limit for time-sensitive facts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0881" y="2077269"/>
            <a:ext cx="8142238" cy="4188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94047" y="2123852"/>
            <a:ext cx="462930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47775" y="2123852"/>
            <a:ext cx="306608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Stuck on thank-you card opening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04655" y="2123852"/>
            <a:ext cx="143760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Strength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33058" y="2123852"/>
            <a:ext cx="2417043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Getting started with writing is something AI helps with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0881" y="2496071"/>
            <a:ext cx="8142238" cy="4188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94047" y="2542654"/>
            <a:ext cx="462930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47775" y="2542654"/>
            <a:ext cx="306608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Physics joke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04655" y="2542654"/>
            <a:ext cx="143760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33058" y="2542654"/>
            <a:ext cx="2417043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doesn't understand what's age-appropriate or funny for a family dinner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0881" y="2914873"/>
            <a:ext cx="8142238" cy="4188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94047" y="2961456"/>
            <a:ext cx="462930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47775" y="2961456"/>
            <a:ext cx="306608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onions make you cry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04655" y="2961456"/>
            <a:ext cx="143760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Strength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33058" y="2961456"/>
            <a:ext cx="2417043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Explaining everyday curiosities in simple terms is something AI does well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0881" y="3333676"/>
            <a:ext cx="8142238" cy="4188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94047" y="3380259"/>
            <a:ext cx="462930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247775" y="3380259"/>
            <a:ext cx="306608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European artists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04655" y="3380259"/>
            <a:ext cx="143760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33058" y="3380259"/>
            <a:ext cx="2417043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reflects bias in its training data - an important limit to watch for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0881" y="3752478"/>
            <a:ext cx="8142238" cy="4188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94047" y="3799061"/>
            <a:ext cx="462930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247775" y="3799061"/>
            <a:ext cx="306608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Beach trip packing list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04655" y="3799061"/>
            <a:ext cx="143760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Strength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33058" y="3799061"/>
            <a:ext cx="2417043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Drafting and organizing checklists is something AI can help with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0881" y="4171280"/>
            <a:ext cx="8142238" cy="4188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94047" y="4217863"/>
            <a:ext cx="462930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247775" y="4217863"/>
            <a:ext cx="306608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Fake movie release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04655" y="4217863"/>
            <a:ext cx="143760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33058" y="4217863"/>
            <a:ext cx="2417043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Classic hallucination - AI sounds confident but made up something that doesn't exist</a:t>
            </a:r>
            <a:endParaRPr lang="en-US" sz="900" dirty="0"/>
          </a:p>
        </p:txBody>
      </p:sp>
      <p:sp>
        <p:nvSpPr>
          <p:cNvPr id="51" name="Text 1">
            <a:extLst>
              <a:ext uri="{FF2B5EF4-FFF2-40B4-BE49-F238E27FC236}">
                <a16:creationId xmlns:a16="http://schemas.microsoft.com/office/drawing/2014/main" id="{D71996BF-5BF3-AB18-07D1-66D527B5C412}"/>
              </a:ext>
            </a:extLst>
          </p:cNvPr>
          <p:cNvSpPr/>
          <p:nvPr/>
        </p:nvSpPr>
        <p:spPr>
          <a:xfrm>
            <a:off x="498390" y="718143"/>
            <a:ext cx="815176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each scenario, decide: Is this a </a:t>
            </a:r>
            <a:r>
              <a:rPr lang="en-US" sz="1050" b="1" dirty="0">
                <a:solidFill>
                  <a:srgbClr val="0067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STRENGTH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AI or a </a:t>
            </a:r>
            <a:r>
              <a:rPr lang="en-US" sz="1050" b="1" dirty="0">
                <a:solidFill>
                  <a:srgbClr val="335E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?</a:t>
            </a:r>
            <a:endParaRPr lang="en-US" sz="1050" dirty="0"/>
          </a:p>
        </p:txBody>
      </p:sp>
      <p:sp>
        <p:nvSpPr>
          <p:cNvPr id="52" name="Text 0">
            <a:extLst>
              <a:ext uri="{FF2B5EF4-FFF2-40B4-BE49-F238E27FC236}">
                <a16:creationId xmlns:a16="http://schemas.microsoft.com/office/drawing/2014/main" id="{AD5A3243-1B65-9303-186E-7FB0FABFB510}"/>
              </a:ext>
            </a:extLst>
          </p:cNvPr>
          <p:cNvSpPr/>
          <p:nvPr/>
        </p:nvSpPr>
        <p:spPr>
          <a:xfrm>
            <a:off x="496119" y="364527"/>
            <a:ext cx="4574456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Mini Activity 1 - Strength or Limit?</a:t>
            </a:r>
            <a:endParaRPr lang="en-US" sz="2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18" grpId="0" animBg="1"/>
      <p:bldP spid="22" grpId="0" animBg="1"/>
      <p:bldP spid="23" grpId="0" animBg="1"/>
      <p:bldP spid="27" grpId="0" animBg="1"/>
      <p:bldP spid="28" grpId="0" animBg="1"/>
      <p:bldP spid="32" grpId="0" animBg="1"/>
      <p:bldP spid="37" grpId="0" animBg="1"/>
      <p:bldP spid="38" grpId="0" animBg="1"/>
      <p:bldP spid="42" grpId="0" animBg="1"/>
      <p:bldP spid="43" grpId="0" animBg="1"/>
      <p:bldP spid="47" grpId="0" animBg="1"/>
      <p:bldP spid="4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53244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When to Use AI 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926827"/>
            <a:ext cx="472276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might use AI when your goal is to explore, generate ideas, or create something new and you plan to review and personalize the output yourself.</a:t>
            </a:r>
            <a:endParaRPr lang="en-US" sz="12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A58B6BF-DAF4-2EA6-5981-6307D2FA7753}"/>
              </a:ext>
            </a:extLst>
          </p:cNvPr>
          <p:cNvGrpSpPr/>
          <p:nvPr/>
        </p:nvGrpSpPr>
        <p:grpSpPr>
          <a:xfrm>
            <a:off x="496119" y="1810643"/>
            <a:ext cx="4722763" cy="576635"/>
            <a:chOff x="496119" y="1810643"/>
            <a:chExt cx="4722763" cy="576635"/>
          </a:xfrm>
        </p:grpSpPr>
        <p:sp>
          <p:nvSpPr>
            <p:cNvPr id="5" name="Shape 2"/>
            <p:cNvSpPr/>
            <p:nvPr/>
          </p:nvSpPr>
          <p:spPr>
            <a:xfrm>
              <a:off x="496119" y="1810643"/>
              <a:ext cx="4722763" cy="576635"/>
            </a:xfrm>
            <a:prstGeom prst="roundRect">
              <a:avLst>
                <a:gd name="adj" fmla="val 3227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0092" y="2006129"/>
              <a:ext cx="193774" cy="155004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937840" y="1965573"/>
              <a:ext cx="415706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situations below are </a:t>
              </a: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general guidelines, not rigid rules</a:t>
              </a: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. </a:t>
              </a:r>
              <a:endParaRPr lang="en-US" sz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0CE7E3-C6E4-E249-82C4-1CC98E18A7AF}"/>
              </a:ext>
            </a:extLst>
          </p:cNvPr>
          <p:cNvGrpSpPr/>
          <p:nvPr/>
        </p:nvGrpSpPr>
        <p:grpSpPr>
          <a:xfrm>
            <a:off x="496119" y="2526804"/>
            <a:ext cx="1491555" cy="744141"/>
            <a:chOff x="496119" y="2526804"/>
            <a:chExt cx="1491555" cy="744141"/>
          </a:xfrm>
        </p:grpSpPr>
        <p:sp>
          <p:nvSpPr>
            <p:cNvPr id="8" name="Shape 4"/>
            <p:cNvSpPr/>
            <p:nvPr/>
          </p:nvSpPr>
          <p:spPr>
            <a:xfrm>
              <a:off x="496119" y="2526804"/>
              <a:ext cx="1491555" cy="744141"/>
            </a:xfrm>
            <a:prstGeom prst="roundRect">
              <a:avLst>
                <a:gd name="adj" fmla="val 2500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5"/>
            <p:cNvSpPr/>
            <p:nvPr/>
          </p:nvSpPr>
          <p:spPr>
            <a:xfrm>
              <a:off x="620092" y="2650778"/>
              <a:ext cx="1243608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Exploring creative angles</a:t>
              </a:r>
              <a:endParaRPr lang="en-US" sz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8C96D26-DA70-54CF-7324-B44AC1F07C38}"/>
              </a:ext>
            </a:extLst>
          </p:cNvPr>
          <p:cNvGrpSpPr/>
          <p:nvPr/>
        </p:nvGrpSpPr>
        <p:grpSpPr>
          <a:xfrm>
            <a:off x="2111648" y="2526804"/>
            <a:ext cx="1491630" cy="744141"/>
            <a:chOff x="2111648" y="2526804"/>
            <a:chExt cx="1491630" cy="744141"/>
          </a:xfrm>
        </p:grpSpPr>
        <p:sp>
          <p:nvSpPr>
            <p:cNvPr id="10" name="Shape 6"/>
            <p:cNvSpPr/>
            <p:nvPr/>
          </p:nvSpPr>
          <p:spPr>
            <a:xfrm>
              <a:off x="2111648" y="2526804"/>
              <a:ext cx="1491630" cy="744141"/>
            </a:xfrm>
            <a:prstGeom prst="roundRect">
              <a:avLst>
                <a:gd name="adj" fmla="val 2500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7"/>
            <p:cNvSpPr/>
            <p:nvPr/>
          </p:nvSpPr>
          <p:spPr>
            <a:xfrm>
              <a:off x="2235622" y="2650778"/>
              <a:ext cx="1243682" cy="3876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Building upon a partial idea</a:t>
              </a:r>
              <a:endParaRPr lang="en-US" sz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7328AE9-9D97-D6C6-FDE7-3691BAC99E56}"/>
              </a:ext>
            </a:extLst>
          </p:cNvPr>
          <p:cNvGrpSpPr/>
          <p:nvPr/>
        </p:nvGrpSpPr>
        <p:grpSpPr>
          <a:xfrm>
            <a:off x="3727252" y="2526804"/>
            <a:ext cx="1491630" cy="744141"/>
            <a:chOff x="3727252" y="2526804"/>
            <a:chExt cx="1491630" cy="744141"/>
          </a:xfrm>
        </p:grpSpPr>
        <p:sp>
          <p:nvSpPr>
            <p:cNvPr id="12" name="Shape 8"/>
            <p:cNvSpPr/>
            <p:nvPr/>
          </p:nvSpPr>
          <p:spPr>
            <a:xfrm>
              <a:off x="3727252" y="2526804"/>
              <a:ext cx="1491630" cy="744141"/>
            </a:xfrm>
            <a:prstGeom prst="roundRect">
              <a:avLst>
                <a:gd name="adj" fmla="val 2500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9"/>
            <p:cNvSpPr/>
            <p:nvPr/>
          </p:nvSpPr>
          <p:spPr>
            <a:xfrm>
              <a:off x="3851225" y="2650778"/>
              <a:ext cx="1243682" cy="3876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Simplifying instructions</a:t>
              </a:r>
              <a:endParaRPr lang="en-US" sz="12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EDFA7EB-5723-2E33-0402-758261078AAA}"/>
              </a:ext>
            </a:extLst>
          </p:cNvPr>
          <p:cNvGrpSpPr/>
          <p:nvPr/>
        </p:nvGrpSpPr>
        <p:grpSpPr>
          <a:xfrm>
            <a:off x="496119" y="3394918"/>
            <a:ext cx="1491555" cy="829494"/>
            <a:chOff x="496119" y="3394918"/>
            <a:chExt cx="1491555" cy="829494"/>
          </a:xfrm>
        </p:grpSpPr>
        <p:sp>
          <p:nvSpPr>
            <p:cNvPr id="14" name="Shape 10"/>
            <p:cNvSpPr/>
            <p:nvPr/>
          </p:nvSpPr>
          <p:spPr>
            <a:xfrm>
              <a:off x="496119" y="3394918"/>
              <a:ext cx="1491555" cy="829494"/>
            </a:xfrm>
            <a:prstGeom prst="roundRect">
              <a:avLst>
                <a:gd name="adj" fmla="val 2243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1"/>
            <p:cNvSpPr/>
            <p:nvPr/>
          </p:nvSpPr>
          <p:spPr>
            <a:xfrm>
              <a:off x="620092" y="3518892"/>
              <a:ext cx="1243608" cy="3876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Finding blind spots</a:t>
              </a:r>
              <a:endParaRPr lang="en-US" sz="12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FEE7794-0BC7-9A87-D825-CA0B3425BA20}"/>
              </a:ext>
            </a:extLst>
          </p:cNvPr>
          <p:cNvGrpSpPr/>
          <p:nvPr/>
        </p:nvGrpSpPr>
        <p:grpSpPr>
          <a:xfrm>
            <a:off x="2111648" y="3394918"/>
            <a:ext cx="1491630" cy="829494"/>
            <a:chOff x="2111648" y="3394918"/>
            <a:chExt cx="1491630" cy="829494"/>
          </a:xfrm>
        </p:grpSpPr>
        <p:sp>
          <p:nvSpPr>
            <p:cNvPr id="16" name="Shape 12"/>
            <p:cNvSpPr/>
            <p:nvPr/>
          </p:nvSpPr>
          <p:spPr>
            <a:xfrm>
              <a:off x="2111648" y="3394918"/>
              <a:ext cx="1491630" cy="829494"/>
            </a:xfrm>
            <a:prstGeom prst="roundRect">
              <a:avLst>
                <a:gd name="adj" fmla="val 2243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 13"/>
            <p:cNvSpPr/>
            <p:nvPr/>
          </p:nvSpPr>
          <p:spPr>
            <a:xfrm>
              <a:off x="2235622" y="3518892"/>
              <a:ext cx="1243682" cy="5815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Translating intent, not just words</a:t>
              </a:r>
              <a:endParaRPr lang="en-US" sz="12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29DD672-8B86-B7A0-BB6D-A1DA6CD950A6}"/>
              </a:ext>
            </a:extLst>
          </p:cNvPr>
          <p:cNvGrpSpPr/>
          <p:nvPr/>
        </p:nvGrpSpPr>
        <p:grpSpPr>
          <a:xfrm>
            <a:off x="3727252" y="3394918"/>
            <a:ext cx="1491630" cy="829494"/>
            <a:chOff x="3727252" y="3394918"/>
            <a:chExt cx="1491630" cy="829494"/>
          </a:xfrm>
        </p:grpSpPr>
        <p:sp>
          <p:nvSpPr>
            <p:cNvPr id="18" name="Shape 14"/>
            <p:cNvSpPr/>
            <p:nvPr/>
          </p:nvSpPr>
          <p:spPr>
            <a:xfrm>
              <a:off x="3727252" y="3394918"/>
              <a:ext cx="1491630" cy="829494"/>
            </a:xfrm>
            <a:prstGeom prst="roundRect">
              <a:avLst>
                <a:gd name="adj" fmla="val 2243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 15"/>
            <p:cNvSpPr/>
            <p:nvPr/>
          </p:nvSpPr>
          <p:spPr>
            <a:xfrm>
              <a:off x="3851225" y="3518892"/>
              <a:ext cx="1243682" cy="3876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Creating variations</a:t>
              </a:r>
              <a:endParaRPr lang="en-US" sz="12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E20C27B-6306-4EA6-84BE-476881E4BF55}"/>
              </a:ext>
            </a:extLst>
          </p:cNvPr>
          <p:cNvGrpSpPr/>
          <p:nvPr/>
        </p:nvGrpSpPr>
        <p:grpSpPr>
          <a:xfrm>
            <a:off x="496119" y="4348386"/>
            <a:ext cx="4722763" cy="441796"/>
            <a:chOff x="496119" y="4348386"/>
            <a:chExt cx="4722763" cy="441796"/>
          </a:xfrm>
        </p:grpSpPr>
        <p:sp>
          <p:nvSpPr>
            <p:cNvPr id="20" name="Shape 16"/>
            <p:cNvSpPr/>
            <p:nvPr/>
          </p:nvSpPr>
          <p:spPr>
            <a:xfrm>
              <a:off x="496119" y="4348386"/>
              <a:ext cx="4722763" cy="441796"/>
            </a:xfrm>
            <a:prstGeom prst="roundRect">
              <a:avLst>
                <a:gd name="adj" fmla="val 4212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 17"/>
            <p:cNvSpPr/>
            <p:nvPr/>
          </p:nvSpPr>
          <p:spPr>
            <a:xfrm>
              <a:off x="620092" y="4472360"/>
              <a:ext cx="179888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Comparing perspectives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58167"/>
            <a:ext cx="279097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When NOT to Use AI 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3925119" y="957709"/>
            <a:ext cx="4722763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NOT use AI when accuracy is critical or harm could result from mistakes.</a:t>
            </a:r>
            <a:endParaRPr lang="en-US" sz="105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888D194-03BE-DE3D-0E15-CDB3AC863A20}"/>
              </a:ext>
            </a:extLst>
          </p:cNvPr>
          <p:cNvGrpSpPr/>
          <p:nvPr/>
        </p:nvGrpSpPr>
        <p:grpSpPr>
          <a:xfrm>
            <a:off x="3925119" y="1494904"/>
            <a:ext cx="4722763" cy="910828"/>
            <a:chOff x="3925119" y="1494904"/>
            <a:chExt cx="4722763" cy="910828"/>
          </a:xfrm>
        </p:grpSpPr>
        <p:sp>
          <p:nvSpPr>
            <p:cNvPr id="5" name="Shape 2"/>
            <p:cNvSpPr/>
            <p:nvPr/>
          </p:nvSpPr>
          <p:spPr>
            <a:xfrm>
              <a:off x="3925119" y="1494904"/>
              <a:ext cx="4722763" cy="910828"/>
            </a:xfrm>
            <a:prstGeom prst="roundRect">
              <a:avLst>
                <a:gd name="adj" fmla="val 1839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36740" y="1653555"/>
              <a:ext cx="174427" cy="139526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4322787" y="1623268"/>
              <a:ext cx="4213473" cy="636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05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situations below are </a:t>
              </a:r>
              <a:r>
                <a:rPr lang="en-US" sz="105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general guidelines, not rigid rules</a:t>
              </a:r>
              <a:r>
                <a:rPr lang="en-US" sz="105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. Think of them as "yellow flags", reasons to pause and think carefully before using AI.</a:t>
              </a:r>
              <a:endParaRPr lang="en-US" sz="105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895113-23DB-C8B5-A383-D938ECC23DED}"/>
              </a:ext>
            </a:extLst>
          </p:cNvPr>
          <p:cNvGrpSpPr/>
          <p:nvPr/>
        </p:nvGrpSpPr>
        <p:grpSpPr>
          <a:xfrm>
            <a:off x="3925119" y="2518767"/>
            <a:ext cx="1507257" cy="647402"/>
            <a:chOff x="3925119" y="2518767"/>
            <a:chExt cx="1507257" cy="647402"/>
          </a:xfrm>
        </p:grpSpPr>
        <p:sp>
          <p:nvSpPr>
            <p:cNvPr id="8" name="Shape 4"/>
            <p:cNvSpPr/>
            <p:nvPr/>
          </p:nvSpPr>
          <p:spPr>
            <a:xfrm>
              <a:off x="3925119" y="2518767"/>
              <a:ext cx="1507257" cy="647402"/>
            </a:xfrm>
            <a:prstGeom prst="roundRect">
              <a:avLst>
                <a:gd name="adj" fmla="val 2587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5"/>
            <p:cNvSpPr/>
            <p:nvPr/>
          </p:nvSpPr>
          <p:spPr>
            <a:xfrm>
              <a:off x="4036740" y="2630388"/>
              <a:ext cx="1284015" cy="424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0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You need accurate, current facts</a:t>
              </a:r>
              <a:endParaRPr lang="en-US" sz="105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6C2CB1E-014E-6F83-661E-4A8567E9F1D5}"/>
              </a:ext>
            </a:extLst>
          </p:cNvPr>
          <p:cNvGrpSpPr/>
          <p:nvPr/>
        </p:nvGrpSpPr>
        <p:grpSpPr>
          <a:xfrm>
            <a:off x="5532834" y="2518767"/>
            <a:ext cx="1507257" cy="647402"/>
            <a:chOff x="5532834" y="2518767"/>
            <a:chExt cx="1507257" cy="647402"/>
          </a:xfrm>
        </p:grpSpPr>
        <p:sp>
          <p:nvSpPr>
            <p:cNvPr id="10" name="Shape 6"/>
            <p:cNvSpPr/>
            <p:nvPr/>
          </p:nvSpPr>
          <p:spPr>
            <a:xfrm>
              <a:off x="5532834" y="2518767"/>
              <a:ext cx="1507257" cy="647402"/>
            </a:xfrm>
            <a:prstGeom prst="roundRect">
              <a:avLst>
                <a:gd name="adj" fmla="val 2587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7"/>
            <p:cNvSpPr/>
            <p:nvPr/>
          </p:nvSpPr>
          <p:spPr>
            <a:xfrm>
              <a:off x="5644455" y="2630388"/>
              <a:ext cx="1284015" cy="3487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05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You can't check if it's correct</a:t>
              </a:r>
              <a:endParaRPr lang="en-US" sz="105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95B02D8-9E6E-DD61-5BF9-60C10396A0ED}"/>
              </a:ext>
            </a:extLst>
          </p:cNvPr>
          <p:cNvGrpSpPr/>
          <p:nvPr/>
        </p:nvGrpSpPr>
        <p:grpSpPr>
          <a:xfrm>
            <a:off x="7140550" y="2518767"/>
            <a:ext cx="1507331" cy="647402"/>
            <a:chOff x="7140550" y="2518767"/>
            <a:chExt cx="1507331" cy="647402"/>
          </a:xfrm>
        </p:grpSpPr>
        <p:sp>
          <p:nvSpPr>
            <p:cNvPr id="12" name="Shape 8"/>
            <p:cNvSpPr/>
            <p:nvPr/>
          </p:nvSpPr>
          <p:spPr>
            <a:xfrm>
              <a:off x="7140550" y="2518767"/>
              <a:ext cx="1507331" cy="647402"/>
            </a:xfrm>
            <a:prstGeom prst="roundRect">
              <a:avLst>
                <a:gd name="adj" fmla="val 2587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9"/>
            <p:cNvSpPr/>
            <p:nvPr/>
          </p:nvSpPr>
          <p:spPr>
            <a:xfrm>
              <a:off x="7252171" y="2630388"/>
              <a:ext cx="1284089" cy="3487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05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Someone needs emotional support</a:t>
              </a:r>
              <a:endParaRPr lang="en-US" sz="105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F9B4274-7F63-D642-F9AC-03BDA105BE01}"/>
              </a:ext>
            </a:extLst>
          </p:cNvPr>
          <p:cNvGrpSpPr/>
          <p:nvPr/>
        </p:nvGrpSpPr>
        <p:grpSpPr>
          <a:xfrm>
            <a:off x="3925119" y="3266629"/>
            <a:ext cx="1507257" cy="746299"/>
            <a:chOff x="3925119" y="3266629"/>
            <a:chExt cx="1507257" cy="746299"/>
          </a:xfrm>
        </p:grpSpPr>
        <p:sp>
          <p:nvSpPr>
            <p:cNvPr id="14" name="Shape 10"/>
            <p:cNvSpPr/>
            <p:nvPr/>
          </p:nvSpPr>
          <p:spPr>
            <a:xfrm>
              <a:off x="3925119" y="3266629"/>
              <a:ext cx="1507257" cy="746299"/>
            </a:xfrm>
            <a:prstGeom prst="roundRect">
              <a:avLst>
                <a:gd name="adj" fmla="val 2244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1"/>
            <p:cNvSpPr/>
            <p:nvPr/>
          </p:nvSpPr>
          <p:spPr>
            <a:xfrm>
              <a:off x="4036740" y="3378250"/>
              <a:ext cx="1284015" cy="523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05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You're doing important school work</a:t>
              </a:r>
              <a:endParaRPr lang="en-US" sz="105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3BE8A7A-B05D-8AF7-CB1C-9C6F8FAEC10D}"/>
              </a:ext>
            </a:extLst>
          </p:cNvPr>
          <p:cNvGrpSpPr/>
          <p:nvPr/>
        </p:nvGrpSpPr>
        <p:grpSpPr>
          <a:xfrm>
            <a:off x="5532834" y="3266629"/>
            <a:ext cx="1507257" cy="746299"/>
            <a:chOff x="5532834" y="3266629"/>
            <a:chExt cx="1507257" cy="746299"/>
          </a:xfrm>
        </p:grpSpPr>
        <p:sp>
          <p:nvSpPr>
            <p:cNvPr id="16" name="Shape 12"/>
            <p:cNvSpPr/>
            <p:nvPr/>
          </p:nvSpPr>
          <p:spPr>
            <a:xfrm>
              <a:off x="5532834" y="3266629"/>
              <a:ext cx="1507257" cy="746299"/>
            </a:xfrm>
            <a:prstGeom prst="roundRect">
              <a:avLst>
                <a:gd name="adj" fmla="val 2244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 13"/>
            <p:cNvSpPr/>
            <p:nvPr/>
          </p:nvSpPr>
          <p:spPr>
            <a:xfrm>
              <a:off x="5644455" y="3378250"/>
              <a:ext cx="1284015" cy="523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05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You'd be responsible for the outcome</a:t>
              </a:r>
              <a:endParaRPr lang="en-US" sz="105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0B98527-3A44-DCE4-7993-F025E2642CCC}"/>
              </a:ext>
            </a:extLst>
          </p:cNvPr>
          <p:cNvGrpSpPr/>
          <p:nvPr/>
        </p:nvGrpSpPr>
        <p:grpSpPr>
          <a:xfrm>
            <a:off x="7140550" y="3266629"/>
            <a:ext cx="1507331" cy="746299"/>
            <a:chOff x="7140550" y="3266629"/>
            <a:chExt cx="1507331" cy="746299"/>
          </a:xfrm>
        </p:grpSpPr>
        <p:sp>
          <p:nvSpPr>
            <p:cNvPr id="18" name="Shape 14"/>
            <p:cNvSpPr/>
            <p:nvPr/>
          </p:nvSpPr>
          <p:spPr>
            <a:xfrm>
              <a:off x="7140550" y="3266629"/>
              <a:ext cx="1507331" cy="746299"/>
            </a:xfrm>
            <a:prstGeom prst="roundRect">
              <a:avLst>
                <a:gd name="adj" fmla="val 2244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 15"/>
            <p:cNvSpPr/>
            <p:nvPr/>
          </p:nvSpPr>
          <p:spPr>
            <a:xfrm>
              <a:off x="7252171" y="3378250"/>
              <a:ext cx="1284089" cy="3487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05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You're making a personal decision</a:t>
              </a:r>
              <a:endParaRPr lang="en-US" sz="105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893907D-84BB-294D-5C69-61101566D060}"/>
              </a:ext>
            </a:extLst>
          </p:cNvPr>
          <p:cNvGrpSpPr/>
          <p:nvPr/>
        </p:nvGrpSpPr>
        <p:grpSpPr>
          <a:xfrm>
            <a:off x="3925119" y="4113386"/>
            <a:ext cx="2311152" cy="571946"/>
            <a:chOff x="3925119" y="4113386"/>
            <a:chExt cx="2311152" cy="571946"/>
          </a:xfrm>
        </p:grpSpPr>
        <p:sp>
          <p:nvSpPr>
            <p:cNvPr id="20" name="Shape 16"/>
            <p:cNvSpPr/>
            <p:nvPr/>
          </p:nvSpPr>
          <p:spPr>
            <a:xfrm>
              <a:off x="3925119" y="4113386"/>
              <a:ext cx="2311152" cy="571946"/>
            </a:xfrm>
            <a:prstGeom prst="roundRect">
              <a:avLst>
                <a:gd name="adj" fmla="val 292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 17"/>
            <p:cNvSpPr/>
            <p:nvPr/>
          </p:nvSpPr>
          <p:spPr>
            <a:xfrm>
              <a:off x="4036740" y="4225007"/>
              <a:ext cx="2087910" cy="3487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05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You're sharing private information</a:t>
              </a:r>
              <a:endParaRPr lang="en-US" sz="105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591E3E7-26A8-507B-D652-829961160A4B}"/>
              </a:ext>
            </a:extLst>
          </p:cNvPr>
          <p:cNvGrpSpPr/>
          <p:nvPr/>
        </p:nvGrpSpPr>
        <p:grpSpPr>
          <a:xfrm>
            <a:off x="6336729" y="4113386"/>
            <a:ext cx="2311152" cy="571946"/>
            <a:chOff x="6336729" y="4113386"/>
            <a:chExt cx="2311152" cy="571946"/>
          </a:xfrm>
        </p:grpSpPr>
        <p:sp>
          <p:nvSpPr>
            <p:cNvPr id="22" name="Shape 18"/>
            <p:cNvSpPr/>
            <p:nvPr/>
          </p:nvSpPr>
          <p:spPr>
            <a:xfrm>
              <a:off x="6336729" y="4113386"/>
              <a:ext cx="2311152" cy="571946"/>
            </a:xfrm>
            <a:prstGeom prst="roundRect">
              <a:avLst>
                <a:gd name="adj" fmla="val 292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 19"/>
            <p:cNvSpPr/>
            <p:nvPr/>
          </p:nvSpPr>
          <p:spPr>
            <a:xfrm>
              <a:off x="6448351" y="4225007"/>
              <a:ext cx="1823591" cy="17435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05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Health or safety is involved</a:t>
              </a:r>
              <a:endParaRPr lang="en-US" sz="10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96119" y="990451"/>
            <a:ext cx="8151763" cy="3631406"/>
          </a:xfrm>
          <a:prstGeom prst="roundRect">
            <a:avLst>
              <a:gd name="adj" fmla="val 41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995214"/>
            <a:ext cx="8142238" cy="2833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00224" y="1047601"/>
            <a:ext cx="45057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253951" y="1047601"/>
            <a:ext cx="223949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Scenario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96593" y="1047601"/>
            <a:ext cx="142525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Answer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24996" y="1047601"/>
            <a:ext cx="321892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0881" y="1278582"/>
            <a:ext cx="8142238" cy="2833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0224" y="1330970"/>
            <a:ext cx="45057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53951" y="1330970"/>
            <a:ext cx="223949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Summer camp registration deadline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96593" y="1330970"/>
            <a:ext cx="142525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AVOID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24996" y="1330970"/>
            <a:ext cx="321892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may have old dates - check the camp's website or email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0881" y="1561951"/>
            <a:ext cx="8142238" cy="46196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00224" y="1614339"/>
            <a:ext cx="45057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53951" y="1614339"/>
            <a:ext cx="223949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name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96593" y="1614339"/>
            <a:ext cx="142525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24996" y="1614339"/>
            <a:ext cx="321892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generate name ideas - your team picks what fits your group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0881" y="2023914"/>
            <a:ext cx="8142238" cy="46196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00224" y="2076301"/>
            <a:ext cx="45057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253951" y="2076301"/>
            <a:ext cx="223949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book price ranges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96593" y="2076301"/>
            <a:ext cx="142525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24996" y="2076301"/>
            <a:ext cx="321892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suggest typical prices - you adjust based on book condition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0881" y="2485876"/>
            <a:ext cx="8142238" cy="2833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00224" y="2538264"/>
            <a:ext cx="45057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253951" y="2538264"/>
            <a:ext cx="223949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Fever, should you go to school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96593" y="2538264"/>
            <a:ext cx="142525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AVOID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24996" y="2538264"/>
            <a:ext cx="321892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doesn't know your symptoms - ask a parent or guardian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0881" y="2769245"/>
            <a:ext cx="8142238" cy="46196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00224" y="2821632"/>
            <a:ext cx="45057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253951" y="2821632"/>
            <a:ext cx="223949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Opening lines for a speech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96593" y="2821632"/>
            <a:ext cx="142525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24996" y="2821632"/>
            <a:ext cx="321892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draft an opening - you add your own topic and examples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0881" y="3231207"/>
            <a:ext cx="8142238" cy="46196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00224" y="3283595"/>
            <a:ext cx="45057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253951" y="3283595"/>
            <a:ext cx="223949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 project meeting time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96593" y="3283595"/>
            <a:ext cx="142525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AVOID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24996" y="3283595"/>
            <a:ext cx="321892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doesn't have your schedule - check your calendar or group chat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0881" y="3693170"/>
            <a:ext cx="8142238" cy="46196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00224" y="3745557"/>
            <a:ext cx="45057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253951" y="3745557"/>
            <a:ext cx="223949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Weekend teen volunteer opportunities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96593" y="3745557"/>
            <a:ext cx="142525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324996" y="3745557"/>
            <a:ext cx="321892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suggest places to check - you research which ones are currently accepting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0881" y="4155132"/>
            <a:ext cx="8142238" cy="46196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00224" y="4207520"/>
            <a:ext cx="45057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253951" y="4207520"/>
            <a:ext cx="2239491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Confront someone about something they said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696593" y="4207520"/>
            <a:ext cx="142525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AVOID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24996" y="4207520"/>
            <a:ext cx="321892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doesn't know the situation or your relationship - talk to a trusted friend or adult first</a:t>
            </a:r>
            <a:endParaRPr lang="en-US" sz="950" dirty="0"/>
          </a:p>
        </p:txBody>
      </p:sp>
      <p:sp>
        <p:nvSpPr>
          <p:cNvPr id="51" name="Text 0">
            <a:extLst>
              <a:ext uri="{FF2B5EF4-FFF2-40B4-BE49-F238E27FC236}">
                <a16:creationId xmlns:a16="http://schemas.microsoft.com/office/drawing/2014/main" id="{2B415113-A519-5DC7-1AC8-FBB63927D063}"/>
              </a:ext>
            </a:extLst>
          </p:cNvPr>
          <p:cNvSpPr/>
          <p:nvPr/>
        </p:nvSpPr>
        <p:spPr>
          <a:xfrm>
            <a:off x="502807" y="453256"/>
            <a:ext cx="4953074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Mini Activity 2 - Use AI or Avoid AI?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  <p:bldP spid="18" grpId="0" animBg="1"/>
      <p:bldP spid="22" grpId="0" animBg="1"/>
      <p:bldP spid="23" grpId="0" animBg="1"/>
      <p:bldP spid="27" grpId="0" build="allAtOnce" animBg="1"/>
      <p:bldP spid="28" grpId="0" animBg="1"/>
      <p:bldP spid="32" grpId="0" animBg="1"/>
      <p:bldP spid="33" grpId="0" animBg="1"/>
      <p:bldP spid="37" grpId="0" animBg="1"/>
      <p:bldP spid="38" grpId="0" animBg="1"/>
      <p:bldP spid="42" grpId="0" animBg="1"/>
      <p:bldP spid="43" grpId="0" animBg="1"/>
      <p:bldP spid="47" grpId="0" animBg="1"/>
      <p:bldP spid="4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8608"/>
            <a:ext cx="509669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Human-in-the-Loop Approach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44178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framework where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makes suggestions, but humans make the final decisions.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human is always "in the loop" - involved, checking, and responsible.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05" y="1679897"/>
            <a:ext cx="7792715" cy="30549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2103" y="1829721"/>
            <a:ext cx="1426548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 - Prompt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55133" y="1829721"/>
            <a:ext cx="1426548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Generates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5133" y="4355730"/>
            <a:ext cx="1426548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 - Review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2103" y="4126463"/>
            <a:ext cx="1426548" cy="45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 - Use / Refine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8769"/>
            <a:ext cx="727204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Human-in-the-Loop: Planning a School Assembly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44339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Here's how the loop works in a real example: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531962"/>
            <a:ext cx="8151763" cy="3102769"/>
          </a:xfrm>
          <a:prstGeom prst="roundRect">
            <a:avLst>
              <a:gd name="adj" fmla="val 60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1536725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5004" y="1615901"/>
            <a:ext cx="40101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78731" y="1615901"/>
            <a:ext cx="5614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92896" y="1615901"/>
            <a:ext cx="81959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65202" y="1615901"/>
            <a:ext cx="535394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0881" y="1943174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5004" y="2022351"/>
            <a:ext cx="40101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78731" y="2022351"/>
            <a:ext cx="5614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92896" y="2022351"/>
            <a:ext cx="81959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65202" y="2022351"/>
            <a:ext cx="535394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"Give me ideas for a school assembly about kindness"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0881" y="234962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5004" y="2428801"/>
            <a:ext cx="40101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78731" y="2428801"/>
            <a:ext cx="5614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92896" y="2428801"/>
            <a:ext cx="81959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65202" y="2428801"/>
            <a:ext cx="535394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Suggests 10 ideas: guest speakers, student performances, videos, etc.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0881" y="2756074"/>
            <a:ext cx="8142238" cy="6545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5004" y="2835250"/>
            <a:ext cx="40101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78731" y="2835250"/>
            <a:ext cx="5614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92896" y="2835250"/>
            <a:ext cx="81959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65202" y="2835250"/>
            <a:ext cx="535394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"These are good starting points, but we don't have budget for guest speakers. Let's focus on student performances."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0881" y="3410620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5004" y="3489796"/>
            <a:ext cx="40101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78731" y="3489796"/>
            <a:ext cx="5614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92896" y="3489796"/>
            <a:ext cx="81959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65202" y="3489796"/>
            <a:ext cx="535394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prompt: "Now give me 5 ideas for student performances about kindness"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0881" y="3817069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25004" y="3896246"/>
            <a:ext cx="40101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78731" y="3896246"/>
            <a:ext cx="5614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092896" y="3896246"/>
            <a:ext cx="81959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165202" y="3896246"/>
            <a:ext cx="535394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Suggests skits, songs, poetry readings, art displays, etc.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0881" y="422351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25004" y="4302696"/>
            <a:ext cx="40101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278731" y="4302696"/>
            <a:ext cx="5614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092896" y="4302696"/>
            <a:ext cx="81959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Decide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165202" y="4302696"/>
            <a:ext cx="535394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"The skit and poetry reading ideas are perfect. Let's form committees."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  <p:bldP spid="24" grpId="0" animBg="1"/>
      <p:bldP spid="29" grpId="0" animBg="1"/>
      <p:bldP spid="34" grpId="0" animBg="1"/>
      <p:bldP spid="3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43346"/>
            <a:ext cx="337460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Pilot and Autopilot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916930"/>
            <a:ext cx="4722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Pilots don't just turn on autopilot and go to sleep. They:</a:t>
            </a:r>
            <a:endParaRPr lang="en-US" sz="1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B59D900-205C-D62C-8B15-024FE45AF2C3}"/>
              </a:ext>
            </a:extLst>
          </p:cNvPr>
          <p:cNvGrpSpPr/>
          <p:nvPr/>
        </p:nvGrpSpPr>
        <p:grpSpPr>
          <a:xfrm>
            <a:off x="3925119" y="1304553"/>
            <a:ext cx="4722763" cy="496044"/>
            <a:chOff x="3925119" y="1304553"/>
            <a:chExt cx="4722763" cy="496044"/>
          </a:xfrm>
        </p:grpSpPr>
        <p:sp>
          <p:nvSpPr>
            <p:cNvPr id="5" name="Shape 2"/>
            <p:cNvSpPr/>
            <p:nvPr/>
          </p:nvSpPr>
          <p:spPr>
            <a:xfrm>
              <a:off x="3925119" y="1304553"/>
              <a:ext cx="4722763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3"/>
            <p:cNvSpPr/>
            <p:nvPr/>
          </p:nvSpPr>
          <p:spPr>
            <a:xfrm>
              <a:off x="4049092" y="1428527"/>
              <a:ext cx="447481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Program the autopilot with the correct route</a:t>
              </a:r>
              <a:endParaRPr lang="en-US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9540646-82F0-A97B-4112-C2274500A976}"/>
              </a:ext>
            </a:extLst>
          </p:cNvPr>
          <p:cNvGrpSpPr/>
          <p:nvPr/>
        </p:nvGrpSpPr>
        <p:grpSpPr>
          <a:xfrm>
            <a:off x="3925119" y="1924571"/>
            <a:ext cx="4722763" cy="441796"/>
            <a:chOff x="3925119" y="1924571"/>
            <a:chExt cx="4722763" cy="441796"/>
          </a:xfrm>
        </p:grpSpPr>
        <p:sp>
          <p:nvSpPr>
            <p:cNvPr id="7" name="Shape 4"/>
            <p:cNvSpPr/>
            <p:nvPr/>
          </p:nvSpPr>
          <p:spPr>
            <a:xfrm>
              <a:off x="3925119" y="1924571"/>
              <a:ext cx="4722763" cy="441796"/>
            </a:xfrm>
            <a:prstGeom prst="roundRect">
              <a:avLst>
                <a:gd name="adj" fmla="val 4212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5"/>
            <p:cNvSpPr/>
            <p:nvPr/>
          </p:nvSpPr>
          <p:spPr>
            <a:xfrm>
              <a:off x="4049092" y="2048545"/>
              <a:ext cx="236331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Monitor its decisions constantly</a:t>
              </a:r>
              <a:endParaRPr lang="en-US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99CF3D3-B71A-16ED-36CA-038C9E4356F8}"/>
              </a:ext>
            </a:extLst>
          </p:cNvPr>
          <p:cNvGrpSpPr/>
          <p:nvPr/>
        </p:nvGrpSpPr>
        <p:grpSpPr>
          <a:xfrm>
            <a:off x="3925119" y="2490341"/>
            <a:ext cx="4722763" cy="441796"/>
            <a:chOff x="3925119" y="2490341"/>
            <a:chExt cx="4722763" cy="441796"/>
          </a:xfrm>
        </p:grpSpPr>
        <p:sp>
          <p:nvSpPr>
            <p:cNvPr id="9" name="Shape 6"/>
            <p:cNvSpPr/>
            <p:nvPr/>
          </p:nvSpPr>
          <p:spPr>
            <a:xfrm>
              <a:off x="3925119" y="2490341"/>
              <a:ext cx="4722763" cy="441796"/>
            </a:xfrm>
            <a:prstGeom prst="roundRect">
              <a:avLst>
                <a:gd name="adj" fmla="val 4212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7"/>
            <p:cNvSpPr/>
            <p:nvPr/>
          </p:nvSpPr>
          <p:spPr>
            <a:xfrm>
              <a:off x="4049092" y="2614315"/>
              <a:ext cx="3664372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Take over immediately if something seems wrong</a:t>
              </a:r>
              <a:endParaRPr lang="en-US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1977E5E-0A17-41C6-3DC1-1951C9274A8E}"/>
              </a:ext>
            </a:extLst>
          </p:cNvPr>
          <p:cNvGrpSpPr/>
          <p:nvPr/>
        </p:nvGrpSpPr>
        <p:grpSpPr>
          <a:xfrm>
            <a:off x="3925119" y="3056111"/>
            <a:ext cx="4722763" cy="441796"/>
            <a:chOff x="3925119" y="3056111"/>
            <a:chExt cx="4722763" cy="441796"/>
          </a:xfrm>
        </p:grpSpPr>
        <p:sp>
          <p:nvSpPr>
            <p:cNvPr id="11" name="Shape 8"/>
            <p:cNvSpPr/>
            <p:nvPr/>
          </p:nvSpPr>
          <p:spPr>
            <a:xfrm>
              <a:off x="3925119" y="3056111"/>
              <a:ext cx="4722763" cy="441796"/>
            </a:xfrm>
            <a:prstGeom prst="roundRect">
              <a:avLst>
                <a:gd name="adj" fmla="val 4212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9"/>
            <p:cNvSpPr/>
            <p:nvPr/>
          </p:nvSpPr>
          <p:spPr>
            <a:xfrm>
              <a:off x="4049092" y="3180085"/>
              <a:ext cx="2648173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Are always responsible for the flight</a:t>
              </a:r>
              <a:endParaRPr lang="en-US" sz="1200" dirty="0"/>
            </a:p>
          </p:txBody>
        </p:sp>
      </p:grpSp>
      <p:sp>
        <p:nvSpPr>
          <p:cNvPr id="13" name="Text 10"/>
          <p:cNvSpPr/>
          <p:nvPr/>
        </p:nvSpPr>
        <p:spPr>
          <a:xfrm>
            <a:off x="3925119" y="3637434"/>
            <a:ext cx="4722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03E6B8C-B2D6-19B9-2B0D-3F5353B4E766}"/>
              </a:ext>
            </a:extLst>
          </p:cNvPr>
          <p:cNvGrpSpPr/>
          <p:nvPr/>
        </p:nvGrpSpPr>
        <p:grpSpPr>
          <a:xfrm>
            <a:off x="3925120" y="3975422"/>
            <a:ext cx="4445158" cy="824731"/>
            <a:chOff x="3925119" y="3975422"/>
            <a:chExt cx="4722763" cy="824731"/>
          </a:xfrm>
        </p:grpSpPr>
        <p:sp>
          <p:nvSpPr>
            <p:cNvPr id="14" name="Shape 11"/>
            <p:cNvSpPr/>
            <p:nvPr/>
          </p:nvSpPr>
          <p:spPr>
            <a:xfrm>
              <a:off x="3925119" y="3975422"/>
              <a:ext cx="4722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5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49092" y="4170908"/>
              <a:ext cx="193774" cy="155004"/>
            </a:xfrm>
            <a:prstGeom prst="rect">
              <a:avLst/>
            </a:prstGeom>
          </p:spPr>
        </p:pic>
        <p:sp>
          <p:nvSpPr>
            <p:cNvPr id="16" name="Text 12"/>
            <p:cNvSpPr/>
            <p:nvPr/>
          </p:nvSpPr>
          <p:spPr>
            <a:xfrm>
              <a:off x="4366840" y="4130353"/>
              <a:ext cx="4157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AI is your autopilot. YOU are the pilot. You're always in charge.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3766"/>
            <a:ext cx="572482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Hands-On Activity - Generative AI Analysis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1033537"/>
            <a:ext cx="8151763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Today you'll write up your analysis of ChatGPT, Gemini, or NotebookLM - capturing what you've learned about how it works, where it struggles, and when to use it thoughtfully.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570732"/>
            <a:ext cx="8151763" cy="3088928"/>
          </a:xfrm>
          <a:prstGeom prst="roundRect">
            <a:avLst>
              <a:gd name="adj" fmla="val 54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1575495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577" y="1640532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66304" y="1640532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08946" y="1640532"/>
            <a:ext cx="482255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to Write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0881" y="1917650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2577" y="1982688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66304" y="1982688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 You Analyzed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08946" y="1982688"/>
            <a:ext cx="482255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tool? Why did you choose it?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0881" y="2259806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577" y="2324844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66304" y="2324844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Does Well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08946" y="2324844"/>
            <a:ext cx="482255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2–3 strengths you observed (with examples from your sessions)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0881" y="2601962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2577" y="2667000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266304" y="2667000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Struggles With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08946" y="2667000"/>
            <a:ext cx="482255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2–3 limits you noticed (with examples)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0881" y="2944118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2577" y="3009156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66304" y="3009156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Best Prompt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08946" y="3009156"/>
            <a:ext cx="482255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prompt that worked really well - and what it created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0881" y="3286274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2577" y="3351312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66304" y="3351312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Hallucination Example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708946" y="3351312"/>
            <a:ext cx="482255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time it was wrong - what it said, what was correct, how you verified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0881" y="3628430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12577" y="3693468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266304" y="3693468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to Use This Tool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708946" y="3693468"/>
            <a:ext cx="482255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Situations where you WOULD use this tool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0881" y="3970586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12577" y="4035623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266304" y="4035623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to Avoid This Tool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708946" y="4035623"/>
            <a:ext cx="482255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Situations where you would NOT use this tool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0881" y="4312741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12577" y="4377779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266304" y="4377779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Personal Rule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708946" y="4377779"/>
            <a:ext cx="482255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Based on Human-in-the-Loop, what's your rule for using AI?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9250"/>
            <a:ext cx="8151763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this template to organize your Generative AI Analysis: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96119" y="845046"/>
            <a:ext cx="1970708" cy="1765771"/>
          </a:xfrm>
          <a:prstGeom prst="roundRect">
            <a:avLst>
              <a:gd name="adj" fmla="val 896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15776" y="964704"/>
            <a:ext cx="1731392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 I Analyzed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776" y="1213470"/>
            <a:ext cx="1731392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 I Analyzed: ___________________________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56421" y="845046"/>
            <a:ext cx="1970782" cy="1765771"/>
          </a:xfrm>
          <a:prstGeom prst="roundRect">
            <a:avLst>
              <a:gd name="adj" fmla="val 896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676079" y="964704"/>
            <a:ext cx="1731466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Does Well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76079" y="1213470"/>
            <a:ext cx="1731466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Example: ___________________________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76079" y="1657276"/>
            <a:ext cx="1731466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Example: ___________________________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6797" y="845046"/>
            <a:ext cx="1970708" cy="1765771"/>
          </a:xfrm>
          <a:prstGeom prst="roundRect">
            <a:avLst>
              <a:gd name="adj" fmla="val 896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36455" y="964704"/>
            <a:ext cx="1731392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Struggles With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36455" y="1213470"/>
            <a:ext cx="1731392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Example: ___________________________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36455" y="1657276"/>
            <a:ext cx="1731392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Example: ___________________________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7099" y="845046"/>
            <a:ext cx="1970782" cy="1765771"/>
          </a:xfrm>
          <a:prstGeom prst="roundRect">
            <a:avLst>
              <a:gd name="adj" fmla="val 896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796757" y="964704"/>
            <a:ext cx="1731466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 Best Prompt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96757" y="1213470"/>
            <a:ext cx="1731466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I used: ___________________________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96757" y="1657276"/>
            <a:ext cx="1731466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created: ___________________________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96757" y="2101081"/>
            <a:ext cx="1731466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this prompt worked well: ___________________________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6119" y="2700412"/>
            <a:ext cx="4031084" cy="1429420"/>
          </a:xfrm>
          <a:prstGeom prst="roundRect">
            <a:avLst>
              <a:gd name="adj" fmla="val 1106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15776" y="2820070"/>
            <a:ext cx="3791769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Hallucination Example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5776" y="3068836"/>
            <a:ext cx="3791769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 asked: ___________________________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5776" y="3317602"/>
            <a:ext cx="3791769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AI said: ___________________________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5776" y="3566368"/>
            <a:ext cx="3791769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was actually correct: ___________________________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5776" y="3815135"/>
            <a:ext cx="3791769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I verified this: ___________________________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6797" y="2700412"/>
            <a:ext cx="4031084" cy="1429420"/>
          </a:xfrm>
          <a:prstGeom prst="roundRect">
            <a:avLst>
              <a:gd name="adj" fmla="val 1106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36455" y="2820070"/>
            <a:ext cx="3791769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I WOULD / Would AVOID Use This Tool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36455" y="3068836"/>
            <a:ext cx="3791769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Would Use: • ___ • ___ • ___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36455" y="3317602"/>
            <a:ext cx="3791769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Would Avoid: • ___ • ___ • ___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6119" y="4230588"/>
            <a:ext cx="8151763" cy="444252"/>
          </a:xfrm>
          <a:prstGeom prst="roundRect">
            <a:avLst>
              <a:gd name="adj" fmla="val 356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89" y="4369296"/>
            <a:ext cx="164678" cy="131787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71538" y="4346525"/>
            <a:ext cx="7670974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 Personal Rule for Using AI (based on Human-in-the-Loop):</a:t>
            </a: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___________________________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408"/>
            <a:ext cx="2946053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Summary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96119" y="997446"/>
            <a:ext cx="8151763" cy="2854226"/>
          </a:xfrm>
          <a:prstGeom prst="roundRect">
            <a:avLst>
              <a:gd name="adj" fmla="val 61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002209"/>
            <a:ext cx="8142238" cy="3735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8753" y="1074093"/>
            <a:ext cx="261178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470895" y="1074093"/>
            <a:ext cx="5054426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Idea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0881" y="1375767"/>
            <a:ext cx="8142238" cy="3735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8753" y="1447651"/>
            <a:ext cx="261178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Common Strengths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0895" y="1447651"/>
            <a:ext cx="5054426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Speed, brainstorming, drafting, explaining, translating and more!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0881" y="1749326"/>
            <a:ext cx="8142238" cy="60334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8753" y="1821210"/>
            <a:ext cx="261178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Common Limits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70895" y="1821210"/>
            <a:ext cx="5054426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understanding, outdated info, hallucinations, no common sense, bias and more!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0881" y="2352675"/>
            <a:ext cx="8142238" cy="3735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8753" y="2424559"/>
            <a:ext cx="261178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to Use AI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70895" y="2424559"/>
            <a:ext cx="5054426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Brainstorming, drafting, getting unstuck, generating options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0881" y="2726234"/>
            <a:ext cx="8142238" cy="3735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8753" y="2798118"/>
            <a:ext cx="261178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to Avoid AI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70895" y="2798118"/>
            <a:ext cx="5054426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Facts that matter, health/safety, personal info, important decisions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0881" y="3099792"/>
            <a:ext cx="8142238" cy="3735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18753" y="3171676"/>
            <a:ext cx="261178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Human-in-the-Loop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70895" y="3171676"/>
            <a:ext cx="5054426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assists - YOU decide, review, and are responsible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0881" y="3473351"/>
            <a:ext cx="8142238" cy="3735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18753" y="3545235"/>
            <a:ext cx="261178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Analysis Project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70895" y="3545235"/>
            <a:ext cx="5054426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complete analysis of a Generative AI tool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6119" y="3977580"/>
            <a:ext cx="8151763" cy="760512"/>
          </a:xfrm>
          <a:prstGeom prst="roundRect">
            <a:avLst>
              <a:gd name="adj" fmla="val 232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16" y="4151933"/>
            <a:ext cx="184100" cy="147265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15814" y="4118893"/>
            <a:ext cx="7614270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Important Takeaway:</a:t>
            </a: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AI is a powerful tool with many strengths and limits. Different AI tools have different strengths and limits. </a:t>
            </a:r>
            <a:r>
              <a:rPr lang="en-US" sz="11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job is to discover them, use them wisely, and always be the human in the loop.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9964"/>
            <a:ext cx="4470871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Homework - Part 1: Quick Check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1022003"/>
            <a:ext cx="815176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 each term to its meaning: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96119" y="1377702"/>
            <a:ext cx="8151763" cy="2624435"/>
          </a:xfrm>
          <a:prstGeom prst="roundRect">
            <a:avLst>
              <a:gd name="adj" fmla="val 67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1382464"/>
            <a:ext cx="8142238" cy="3735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8827" y="1454348"/>
            <a:ext cx="413370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272555" y="1454348"/>
            <a:ext cx="179516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308077" y="1454348"/>
            <a:ext cx="57380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Letter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22241" y="1454348"/>
            <a:ext cx="4403080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Meaning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0881" y="1756023"/>
            <a:ext cx="8142238" cy="3735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8827" y="1827907"/>
            <a:ext cx="413370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272555" y="1827907"/>
            <a:ext cx="179516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Strength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08077" y="1827907"/>
            <a:ext cx="57380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22241" y="1827907"/>
            <a:ext cx="4403080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Situations where AI is risky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0881" y="2129582"/>
            <a:ext cx="8142238" cy="3735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8827" y="2201466"/>
            <a:ext cx="413370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272555" y="2201466"/>
            <a:ext cx="179516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08077" y="2201466"/>
            <a:ext cx="57380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22241" y="2201466"/>
            <a:ext cx="4403080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AI is generally good at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0881" y="2503140"/>
            <a:ext cx="8142238" cy="3735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8827" y="2575024"/>
            <a:ext cx="413370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272555" y="2575024"/>
            <a:ext cx="179516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Oversight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08077" y="2575024"/>
            <a:ext cx="57380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22241" y="2575024"/>
            <a:ext cx="4403080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AI generally struggles with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0881" y="2876699"/>
            <a:ext cx="8142238" cy="3735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8827" y="2948583"/>
            <a:ext cx="413370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272555" y="2948583"/>
            <a:ext cx="179516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08077" y="2948583"/>
            <a:ext cx="57380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122241" y="2948583"/>
            <a:ext cx="4403080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AI where it's helpful, not harmful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0881" y="3250257"/>
            <a:ext cx="8142238" cy="3735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18827" y="3322141"/>
            <a:ext cx="413370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272555" y="3322141"/>
            <a:ext cx="179516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Avoid AI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308077" y="3322141"/>
            <a:ext cx="57380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122241" y="3322141"/>
            <a:ext cx="4403080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supervision of AI outputs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00881" y="3623816"/>
            <a:ext cx="8142238" cy="3735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18827" y="3695700"/>
            <a:ext cx="413370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272555" y="3695700"/>
            <a:ext cx="179516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Appropriate Use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308077" y="3695700"/>
            <a:ext cx="57380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122241" y="3695700"/>
            <a:ext cx="4403080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Situations where AI is helpful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96119" y="4128046"/>
            <a:ext cx="815176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96119" y="4483745"/>
            <a:ext cx="815176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Answers: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1-___ , 2-___ , 3-___ , 4-___ , 5-___ , 6-___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21668"/>
            <a:ext cx="657083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Homework - Part 2: Apply What You Learned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57239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example in your daily life this week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where you could use AI appropriately (</a:t>
            </a:r>
            <a:r>
              <a:rPr lang="en-US" sz="1200" b="1" dirty="0">
                <a:solidFill>
                  <a:srgbClr val="0067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AI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and one example where you should NOT use AI (</a:t>
            </a:r>
            <a:r>
              <a:rPr lang="en-US" sz="1200" b="1" dirty="0">
                <a:solidFill>
                  <a:srgbClr val="335E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AVOID AI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592958"/>
            <a:ext cx="8151763" cy="1228874"/>
          </a:xfrm>
          <a:prstGeom prst="roundRect">
            <a:avLst>
              <a:gd name="adj" fmla="val 151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2597721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5004" y="2676897"/>
            <a:ext cx="243654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14254" y="2676897"/>
            <a:ext cx="251564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Example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82605" y="2676897"/>
            <a:ext cx="243654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0881" y="3004170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5004" y="3083347"/>
            <a:ext cx="243654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67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4254" y="3083347"/>
            <a:ext cx="251564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2605" y="3083347"/>
            <a:ext cx="243654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0881" y="3410620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5004" y="3489796"/>
            <a:ext cx="243654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35E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AVOID AI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4254" y="3489796"/>
            <a:ext cx="251564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82605" y="3489796"/>
            <a:ext cx="24365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64035"/>
            <a:ext cx="317085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Next Session Preview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001143"/>
            <a:ext cx="3772346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11: The Art of Prompting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96119" y="2497262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835250"/>
            <a:ext cx="1944960" cy="744141"/>
          </a:xfrm>
          <a:prstGeom prst="roundRect">
            <a:avLst>
              <a:gd name="adj" fmla="val 2500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0092" y="2959224"/>
            <a:ext cx="16970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prompt is 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5053" y="2835250"/>
            <a:ext cx="1944960" cy="744141"/>
          </a:xfrm>
          <a:prstGeom prst="roundRect">
            <a:avLst>
              <a:gd name="adj" fmla="val 2500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89027" y="2959224"/>
            <a:ext cx="169701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vague instructions get bad results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33987" y="2835250"/>
            <a:ext cx="1944960" cy="744141"/>
          </a:xfrm>
          <a:prstGeom prst="roundRect">
            <a:avLst>
              <a:gd name="adj" fmla="val 2500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7961" y="2959224"/>
            <a:ext cx="169701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to add context and constraints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02921" y="2835250"/>
            <a:ext cx="1944960" cy="744141"/>
          </a:xfrm>
          <a:prstGeom prst="roundRect">
            <a:avLst>
              <a:gd name="adj" fmla="val 2500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26895" y="2959224"/>
            <a:ext cx="169701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to refine prompts to get what you need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1746</Words>
  <Application>Microsoft Office PowerPoint</Application>
  <PresentationFormat>On-screen Show (16:9)</PresentationFormat>
  <Paragraphs>327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Roboto Slab</vt:lpstr>
      <vt:lpstr>Roboto</vt:lpstr>
      <vt:lpstr>Roboto Slab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sneha arya</dc:creator>
  <cp:lastModifiedBy>Office</cp:lastModifiedBy>
  <cp:revision>3</cp:revision>
  <dcterms:created xsi:type="dcterms:W3CDTF">2026-05-09T06:36:58Z</dcterms:created>
  <dcterms:modified xsi:type="dcterms:W3CDTF">2026-05-09T07:57:45Z</dcterms:modified>
</cp:coreProperties>
</file>