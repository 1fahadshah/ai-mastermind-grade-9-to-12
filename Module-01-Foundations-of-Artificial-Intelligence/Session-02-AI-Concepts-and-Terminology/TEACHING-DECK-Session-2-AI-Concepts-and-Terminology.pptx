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38"/>
  </p:notesMasterIdLst>
  <p:sldIdLst>
    <p:sldId id="256" r:id="rId5"/>
    <p:sldId id="257" r:id="rId6"/>
    <p:sldId id="289" r:id="rId7"/>
    <p:sldId id="259" r:id="rId8"/>
    <p:sldId id="260" r:id="rId9"/>
    <p:sldId id="261" r:id="rId10"/>
    <p:sldId id="262" r:id="rId11"/>
    <p:sldId id="263" r:id="rId12"/>
    <p:sldId id="264"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90" r:id="rId37"/>
  </p:sldIdLst>
  <p:sldSz cx="9144000" cy="5143500" type="screen16x9"/>
  <p:notesSz cx="5143500" cy="9144000"/>
  <p:embeddedFontLst>
    <p:embeddedFont>
      <p:font typeface="Roboto" panose="02000000000000000000" pitchFamily="2" charset="0"/>
      <p:regular r:id="rId39"/>
      <p:bold r:id="rId40"/>
      <p:italic r:id="rId41"/>
    </p:embeddedFont>
    <p:embeddedFont>
      <p:font typeface="Roboto Slab" pitchFamily="2" charset="0"/>
      <p:regular r:id="rId42"/>
      <p:bold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2.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4283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8.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4.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6.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7.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hyperlink" Target="https://gemini.google.com" TargetMode="External"/><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svg"/><Relationship Id="rId2" Type="http://schemas.openxmlformats.org/officeDocument/2006/relationships/notesSlide" Target="../notesSlides/notesSlide28.xml"/><Relationship Id="rId1" Type="http://schemas.openxmlformats.org/officeDocument/2006/relationships/slideLayout" Target="../slideLayouts/slideLayout30.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 Id="rId9" Type="http://schemas.openxmlformats.org/officeDocument/2006/relationships/image" Target="../media/image34.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svg"/><Relationship Id="rId2" Type="http://schemas.openxmlformats.org/officeDocument/2006/relationships/notesSlide" Target="../notesSlides/notesSlide30.xml"/><Relationship Id="rId1" Type="http://schemas.openxmlformats.org/officeDocument/2006/relationships/slideLayout" Target="../slideLayouts/slideLayout32.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 Id="rId9"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2159422"/>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Session 2: </a:t>
            </a:r>
            <a:endParaRPr lang="en-US" sz="2400" dirty="0"/>
          </a:p>
        </p:txBody>
      </p:sp>
      <p:sp>
        <p:nvSpPr>
          <p:cNvPr id="4" name="Text 1"/>
          <p:cNvSpPr/>
          <p:nvPr/>
        </p:nvSpPr>
        <p:spPr>
          <a:xfrm>
            <a:off x="496119" y="2596530"/>
            <a:ext cx="3980855"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AI Concepts &amp; Terminology</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494234"/>
            <a:ext cx="5451351"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Recap: What We Learned in Session 1</a:t>
            </a:r>
            <a:endParaRPr lang="en-US" sz="2400" dirty="0"/>
          </a:p>
        </p:txBody>
      </p:sp>
      <p:pic>
        <p:nvPicPr>
          <p:cNvPr id="3" name="Image 0" descr="preencoded.png"/>
          <p:cNvPicPr>
            <a:picLocks noChangeAspect="1"/>
          </p:cNvPicPr>
          <p:nvPr/>
        </p:nvPicPr>
        <p:blipFill>
          <a:blip r:embed="rId3"/>
          <a:stretch>
            <a:fillRect/>
          </a:stretch>
        </p:blipFill>
        <p:spPr>
          <a:xfrm>
            <a:off x="496119" y="2195699"/>
            <a:ext cx="61987" cy="61987"/>
          </a:xfrm>
          <a:prstGeom prst="rect">
            <a:avLst/>
          </a:prstGeom>
        </p:spPr>
      </p:pic>
      <p:sp>
        <p:nvSpPr>
          <p:cNvPr id="4" name="Text 1"/>
          <p:cNvSpPr/>
          <p:nvPr/>
        </p:nvSpPr>
        <p:spPr>
          <a:xfrm>
            <a:off x="682079" y="2129805"/>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What is AI?</a:t>
            </a:r>
            <a:endParaRPr lang="en-US" sz="1200" dirty="0"/>
          </a:p>
        </p:txBody>
      </p:sp>
      <p:pic>
        <p:nvPicPr>
          <p:cNvPr id="5" name="Image 1" descr="preencoded.png"/>
          <p:cNvPicPr>
            <a:picLocks noChangeAspect="1"/>
          </p:cNvPicPr>
          <p:nvPr/>
        </p:nvPicPr>
        <p:blipFill>
          <a:blip r:embed="rId3"/>
          <a:stretch>
            <a:fillRect/>
          </a:stretch>
        </p:blipFill>
        <p:spPr>
          <a:xfrm>
            <a:off x="4649465" y="2195699"/>
            <a:ext cx="61987" cy="61987"/>
          </a:xfrm>
          <a:prstGeom prst="rect">
            <a:avLst/>
          </a:prstGeom>
        </p:spPr>
      </p:pic>
      <p:sp>
        <p:nvSpPr>
          <p:cNvPr id="6" name="Text 2"/>
          <p:cNvSpPr/>
          <p:nvPr/>
        </p:nvSpPr>
        <p:spPr>
          <a:xfrm>
            <a:off x="4835426" y="2129805"/>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AI in Daily Life</a:t>
            </a:r>
            <a:endParaRPr lang="en-US" sz="1200" dirty="0"/>
          </a:p>
        </p:txBody>
      </p:sp>
      <p:pic>
        <p:nvPicPr>
          <p:cNvPr id="7" name="Image 2" descr="preencoded.png"/>
          <p:cNvPicPr>
            <a:picLocks noChangeAspect="1"/>
          </p:cNvPicPr>
          <p:nvPr/>
        </p:nvPicPr>
        <p:blipFill>
          <a:blip r:embed="rId3"/>
          <a:stretch>
            <a:fillRect/>
          </a:stretch>
        </p:blipFill>
        <p:spPr>
          <a:xfrm>
            <a:off x="496119" y="2637569"/>
            <a:ext cx="61987" cy="61987"/>
          </a:xfrm>
          <a:prstGeom prst="rect">
            <a:avLst/>
          </a:prstGeom>
        </p:spPr>
      </p:pic>
      <p:sp>
        <p:nvSpPr>
          <p:cNvPr id="8" name="Text 3"/>
          <p:cNvSpPr/>
          <p:nvPr/>
        </p:nvSpPr>
        <p:spPr>
          <a:xfrm>
            <a:off x="682079" y="2571676"/>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Sense-Think-Act</a:t>
            </a:r>
            <a:endParaRPr lang="en-US" sz="1200" dirty="0"/>
          </a:p>
        </p:txBody>
      </p:sp>
      <p:pic>
        <p:nvPicPr>
          <p:cNvPr id="9" name="Image 3" descr="preencoded.png"/>
          <p:cNvPicPr>
            <a:picLocks noChangeAspect="1"/>
          </p:cNvPicPr>
          <p:nvPr/>
        </p:nvPicPr>
        <p:blipFill>
          <a:blip r:embed="rId3"/>
          <a:stretch>
            <a:fillRect/>
          </a:stretch>
        </p:blipFill>
        <p:spPr>
          <a:xfrm>
            <a:off x="4649465" y="2637569"/>
            <a:ext cx="61987" cy="61987"/>
          </a:xfrm>
          <a:prstGeom prst="rect">
            <a:avLst/>
          </a:prstGeom>
        </p:spPr>
      </p:pic>
      <p:sp>
        <p:nvSpPr>
          <p:cNvPr id="10" name="Text 4"/>
          <p:cNvSpPr/>
          <p:nvPr/>
        </p:nvSpPr>
        <p:spPr>
          <a:xfrm>
            <a:off x="4835426" y="2571676"/>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AI vs Human</a:t>
            </a:r>
            <a:endParaRPr lang="en-US" sz="1200" dirty="0"/>
          </a:p>
        </p:txBody>
      </p:sp>
      <p:pic>
        <p:nvPicPr>
          <p:cNvPr id="11" name="Image 4" descr="preencoded.png"/>
          <p:cNvPicPr>
            <a:picLocks noChangeAspect="1"/>
          </p:cNvPicPr>
          <p:nvPr/>
        </p:nvPicPr>
        <p:blipFill>
          <a:blip r:embed="rId3"/>
          <a:stretch>
            <a:fillRect/>
          </a:stretch>
        </p:blipFill>
        <p:spPr>
          <a:xfrm>
            <a:off x="496119" y="3079440"/>
            <a:ext cx="61987" cy="61987"/>
          </a:xfrm>
          <a:prstGeom prst="rect">
            <a:avLst/>
          </a:prstGeom>
        </p:spPr>
      </p:pic>
      <p:sp>
        <p:nvSpPr>
          <p:cNvPr id="12" name="Text 5"/>
          <p:cNvSpPr/>
          <p:nvPr/>
        </p:nvSpPr>
        <p:spPr>
          <a:xfrm>
            <a:off x="682079" y="3013546"/>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Myths Busted</a:t>
            </a:r>
            <a:endParaRPr lang="en-US" sz="1200" dirty="0"/>
          </a:p>
        </p:txBody>
      </p:sp>
      <p:pic>
        <p:nvPicPr>
          <p:cNvPr id="13" name="Image 5" descr="preencoded.png"/>
          <p:cNvPicPr>
            <a:picLocks noChangeAspect="1"/>
          </p:cNvPicPr>
          <p:nvPr/>
        </p:nvPicPr>
        <p:blipFill>
          <a:blip r:embed="rId3"/>
          <a:stretch>
            <a:fillRect/>
          </a:stretch>
        </p:blipFill>
        <p:spPr>
          <a:xfrm>
            <a:off x="4649465" y="3079440"/>
            <a:ext cx="61987" cy="61987"/>
          </a:xfrm>
          <a:prstGeom prst="rect">
            <a:avLst/>
          </a:prstGeom>
        </p:spPr>
      </p:pic>
      <p:sp>
        <p:nvSpPr>
          <p:cNvPr id="14" name="Text 6"/>
          <p:cNvSpPr/>
          <p:nvPr/>
        </p:nvSpPr>
        <p:spPr>
          <a:xfrm>
            <a:off x="4835426" y="3013546"/>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Narrow vs General</a:t>
            </a:r>
            <a:endParaRPr lang="en-US" sz="1200" dirty="0"/>
          </a:p>
        </p:txBody>
      </p:sp>
      <p:pic>
        <p:nvPicPr>
          <p:cNvPr id="15" name="Image 6" descr="preencoded.png"/>
          <p:cNvPicPr>
            <a:picLocks noChangeAspect="1"/>
          </p:cNvPicPr>
          <p:nvPr/>
        </p:nvPicPr>
        <p:blipFill>
          <a:blip r:embed="rId3"/>
          <a:stretch>
            <a:fillRect/>
          </a:stretch>
        </p:blipFill>
        <p:spPr>
          <a:xfrm>
            <a:off x="496119" y="3521311"/>
            <a:ext cx="61987" cy="61987"/>
          </a:xfrm>
          <a:prstGeom prst="rect">
            <a:avLst/>
          </a:prstGeom>
        </p:spPr>
      </p:pic>
      <p:sp>
        <p:nvSpPr>
          <p:cNvPr id="16" name="Text 7"/>
          <p:cNvSpPr/>
          <p:nvPr/>
        </p:nvSpPr>
        <p:spPr>
          <a:xfrm>
            <a:off x="682079" y="3455417"/>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AI as Tool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68D61D82-8F8C-EC38-1995-6D2412BDDB9C}"/>
              </a:ext>
            </a:extLst>
          </p:cNvPr>
          <p:cNvGrpSpPr/>
          <p:nvPr/>
        </p:nvGrpSpPr>
        <p:grpSpPr>
          <a:xfrm>
            <a:off x="223147" y="1234440"/>
            <a:ext cx="8686800" cy="2670048"/>
            <a:chOff x="365760" y="1234440"/>
            <a:chExt cx="8686800" cy="2670048"/>
          </a:xfrm>
        </p:grpSpPr>
        <p:grpSp>
          <p:nvGrpSpPr>
            <p:cNvPr id="28" name="Group 27">
              <a:extLst>
                <a:ext uri="{FF2B5EF4-FFF2-40B4-BE49-F238E27FC236}">
                  <a16:creationId xmlns:a16="http://schemas.microsoft.com/office/drawing/2014/main" id="{5772441B-29A8-592E-B900-C57B9E95F804}"/>
                </a:ext>
              </a:extLst>
            </p:cNvPr>
            <p:cNvGrpSpPr/>
            <p:nvPr/>
          </p:nvGrpSpPr>
          <p:grpSpPr>
            <a:xfrm>
              <a:off x="365760" y="1234440"/>
              <a:ext cx="1920240" cy="978408"/>
              <a:chOff x="365760" y="1234440"/>
              <a:chExt cx="1920240" cy="978408"/>
            </a:xfrm>
          </p:grpSpPr>
          <p:sp>
            <p:nvSpPr>
              <p:cNvPr id="3" name="Text 1"/>
              <p:cNvSpPr/>
              <p:nvPr/>
            </p:nvSpPr>
            <p:spPr>
              <a:xfrm>
                <a:off x="365760" y="1234440"/>
                <a:ext cx="1920240" cy="274320"/>
              </a:xfrm>
              <a:prstGeom prst="rect">
                <a:avLst/>
              </a:prstGeom>
              <a:noFill/>
              <a:ln/>
            </p:spPr>
            <p:txBody>
              <a:bodyPr wrap="square" lIns="0" tIns="0" rIns="0" bIns="0" rtlCol="0" anchor="ctr"/>
              <a:lstStyle/>
              <a:p>
                <a:pPr marL="0" indent="0" algn="ctr">
                  <a:buNone/>
                </a:pPr>
                <a:r>
                  <a:rPr lang="en-US" sz="1100" dirty="0">
                    <a:solidFill>
                      <a:srgbClr val="888888"/>
                    </a:solidFill>
                    <a:latin typeface="Roboto" pitchFamily="34" charset="0"/>
                    <a:ea typeface="Roboto" pitchFamily="34" charset="-122"/>
                    <a:cs typeface="Roboto" pitchFamily="34" charset="-120"/>
                  </a:rPr>
                  <a:t>01</a:t>
                </a:r>
                <a:endParaRPr lang="en-US" sz="1100" dirty="0"/>
              </a:p>
            </p:txBody>
          </p:sp>
          <p:sp>
            <p:nvSpPr>
              <p:cNvPr id="4" name="Shape 2"/>
              <p:cNvSpPr/>
              <p:nvPr/>
            </p:nvSpPr>
            <p:spPr>
              <a:xfrm>
                <a:off x="365760" y="1527048"/>
                <a:ext cx="1920240" cy="0"/>
              </a:xfrm>
              <a:prstGeom prst="line">
                <a:avLst/>
              </a:prstGeom>
              <a:noFill/>
              <a:ln w="15240">
                <a:solidFill>
                  <a:srgbClr val="1A56A0"/>
                </a:solidFill>
                <a:prstDash val="solid"/>
              </a:ln>
            </p:spPr>
            <p:txBody>
              <a:bodyPr/>
              <a:lstStyle/>
              <a:p>
                <a:endParaRPr lang="en-IN"/>
              </a:p>
            </p:txBody>
          </p:sp>
          <p:sp>
            <p:nvSpPr>
              <p:cNvPr id="5" name="Text 3"/>
              <p:cNvSpPr/>
              <p:nvPr/>
            </p:nvSpPr>
            <p:spPr>
              <a:xfrm>
                <a:off x="365760" y="1618488"/>
                <a:ext cx="1920240" cy="594360"/>
              </a:xfrm>
              <a:prstGeom prst="rect">
                <a:avLst/>
              </a:prstGeom>
              <a:noFill/>
              <a:ln/>
            </p:spPr>
            <p:txBody>
              <a:bodyPr wrap="square" lIns="25400" tIns="0" rIns="0" bIns="0" rtlCol="0" anchor="t"/>
              <a:lstStyle/>
              <a:p>
                <a:pPr marL="0" indent="0" algn="l">
                  <a:buNone/>
                </a:pPr>
                <a:r>
                  <a:rPr lang="en-US" sz="1200" b="1" dirty="0">
                    <a:solidFill>
                      <a:srgbClr val="0D1B5E"/>
                    </a:solidFill>
                    <a:latin typeface="Roboto" pitchFamily="34" charset="0"/>
                    <a:ea typeface="Roboto" pitchFamily="34" charset="-122"/>
                    <a:cs typeface="Roboto" pitchFamily="34" charset="-120"/>
                  </a:rPr>
                  <a:t>AI and Its Subsets</a:t>
                </a:r>
                <a:endParaRPr lang="en-US" sz="1200" dirty="0"/>
              </a:p>
            </p:txBody>
          </p:sp>
        </p:grpSp>
        <p:grpSp>
          <p:nvGrpSpPr>
            <p:cNvPr id="29" name="Group 28">
              <a:extLst>
                <a:ext uri="{FF2B5EF4-FFF2-40B4-BE49-F238E27FC236}">
                  <a16:creationId xmlns:a16="http://schemas.microsoft.com/office/drawing/2014/main" id="{75234828-74AE-2E0A-2FFE-BA1A3B9091A0}"/>
                </a:ext>
              </a:extLst>
            </p:cNvPr>
            <p:cNvGrpSpPr/>
            <p:nvPr/>
          </p:nvGrpSpPr>
          <p:grpSpPr>
            <a:xfrm>
              <a:off x="2606040" y="1234440"/>
              <a:ext cx="1920240" cy="978408"/>
              <a:chOff x="2606040" y="1234440"/>
              <a:chExt cx="1920240" cy="978408"/>
            </a:xfrm>
          </p:grpSpPr>
          <p:sp>
            <p:nvSpPr>
              <p:cNvPr id="6" name="Text 4"/>
              <p:cNvSpPr/>
              <p:nvPr/>
            </p:nvSpPr>
            <p:spPr>
              <a:xfrm>
                <a:off x="2606040" y="1234440"/>
                <a:ext cx="1920240" cy="274320"/>
              </a:xfrm>
              <a:prstGeom prst="rect">
                <a:avLst/>
              </a:prstGeom>
              <a:noFill/>
              <a:ln/>
            </p:spPr>
            <p:txBody>
              <a:bodyPr wrap="square" lIns="0" tIns="0" rIns="0" bIns="0" rtlCol="0" anchor="ctr"/>
              <a:lstStyle/>
              <a:p>
                <a:pPr marL="0" indent="0" algn="ctr">
                  <a:buNone/>
                </a:pPr>
                <a:r>
                  <a:rPr lang="en-US" sz="1100" dirty="0">
                    <a:solidFill>
                      <a:srgbClr val="888888"/>
                    </a:solidFill>
                    <a:latin typeface="Roboto" pitchFamily="34" charset="0"/>
                    <a:ea typeface="Roboto" pitchFamily="34" charset="-122"/>
                    <a:cs typeface="Roboto" pitchFamily="34" charset="-120"/>
                  </a:rPr>
                  <a:t>02</a:t>
                </a:r>
                <a:endParaRPr lang="en-US" sz="1100" dirty="0"/>
              </a:p>
            </p:txBody>
          </p:sp>
          <p:sp>
            <p:nvSpPr>
              <p:cNvPr id="7" name="Shape 5"/>
              <p:cNvSpPr/>
              <p:nvPr/>
            </p:nvSpPr>
            <p:spPr>
              <a:xfrm>
                <a:off x="2606040" y="1527048"/>
                <a:ext cx="1920240" cy="0"/>
              </a:xfrm>
              <a:prstGeom prst="line">
                <a:avLst/>
              </a:prstGeom>
              <a:noFill/>
              <a:ln w="15240">
                <a:solidFill>
                  <a:srgbClr val="1A56A0"/>
                </a:solidFill>
                <a:prstDash val="solid"/>
              </a:ln>
            </p:spPr>
            <p:txBody>
              <a:bodyPr/>
              <a:lstStyle/>
              <a:p>
                <a:endParaRPr lang="en-IN"/>
              </a:p>
            </p:txBody>
          </p:sp>
          <p:sp>
            <p:nvSpPr>
              <p:cNvPr id="8" name="Text 6"/>
              <p:cNvSpPr/>
              <p:nvPr/>
            </p:nvSpPr>
            <p:spPr>
              <a:xfrm>
                <a:off x="2606040" y="1618488"/>
                <a:ext cx="1920240" cy="594360"/>
              </a:xfrm>
              <a:prstGeom prst="rect">
                <a:avLst/>
              </a:prstGeom>
              <a:noFill/>
              <a:ln/>
            </p:spPr>
            <p:txBody>
              <a:bodyPr wrap="square" lIns="25400" tIns="0" rIns="0" bIns="0" rtlCol="0" anchor="t"/>
              <a:lstStyle/>
              <a:p>
                <a:pPr marL="0" indent="0" algn="l">
                  <a:buNone/>
                </a:pPr>
                <a:r>
                  <a:rPr lang="en-US" sz="1200" b="1" dirty="0">
                    <a:solidFill>
                      <a:srgbClr val="0D1B5E"/>
                    </a:solidFill>
                    <a:latin typeface="Roboto" pitchFamily="34" charset="0"/>
                    <a:ea typeface="Roboto" pitchFamily="34" charset="-122"/>
                    <a:cs typeface="Roboto" pitchFamily="34" charset="-120"/>
                  </a:rPr>
                  <a:t>Data - The Fuel of AI</a:t>
                </a:r>
                <a:endParaRPr lang="en-US" sz="1200" dirty="0"/>
              </a:p>
            </p:txBody>
          </p:sp>
        </p:grpSp>
        <p:grpSp>
          <p:nvGrpSpPr>
            <p:cNvPr id="30" name="Group 29">
              <a:extLst>
                <a:ext uri="{FF2B5EF4-FFF2-40B4-BE49-F238E27FC236}">
                  <a16:creationId xmlns:a16="http://schemas.microsoft.com/office/drawing/2014/main" id="{49D79D2A-0D42-6B90-067F-122A7097BB4C}"/>
                </a:ext>
              </a:extLst>
            </p:cNvPr>
            <p:cNvGrpSpPr/>
            <p:nvPr/>
          </p:nvGrpSpPr>
          <p:grpSpPr>
            <a:xfrm>
              <a:off x="4846320" y="1234440"/>
              <a:ext cx="1920240" cy="978408"/>
              <a:chOff x="4846320" y="1234440"/>
              <a:chExt cx="1920240" cy="978408"/>
            </a:xfrm>
          </p:grpSpPr>
          <p:sp>
            <p:nvSpPr>
              <p:cNvPr id="9" name="Text 7"/>
              <p:cNvSpPr/>
              <p:nvPr/>
            </p:nvSpPr>
            <p:spPr>
              <a:xfrm>
                <a:off x="4846320" y="1234440"/>
                <a:ext cx="1920240" cy="274320"/>
              </a:xfrm>
              <a:prstGeom prst="rect">
                <a:avLst/>
              </a:prstGeom>
              <a:noFill/>
              <a:ln/>
            </p:spPr>
            <p:txBody>
              <a:bodyPr wrap="square" lIns="0" tIns="0" rIns="0" bIns="0" rtlCol="0" anchor="ctr"/>
              <a:lstStyle/>
              <a:p>
                <a:pPr marL="0" indent="0" algn="ctr">
                  <a:buNone/>
                </a:pPr>
                <a:r>
                  <a:rPr lang="en-US" sz="1100" dirty="0">
                    <a:solidFill>
                      <a:srgbClr val="888888"/>
                    </a:solidFill>
                    <a:latin typeface="Roboto" pitchFamily="34" charset="0"/>
                    <a:ea typeface="Roboto" pitchFamily="34" charset="-122"/>
                    <a:cs typeface="Roboto" pitchFamily="34" charset="-120"/>
                  </a:rPr>
                  <a:t>03</a:t>
                </a:r>
                <a:endParaRPr lang="en-US" sz="1100" dirty="0"/>
              </a:p>
            </p:txBody>
          </p:sp>
          <p:sp>
            <p:nvSpPr>
              <p:cNvPr id="10" name="Shape 8"/>
              <p:cNvSpPr/>
              <p:nvPr/>
            </p:nvSpPr>
            <p:spPr>
              <a:xfrm>
                <a:off x="4846320" y="1527048"/>
                <a:ext cx="1920240" cy="0"/>
              </a:xfrm>
              <a:prstGeom prst="line">
                <a:avLst/>
              </a:prstGeom>
              <a:noFill/>
              <a:ln w="15240">
                <a:solidFill>
                  <a:srgbClr val="1A56A0"/>
                </a:solidFill>
                <a:prstDash val="solid"/>
              </a:ln>
            </p:spPr>
            <p:txBody>
              <a:bodyPr/>
              <a:lstStyle/>
              <a:p>
                <a:endParaRPr lang="en-IN"/>
              </a:p>
            </p:txBody>
          </p:sp>
          <p:sp>
            <p:nvSpPr>
              <p:cNvPr id="11" name="Text 9"/>
              <p:cNvSpPr/>
              <p:nvPr/>
            </p:nvSpPr>
            <p:spPr>
              <a:xfrm>
                <a:off x="4846320" y="1618488"/>
                <a:ext cx="1920240" cy="594360"/>
              </a:xfrm>
              <a:prstGeom prst="rect">
                <a:avLst/>
              </a:prstGeom>
              <a:noFill/>
              <a:ln/>
            </p:spPr>
            <p:txBody>
              <a:bodyPr wrap="square" lIns="25400" tIns="0" rIns="0" bIns="0" rtlCol="0" anchor="t"/>
              <a:lstStyle/>
              <a:p>
                <a:pPr marL="0" indent="0" algn="l">
                  <a:buNone/>
                </a:pPr>
                <a:r>
                  <a:rPr lang="en-US" sz="1200" b="1" dirty="0">
                    <a:solidFill>
                      <a:srgbClr val="0D1B5E"/>
                    </a:solidFill>
                    <a:latin typeface="Roboto" pitchFamily="34" charset="0"/>
                    <a:ea typeface="Roboto" pitchFamily="34" charset="-122"/>
                    <a:cs typeface="Roboto" pitchFamily="34" charset="-120"/>
                  </a:rPr>
                  <a:t>Algorithm - The Instructions AI Follows</a:t>
                </a:r>
                <a:endParaRPr lang="en-US" sz="1200" dirty="0"/>
              </a:p>
            </p:txBody>
          </p:sp>
        </p:grpSp>
        <p:grpSp>
          <p:nvGrpSpPr>
            <p:cNvPr id="31" name="Group 30">
              <a:extLst>
                <a:ext uri="{FF2B5EF4-FFF2-40B4-BE49-F238E27FC236}">
                  <a16:creationId xmlns:a16="http://schemas.microsoft.com/office/drawing/2014/main" id="{91CD6ED4-2E16-694A-EA0D-29C2647EB9F4}"/>
                </a:ext>
              </a:extLst>
            </p:cNvPr>
            <p:cNvGrpSpPr/>
            <p:nvPr/>
          </p:nvGrpSpPr>
          <p:grpSpPr>
            <a:xfrm>
              <a:off x="7086600" y="1234440"/>
              <a:ext cx="1965960" cy="978408"/>
              <a:chOff x="7086600" y="1234440"/>
              <a:chExt cx="1965960" cy="978408"/>
            </a:xfrm>
          </p:grpSpPr>
          <p:sp>
            <p:nvSpPr>
              <p:cNvPr id="12" name="Text 10"/>
              <p:cNvSpPr/>
              <p:nvPr/>
            </p:nvSpPr>
            <p:spPr>
              <a:xfrm>
                <a:off x="7086600" y="1234440"/>
                <a:ext cx="1965960" cy="274320"/>
              </a:xfrm>
              <a:prstGeom prst="rect">
                <a:avLst/>
              </a:prstGeom>
              <a:noFill/>
              <a:ln/>
            </p:spPr>
            <p:txBody>
              <a:bodyPr wrap="square" lIns="0" tIns="0" rIns="0" bIns="0" rtlCol="0" anchor="ctr"/>
              <a:lstStyle/>
              <a:p>
                <a:pPr marL="0" indent="0" algn="ctr">
                  <a:buNone/>
                </a:pPr>
                <a:r>
                  <a:rPr lang="en-US" sz="1100" dirty="0">
                    <a:solidFill>
                      <a:srgbClr val="888888"/>
                    </a:solidFill>
                    <a:latin typeface="Roboto" pitchFamily="34" charset="0"/>
                    <a:ea typeface="Roboto" pitchFamily="34" charset="-122"/>
                    <a:cs typeface="Roboto" pitchFamily="34" charset="-120"/>
                  </a:rPr>
                  <a:t>04</a:t>
                </a:r>
                <a:endParaRPr lang="en-US" sz="1100" dirty="0"/>
              </a:p>
            </p:txBody>
          </p:sp>
          <p:sp>
            <p:nvSpPr>
              <p:cNvPr id="13" name="Shape 11"/>
              <p:cNvSpPr/>
              <p:nvPr/>
            </p:nvSpPr>
            <p:spPr>
              <a:xfrm>
                <a:off x="7086600" y="1527048"/>
                <a:ext cx="1965960" cy="0"/>
              </a:xfrm>
              <a:prstGeom prst="line">
                <a:avLst/>
              </a:prstGeom>
              <a:noFill/>
              <a:ln w="15240">
                <a:solidFill>
                  <a:srgbClr val="1A56A0"/>
                </a:solidFill>
                <a:prstDash val="solid"/>
              </a:ln>
            </p:spPr>
            <p:txBody>
              <a:bodyPr/>
              <a:lstStyle/>
              <a:p>
                <a:endParaRPr lang="en-IN"/>
              </a:p>
            </p:txBody>
          </p:sp>
          <p:sp>
            <p:nvSpPr>
              <p:cNvPr id="14" name="Text 12"/>
              <p:cNvSpPr/>
              <p:nvPr/>
            </p:nvSpPr>
            <p:spPr>
              <a:xfrm>
                <a:off x="7086600" y="1618488"/>
                <a:ext cx="1965960" cy="594360"/>
              </a:xfrm>
              <a:prstGeom prst="rect">
                <a:avLst/>
              </a:prstGeom>
              <a:noFill/>
              <a:ln/>
            </p:spPr>
            <p:txBody>
              <a:bodyPr wrap="square" lIns="25400" tIns="0" rIns="0" bIns="0" rtlCol="0" anchor="t"/>
              <a:lstStyle/>
              <a:p>
                <a:pPr marL="0" indent="0" algn="l">
                  <a:buNone/>
                </a:pPr>
                <a:r>
                  <a:rPr lang="en-US" sz="1200" b="1" dirty="0">
                    <a:solidFill>
                      <a:srgbClr val="0D1B5E"/>
                    </a:solidFill>
                    <a:latin typeface="Roboto" pitchFamily="34" charset="0"/>
                    <a:ea typeface="Roboto" pitchFamily="34" charset="-122"/>
                    <a:cs typeface="Roboto" pitchFamily="34" charset="-120"/>
                  </a:rPr>
                  <a:t>Training - How AI Learns from Data</a:t>
                </a:r>
                <a:endParaRPr lang="en-US" sz="1200" dirty="0"/>
              </a:p>
            </p:txBody>
          </p:sp>
        </p:grpSp>
        <p:grpSp>
          <p:nvGrpSpPr>
            <p:cNvPr id="32" name="Group 31">
              <a:extLst>
                <a:ext uri="{FF2B5EF4-FFF2-40B4-BE49-F238E27FC236}">
                  <a16:creationId xmlns:a16="http://schemas.microsoft.com/office/drawing/2014/main" id="{B72296C0-839B-37EC-4CA9-9F8F64077916}"/>
                </a:ext>
              </a:extLst>
            </p:cNvPr>
            <p:cNvGrpSpPr/>
            <p:nvPr/>
          </p:nvGrpSpPr>
          <p:grpSpPr>
            <a:xfrm>
              <a:off x="365760" y="2926080"/>
              <a:ext cx="1920240" cy="978408"/>
              <a:chOff x="365760" y="2926080"/>
              <a:chExt cx="1920240" cy="978408"/>
            </a:xfrm>
          </p:grpSpPr>
          <p:sp>
            <p:nvSpPr>
              <p:cNvPr id="15" name="Text 13"/>
              <p:cNvSpPr/>
              <p:nvPr/>
            </p:nvSpPr>
            <p:spPr>
              <a:xfrm>
                <a:off x="365760" y="2926080"/>
                <a:ext cx="1920240" cy="274320"/>
              </a:xfrm>
              <a:prstGeom prst="rect">
                <a:avLst/>
              </a:prstGeom>
              <a:noFill/>
              <a:ln/>
            </p:spPr>
            <p:txBody>
              <a:bodyPr wrap="square" lIns="0" tIns="0" rIns="0" bIns="0" rtlCol="0" anchor="ctr"/>
              <a:lstStyle/>
              <a:p>
                <a:pPr marL="0" indent="0" algn="ctr">
                  <a:buNone/>
                </a:pPr>
                <a:r>
                  <a:rPr lang="en-US" sz="1100" dirty="0">
                    <a:solidFill>
                      <a:srgbClr val="888888"/>
                    </a:solidFill>
                    <a:latin typeface="Roboto" pitchFamily="34" charset="0"/>
                    <a:ea typeface="Roboto" pitchFamily="34" charset="-122"/>
                    <a:cs typeface="Roboto" pitchFamily="34" charset="-120"/>
                  </a:rPr>
                  <a:t>05</a:t>
                </a:r>
                <a:endParaRPr lang="en-US" sz="1100" dirty="0"/>
              </a:p>
            </p:txBody>
          </p:sp>
          <p:sp>
            <p:nvSpPr>
              <p:cNvPr id="16" name="Shape 14"/>
              <p:cNvSpPr/>
              <p:nvPr/>
            </p:nvSpPr>
            <p:spPr>
              <a:xfrm>
                <a:off x="365760" y="3218688"/>
                <a:ext cx="1920240" cy="0"/>
              </a:xfrm>
              <a:prstGeom prst="line">
                <a:avLst/>
              </a:prstGeom>
              <a:noFill/>
              <a:ln w="15240">
                <a:solidFill>
                  <a:srgbClr val="1A56A0"/>
                </a:solidFill>
                <a:prstDash val="solid"/>
              </a:ln>
            </p:spPr>
            <p:txBody>
              <a:bodyPr/>
              <a:lstStyle/>
              <a:p>
                <a:endParaRPr lang="en-IN"/>
              </a:p>
            </p:txBody>
          </p:sp>
          <p:sp>
            <p:nvSpPr>
              <p:cNvPr id="17" name="Text 15"/>
              <p:cNvSpPr/>
              <p:nvPr/>
            </p:nvSpPr>
            <p:spPr>
              <a:xfrm>
                <a:off x="365760" y="3310128"/>
                <a:ext cx="1920240" cy="594360"/>
              </a:xfrm>
              <a:prstGeom prst="rect">
                <a:avLst/>
              </a:prstGeom>
              <a:noFill/>
              <a:ln/>
            </p:spPr>
            <p:txBody>
              <a:bodyPr wrap="square" lIns="25400" tIns="0" rIns="0" bIns="0" rtlCol="0" anchor="t"/>
              <a:lstStyle/>
              <a:p>
                <a:pPr marL="0" indent="0" algn="l">
                  <a:buNone/>
                </a:pPr>
                <a:r>
                  <a:rPr lang="en-US" sz="1200" b="1" dirty="0">
                    <a:solidFill>
                      <a:srgbClr val="0D1B5E"/>
                    </a:solidFill>
                    <a:latin typeface="Roboto" pitchFamily="34" charset="0"/>
                    <a:ea typeface="Roboto" pitchFamily="34" charset="-122"/>
                    <a:cs typeface="Roboto" pitchFamily="34" charset="-120"/>
                  </a:rPr>
                  <a:t>Model - The Result of Learning</a:t>
                </a:r>
                <a:endParaRPr lang="en-US" sz="1200" dirty="0"/>
              </a:p>
            </p:txBody>
          </p:sp>
        </p:grpSp>
        <p:grpSp>
          <p:nvGrpSpPr>
            <p:cNvPr id="33" name="Group 32">
              <a:extLst>
                <a:ext uri="{FF2B5EF4-FFF2-40B4-BE49-F238E27FC236}">
                  <a16:creationId xmlns:a16="http://schemas.microsoft.com/office/drawing/2014/main" id="{2D28C6D2-81C1-5A0C-2975-3CBD70F00570}"/>
                </a:ext>
              </a:extLst>
            </p:cNvPr>
            <p:cNvGrpSpPr/>
            <p:nvPr/>
          </p:nvGrpSpPr>
          <p:grpSpPr>
            <a:xfrm>
              <a:off x="2606040" y="2926080"/>
              <a:ext cx="1920240" cy="978408"/>
              <a:chOff x="2606040" y="2926080"/>
              <a:chExt cx="1920240" cy="978408"/>
            </a:xfrm>
          </p:grpSpPr>
          <p:sp>
            <p:nvSpPr>
              <p:cNvPr id="18" name="Text 16"/>
              <p:cNvSpPr/>
              <p:nvPr/>
            </p:nvSpPr>
            <p:spPr>
              <a:xfrm>
                <a:off x="2606040" y="2926080"/>
                <a:ext cx="1920240" cy="274320"/>
              </a:xfrm>
              <a:prstGeom prst="rect">
                <a:avLst/>
              </a:prstGeom>
              <a:noFill/>
              <a:ln/>
            </p:spPr>
            <p:txBody>
              <a:bodyPr wrap="square" lIns="0" tIns="0" rIns="0" bIns="0" rtlCol="0" anchor="ctr"/>
              <a:lstStyle/>
              <a:p>
                <a:pPr marL="0" indent="0" algn="ctr">
                  <a:buNone/>
                </a:pPr>
                <a:r>
                  <a:rPr lang="en-US" sz="1100" dirty="0">
                    <a:solidFill>
                      <a:srgbClr val="888888"/>
                    </a:solidFill>
                    <a:latin typeface="Roboto" pitchFamily="34" charset="0"/>
                    <a:ea typeface="Roboto" pitchFamily="34" charset="-122"/>
                    <a:cs typeface="Roboto" pitchFamily="34" charset="-120"/>
                  </a:rPr>
                  <a:t>06</a:t>
                </a:r>
                <a:endParaRPr lang="en-US" sz="1100" dirty="0"/>
              </a:p>
            </p:txBody>
          </p:sp>
          <p:sp>
            <p:nvSpPr>
              <p:cNvPr id="19" name="Shape 17"/>
              <p:cNvSpPr/>
              <p:nvPr/>
            </p:nvSpPr>
            <p:spPr>
              <a:xfrm>
                <a:off x="2606040" y="3218688"/>
                <a:ext cx="1920240" cy="0"/>
              </a:xfrm>
              <a:prstGeom prst="line">
                <a:avLst/>
              </a:prstGeom>
              <a:noFill/>
              <a:ln w="15240">
                <a:solidFill>
                  <a:srgbClr val="1A56A0"/>
                </a:solidFill>
                <a:prstDash val="solid"/>
              </a:ln>
            </p:spPr>
            <p:txBody>
              <a:bodyPr/>
              <a:lstStyle/>
              <a:p>
                <a:endParaRPr lang="en-IN"/>
              </a:p>
            </p:txBody>
          </p:sp>
          <p:sp>
            <p:nvSpPr>
              <p:cNvPr id="20" name="Text 18"/>
              <p:cNvSpPr/>
              <p:nvPr/>
            </p:nvSpPr>
            <p:spPr>
              <a:xfrm>
                <a:off x="2606040" y="3310128"/>
                <a:ext cx="1920240" cy="594360"/>
              </a:xfrm>
              <a:prstGeom prst="rect">
                <a:avLst/>
              </a:prstGeom>
              <a:noFill/>
              <a:ln/>
            </p:spPr>
            <p:txBody>
              <a:bodyPr wrap="square" lIns="25400" tIns="0" rIns="0" bIns="0" rtlCol="0" anchor="t"/>
              <a:lstStyle/>
              <a:p>
                <a:pPr marL="0" indent="0" algn="l">
                  <a:buNone/>
                </a:pPr>
                <a:r>
                  <a:rPr lang="en-US" sz="1200" b="1" dirty="0">
                    <a:solidFill>
                      <a:srgbClr val="0D1B5E"/>
                    </a:solidFill>
                    <a:latin typeface="Roboto" pitchFamily="34" charset="0"/>
                    <a:ea typeface="Roboto" pitchFamily="34" charset="-122"/>
                    <a:cs typeface="Roboto" pitchFamily="34" charset="-120"/>
                  </a:rPr>
                  <a:t>Algorithm vs Model - What's the Difference?</a:t>
                </a:r>
                <a:endParaRPr lang="en-US" sz="1200" dirty="0"/>
              </a:p>
            </p:txBody>
          </p:sp>
        </p:grpSp>
        <p:grpSp>
          <p:nvGrpSpPr>
            <p:cNvPr id="34" name="Group 33">
              <a:extLst>
                <a:ext uri="{FF2B5EF4-FFF2-40B4-BE49-F238E27FC236}">
                  <a16:creationId xmlns:a16="http://schemas.microsoft.com/office/drawing/2014/main" id="{7E6833DB-EC4F-A0CB-A45A-0134A3E35272}"/>
                </a:ext>
              </a:extLst>
            </p:cNvPr>
            <p:cNvGrpSpPr/>
            <p:nvPr/>
          </p:nvGrpSpPr>
          <p:grpSpPr>
            <a:xfrm>
              <a:off x="4846320" y="2926080"/>
              <a:ext cx="1920240" cy="978408"/>
              <a:chOff x="4846320" y="2926080"/>
              <a:chExt cx="1920240" cy="978408"/>
            </a:xfrm>
          </p:grpSpPr>
          <p:sp>
            <p:nvSpPr>
              <p:cNvPr id="21" name="Text 19"/>
              <p:cNvSpPr/>
              <p:nvPr/>
            </p:nvSpPr>
            <p:spPr>
              <a:xfrm>
                <a:off x="4846320" y="2926080"/>
                <a:ext cx="1920240" cy="274320"/>
              </a:xfrm>
              <a:prstGeom prst="rect">
                <a:avLst/>
              </a:prstGeom>
              <a:noFill/>
              <a:ln/>
            </p:spPr>
            <p:txBody>
              <a:bodyPr wrap="square" lIns="0" tIns="0" rIns="0" bIns="0" rtlCol="0" anchor="ctr"/>
              <a:lstStyle/>
              <a:p>
                <a:pPr marL="0" indent="0" algn="ctr">
                  <a:buNone/>
                </a:pPr>
                <a:r>
                  <a:rPr lang="en-US" sz="1100" dirty="0">
                    <a:solidFill>
                      <a:srgbClr val="888888"/>
                    </a:solidFill>
                    <a:latin typeface="Roboto" pitchFamily="34" charset="0"/>
                    <a:ea typeface="Roboto" pitchFamily="34" charset="-122"/>
                    <a:cs typeface="Roboto" pitchFamily="34" charset="-120"/>
                  </a:rPr>
                  <a:t>07</a:t>
                </a:r>
                <a:endParaRPr lang="en-US" sz="1100" dirty="0"/>
              </a:p>
            </p:txBody>
          </p:sp>
          <p:sp>
            <p:nvSpPr>
              <p:cNvPr id="22" name="Shape 20"/>
              <p:cNvSpPr/>
              <p:nvPr/>
            </p:nvSpPr>
            <p:spPr>
              <a:xfrm>
                <a:off x="4846320" y="3218688"/>
                <a:ext cx="1920240" cy="0"/>
              </a:xfrm>
              <a:prstGeom prst="line">
                <a:avLst/>
              </a:prstGeom>
              <a:noFill/>
              <a:ln w="15240">
                <a:solidFill>
                  <a:srgbClr val="1A56A0"/>
                </a:solidFill>
                <a:prstDash val="solid"/>
              </a:ln>
            </p:spPr>
            <p:txBody>
              <a:bodyPr/>
              <a:lstStyle/>
              <a:p>
                <a:endParaRPr lang="en-IN"/>
              </a:p>
            </p:txBody>
          </p:sp>
          <p:sp>
            <p:nvSpPr>
              <p:cNvPr id="23" name="Text 21"/>
              <p:cNvSpPr/>
              <p:nvPr/>
            </p:nvSpPr>
            <p:spPr>
              <a:xfrm>
                <a:off x="4846320" y="3310128"/>
                <a:ext cx="1920240" cy="594360"/>
              </a:xfrm>
              <a:prstGeom prst="rect">
                <a:avLst/>
              </a:prstGeom>
              <a:noFill/>
              <a:ln/>
            </p:spPr>
            <p:txBody>
              <a:bodyPr wrap="square" lIns="25400" tIns="0" rIns="0" bIns="0" rtlCol="0" anchor="t"/>
              <a:lstStyle/>
              <a:p>
                <a:pPr marL="0" indent="0" algn="l">
                  <a:buNone/>
                </a:pPr>
                <a:r>
                  <a:rPr lang="en-US" sz="1200" b="1" dirty="0">
                    <a:solidFill>
                      <a:srgbClr val="0D1B5E"/>
                    </a:solidFill>
                    <a:latin typeface="Roboto" pitchFamily="34" charset="0"/>
                    <a:ea typeface="Roboto" pitchFamily="34" charset="-122"/>
                    <a:cs typeface="Roboto" pitchFamily="34" charset="-120"/>
                  </a:rPr>
                  <a:t>Prediction - AI's Smart Guess</a:t>
                </a:r>
                <a:endParaRPr lang="en-US" sz="1200" dirty="0"/>
              </a:p>
            </p:txBody>
          </p:sp>
        </p:grpSp>
        <p:grpSp>
          <p:nvGrpSpPr>
            <p:cNvPr id="35" name="Group 34">
              <a:extLst>
                <a:ext uri="{FF2B5EF4-FFF2-40B4-BE49-F238E27FC236}">
                  <a16:creationId xmlns:a16="http://schemas.microsoft.com/office/drawing/2014/main" id="{0AC303EF-F6D6-867E-066B-C0270CF9B32A}"/>
                </a:ext>
              </a:extLst>
            </p:cNvPr>
            <p:cNvGrpSpPr/>
            <p:nvPr/>
          </p:nvGrpSpPr>
          <p:grpSpPr>
            <a:xfrm>
              <a:off x="7086600" y="2926080"/>
              <a:ext cx="1965960" cy="978408"/>
              <a:chOff x="7086600" y="2926080"/>
              <a:chExt cx="1965960" cy="978408"/>
            </a:xfrm>
          </p:grpSpPr>
          <p:sp>
            <p:nvSpPr>
              <p:cNvPr id="24" name="Text 22"/>
              <p:cNvSpPr/>
              <p:nvPr/>
            </p:nvSpPr>
            <p:spPr>
              <a:xfrm>
                <a:off x="7086600" y="2926080"/>
                <a:ext cx="1965960" cy="274320"/>
              </a:xfrm>
              <a:prstGeom prst="rect">
                <a:avLst/>
              </a:prstGeom>
              <a:noFill/>
              <a:ln/>
            </p:spPr>
            <p:txBody>
              <a:bodyPr wrap="square" lIns="0" tIns="0" rIns="0" bIns="0" rtlCol="0" anchor="ctr"/>
              <a:lstStyle/>
              <a:p>
                <a:pPr marL="0" indent="0" algn="ctr">
                  <a:buNone/>
                </a:pPr>
                <a:r>
                  <a:rPr lang="en-US" sz="1100" dirty="0">
                    <a:solidFill>
                      <a:srgbClr val="888888"/>
                    </a:solidFill>
                    <a:latin typeface="Roboto" pitchFamily="34" charset="0"/>
                    <a:ea typeface="Roboto" pitchFamily="34" charset="-122"/>
                    <a:cs typeface="Roboto" pitchFamily="34" charset="-120"/>
                  </a:rPr>
                  <a:t>08</a:t>
                </a:r>
                <a:endParaRPr lang="en-US" sz="1100" dirty="0"/>
              </a:p>
            </p:txBody>
          </p:sp>
          <p:sp>
            <p:nvSpPr>
              <p:cNvPr id="25" name="Shape 23"/>
              <p:cNvSpPr/>
              <p:nvPr/>
            </p:nvSpPr>
            <p:spPr>
              <a:xfrm>
                <a:off x="7086600" y="3218688"/>
                <a:ext cx="1965960" cy="0"/>
              </a:xfrm>
              <a:prstGeom prst="line">
                <a:avLst/>
              </a:prstGeom>
              <a:noFill/>
              <a:ln w="15240">
                <a:solidFill>
                  <a:srgbClr val="1A56A0"/>
                </a:solidFill>
                <a:prstDash val="solid"/>
              </a:ln>
            </p:spPr>
            <p:txBody>
              <a:bodyPr/>
              <a:lstStyle/>
              <a:p>
                <a:endParaRPr lang="en-IN"/>
              </a:p>
            </p:txBody>
          </p:sp>
          <p:sp>
            <p:nvSpPr>
              <p:cNvPr id="26" name="Text 24"/>
              <p:cNvSpPr/>
              <p:nvPr/>
            </p:nvSpPr>
            <p:spPr>
              <a:xfrm>
                <a:off x="7086600" y="3310128"/>
                <a:ext cx="1965960" cy="594360"/>
              </a:xfrm>
              <a:prstGeom prst="rect">
                <a:avLst/>
              </a:prstGeom>
              <a:noFill/>
              <a:ln/>
            </p:spPr>
            <p:txBody>
              <a:bodyPr wrap="square" lIns="25400" tIns="0" rIns="0" bIns="0" rtlCol="0" anchor="t"/>
              <a:lstStyle/>
              <a:p>
                <a:pPr marL="0" indent="0" algn="l">
                  <a:buNone/>
                </a:pPr>
                <a:r>
                  <a:rPr lang="en-US" sz="1200" b="1" dirty="0">
                    <a:solidFill>
                      <a:srgbClr val="0D1B5E"/>
                    </a:solidFill>
                    <a:latin typeface="Roboto" pitchFamily="34" charset="0"/>
                    <a:ea typeface="Roboto" pitchFamily="34" charset="-122"/>
                    <a:cs typeface="Roboto" pitchFamily="34" charset="-120"/>
                  </a:rPr>
                  <a:t>The AI Recipe - Putting It All Together</a:t>
                </a:r>
                <a:endParaRPr lang="en-US" sz="1200" dirty="0"/>
              </a:p>
            </p:txBody>
          </p:sp>
        </p:grpSp>
      </p:grpSp>
      <p:sp>
        <p:nvSpPr>
          <p:cNvPr id="27" name="Text 1">
            <a:extLst>
              <a:ext uri="{FF2B5EF4-FFF2-40B4-BE49-F238E27FC236}">
                <a16:creationId xmlns:a16="http://schemas.microsoft.com/office/drawing/2014/main" id="{7B8C2099-21C9-1295-F215-9C6BEA553B7B}"/>
              </a:ext>
            </a:extLst>
          </p:cNvPr>
          <p:cNvSpPr/>
          <p:nvPr/>
        </p:nvSpPr>
        <p:spPr>
          <a:xfrm>
            <a:off x="231536" y="680550"/>
            <a:ext cx="1421095"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Objectives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2184202"/>
            <a:ext cx="4722763" cy="775097"/>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What Do You Already Know About Terms Related to AI?</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443186"/>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AI and Its Subsets</a:t>
            </a:r>
            <a:endParaRPr lang="en-US" sz="2400" dirty="0"/>
          </a:p>
        </p:txBody>
      </p:sp>
      <p:grpSp>
        <p:nvGrpSpPr>
          <p:cNvPr id="14" name="Group 13">
            <a:extLst>
              <a:ext uri="{FF2B5EF4-FFF2-40B4-BE49-F238E27FC236}">
                <a16:creationId xmlns:a16="http://schemas.microsoft.com/office/drawing/2014/main" id="{AF2670DE-B465-DEF0-2559-7178B8EA9CA5}"/>
              </a:ext>
            </a:extLst>
          </p:cNvPr>
          <p:cNvGrpSpPr/>
          <p:nvPr/>
        </p:nvGrpSpPr>
        <p:grpSpPr>
          <a:xfrm>
            <a:off x="3925119" y="2016770"/>
            <a:ext cx="2299395" cy="441796"/>
            <a:chOff x="3925119" y="2016770"/>
            <a:chExt cx="2299395" cy="441796"/>
          </a:xfrm>
        </p:grpSpPr>
        <p:sp>
          <p:nvSpPr>
            <p:cNvPr id="4" name="Shape 1"/>
            <p:cNvSpPr/>
            <p:nvPr/>
          </p:nvSpPr>
          <p:spPr>
            <a:xfrm>
              <a:off x="3925119" y="2016770"/>
              <a:ext cx="2299395" cy="441796"/>
            </a:xfrm>
            <a:prstGeom prst="roundRect">
              <a:avLst>
                <a:gd name="adj" fmla="val 4212"/>
              </a:avLst>
            </a:prstGeom>
            <a:solidFill>
              <a:srgbClr val="E9ECF2"/>
            </a:solidFill>
            <a:ln/>
          </p:spPr>
          <p:txBody>
            <a:bodyPr/>
            <a:lstStyle/>
            <a:p>
              <a:endParaRPr lang="en-IN"/>
            </a:p>
          </p:txBody>
        </p:sp>
        <p:sp>
          <p:nvSpPr>
            <p:cNvPr id="5" name="Text 2"/>
            <p:cNvSpPr/>
            <p:nvPr/>
          </p:nvSpPr>
          <p:spPr>
            <a:xfrm>
              <a:off x="4049092" y="2140744"/>
              <a:ext cx="1887662"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Artificial Intelligence (AI)</a:t>
              </a:r>
              <a:endParaRPr lang="en-US" sz="1200" dirty="0"/>
            </a:p>
          </p:txBody>
        </p:sp>
      </p:grpSp>
      <p:grpSp>
        <p:nvGrpSpPr>
          <p:cNvPr id="15" name="Group 14">
            <a:extLst>
              <a:ext uri="{FF2B5EF4-FFF2-40B4-BE49-F238E27FC236}">
                <a16:creationId xmlns:a16="http://schemas.microsoft.com/office/drawing/2014/main" id="{2FDAECD2-3446-CC5C-F6AA-64FD922469D3}"/>
              </a:ext>
            </a:extLst>
          </p:cNvPr>
          <p:cNvGrpSpPr/>
          <p:nvPr/>
        </p:nvGrpSpPr>
        <p:grpSpPr>
          <a:xfrm>
            <a:off x="6348487" y="2016770"/>
            <a:ext cx="2299395" cy="441796"/>
            <a:chOff x="6348487" y="2016770"/>
            <a:chExt cx="2299395" cy="441796"/>
          </a:xfrm>
        </p:grpSpPr>
        <p:sp>
          <p:nvSpPr>
            <p:cNvPr id="6" name="Shape 3"/>
            <p:cNvSpPr/>
            <p:nvPr/>
          </p:nvSpPr>
          <p:spPr>
            <a:xfrm>
              <a:off x="6348487" y="2016770"/>
              <a:ext cx="2299395" cy="441796"/>
            </a:xfrm>
            <a:prstGeom prst="roundRect">
              <a:avLst>
                <a:gd name="adj" fmla="val 4212"/>
              </a:avLst>
            </a:prstGeom>
            <a:solidFill>
              <a:srgbClr val="E9ECF2"/>
            </a:solidFill>
            <a:ln/>
          </p:spPr>
          <p:txBody>
            <a:bodyPr/>
            <a:lstStyle/>
            <a:p>
              <a:endParaRPr lang="en-IN"/>
            </a:p>
          </p:txBody>
        </p:sp>
        <p:sp>
          <p:nvSpPr>
            <p:cNvPr id="7" name="Text 4"/>
            <p:cNvSpPr/>
            <p:nvPr/>
          </p:nvSpPr>
          <p:spPr>
            <a:xfrm>
              <a:off x="6472461" y="2140744"/>
              <a:ext cx="1747837"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Machine Learning (ML)</a:t>
              </a:r>
              <a:endParaRPr lang="en-US" sz="1200" dirty="0"/>
            </a:p>
          </p:txBody>
        </p:sp>
      </p:grpSp>
      <p:grpSp>
        <p:nvGrpSpPr>
          <p:cNvPr id="16" name="Group 15">
            <a:extLst>
              <a:ext uri="{FF2B5EF4-FFF2-40B4-BE49-F238E27FC236}">
                <a16:creationId xmlns:a16="http://schemas.microsoft.com/office/drawing/2014/main" id="{E70DA45E-410D-8A02-5BB3-FD04218620EE}"/>
              </a:ext>
            </a:extLst>
          </p:cNvPr>
          <p:cNvGrpSpPr/>
          <p:nvPr/>
        </p:nvGrpSpPr>
        <p:grpSpPr>
          <a:xfrm>
            <a:off x="3925119" y="2582540"/>
            <a:ext cx="2299395" cy="441796"/>
            <a:chOff x="3925119" y="2582540"/>
            <a:chExt cx="2299395" cy="441796"/>
          </a:xfrm>
        </p:grpSpPr>
        <p:sp>
          <p:nvSpPr>
            <p:cNvPr id="8" name="Shape 5"/>
            <p:cNvSpPr/>
            <p:nvPr/>
          </p:nvSpPr>
          <p:spPr>
            <a:xfrm>
              <a:off x="3925119" y="2582540"/>
              <a:ext cx="2299395" cy="441796"/>
            </a:xfrm>
            <a:prstGeom prst="roundRect">
              <a:avLst>
                <a:gd name="adj" fmla="val 4212"/>
              </a:avLst>
            </a:prstGeom>
            <a:solidFill>
              <a:srgbClr val="E9ECF2"/>
            </a:solidFill>
            <a:ln/>
          </p:spPr>
          <p:txBody>
            <a:bodyPr/>
            <a:lstStyle/>
            <a:p>
              <a:endParaRPr lang="en-IN"/>
            </a:p>
          </p:txBody>
        </p:sp>
        <p:sp>
          <p:nvSpPr>
            <p:cNvPr id="9" name="Text 6"/>
            <p:cNvSpPr/>
            <p:nvPr/>
          </p:nvSpPr>
          <p:spPr>
            <a:xfrm>
              <a:off x="4049092" y="2706514"/>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Deep Learning (DL)</a:t>
              </a:r>
              <a:endParaRPr lang="en-US" sz="1200" dirty="0"/>
            </a:p>
          </p:txBody>
        </p:sp>
      </p:grpSp>
      <p:grpSp>
        <p:nvGrpSpPr>
          <p:cNvPr id="17" name="Group 16">
            <a:extLst>
              <a:ext uri="{FF2B5EF4-FFF2-40B4-BE49-F238E27FC236}">
                <a16:creationId xmlns:a16="http://schemas.microsoft.com/office/drawing/2014/main" id="{7A72B793-D348-F13A-0B63-BEB98A1BB9D7}"/>
              </a:ext>
            </a:extLst>
          </p:cNvPr>
          <p:cNvGrpSpPr/>
          <p:nvPr/>
        </p:nvGrpSpPr>
        <p:grpSpPr>
          <a:xfrm>
            <a:off x="6348487" y="2582540"/>
            <a:ext cx="2299395" cy="441796"/>
            <a:chOff x="6348487" y="2582540"/>
            <a:chExt cx="2299395" cy="441796"/>
          </a:xfrm>
        </p:grpSpPr>
        <p:sp>
          <p:nvSpPr>
            <p:cNvPr id="10" name="Shape 7"/>
            <p:cNvSpPr/>
            <p:nvPr/>
          </p:nvSpPr>
          <p:spPr>
            <a:xfrm>
              <a:off x="6348487" y="2582540"/>
              <a:ext cx="2299395" cy="441796"/>
            </a:xfrm>
            <a:prstGeom prst="roundRect">
              <a:avLst>
                <a:gd name="adj" fmla="val 4212"/>
              </a:avLst>
            </a:prstGeom>
            <a:solidFill>
              <a:srgbClr val="E9ECF2"/>
            </a:solidFill>
            <a:ln/>
          </p:spPr>
          <p:txBody>
            <a:bodyPr/>
            <a:lstStyle/>
            <a:p>
              <a:endParaRPr lang="en-IN"/>
            </a:p>
          </p:txBody>
        </p:sp>
        <p:sp>
          <p:nvSpPr>
            <p:cNvPr id="11" name="Text 8"/>
            <p:cNvSpPr/>
            <p:nvPr/>
          </p:nvSpPr>
          <p:spPr>
            <a:xfrm>
              <a:off x="6472461" y="2706514"/>
              <a:ext cx="1600572"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Generative AI (GenAI)</a:t>
              </a:r>
              <a:endParaRPr lang="en-US" sz="1200" dirty="0"/>
            </a:p>
          </p:txBody>
        </p:sp>
      </p:grpSp>
      <p:sp>
        <p:nvSpPr>
          <p:cNvPr id="12" name="Text 9"/>
          <p:cNvSpPr/>
          <p:nvPr/>
        </p:nvSpPr>
        <p:spPr>
          <a:xfrm>
            <a:off x="3925119" y="3163863"/>
            <a:ext cx="4722763" cy="198462"/>
          </a:xfrm>
          <a:prstGeom prst="rect">
            <a:avLst/>
          </a:prstGeom>
          <a:noFill/>
          <a:ln/>
        </p:spPr>
        <p:txBody>
          <a:bodyPr wrap="none" lIns="0" tIns="0" rIns="0" bIns="0" rtlCol="0" anchor="t"/>
          <a:lstStyle/>
          <a:p>
            <a:pPr marL="0" indent="0" algn="l">
              <a:lnSpc>
                <a:spcPts val="1550"/>
              </a:lnSpc>
              <a:buNone/>
            </a:pPr>
            <a:endParaRPr lang="en-US" sz="950" dirty="0"/>
          </a:p>
        </p:txBody>
      </p:sp>
      <p:sp>
        <p:nvSpPr>
          <p:cNvPr id="13" name="Text 10"/>
          <p:cNvSpPr/>
          <p:nvPr/>
        </p:nvSpPr>
        <p:spPr>
          <a:xfrm>
            <a:off x="3925119" y="3501851"/>
            <a:ext cx="4722763" cy="198462"/>
          </a:xfrm>
          <a:prstGeom prst="rect">
            <a:avLst/>
          </a:prstGeom>
          <a:noFill/>
          <a:ln/>
        </p:spPr>
        <p:txBody>
          <a:bodyPr wrap="none" lIns="0" tIns="0" rIns="0" bIns="0" rtlCol="0" anchor="t"/>
          <a:lstStyle/>
          <a:p>
            <a:pPr marL="0" indent="0" algn="l">
              <a:lnSpc>
                <a:spcPts val="1550"/>
              </a:lnSpc>
              <a:buNone/>
            </a:pP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718965"/>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Data - The Fuel of AI</a:t>
            </a:r>
            <a:endParaRPr lang="en-US" sz="2400" dirty="0"/>
          </a:p>
        </p:txBody>
      </p:sp>
      <p:sp>
        <p:nvSpPr>
          <p:cNvPr id="4" name="Text 1"/>
          <p:cNvSpPr/>
          <p:nvPr/>
        </p:nvSpPr>
        <p:spPr>
          <a:xfrm>
            <a:off x="3925119" y="2292548"/>
            <a:ext cx="4722763"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Data</a:t>
            </a:r>
            <a:r>
              <a:rPr lang="en-US" sz="1200" dirty="0">
                <a:solidFill>
                  <a:srgbClr val="15213F"/>
                </a:solidFill>
                <a:latin typeface="Roboto" pitchFamily="34" charset="0"/>
                <a:ea typeface="Roboto" pitchFamily="34" charset="-122"/>
                <a:cs typeface="Roboto" pitchFamily="34" charset="-120"/>
              </a:rPr>
              <a:t> is information. It's the raw material that AI systems learn from. Without data, AI has nothing to work with. </a:t>
            </a:r>
            <a:endParaRPr lang="en-US" sz="1200" dirty="0"/>
          </a:p>
        </p:txBody>
      </p:sp>
      <p:sp>
        <p:nvSpPr>
          <p:cNvPr id="5" name="Text 2"/>
          <p:cNvSpPr/>
          <p:nvPr/>
        </p:nvSpPr>
        <p:spPr>
          <a:xfrm>
            <a:off x="3925119" y="2928268"/>
            <a:ext cx="472276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In computing and AI, </a:t>
            </a:r>
            <a:r>
              <a:rPr lang="en-US" sz="1200" b="1" dirty="0">
                <a:solidFill>
                  <a:srgbClr val="15213F"/>
                </a:solidFill>
                <a:latin typeface="Roboto" pitchFamily="34" charset="0"/>
                <a:ea typeface="Roboto" pitchFamily="34" charset="-122"/>
                <a:cs typeface="Roboto" pitchFamily="34" charset="-120"/>
              </a:rPr>
              <a:t>Data</a:t>
            </a:r>
            <a:r>
              <a:rPr lang="en-US" sz="1200" dirty="0">
                <a:solidFill>
                  <a:srgbClr val="15213F"/>
                </a:solidFill>
                <a:latin typeface="Roboto" pitchFamily="34" charset="0"/>
                <a:ea typeface="Roboto" pitchFamily="34" charset="-122"/>
                <a:cs typeface="Roboto" pitchFamily="34" charset="-120"/>
              </a:rPr>
              <a:t> refers to facts, statistics, or pieces of information collected together for reference, analysis, or learning.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865361"/>
            <a:ext cx="2534989"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Types of Data AI Uses</a:t>
            </a:r>
            <a:endParaRPr lang="en-US" sz="1950" dirty="0"/>
          </a:p>
        </p:txBody>
      </p:sp>
      <p:sp>
        <p:nvSpPr>
          <p:cNvPr id="3" name="Shape 1"/>
          <p:cNvSpPr/>
          <p:nvPr/>
        </p:nvSpPr>
        <p:spPr>
          <a:xfrm>
            <a:off x="496119" y="1423467"/>
            <a:ext cx="8151763" cy="2854672"/>
          </a:xfrm>
          <a:prstGeom prst="roundRect">
            <a:avLst>
              <a:gd name="adj" fmla="val 652"/>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428229"/>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1507406"/>
            <a:ext cx="205308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Data Type</a:t>
            </a:r>
            <a:endParaRPr lang="en-US" sz="1200" dirty="0"/>
          </a:p>
        </p:txBody>
      </p:sp>
      <p:sp>
        <p:nvSpPr>
          <p:cNvPr id="6" name="Text 4"/>
          <p:cNvSpPr/>
          <p:nvPr/>
        </p:nvSpPr>
        <p:spPr>
          <a:xfrm>
            <a:off x="2930723" y="1507406"/>
            <a:ext cx="558842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Examples</a:t>
            </a:r>
            <a:endParaRPr lang="en-US" sz="1200" dirty="0"/>
          </a:p>
        </p:txBody>
      </p:sp>
      <p:sp>
        <p:nvSpPr>
          <p:cNvPr id="7" name="Shape 5"/>
          <p:cNvSpPr/>
          <p:nvPr/>
        </p:nvSpPr>
        <p:spPr>
          <a:xfrm>
            <a:off x="500881" y="1834679"/>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929" y="1913855"/>
            <a:ext cx="2053084"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Numbers</a:t>
            </a:r>
            <a:endParaRPr lang="en-US" sz="1200" dirty="0"/>
          </a:p>
        </p:txBody>
      </p:sp>
      <p:sp>
        <p:nvSpPr>
          <p:cNvPr id="9" name="Text 7"/>
          <p:cNvSpPr/>
          <p:nvPr/>
        </p:nvSpPr>
        <p:spPr>
          <a:xfrm>
            <a:off x="2930723" y="1913855"/>
            <a:ext cx="558842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Temperatures, scores, ages, prices, stock values</a:t>
            </a:r>
            <a:endParaRPr lang="en-US" sz="1200" dirty="0"/>
          </a:p>
        </p:txBody>
      </p:sp>
      <p:sp>
        <p:nvSpPr>
          <p:cNvPr id="10" name="Shape 8"/>
          <p:cNvSpPr/>
          <p:nvPr/>
        </p:nvSpPr>
        <p:spPr>
          <a:xfrm>
            <a:off x="500881" y="2241128"/>
            <a:ext cx="8142238" cy="406450"/>
          </a:xfrm>
          <a:prstGeom prst="rect">
            <a:avLst/>
          </a:prstGeom>
          <a:solidFill>
            <a:srgbClr val="FFFFFF">
              <a:alpha val="4000"/>
            </a:srgbClr>
          </a:solidFill>
          <a:ln/>
        </p:spPr>
        <p:txBody>
          <a:bodyPr/>
          <a:lstStyle/>
          <a:p>
            <a:endParaRPr lang="en-IN"/>
          </a:p>
        </p:txBody>
      </p:sp>
      <p:sp>
        <p:nvSpPr>
          <p:cNvPr id="11" name="Text 9"/>
          <p:cNvSpPr/>
          <p:nvPr/>
        </p:nvSpPr>
        <p:spPr>
          <a:xfrm>
            <a:off x="624929" y="2320305"/>
            <a:ext cx="2053084"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Text</a:t>
            </a:r>
            <a:endParaRPr lang="en-US" sz="1200" dirty="0"/>
          </a:p>
        </p:txBody>
      </p:sp>
      <p:sp>
        <p:nvSpPr>
          <p:cNvPr id="12" name="Text 10"/>
          <p:cNvSpPr/>
          <p:nvPr/>
        </p:nvSpPr>
        <p:spPr>
          <a:xfrm>
            <a:off x="2930723" y="2320305"/>
            <a:ext cx="558842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Books, articles, tweets, messages, reviews</a:t>
            </a:r>
            <a:endParaRPr lang="en-US" sz="1200" dirty="0"/>
          </a:p>
        </p:txBody>
      </p:sp>
      <p:sp>
        <p:nvSpPr>
          <p:cNvPr id="13" name="Shape 11"/>
          <p:cNvSpPr/>
          <p:nvPr/>
        </p:nvSpPr>
        <p:spPr>
          <a:xfrm>
            <a:off x="500881" y="2647578"/>
            <a:ext cx="8142238" cy="406450"/>
          </a:xfrm>
          <a:prstGeom prst="rect">
            <a:avLst/>
          </a:prstGeom>
          <a:solidFill>
            <a:srgbClr val="000000">
              <a:alpha val="4000"/>
            </a:srgbClr>
          </a:solidFill>
          <a:ln/>
        </p:spPr>
        <p:txBody>
          <a:bodyPr/>
          <a:lstStyle/>
          <a:p>
            <a:endParaRPr lang="en-IN"/>
          </a:p>
        </p:txBody>
      </p:sp>
      <p:sp>
        <p:nvSpPr>
          <p:cNvPr id="14" name="Text 12"/>
          <p:cNvSpPr/>
          <p:nvPr/>
        </p:nvSpPr>
        <p:spPr>
          <a:xfrm>
            <a:off x="624929" y="2726754"/>
            <a:ext cx="2053084"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Images</a:t>
            </a:r>
            <a:endParaRPr lang="en-US" sz="1200" dirty="0"/>
          </a:p>
        </p:txBody>
      </p:sp>
      <p:sp>
        <p:nvSpPr>
          <p:cNvPr id="15" name="Text 13"/>
          <p:cNvSpPr/>
          <p:nvPr/>
        </p:nvSpPr>
        <p:spPr>
          <a:xfrm>
            <a:off x="2930723" y="2726754"/>
            <a:ext cx="558842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Photos, selfies, drawings, medical X-rays</a:t>
            </a:r>
            <a:endParaRPr lang="en-US" sz="1200" dirty="0"/>
          </a:p>
        </p:txBody>
      </p:sp>
      <p:sp>
        <p:nvSpPr>
          <p:cNvPr id="16" name="Shape 14"/>
          <p:cNvSpPr/>
          <p:nvPr/>
        </p:nvSpPr>
        <p:spPr>
          <a:xfrm>
            <a:off x="500881" y="3054028"/>
            <a:ext cx="8142238" cy="406450"/>
          </a:xfrm>
          <a:prstGeom prst="rect">
            <a:avLst/>
          </a:prstGeom>
          <a:solidFill>
            <a:srgbClr val="FFFFFF">
              <a:alpha val="4000"/>
            </a:srgbClr>
          </a:solidFill>
          <a:ln/>
        </p:spPr>
        <p:txBody>
          <a:bodyPr/>
          <a:lstStyle/>
          <a:p>
            <a:endParaRPr lang="en-IN"/>
          </a:p>
        </p:txBody>
      </p:sp>
      <p:sp>
        <p:nvSpPr>
          <p:cNvPr id="17" name="Text 15"/>
          <p:cNvSpPr/>
          <p:nvPr/>
        </p:nvSpPr>
        <p:spPr>
          <a:xfrm>
            <a:off x="624929" y="3133204"/>
            <a:ext cx="2053084"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Audio</a:t>
            </a:r>
            <a:endParaRPr lang="en-US" sz="1200" dirty="0"/>
          </a:p>
        </p:txBody>
      </p:sp>
      <p:sp>
        <p:nvSpPr>
          <p:cNvPr id="18" name="Text 16"/>
          <p:cNvSpPr/>
          <p:nvPr/>
        </p:nvSpPr>
        <p:spPr>
          <a:xfrm>
            <a:off x="2930723" y="3133204"/>
            <a:ext cx="558842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Voice recordings, songs, podcasts, sounds</a:t>
            </a:r>
            <a:endParaRPr lang="en-US" sz="1200" dirty="0"/>
          </a:p>
        </p:txBody>
      </p:sp>
      <p:sp>
        <p:nvSpPr>
          <p:cNvPr id="19" name="Shape 17"/>
          <p:cNvSpPr/>
          <p:nvPr/>
        </p:nvSpPr>
        <p:spPr>
          <a:xfrm>
            <a:off x="500881" y="3460477"/>
            <a:ext cx="8142238" cy="406450"/>
          </a:xfrm>
          <a:prstGeom prst="rect">
            <a:avLst/>
          </a:prstGeom>
          <a:solidFill>
            <a:srgbClr val="000000">
              <a:alpha val="4000"/>
            </a:srgbClr>
          </a:solidFill>
          <a:ln/>
        </p:spPr>
        <p:txBody>
          <a:bodyPr/>
          <a:lstStyle/>
          <a:p>
            <a:endParaRPr lang="en-IN"/>
          </a:p>
        </p:txBody>
      </p:sp>
      <p:sp>
        <p:nvSpPr>
          <p:cNvPr id="20" name="Text 18"/>
          <p:cNvSpPr/>
          <p:nvPr/>
        </p:nvSpPr>
        <p:spPr>
          <a:xfrm>
            <a:off x="624929" y="3539654"/>
            <a:ext cx="2053084"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Video</a:t>
            </a:r>
            <a:endParaRPr lang="en-US" sz="1200" dirty="0"/>
          </a:p>
        </p:txBody>
      </p:sp>
      <p:sp>
        <p:nvSpPr>
          <p:cNvPr id="21" name="Text 19"/>
          <p:cNvSpPr/>
          <p:nvPr/>
        </p:nvSpPr>
        <p:spPr>
          <a:xfrm>
            <a:off x="2930723" y="3539654"/>
            <a:ext cx="558842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Movies, TikToks, YouTube clips, security footage</a:t>
            </a:r>
            <a:endParaRPr lang="en-US" sz="1200" dirty="0"/>
          </a:p>
        </p:txBody>
      </p:sp>
      <p:sp>
        <p:nvSpPr>
          <p:cNvPr id="22" name="Shape 20"/>
          <p:cNvSpPr/>
          <p:nvPr/>
        </p:nvSpPr>
        <p:spPr>
          <a:xfrm>
            <a:off x="500881" y="3866927"/>
            <a:ext cx="8142238" cy="406450"/>
          </a:xfrm>
          <a:prstGeom prst="rect">
            <a:avLst/>
          </a:prstGeom>
          <a:solidFill>
            <a:srgbClr val="FFFFFF">
              <a:alpha val="4000"/>
            </a:srgbClr>
          </a:solidFill>
          <a:ln/>
        </p:spPr>
        <p:txBody>
          <a:bodyPr/>
          <a:lstStyle/>
          <a:p>
            <a:endParaRPr lang="en-IN"/>
          </a:p>
        </p:txBody>
      </p:sp>
      <p:sp>
        <p:nvSpPr>
          <p:cNvPr id="23" name="Text 21"/>
          <p:cNvSpPr/>
          <p:nvPr/>
        </p:nvSpPr>
        <p:spPr>
          <a:xfrm>
            <a:off x="624929" y="3946103"/>
            <a:ext cx="2053084"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Sensor Data</a:t>
            </a:r>
            <a:endParaRPr lang="en-US" sz="1200" dirty="0"/>
          </a:p>
        </p:txBody>
      </p:sp>
      <p:sp>
        <p:nvSpPr>
          <p:cNvPr id="24" name="Text 22"/>
          <p:cNvSpPr/>
          <p:nvPr/>
        </p:nvSpPr>
        <p:spPr>
          <a:xfrm>
            <a:off x="2930723" y="3946103"/>
            <a:ext cx="558842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GPS location, motion, temperature readings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150144"/>
            <a:ext cx="4914156"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You Create Data Every Single Day!</a:t>
            </a:r>
            <a:endParaRPr lang="en-US" sz="2400" dirty="0"/>
          </a:p>
        </p:txBody>
      </p:sp>
      <p:grpSp>
        <p:nvGrpSpPr>
          <p:cNvPr id="19" name="Group 18">
            <a:extLst>
              <a:ext uri="{FF2B5EF4-FFF2-40B4-BE49-F238E27FC236}">
                <a16:creationId xmlns:a16="http://schemas.microsoft.com/office/drawing/2014/main" id="{5BE54D6E-8B5B-FEAA-18C0-D946B05174DD}"/>
              </a:ext>
            </a:extLst>
          </p:cNvPr>
          <p:cNvGrpSpPr/>
          <p:nvPr/>
        </p:nvGrpSpPr>
        <p:grpSpPr>
          <a:xfrm>
            <a:off x="496119" y="1785714"/>
            <a:ext cx="4013895" cy="446559"/>
            <a:chOff x="496119" y="1785714"/>
            <a:chExt cx="4013895" cy="446559"/>
          </a:xfrm>
        </p:grpSpPr>
        <p:sp>
          <p:nvSpPr>
            <p:cNvPr id="3" name="Shape 1"/>
            <p:cNvSpPr/>
            <p:nvPr/>
          </p:nvSpPr>
          <p:spPr>
            <a:xfrm>
              <a:off x="496119" y="1785714"/>
              <a:ext cx="4013895" cy="446559"/>
            </a:xfrm>
            <a:prstGeom prst="roundRect">
              <a:avLst>
                <a:gd name="adj" fmla="val 4167"/>
              </a:avLst>
            </a:prstGeom>
            <a:solidFill>
              <a:srgbClr val="E9ECF2"/>
            </a:solidFill>
            <a:ln/>
          </p:spPr>
          <p:txBody>
            <a:bodyPr/>
            <a:lstStyle/>
            <a:p>
              <a:endParaRPr lang="en-IN"/>
            </a:p>
          </p:txBody>
        </p:sp>
        <p:sp>
          <p:nvSpPr>
            <p:cNvPr id="4" name="Text 2"/>
            <p:cNvSpPr/>
            <p:nvPr/>
          </p:nvSpPr>
          <p:spPr>
            <a:xfrm>
              <a:off x="620092" y="1909688"/>
              <a:ext cx="1898154" cy="198611"/>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Like a video on TikTok</a:t>
              </a:r>
              <a:endParaRPr lang="en-US" sz="1200" dirty="0"/>
            </a:p>
          </p:txBody>
        </p:sp>
      </p:grpSp>
      <p:grpSp>
        <p:nvGrpSpPr>
          <p:cNvPr id="26" name="Group 25">
            <a:extLst>
              <a:ext uri="{FF2B5EF4-FFF2-40B4-BE49-F238E27FC236}">
                <a16:creationId xmlns:a16="http://schemas.microsoft.com/office/drawing/2014/main" id="{843B00B9-54E9-007B-CA27-69513EF5258B}"/>
              </a:ext>
            </a:extLst>
          </p:cNvPr>
          <p:cNvGrpSpPr/>
          <p:nvPr/>
        </p:nvGrpSpPr>
        <p:grpSpPr>
          <a:xfrm>
            <a:off x="4633987" y="1785714"/>
            <a:ext cx="4013895" cy="446559"/>
            <a:chOff x="4633987" y="1785714"/>
            <a:chExt cx="4013895" cy="446559"/>
          </a:xfrm>
        </p:grpSpPr>
        <p:sp>
          <p:nvSpPr>
            <p:cNvPr id="5" name="Shape 3"/>
            <p:cNvSpPr/>
            <p:nvPr/>
          </p:nvSpPr>
          <p:spPr>
            <a:xfrm>
              <a:off x="4633987" y="1785714"/>
              <a:ext cx="4013895" cy="446559"/>
            </a:xfrm>
            <a:prstGeom prst="roundRect">
              <a:avLst>
                <a:gd name="adj" fmla="val 4167"/>
              </a:avLst>
            </a:prstGeom>
            <a:solidFill>
              <a:srgbClr val="E9ECF2"/>
            </a:solidFill>
            <a:ln/>
          </p:spPr>
          <p:txBody>
            <a:bodyPr/>
            <a:lstStyle/>
            <a:p>
              <a:endParaRPr lang="en-IN"/>
            </a:p>
          </p:txBody>
        </p:sp>
        <p:sp>
          <p:nvSpPr>
            <p:cNvPr id="6" name="Text 4"/>
            <p:cNvSpPr/>
            <p:nvPr/>
          </p:nvSpPr>
          <p:spPr>
            <a:xfrm>
              <a:off x="4757961" y="1909688"/>
              <a:ext cx="1550566" cy="198611"/>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Search on Google</a:t>
              </a:r>
              <a:endParaRPr lang="en-US" sz="1200" dirty="0"/>
            </a:p>
          </p:txBody>
        </p:sp>
      </p:grpSp>
      <p:grpSp>
        <p:nvGrpSpPr>
          <p:cNvPr id="20" name="Group 19">
            <a:extLst>
              <a:ext uri="{FF2B5EF4-FFF2-40B4-BE49-F238E27FC236}">
                <a16:creationId xmlns:a16="http://schemas.microsoft.com/office/drawing/2014/main" id="{27AEA095-E6DA-81C8-D2EC-21AF2D4FE729}"/>
              </a:ext>
            </a:extLst>
          </p:cNvPr>
          <p:cNvGrpSpPr/>
          <p:nvPr/>
        </p:nvGrpSpPr>
        <p:grpSpPr>
          <a:xfrm>
            <a:off x="496119" y="2356247"/>
            <a:ext cx="4013895" cy="446559"/>
            <a:chOff x="496119" y="2356247"/>
            <a:chExt cx="4013895" cy="446559"/>
          </a:xfrm>
        </p:grpSpPr>
        <p:sp>
          <p:nvSpPr>
            <p:cNvPr id="7" name="Shape 5"/>
            <p:cNvSpPr/>
            <p:nvPr/>
          </p:nvSpPr>
          <p:spPr>
            <a:xfrm>
              <a:off x="496119" y="2356247"/>
              <a:ext cx="4013895" cy="446559"/>
            </a:xfrm>
            <a:prstGeom prst="roundRect">
              <a:avLst>
                <a:gd name="adj" fmla="val 4167"/>
              </a:avLst>
            </a:prstGeom>
            <a:solidFill>
              <a:srgbClr val="E9ECF2"/>
            </a:solidFill>
            <a:ln/>
          </p:spPr>
          <p:txBody>
            <a:bodyPr/>
            <a:lstStyle/>
            <a:p>
              <a:endParaRPr lang="en-IN" dirty="0"/>
            </a:p>
          </p:txBody>
        </p:sp>
        <p:sp>
          <p:nvSpPr>
            <p:cNvPr id="8" name="Text 6"/>
            <p:cNvSpPr/>
            <p:nvPr/>
          </p:nvSpPr>
          <p:spPr>
            <a:xfrm>
              <a:off x="620092" y="2480221"/>
              <a:ext cx="1607865" cy="198611"/>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Ask Siri a question</a:t>
              </a:r>
              <a:endParaRPr lang="en-US" sz="1200" dirty="0"/>
            </a:p>
          </p:txBody>
        </p:sp>
      </p:grpSp>
      <p:grpSp>
        <p:nvGrpSpPr>
          <p:cNvPr id="25" name="Group 24">
            <a:extLst>
              <a:ext uri="{FF2B5EF4-FFF2-40B4-BE49-F238E27FC236}">
                <a16:creationId xmlns:a16="http://schemas.microsoft.com/office/drawing/2014/main" id="{F048D8FE-9305-C83F-4B7D-EFA172E2BD6B}"/>
              </a:ext>
            </a:extLst>
          </p:cNvPr>
          <p:cNvGrpSpPr/>
          <p:nvPr/>
        </p:nvGrpSpPr>
        <p:grpSpPr>
          <a:xfrm>
            <a:off x="4633987" y="2356247"/>
            <a:ext cx="4013895" cy="446559"/>
            <a:chOff x="4633987" y="2356247"/>
            <a:chExt cx="4013895" cy="446559"/>
          </a:xfrm>
        </p:grpSpPr>
        <p:sp>
          <p:nvSpPr>
            <p:cNvPr id="9" name="Shape 7"/>
            <p:cNvSpPr/>
            <p:nvPr/>
          </p:nvSpPr>
          <p:spPr>
            <a:xfrm>
              <a:off x="4633987" y="2356247"/>
              <a:ext cx="4013895" cy="446559"/>
            </a:xfrm>
            <a:prstGeom prst="roundRect">
              <a:avLst>
                <a:gd name="adj" fmla="val 4167"/>
              </a:avLst>
            </a:prstGeom>
            <a:solidFill>
              <a:srgbClr val="E9ECF2"/>
            </a:solidFill>
            <a:ln/>
          </p:spPr>
          <p:txBody>
            <a:bodyPr/>
            <a:lstStyle/>
            <a:p>
              <a:endParaRPr lang="en-IN"/>
            </a:p>
          </p:txBody>
        </p:sp>
        <p:sp>
          <p:nvSpPr>
            <p:cNvPr id="10" name="Text 8"/>
            <p:cNvSpPr/>
            <p:nvPr/>
          </p:nvSpPr>
          <p:spPr>
            <a:xfrm>
              <a:off x="4757961" y="2480221"/>
              <a:ext cx="1550566" cy="198611"/>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Take a photo</a:t>
              </a:r>
              <a:endParaRPr lang="en-US" sz="1200" dirty="0"/>
            </a:p>
          </p:txBody>
        </p:sp>
      </p:grpSp>
      <p:grpSp>
        <p:nvGrpSpPr>
          <p:cNvPr id="21" name="Group 20">
            <a:extLst>
              <a:ext uri="{FF2B5EF4-FFF2-40B4-BE49-F238E27FC236}">
                <a16:creationId xmlns:a16="http://schemas.microsoft.com/office/drawing/2014/main" id="{60C78C3C-BECE-90BD-F991-2BCE36475FBF}"/>
              </a:ext>
            </a:extLst>
          </p:cNvPr>
          <p:cNvGrpSpPr/>
          <p:nvPr/>
        </p:nvGrpSpPr>
        <p:grpSpPr>
          <a:xfrm>
            <a:off x="496119" y="2926779"/>
            <a:ext cx="4013895" cy="446559"/>
            <a:chOff x="496119" y="2926779"/>
            <a:chExt cx="4013895" cy="446559"/>
          </a:xfrm>
        </p:grpSpPr>
        <p:sp>
          <p:nvSpPr>
            <p:cNvPr id="11" name="Shape 9"/>
            <p:cNvSpPr/>
            <p:nvPr/>
          </p:nvSpPr>
          <p:spPr>
            <a:xfrm>
              <a:off x="496119" y="2926779"/>
              <a:ext cx="4013895" cy="446559"/>
            </a:xfrm>
            <a:prstGeom prst="roundRect">
              <a:avLst>
                <a:gd name="adj" fmla="val 4167"/>
              </a:avLst>
            </a:prstGeom>
            <a:solidFill>
              <a:srgbClr val="E9ECF2"/>
            </a:solidFill>
            <a:ln/>
          </p:spPr>
          <p:txBody>
            <a:bodyPr/>
            <a:lstStyle/>
            <a:p>
              <a:endParaRPr lang="en-IN"/>
            </a:p>
          </p:txBody>
        </p:sp>
        <p:sp>
          <p:nvSpPr>
            <p:cNvPr id="12" name="Text 10"/>
            <p:cNvSpPr/>
            <p:nvPr/>
          </p:nvSpPr>
          <p:spPr>
            <a:xfrm>
              <a:off x="620092" y="3050753"/>
              <a:ext cx="1937296" cy="198611"/>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Heart a song on Spotify</a:t>
              </a:r>
              <a:endParaRPr lang="en-US" sz="1200" dirty="0"/>
            </a:p>
          </p:txBody>
        </p:sp>
      </p:grpSp>
      <p:grpSp>
        <p:nvGrpSpPr>
          <p:cNvPr id="24" name="Group 23">
            <a:extLst>
              <a:ext uri="{FF2B5EF4-FFF2-40B4-BE49-F238E27FC236}">
                <a16:creationId xmlns:a16="http://schemas.microsoft.com/office/drawing/2014/main" id="{F4F0D6B6-E3FE-4C38-3F82-F5DBEDBDAC22}"/>
              </a:ext>
            </a:extLst>
          </p:cNvPr>
          <p:cNvGrpSpPr/>
          <p:nvPr/>
        </p:nvGrpSpPr>
        <p:grpSpPr>
          <a:xfrm>
            <a:off x="4633987" y="2926779"/>
            <a:ext cx="4013895" cy="446559"/>
            <a:chOff x="4633987" y="2926779"/>
            <a:chExt cx="4013895" cy="446559"/>
          </a:xfrm>
        </p:grpSpPr>
        <p:sp>
          <p:nvSpPr>
            <p:cNvPr id="13" name="Shape 11"/>
            <p:cNvSpPr/>
            <p:nvPr/>
          </p:nvSpPr>
          <p:spPr>
            <a:xfrm>
              <a:off x="4633987" y="2926779"/>
              <a:ext cx="4013895" cy="446559"/>
            </a:xfrm>
            <a:prstGeom prst="roundRect">
              <a:avLst>
                <a:gd name="adj" fmla="val 4167"/>
              </a:avLst>
            </a:prstGeom>
            <a:solidFill>
              <a:srgbClr val="E9ECF2"/>
            </a:solidFill>
            <a:ln/>
          </p:spPr>
          <p:txBody>
            <a:bodyPr/>
            <a:lstStyle/>
            <a:p>
              <a:endParaRPr lang="en-IN"/>
            </a:p>
          </p:txBody>
        </p:sp>
        <p:sp>
          <p:nvSpPr>
            <p:cNvPr id="14" name="Text 12"/>
            <p:cNvSpPr/>
            <p:nvPr/>
          </p:nvSpPr>
          <p:spPr>
            <a:xfrm>
              <a:off x="4757961" y="3050753"/>
              <a:ext cx="2213967" cy="198611"/>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Buy something on Amazon</a:t>
              </a:r>
              <a:endParaRPr lang="en-US" sz="1200" dirty="0"/>
            </a:p>
          </p:txBody>
        </p:sp>
      </p:grpSp>
      <p:grpSp>
        <p:nvGrpSpPr>
          <p:cNvPr id="22" name="Group 21">
            <a:extLst>
              <a:ext uri="{FF2B5EF4-FFF2-40B4-BE49-F238E27FC236}">
                <a16:creationId xmlns:a16="http://schemas.microsoft.com/office/drawing/2014/main" id="{04DFD577-7894-5EB0-AA9A-5DD010C21988}"/>
              </a:ext>
            </a:extLst>
          </p:cNvPr>
          <p:cNvGrpSpPr/>
          <p:nvPr/>
        </p:nvGrpSpPr>
        <p:grpSpPr>
          <a:xfrm>
            <a:off x="496119" y="3497312"/>
            <a:ext cx="4013895" cy="496044"/>
            <a:chOff x="496119" y="3497312"/>
            <a:chExt cx="4013895" cy="496044"/>
          </a:xfrm>
        </p:grpSpPr>
        <p:sp>
          <p:nvSpPr>
            <p:cNvPr id="15" name="Shape 13"/>
            <p:cNvSpPr/>
            <p:nvPr/>
          </p:nvSpPr>
          <p:spPr>
            <a:xfrm>
              <a:off x="496119" y="3497312"/>
              <a:ext cx="4013895" cy="496044"/>
            </a:xfrm>
            <a:prstGeom prst="roundRect">
              <a:avLst>
                <a:gd name="adj" fmla="val 3751"/>
              </a:avLst>
            </a:prstGeom>
            <a:solidFill>
              <a:srgbClr val="E9ECF2"/>
            </a:solidFill>
            <a:ln/>
          </p:spPr>
          <p:txBody>
            <a:bodyPr/>
            <a:lstStyle/>
            <a:p>
              <a:endParaRPr lang="en-IN"/>
            </a:p>
          </p:txBody>
        </p:sp>
        <p:sp>
          <p:nvSpPr>
            <p:cNvPr id="16" name="Text 14"/>
            <p:cNvSpPr/>
            <p:nvPr/>
          </p:nvSpPr>
          <p:spPr>
            <a:xfrm>
              <a:off x="620092" y="3621286"/>
              <a:ext cx="1655564" cy="198611"/>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Share your location</a:t>
              </a:r>
              <a:endParaRPr lang="en-US" sz="1200" dirty="0"/>
            </a:p>
          </p:txBody>
        </p:sp>
      </p:grpSp>
      <p:grpSp>
        <p:nvGrpSpPr>
          <p:cNvPr id="23" name="Group 22">
            <a:extLst>
              <a:ext uri="{FF2B5EF4-FFF2-40B4-BE49-F238E27FC236}">
                <a16:creationId xmlns:a16="http://schemas.microsoft.com/office/drawing/2014/main" id="{B4968EA6-AA5D-BAFA-A64F-55CDA1F0F9EC}"/>
              </a:ext>
            </a:extLst>
          </p:cNvPr>
          <p:cNvGrpSpPr/>
          <p:nvPr/>
        </p:nvGrpSpPr>
        <p:grpSpPr>
          <a:xfrm>
            <a:off x="4633987" y="3497312"/>
            <a:ext cx="4013895" cy="496044"/>
            <a:chOff x="4633987" y="3497312"/>
            <a:chExt cx="4013895" cy="496044"/>
          </a:xfrm>
        </p:grpSpPr>
        <p:sp>
          <p:nvSpPr>
            <p:cNvPr id="17" name="Shape 15"/>
            <p:cNvSpPr/>
            <p:nvPr/>
          </p:nvSpPr>
          <p:spPr>
            <a:xfrm>
              <a:off x="4633987" y="3497312"/>
              <a:ext cx="4013895" cy="496044"/>
            </a:xfrm>
            <a:prstGeom prst="roundRect">
              <a:avLst>
                <a:gd name="adj" fmla="val 3751"/>
              </a:avLst>
            </a:prstGeom>
            <a:solidFill>
              <a:srgbClr val="E9ECF2"/>
            </a:solidFill>
            <a:ln/>
          </p:spPr>
          <p:txBody>
            <a:bodyPr/>
            <a:lstStyle/>
            <a:p>
              <a:endParaRPr lang="en-IN"/>
            </a:p>
          </p:txBody>
        </p:sp>
        <p:sp>
          <p:nvSpPr>
            <p:cNvPr id="18" name="Text 16"/>
            <p:cNvSpPr/>
            <p:nvPr/>
          </p:nvSpPr>
          <p:spPr>
            <a:xfrm>
              <a:off x="4757961" y="3621286"/>
              <a:ext cx="3765947"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Scroll through Instagram</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978768"/>
            <a:ext cx="5369123"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The Most Important Rule About Data</a:t>
            </a:r>
            <a:endParaRPr lang="en-US" sz="2400" dirty="0"/>
          </a:p>
        </p:txBody>
      </p:sp>
      <p:sp>
        <p:nvSpPr>
          <p:cNvPr id="3" name="Text 1"/>
          <p:cNvSpPr/>
          <p:nvPr/>
        </p:nvSpPr>
        <p:spPr>
          <a:xfrm>
            <a:off x="496119" y="1552352"/>
            <a:ext cx="6177632" cy="534888"/>
          </a:xfrm>
          <a:prstGeom prst="rect">
            <a:avLst/>
          </a:prstGeom>
          <a:noFill/>
          <a:ln/>
        </p:spPr>
        <p:txBody>
          <a:bodyPr wrap="none" lIns="0" tIns="0" rIns="0" bIns="0" rtlCol="0" anchor="t"/>
          <a:lstStyle/>
          <a:p>
            <a:pPr marL="0" indent="0" algn="l">
              <a:lnSpc>
                <a:spcPts val="4200"/>
              </a:lnSpc>
              <a:buNone/>
            </a:pPr>
            <a:r>
              <a:rPr lang="en-US" sz="3350" dirty="0">
                <a:solidFill>
                  <a:srgbClr val="3257B8"/>
                </a:solidFill>
                <a:latin typeface="Roboto Slab" pitchFamily="34" charset="0"/>
                <a:ea typeface="Roboto Slab" pitchFamily="34" charset="-122"/>
                <a:cs typeface="Roboto Slab" pitchFamily="34" charset="-120"/>
              </a:rPr>
              <a:t>Garbage In, Garbage Out (GIGO)</a:t>
            </a:r>
            <a:endParaRPr lang="en-US" sz="3350" dirty="0"/>
          </a:p>
        </p:txBody>
      </p:sp>
      <p:sp>
        <p:nvSpPr>
          <p:cNvPr id="4" name="Text 2"/>
          <p:cNvSpPr/>
          <p:nvPr/>
        </p:nvSpPr>
        <p:spPr>
          <a:xfrm>
            <a:off x="496119" y="2273275"/>
            <a:ext cx="3026643"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EXAMPLES OF BAD DATA</a:t>
            </a:r>
            <a:endParaRPr lang="en-US" sz="1950" dirty="0"/>
          </a:p>
        </p:txBody>
      </p:sp>
      <p:grpSp>
        <p:nvGrpSpPr>
          <p:cNvPr id="15" name="Group 14">
            <a:extLst>
              <a:ext uri="{FF2B5EF4-FFF2-40B4-BE49-F238E27FC236}">
                <a16:creationId xmlns:a16="http://schemas.microsoft.com/office/drawing/2014/main" id="{EF70E071-6BF0-61FC-D730-597AF96768B4}"/>
              </a:ext>
            </a:extLst>
          </p:cNvPr>
          <p:cNvGrpSpPr/>
          <p:nvPr/>
        </p:nvGrpSpPr>
        <p:grpSpPr>
          <a:xfrm>
            <a:off x="496119" y="2769394"/>
            <a:ext cx="2634555" cy="635645"/>
            <a:chOff x="496119" y="2769394"/>
            <a:chExt cx="2634555" cy="635645"/>
          </a:xfrm>
        </p:grpSpPr>
        <p:sp>
          <p:nvSpPr>
            <p:cNvPr id="5" name="Shape 3"/>
            <p:cNvSpPr/>
            <p:nvPr/>
          </p:nvSpPr>
          <p:spPr>
            <a:xfrm>
              <a:off x="496119" y="2769394"/>
              <a:ext cx="2634555" cy="635645"/>
            </a:xfrm>
            <a:prstGeom prst="roundRect">
              <a:avLst>
                <a:gd name="adj" fmla="val 2927"/>
              </a:avLst>
            </a:prstGeom>
            <a:solidFill>
              <a:srgbClr val="E9ECF2"/>
            </a:solidFill>
            <a:ln/>
          </p:spPr>
          <p:txBody>
            <a:bodyPr/>
            <a:lstStyle/>
            <a:p>
              <a:endParaRPr lang="en-IN"/>
            </a:p>
          </p:txBody>
        </p:sp>
        <p:sp>
          <p:nvSpPr>
            <p:cNvPr id="6" name="Text 4"/>
            <p:cNvSpPr/>
            <p:nvPr/>
          </p:nvSpPr>
          <p:spPr>
            <a:xfrm>
              <a:off x="620092" y="2893368"/>
              <a:ext cx="1942207"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Only photos of brown dogs</a:t>
              </a:r>
              <a:endParaRPr lang="en-US" sz="1200" dirty="0"/>
            </a:p>
          </p:txBody>
        </p:sp>
      </p:grpSp>
      <p:grpSp>
        <p:nvGrpSpPr>
          <p:cNvPr id="16" name="Group 15">
            <a:extLst>
              <a:ext uri="{FF2B5EF4-FFF2-40B4-BE49-F238E27FC236}">
                <a16:creationId xmlns:a16="http://schemas.microsoft.com/office/drawing/2014/main" id="{D0E1BABE-FFD7-CE81-FBF2-E6E7210C3B98}"/>
              </a:ext>
            </a:extLst>
          </p:cNvPr>
          <p:cNvGrpSpPr/>
          <p:nvPr/>
        </p:nvGrpSpPr>
        <p:grpSpPr>
          <a:xfrm>
            <a:off x="3254648" y="2769394"/>
            <a:ext cx="2634630" cy="635645"/>
            <a:chOff x="3254648" y="2769394"/>
            <a:chExt cx="2634630" cy="635645"/>
          </a:xfrm>
        </p:grpSpPr>
        <p:sp>
          <p:nvSpPr>
            <p:cNvPr id="7" name="Shape 5"/>
            <p:cNvSpPr/>
            <p:nvPr/>
          </p:nvSpPr>
          <p:spPr>
            <a:xfrm>
              <a:off x="3254648" y="2769394"/>
              <a:ext cx="2634630" cy="635645"/>
            </a:xfrm>
            <a:prstGeom prst="roundRect">
              <a:avLst>
                <a:gd name="adj" fmla="val 2927"/>
              </a:avLst>
            </a:prstGeom>
            <a:solidFill>
              <a:srgbClr val="E9ECF2"/>
            </a:solidFill>
            <a:ln/>
          </p:spPr>
          <p:txBody>
            <a:bodyPr/>
            <a:lstStyle/>
            <a:p>
              <a:endParaRPr lang="en-IN"/>
            </a:p>
          </p:txBody>
        </p:sp>
        <p:sp>
          <p:nvSpPr>
            <p:cNvPr id="8" name="Text 6"/>
            <p:cNvSpPr/>
            <p:nvPr/>
          </p:nvSpPr>
          <p:spPr>
            <a:xfrm>
              <a:off x="3378622" y="2893368"/>
              <a:ext cx="2386682" cy="387697"/>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Trained only on sunny day photos</a:t>
              </a:r>
              <a:endParaRPr lang="en-US" sz="1200" dirty="0"/>
            </a:p>
          </p:txBody>
        </p:sp>
      </p:grpSp>
      <p:grpSp>
        <p:nvGrpSpPr>
          <p:cNvPr id="17" name="Group 16">
            <a:extLst>
              <a:ext uri="{FF2B5EF4-FFF2-40B4-BE49-F238E27FC236}">
                <a16:creationId xmlns:a16="http://schemas.microsoft.com/office/drawing/2014/main" id="{63057DD0-63D1-A4B7-916F-3F90934F4473}"/>
              </a:ext>
            </a:extLst>
          </p:cNvPr>
          <p:cNvGrpSpPr/>
          <p:nvPr/>
        </p:nvGrpSpPr>
        <p:grpSpPr>
          <a:xfrm>
            <a:off x="6013252" y="2769394"/>
            <a:ext cx="2634555" cy="635645"/>
            <a:chOff x="6013252" y="2769394"/>
            <a:chExt cx="2634555" cy="635645"/>
          </a:xfrm>
        </p:grpSpPr>
        <p:sp>
          <p:nvSpPr>
            <p:cNvPr id="9" name="Shape 7"/>
            <p:cNvSpPr/>
            <p:nvPr/>
          </p:nvSpPr>
          <p:spPr>
            <a:xfrm>
              <a:off x="6013252" y="2769394"/>
              <a:ext cx="2634555" cy="635645"/>
            </a:xfrm>
            <a:prstGeom prst="roundRect">
              <a:avLst>
                <a:gd name="adj" fmla="val 2927"/>
              </a:avLst>
            </a:prstGeom>
            <a:solidFill>
              <a:srgbClr val="E9ECF2"/>
            </a:solidFill>
            <a:ln/>
          </p:spPr>
          <p:txBody>
            <a:bodyPr/>
            <a:lstStyle/>
            <a:p>
              <a:endParaRPr lang="en-IN"/>
            </a:p>
          </p:txBody>
        </p:sp>
        <p:sp>
          <p:nvSpPr>
            <p:cNvPr id="10" name="Text 8"/>
            <p:cNvSpPr/>
            <p:nvPr/>
          </p:nvSpPr>
          <p:spPr>
            <a:xfrm>
              <a:off x="6137225" y="2893368"/>
              <a:ext cx="1967582"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Only text from one country</a:t>
              </a:r>
              <a:endParaRPr lang="en-US" sz="1200" dirty="0"/>
            </a:p>
          </p:txBody>
        </p:sp>
      </p:grpSp>
      <p:grpSp>
        <p:nvGrpSpPr>
          <p:cNvPr id="18" name="Group 17">
            <a:extLst>
              <a:ext uri="{FF2B5EF4-FFF2-40B4-BE49-F238E27FC236}">
                <a16:creationId xmlns:a16="http://schemas.microsoft.com/office/drawing/2014/main" id="{9B091A88-2144-D47F-B725-90DCADA8A39F}"/>
              </a:ext>
            </a:extLst>
          </p:cNvPr>
          <p:cNvGrpSpPr/>
          <p:nvPr/>
        </p:nvGrpSpPr>
        <p:grpSpPr>
          <a:xfrm>
            <a:off x="496119" y="3529013"/>
            <a:ext cx="4013820" cy="635645"/>
            <a:chOff x="496119" y="3529013"/>
            <a:chExt cx="4013820" cy="635645"/>
          </a:xfrm>
        </p:grpSpPr>
        <p:sp>
          <p:nvSpPr>
            <p:cNvPr id="11" name="Shape 9"/>
            <p:cNvSpPr/>
            <p:nvPr/>
          </p:nvSpPr>
          <p:spPr>
            <a:xfrm>
              <a:off x="496119" y="3529013"/>
              <a:ext cx="4013820" cy="635645"/>
            </a:xfrm>
            <a:prstGeom prst="roundRect">
              <a:avLst>
                <a:gd name="adj" fmla="val 2927"/>
              </a:avLst>
            </a:prstGeom>
            <a:solidFill>
              <a:srgbClr val="E9ECF2"/>
            </a:solidFill>
            <a:ln/>
          </p:spPr>
          <p:txBody>
            <a:bodyPr/>
            <a:lstStyle/>
            <a:p>
              <a:endParaRPr lang="en-IN"/>
            </a:p>
          </p:txBody>
        </p:sp>
        <p:sp>
          <p:nvSpPr>
            <p:cNvPr id="12" name="Text 10"/>
            <p:cNvSpPr/>
            <p:nvPr/>
          </p:nvSpPr>
          <p:spPr>
            <a:xfrm>
              <a:off x="620092" y="3652986"/>
              <a:ext cx="3765872" cy="387697"/>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Teaching a translation app only with formal textbooks</a:t>
              </a:r>
              <a:endParaRPr lang="en-US" sz="1200" dirty="0"/>
            </a:p>
          </p:txBody>
        </p:sp>
      </p:grpSp>
      <p:grpSp>
        <p:nvGrpSpPr>
          <p:cNvPr id="19" name="Group 18">
            <a:extLst>
              <a:ext uri="{FF2B5EF4-FFF2-40B4-BE49-F238E27FC236}">
                <a16:creationId xmlns:a16="http://schemas.microsoft.com/office/drawing/2014/main" id="{912E741C-CB5D-7A58-9396-FD5A0EAE2923}"/>
              </a:ext>
            </a:extLst>
          </p:cNvPr>
          <p:cNvGrpSpPr/>
          <p:nvPr/>
        </p:nvGrpSpPr>
        <p:grpSpPr>
          <a:xfrm>
            <a:off x="4633913" y="3529013"/>
            <a:ext cx="4013895" cy="635645"/>
            <a:chOff x="4633913" y="3529013"/>
            <a:chExt cx="4013895" cy="635645"/>
          </a:xfrm>
        </p:grpSpPr>
        <p:sp>
          <p:nvSpPr>
            <p:cNvPr id="13" name="Shape 11"/>
            <p:cNvSpPr/>
            <p:nvPr/>
          </p:nvSpPr>
          <p:spPr>
            <a:xfrm>
              <a:off x="4633913" y="3529013"/>
              <a:ext cx="4013895" cy="635645"/>
            </a:xfrm>
            <a:prstGeom prst="roundRect">
              <a:avLst>
                <a:gd name="adj" fmla="val 2927"/>
              </a:avLst>
            </a:prstGeom>
            <a:solidFill>
              <a:srgbClr val="E9ECF2"/>
            </a:solidFill>
            <a:ln/>
          </p:spPr>
          <p:txBody>
            <a:bodyPr/>
            <a:lstStyle/>
            <a:p>
              <a:endParaRPr lang="en-IN"/>
            </a:p>
          </p:txBody>
        </p:sp>
        <p:sp>
          <p:nvSpPr>
            <p:cNvPr id="14" name="Text 12"/>
            <p:cNvSpPr/>
            <p:nvPr/>
          </p:nvSpPr>
          <p:spPr>
            <a:xfrm>
              <a:off x="4757886" y="3652986"/>
              <a:ext cx="3765947" cy="387697"/>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Training a movie-recommendation AI only on action films</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411584"/>
            <a:ext cx="4242867" cy="363141"/>
          </a:xfrm>
          <a:prstGeom prst="rect">
            <a:avLst/>
          </a:prstGeom>
          <a:noFill/>
          <a:ln/>
        </p:spPr>
        <p:txBody>
          <a:bodyPr wrap="none" lIns="0" tIns="0" rIns="0" bIns="0" rtlCol="0" anchor="t"/>
          <a:lstStyle/>
          <a:p>
            <a:pPr marL="0" indent="0" algn="l">
              <a:lnSpc>
                <a:spcPts val="2700"/>
              </a:lnSpc>
              <a:buNone/>
            </a:pPr>
            <a:r>
              <a:rPr lang="en-US" sz="2150" dirty="0">
                <a:solidFill>
                  <a:srgbClr val="000000"/>
                </a:solidFill>
                <a:latin typeface="Roboto Slab" pitchFamily="34" charset="0"/>
                <a:ea typeface="Roboto Slab" pitchFamily="34" charset="-122"/>
                <a:cs typeface="Roboto Slab" pitchFamily="34" charset="-120"/>
              </a:rPr>
              <a:t>🎮</a:t>
            </a:r>
            <a:r>
              <a:rPr lang="en-US" sz="2150" dirty="0">
                <a:solidFill>
                  <a:srgbClr val="3257B8"/>
                </a:solidFill>
                <a:latin typeface="Roboto Slab" pitchFamily="34" charset="0"/>
                <a:ea typeface="Roboto Slab" pitchFamily="34" charset="-122"/>
                <a:cs typeface="Roboto Slab" pitchFamily="34" charset="-120"/>
              </a:rPr>
              <a:t> Mini Activity : Data Detective</a:t>
            </a:r>
            <a:endParaRPr lang="en-US" sz="2150" dirty="0"/>
          </a:p>
        </p:txBody>
      </p:sp>
      <p:sp>
        <p:nvSpPr>
          <p:cNvPr id="3" name="Text 1"/>
          <p:cNvSpPr/>
          <p:nvPr/>
        </p:nvSpPr>
        <p:spPr>
          <a:xfrm>
            <a:off x="496119" y="975643"/>
            <a:ext cx="8151763"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Read each item and write down whether it's: </a:t>
            </a:r>
            <a:r>
              <a:rPr lang="en-US" sz="1050" b="1" dirty="0">
                <a:solidFill>
                  <a:srgbClr val="15213F"/>
                </a:solidFill>
                <a:latin typeface="Roboto" pitchFamily="34" charset="0"/>
                <a:ea typeface="Roboto" pitchFamily="34" charset="-122"/>
                <a:cs typeface="Roboto" pitchFamily="34" charset="-120"/>
              </a:rPr>
              <a:t>Number, Text, Image, Audio, or Video</a:t>
            </a:r>
            <a:r>
              <a:rPr lang="en-US" sz="1050" dirty="0">
                <a:solidFill>
                  <a:srgbClr val="15213F"/>
                </a:solidFill>
                <a:latin typeface="Roboto" pitchFamily="34" charset="0"/>
                <a:ea typeface="Roboto" pitchFamily="34" charset="-122"/>
                <a:cs typeface="Roboto" pitchFamily="34" charset="-120"/>
              </a:rPr>
              <a:t>.</a:t>
            </a:r>
            <a:endParaRPr lang="en-US" sz="1050" dirty="0"/>
          </a:p>
        </p:txBody>
      </p:sp>
      <p:sp>
        <p:nvSpPr>
          <p:cNvPr id="4" name="Shape 2"/>
          <p:cNvSpPr/>
          <p:nvPr/>
        </p:nvSpPr>
        <p:spPr>
          <a:xfrm>
            <a:off x="496119" y="1300758"/>
            <a:ext cx="8151763" cy="3431084"/>
          </a:xfrm>
          <a:prstGeom prst="roundRect">
            <a:avLst>
              <a:gd name="adj" fmla="val 488"/>
            </a:avLst>
          </a:prstGeom>
          <a:noFill/>
          <a:ln w="4763">
            <a:solidFill>
              <a:srgbClr val="000000">
                <a:alpha val="8000"/>
              </a:srgbClr>
            </a:solidFill>
            <a:prstDash val="solid"/>
          </a:ln>
        </p:spPr>
        <p:txBody>
          <a:bodyPr/>
          <a:lstStyle/>
          <a:p>
            <a:endParaRPr lang="en-IN"/>
          </a:p>
        </p:txBody>
      </p:sp>
      <p:sp>
        <p:nvSpPr>
          <p:cNvPr id="5" name="Shape 3"/>
          <p:cNvSpPr/>
          <p:nvPr/>
        </p:nvSpPr>
        <p:spPr>
          <a:xfrm>
            <a:off x="500881" y="1305520"/>
            <a:ext cx="8142238" cy="342156"/>
          </a:xfrm>
          <a:prstGeom prst="rect">
            <a:avLst/>
          </a:prstGeom>
          <a:solidFill>
            <a:srgbClr val="FFFFFF">
              <a:alpha val="4000"/>
            </a:srgbClr>
          </a:solidFill>
          <a:ln/>
        </p:spPr>
        <p:txBody>
          <a:bodyPr/>
          <a:lstStyle/>
          <a:p>
            <a:endParaRPr lang="en-IN"/>
          </a:p>
        </p:txBody>
      </p:sp>
      <p:sp>
        <p:nvSpPr>
          <p:cNvPr id="6" name="Text 4"/>
          <p:cNvSpPr/>
          <p:nvPr/>
        </p:nvSpPr>
        <p:spPr>
          <a:xfrm>
            <a:off x="612577" y="1370558"/>
            <a:ext cx="5473898"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Item</a:t>
            </a:r>
            <a:endParaRPr lang="en-US" sz="1050" dirty="0"/>
          </a:p>
        </p:txBody>
      </p:sp>
      <p:sp>
        <p:nvSpPr>
          <p:cNvPr id="7" name="Text 5"/>
          <p:cNvSpPr/>
          <p:nvPr/>
        </p:nvSpPr>
        <p:spPr>
          <a:xfrm>
            <a:off x="6314480" y="1370558"/>
            <a:ext cx="2217018"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Data Type?</a:t>
            </a:r>
            <a:endParaRPr lang="en-US" sz="1050" dirty="0"/>
          </a:p>
        </p:txBody>
      </p:sp>
      <p:sp>
        <p:nvSpPr>
          <p:cNvPr id="8" name="Shape 6"/>
          <p:cNvSpPr/>
          <p:nvPr/>
        </p:nvSpPr>
        <p:spPr>
          <a:xfrm>
            <a:off x="500881" y="1647676"/>
            <a:ext cx="8142238" cy="342156"/>
          </a:xfrm>
          <a:prstGeom prst="rect">
            <a:avLst/>
          </a:prstGeom>
          <a:solidFill>
            <a:srgbClr val="000000">
              <a:alpha val="4000"/>
            </a:srgbClr>
          </a:solidFill>
          <a:ln/>
        </p:spPr>
        <p:txBody>
          <a:bodyPr/>
          <a:lstStyle/>
          <a:p>
            <a:endParaRPr lang="en-IN"/>
          </a:p>
        </p:txBody>
      </p:sp>
      <p:sp>
        <p:nvSpPr>
          <p:cNvPr id="9" name="Text 7"/>
          <p:cNvSpPr/>
          <p:nvPr/>
        </p:nvSpPr>
        <p:spPr>
          <a:xfrm>
            <a:off x="612577" y="1712714"/>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A selfie you took with your phone</a:t>
            </a:r>
            <a:endParaRPr lang="en-US" sz="1050" dirty="0"/>
          </a:p>
        </p:txBody>
      </p:sp>
      <p:sp>
        <p:nvSpPr>
          <p:cNvPr id="10" name="Text 8"/>
          <p:cNvSpPr/>
          <p:nvPr/>
        </p:nvSpPr>
        <p:spPr>
          <a:xfrm>
            <a:off x="6314480" y="1712714"/>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Image</a:t>
            </a:r>
            <a:endParaRPr lang="en-US" sz="1050" dirty="0"/>
          </a:p>
        </p:txBody>
      </p:sp>
      <p:sp>
        <p:nvSpPr>
          <p:cNvPr id="11" name="Shape 9"/>
          <p:cNvSpPr/>
          <p:nvPr/>
        </p:nvSpPr>
        <p:spPr>
          <a:xfrm>
            <a:off x="500881" y="1989832"/>
            <a:ext cx="8142238" cy="342156"/>
          </a:xfrm>
          <a:prstGeom prst="rect">
            <a:avLst/>
          </a:prstGeom>
          <a:solidFill>
            <a:srgbClr val="FFFFFF">
              <a:alpha val="4000"/>
            </a:srgbClr>
          </a:solidFill>
          <a:ln/>
        </p:spPr>
        <p:txBody>
          <a:bodyPr/>
          <a:lstStyle/>
          <a:p>
            <a:endParaRPr lang="en-IN"/>
          </a:p>
        </p:txBody>
      </p:sp>
      <p:sp>
        <p:nvSpPr>
          <p:cNvPr id="12" name="Text 10"/>
          <p:cNvSpPr/>
          <p:nvPr/>
        </p:nvSpPr>
        <p:spPr>
          <a:xfrm>
            <a:off x="612577" y="2054870"/>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The lyrics to your favourite song printed on paper</a:t>
            </a:r>
            <a:endParaRPr lang="en-US" sz="1050" dirty="0"/>
          </a:p>
        </p:txBody>
      </p:sp>
      <p:sp>
        <p:nvSpPr>
          <p:cNvPr id="13" name="Text 11"/>
          <p:cNvSpPr/>
          <p:nvPr/>
        </p:nvSpPr>
        <p:spPr>
          <a:xfrm>
            <a:off x="6314480" y="2054870"/>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Text</a:t>
            </a:r>
            <a:endParaRPr lang="en-US" sz="1050" dirty="0"/>
          </a:p>
        </p:txBody>
      </p:sp>
      <p:sp>
        <p:nvSpPr>
          <p:cNvPr id="14" name="Shape 12"/>
          <p:cNvSpPr/>
          <p:nvPr/>
        </p:nvSpPr>
        <p:spPr>
          <a:xfrm>
            <a:off x="500881" y="2331988"/>
            <a:ext cx="8142238" cy="342156"/>
          </a:xfrm>
          <a:prstGeom prst="rect">
            <a:avLst/>
          </a:prstGeom>
          <a:solidFill>
            <a:srgbClr val="000000">
              <a:alpha val="4000"/>
            </a:srgbClr>
          </a:solidFill>
          <a:ln/>
        </p:spPr>
        <p:txBody>
          <a:bodyPr/>
          <a:lstStyle/>
          <a:p>
            <a:endParaRPr lang="en-IN"/>
          </a:p>
        </p:txBody>
      </p:sp>
      <p:sp>
        <p:nvSpPr>
          <p:cNvPr id="15" name="Text 13"/>
          <p:cNvSpPr/>
          <p:nvPr/>
        </p:nvSpPr>
        <p:spPr>
          <a:xfrm>
            <a:off x="612577" y="2397026"/>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The temperature outside right now (72°F)</a:t>
            </a:r>
            <a:endParaRPr lang="en-US" sz="1050" dirty="0"/>
          </a:p>
        </p:txBody>
      </p:sp>
      <p:sp>
        <p:nvSpPr>
          <p:cNvPr id="16" name="Text 14"/>
          <p:cNvSpPr/>
          <p:nvPr/>
        </p:nvSpPr>
        <p:spPr>
          <a:xfrm>
            <a:off x="6314480" y="2397026"/>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Number</a:t>
            </a:r>
            <a:endParaRPr lang="en-US" sz="1050" dirty="0"/>
          </a:p>
        </p:txBody>
      </p:sp>
      <p:sp>
        <p:nvSpPr>
          <p:cNvPr id="17" name="Shape 15"/>
          <p:cNvSpPr/>
          <p:nvPr/>
        </p:nvSpPr>
        <p:spPr>
          <a:xfrm>
            <a:off x="500881" y="2674144"/>
            <a:ext cx="8142238" cy="342156"/>
          </a:xfrm>
          <a:prstGeom prst="rect">
            <a:avLst/>
          </a:prstGeom>
          <a:solidFill>
            <a:srgbClr val="FFFFFF">
              <a:alpha val="4000"/>
            </a:srgbClr>
          </a:solidFill>
          <a:ln/>
        </p:spPr>
        <p:txBody>
          <a:bodyPr/>
          <a:lstStyle/>
          <a:p>
            <a:endParaRPr lang="en-IN"/>
          </a:p>
        </p:txBody>
      </p:sp>
      <p:sp>
        <p:nvSpPr>
          <p:cNvPr id="18" name="Text 16"/>
          <p:cNvSpPr/>
          <p:nvPr/>
        </p:nvSpPr>
        <p:spPr>
          <a:xfrm>
            <a:off x="612577" y="2739182"/>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A TikTok dance video</a:t>
            </a:r>
            <a:endParaRPr lang="en-US" sz="1050" dirty="0"/>
          </a:p>
        </p:txBody>
      </p:sp>
      <p:sp>
        <p:nvSpPr>
          <p:cNvPr id="19" name="Text 17"/>
          <p:cNvSpPr/>
          <p:nvPr/>
        </p:nvSpPr>
        <p:spPr>
          <a:xfrm>
            <a:off x="6314480" y="2739182"/>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Video</a:t>
            </a:r>
            <a:endParaRPr lang="en-US" sz="1050" dirty="0"/>
          </a:p>
        </p:txBody>
      </p:sp>
      <p:sp>
        <p:nvSpPr>
          <p:cNvPr id="20" name="Shape 18"/>
          <p:cNvSpPr/>
          <p:nvPr/>
        </p:nvSpPr>
        <p:spPr>
          <a:xfrm>
            <a:off x="500881" y="3016300"/>
            <a:ext cx="8142238" cy="342156"/>
          </a:xfrm>
          <a:prstGeom prst="rect">
            <a:avLst/>
          </a:prstGeom>
          <a:solidFill>
            <a:srgbClr val="000000">
              <a:alpha val="4000"/>
            </a:srgbClr>
          </a:solidFill>
          <a:ln/>
        </p:spPr>
        <p:txBody>
          <a:bodyPr/>
          <a:lstStyle/>
          <a:p>
            <a:endParaRPr lang="en-IN"/>
          </a:p>
        </p:txBody>
      </p:sp>
      <p:sp>
        <p:nvSpPr>
          <p:cNvPr id="21" name="Text 19"/>
          <p:cNvSpPr/>
          <p:nvPr/>
        </p:nvSpPr>
        <p:spPr>
          <a:xfrm>
            <a:off x="612577" y="3081338"/>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A text message from your friend saying "See you later!"</a:t>
            </a:r>
            <a:endParaRPr lang="en-US" sz="1050" dirty="0"/>
          </a:p>
        </p:txBody>
      </p:sp>
      <p:sp>
        <p:nvSpPr>
          <p:cNvPr id="22" name="Text 20"/>
          <p:cNvSpPr/>
          <p:nvPr/>
        </p:nvSpPr>
        <p:spPr>
          <a:xfrm>
            <a:off x="6314480" y="3081338"/>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Text</a:t>
            </a:r>
            <a:endParaRPr lang="en-US" sz="1050" dirty="0"/>
          </a:p>
        </p:txBody>
      </p:sp>
      <p:sp>
        <p:nvSpPr>
          <p:cNvPr id="23" name="Shape 21"/>
          <p:cNvSpPr/>
          <p:nvPr/>
        </p:nvSpPr>
        <p:spPr>
          <a:xfrm>
            <a:off x="500881" y="3358455"/>
            <a:ext cx="8142238" cy="342156"/>
          </a:xfrm>
          <a:prstGeom prst="rect">
            <a:avLst/>
          </a:prstGeom>
          <a:solidFill>
            <a:srgbClr val="FFFFFF">
              <a:alpha val="4000"/>
            </a:srgbClr>
          </a:solidFill>
          <a:ln/>
        </p:spPr>
        <p:txBody>
          <a:bodyPr/>
          <a:lstStyle/>
          <a:p>
            <a:endParaRPr lang="en-IN"/>
          </a:p>
        </p:txBody>
      </p:sp>
      <p:sp>
        <p:nvSpPr>
          <p:cNvPr id="24" name="Text 22"/>
          <p:cNvSpPr/>
          <p:nvPr/>
        </p:nvSpPr>
        <p:spPr>
          <a:xfrm>
            <a:off x="612577" y="3423493"/>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A screenshot of your high score in a game</a:t>
            </a:r>
            <a:endParaRPr lang="en-US" sz="1050" dirty="0"/>
          </a:p>
        </p:txBody>
      </p:sp>
      <p:sp>
        <p:nvSpPr>
          <p:cNvPr id="25" name="Text 23"/>
          <p:cNvSpPr/>
          <p:nvPr/>
        </p:nvSpPr>
        <p:spPr>
          <a:xfrm>
            <a:off x="6314480" y="3423493"/>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Image</a:t>
            </a:r>
            <a:endParaRPr lang="en-US" sz="1050" dirty="0"/>
          </a:p>
        </p:txBody>
      </p:sp>
      <p:sp>
        <p:nvSpPr>
          <p:cNvPr id="26" name="Shape 24"/>
          <p:cNvSpPr/>
          <p:nvPr/>
        </p:nvSpPr>
        <p:spPr>
          <a:xfrm>
            <a:off x="500881" y="3700611"/>
            <a:ext cx="8142238" cy="342156"/>
          </a:xfrm>
          <a:prstGeom prst="rect">
            <a:avLst/>
          </a:prstGeom>
          <a:solidFill>
            <a:srgbClr val="000000">
              <a:alpha val="4000"/>
            </a:srgbClr>
          </a:solidFill>
          <a:ln/>
        </p:spPr>
        <p:txBody>
          <a:bodyPr/>
          <a:lstStyle/>
          <a:p>
            <a:endParaRPr lang="en-IN"/>
          </a:p>
        </p:txBody>
      </p:sp>
      <p:sp>
        <p:nvSpPr>
          <p:cNvPr id="27" name="Text 25"/>
          <p:cNvSpPr/>
          <p:nvPr/>
        </p:nvSpPr>
        <p:spPr>
          <a:xfrm>
            <a:off x="612577" y="3765649"/>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A podcast episode about dinosaurs</a:t>
            </a:r>
            <a:endParaRPr lang="en-US" sz="1050" dirty="0"/>
          </a:p>
        </p:txBody>
      </p:sp>
      <p:sp>
        <p:nvSpPr>
          <p:cNvPr id="28" name="Text 26"/>
          <p:cNvSpPr/>
          <p:nvPr/>
        </p:nvSpPr>
        <p:spPr>
          <a:xfrm>
            <a:off x="6314480" y="3765649"/>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Audio/Video</a:t>
            </a:r>
            <a:endParaRPr lang="en-US" sz="1050" dirty="0"/>
          </a:p>
        </p:txBody>
      </p:sp>
      <p:sp>
        <p:nvSpPr>
          <p:cNvPr id="29" name="Shape 27"/>
          <p:cNvSpPr/>
          <p:nvPr/>
        </p:nvSpPr>
        <p:spPr>
          <a:xfrm>
            <a:off x="500881" y="4042767"/>
            <a:ext cx="8142238" cy="342156"/>
          </a:xfrm>
          <a:prstGeom prst="rect">
            <a:avLst/>
          </a:prstGeom>
          <a:solidFill>
            <a:srgbClr val="FFFFFF">
              <a:alpha val="4000"/>
            </a:srgbClr>
          </a:solidFill>
          <a:ln/>
        </p:spPr>
        <p:txBody>
          <a:bodyPr/>
          <a:lstStyle/>
          <a:p>
            <a:endParaRPr lang="en-IN"/>
          </a:p>
        </p:txBody>
      </p:sp>
      <p:sp>
        <p:nvSpPr>
          <p:cNvPr id="30" name="Text 28"/>
          <p:cNvSpPr/>
          <p:nvPr/>
        </p:nvSpPr>
        <p:spPr>
          <a:xfrm>
            <a:off x="612577" y="4107805"/>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A photograph of your family at the beach</a:t>
            </a:r>
            <a:endParaRPr lang="en-US" sz="1050" dirty="0"/>
          </a:p>
        </p:txBody>
      </p:sp>
      <p:sp>
        <p:nvSpPr>
          <p:cNvPr id="31" name="Text 29"/>
          <p:cNvSpPr/>
          <p:nvPr/>
        </p:nvSpPr>
        <p:spPr>
          <a:xfrm>
            <a:off x="6314480" y="4107805"/>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Image</a:t>
            </a:r>
            <a:endParaRPr lang="en-US" sz="1050" dirty="0"/>
          </a:p>
        </p:txBody>
      </p:sp>
      <p:sp>
        <p:nvSpPr>
          <p:cNvPr id="32" name="Shape 30"/>
          <p:cNvSpPr/>
          <p:nvPr/>
        </p:nvSpPr>
        <p:spPr>
          <a:xfrm>
            <a:off x="500881" y="4384923"/>
            <a:ext cx="8142238" cy="342156"/>
          </a:xfrm>
          <a:prstGeom prst="rect">
            <a:avLst/>
          </a:prstGeom>
          <a:solidFill>
            <a:srgbClr val="000000">
              <a:alpha val="4000"/>
            </a:srgbClr>
          </a:solidFill>
          <a:ln/>
        </p:spPr>
        <p:txBody>
          <a:bodyPr/>
          <a:lstStyle/>
          <a:p>
            <a:endParaRPr lang="en-IN"/>
          </a:p>
        </p:txBody>
      </p:sp>
      <p:sp>
        <p:nvSpPr>
          <p:cNvPr id="33" name="Text 31"/>
          <p:cNvSpPr/>
          <p:nvPr/>
        </p:nvSpPr>
        <p:spPr>
          <a:xfrm>
            <a:off x="612577" y="4449961"/>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Your heartbeat recorded by a smartwatch</a:t>
            </a:r>
            <a:endParaRPr lang="en-US" sz="1050" dirty="0"/>
          </a:p>
        </p:txBody>
      </p:sp>
      <p:sp>
        <p:nvSpPr>
          <p:cNvPr id="34" name="Text 32"/>
          <p:cNvSpPr/>
          <p:nvPr/>
        </p:nvSpPr>
        <p:spPr>
          <a:xfrm>
            <a:off x="6314480" y="4449961"/>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Number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30" grpId="0" animBg="1"/>
      <p:bldP spid="31" grpId="0" animBg="1"/>
      <p:bldP spid="33"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897434"/>
            <a:ext cx="4722763" cy="775097"/>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Algorithm - The Instructions AI Follows</a:t>
            </a:r>
            <a:endParaRPr lang="en-US" sz="2400" dirty="0"/>
          </a:p>
        </p:txBody>
      </p:sp>
      <p:sp>
        <p:nvSpPr>
          <p:cNvPr id="4" name="Text 1"/>
          <p:cNvSpPr/>
          <p:nvPr/>
        </p:nvSpPr>
        <p:spPr>
          <a:xfrm>
            <a:off x="3925119" y="1858566"/>
            <a:ext cx="4722763"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An </a:t>
            </a:r>
            <a:r>
              <a:rPr lang="en-US" sz="1200" b="1" dirty="0">
                <a:solidFill>
                  <a:srgbClr val="15213F"/>
                </a:solidFill>
                <a:latin typeface="Roboto" pitchFamily="34" charset="0"/>
                <a:ea typeface="Roboto" pitchFamily="34" charset="-122"/>
                <a:cs typeface="Roboto" pitchFamily="34" charset="-120"/>
              </a:rPr>
              <a:t>algorithm </a:t>
            </a:r>
            <a:r>
              <a:rPr lang="en-US" sz="1200" dirty="0">
                <a:solidFill>
                  <a:srgbClr val="15213F"/>
                </a:solidFill>
                <a:latin typeface="Roboto" pitchFamily="34" charset="0"/>
                <a:ea typeface="Roboto" pitchFamily="34" charset="-122"/>
                <a:cs typeface="Roboto" pitchFamily="34" charset="-120"/>
              </a:rPr>
              <a:t>is a step-by-step set of instructions that tells a computer how to solve a problem.</a:t>
            </a:r>
            <a:endParaRPr lang="en-US" sz="1200" dirty="0"/>
          </a:p>
        </p:txBody>
      </p:sp>
      <p:sp>
        <p:nvSpPr>
          <p:cNvPr id="5" name="Text 2"/>
          <p:cNvSpPr/>
          <p:nvPr/>
        </p:nvSpPr>
        <p:spPr>
          <a:xfrm>
            <a:off x="3925119" y="2742381"/>
            <a:ext cx="4722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Algorithms are always:</a:t>
            </a:r>
            <a:endParaRPr lang="en-US" sz="1200" dirty="0"/>
          </a:p>
        </p:txBody>
      </p:sp>
      <p:grpSp>
        <p:nvGrpSpPr>
          <p:cNvPr id="14" name="Group 13">
            <a:extLst>
              <a:ext uri="{FF2B5EF4-FFF2-40B4-BE49-F238E27FC236}">
                <a16:creationId xmlns:a16="http://schemas.microsoft.com/office/drawing/2014/main" id="{BB2D3704-D0F2-5ABC-A1E1-6201DC1207AD}"/>
              </a:ext>
            </a:extLst>
          </p:cNvPr>
          <p:cNvGrpSpPr/>
          <p:nvPr/>
        </p:nvGrpSpPr>
        <p:grpSpPr>
          <a:xfrm>
            <a:off x="3925119" y="3130004"/>
            <a:ext cx="2299395" cy="496044"/>
            <a:chOff x="3925119" y="3130004"/>
            <a:chExt cx="2299395" cy="496044"/>
          </a:xfrm>
        </p:grpSpPr>
        <p:sp>
          <p:nvSpPr>
            <p:cNvPr id="6" name="Shape 3"/>
            <p:cNvSpPr/>
            <p:nvPr/>
          </p:nvSpPr>
          <p:spPr>
            <a:xfrm>
              <a:off x="3925119" y="3130004"/>
              <a:ext cx="2299395" cy="496044"/>
            </a:xfrm>
            <a:prstGeom prst="roundRect">
              <a:avLst>
                <a:gd name="adj" fmla="val 3751"/>
              </a:avLst>
            </a:prstGeom>
            <a:solidFill>
              <a:srgbClr val="E9ECF2"/>
            </a:solidFill>
            <a:ln/>
          </p:spPr>
          <p:txBody>
            <a:bodyPr/>
            <a:lstStyle/>
            <a:p>
              <a:endParaRPr lang="en-IN"/>
            </a:p>
          </p:txBody>
        </p:sp>
        <p:sp>
          <p:nvSpPr>
            <p:cNvPr id="7" name="Text 4"/>
            <p:cNvSpPr/>
            <p:nvPr/>
          </p:nvSpPr>
          <p:spPr>
            <a:xfrm>
              <a:off x="4049092" y="3253978"/>
              <a:ext cx="2051447"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Clear</a:t>
              </a:r>
              <a:r>
                <a:rPr lang="en-US" sz="1200" dirty="0">
                  <a:solidFill>
                    <a:srgbClr val="15213F"/>
                  </a:solidFill>
                  <a:latin typeface="Roboto" pitchFamily="34" charset="0"/>
                  <a:ea typeface="Roboto" pitchFamily="34" charset="-122"/>
                  <a:cs typeface="Roboto" pitchFamily="34" charset="-120"/>
                </a:rPr>
                <a:t> </a:t>
              </a:r>
              <a:endParaRPr lang="en-US" sz="1200" dirty="0"/>
            </a:p>
          </p:txBody>
        </p:sp>
      </p:grpSp>
      <p:grpSp>
        <p:nvGrpSpPr>
          <p:cNvPr id="15" name="Group 14">
            <a:extLst>
              <a:ext uri="{FF2B5EF4-FFF2-40B4-BE49-F238E27FC236}">
                <a16:creationId xmlns:a16="http://schemas.microsoft.com/office/drawing/2014/main" id="{4C51C4A5-BFF9-1A64-EAF9-024B1B3A0DE5}"/>
              </a:ext>
            </a:extLst>
          </p:cNvPr>
          <p:cNvGrpSpPr/>
          <p:nvPr/>
        </p:nvGrpSpPr>
        <p:grpSpPr>
          <a:xfrm>
            <a:off x="6348487" y="3130004"/>
            <a:ext cx="2299395" cy="496044"/>
            <a:chOff x="6348487" y="3130004"/>
            <a:chExt cx="2299395" cy="496044"/>
          </a:xfrm>
        </p:grpSpPr>
        <p:sp>
          <p:nvSpPr>
            <p:cNvPr id="8" name="Shape 5"/>
            <p:cNvSpPr/>
            <p:nvPr/>
          </p:nvSpPr>
          <p:spPr>
            <a:xfrm>
              <a:off x="6348487" y="3130004"/>
              <a:ext cx="2299395" cy="496044"/>
            </a:xfrm>
            <a:prstGeom prst="roundRect">
              <a:avLst>
                <a:gd name="adj" fmla="val 3751"/>
              </a:avLst>
            </a:prstGeom>
            <a:solidFill>
              <a:srgbClr val="E9ECF2"/>
            </a:solidFill>
            <a:ln/>
          </p:spPr>
          <p:txBody>
            <a:bodyPr/>
            <a:lstStyle/>
            <a:p>
              <a:endParaRPr lang="en-IN"/>
            </a:p>
          </p:txBody>
        </p:sp>
        <p:sp>
          <p:nvSpPr>
            <p:cNvPr id="9" name="Text 6"/>
            <p:cNvSpPr/>
            <p:nvPr/>
          </p:nvSpPr>
          <p:spPr>
            <a:xfrm>
              <a:off x="6472461" y="3253978"/>
              <a:ext cx="2051447"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Unambiguous</a:t>
              </a:r>
              <a:r>
                <a:rPr lang="en-US" sz="1200" dirty="0">
                  <a:solidFill>
                    <a:srgbClr val="15213F"/>
                  </a:solidFill>
                  <a:latin typeface="Roboto" pitchFamily="34" charset="0"/>
                  <a:ea typeface="Roboto" pitchFamily="34" charset="-122"/>
                  <a:cs typeface="Roboto" pitchFamily="34" charset="-120"/>
                </a:rPr>
                <a:t> </a:t>
              </a:r>
              <a:endParaRPr lang="en-US" sz="1200" dirty="0"/>
            </a:p>
          </p:txBody>
        </p:sp>
      </p:grpSp>
      <p:grpSp>
        <p:nvGrpSpPr>
          <p:cNvPr id="16" name="Group 15">
            <a:extLst>
              <a:ext uri="{FF2B5EF4-FFF2-40B4-BE49-F238E27FC236}">
                <a16:creationId xmlns:a16="http://schemas.microsoft.com/office/drawing/2014/main" id="{5AD90E1A-37E6-353F-120D-A5E5EC3AAF7E}"/>
              </a:ext>
            </a:extLst>
          </p:cNvPr>
          <p:cNvGrpSpPr/>
          <p:nvPr/>
        </p:nvGrpSpPr>
        <p:grpSpPr>
          <a:xfrm>
            <a:off x="3925119" y="3750022"/>
            <a:ext cx="2299395" cy="496044"/>
            <a:chOff x="3925119" y="3750022"/>
            <a:chExt cx="2299395" cy="496044"/>
          </a:xfrm>
        </p:grpSpPr>
        <p:sp>
          <p:nvSpPr>
            <p:cNvPr id="10" name="Shape 7"/>
            <p:cNvSpPr/>
            <p:nvPr/>
          </p:nvSpPr>
          <p:spPr>
            <a:xfrm>
              <a:off x="3925119" y="3750022"/>
              <a:ext cx="2299395" cy="496044"/>
            </a:xfrm>
            <a:prstGeom prst="roundRect">
              <a:avLst>
                <a:gd name="adj" fmla="val 3751"/>
              </a:avLst>
            </a:prstGeom>
            <a:solidFill>
              <a:srgbClr val="E9ECF2"/>
            </a:solidFill>
            <a:ln/>
          </p:spPr>
          <p:txBody>
            <a:bodyPr/>
            <a:lstStyle/>
            <a:p>
              <a:endParaRPr lang="en-IN"/>
            </a:p>
          </p:txBody>
        </p:sp>
        <p:sp>
          <p:nvSpPr>
            <p:cNvPr id="11" name="Text 8"/>
            <p:cNvSpPr/>
            <p:nvPr/>
          </p:nvSpPr>
          <p:spPr>
            <a:xfrm>
              <a:off x="4049092" y="3873996"/>
              <a:ext cx="2051447"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Finite</a:t>
              </a:r>
              <a:endParaRPr lang="en-US" sz="1200" dirty="0"/>
            </a:p>
          </p:txBody>
        </p:sp>
      </p:grpSp>
      <p:grpSp>
        <p:nvGrpSpPr>
          <p:cNvPr id="17" name="Group 16">
            <a:extLst>
              <a:ext uri="{FF2B5EF4-FFF2-40B4-BE49-F238E27FC236}">
                <a16:creationId xmlns:a16="http://schemas.microsoft.com/office/drawing/2014/main" id="{B39A209C-EEFA-BA4B-9AF8-0C6EDE577CEE}"/>
              </a:ext>
            </a:extLst>
          </p:cNvPr>
          <p:cNvGrpSpPr/>
          <p:nvPr/>
        </p:nvGrpSpPr>
        <p:grpSpPr>
          <a:xfrm>
            <a:off x="6348487" y="3750022"/>
            <a:ext cx="2299395" cy="496044"/>
            <a:chOff x="6348487" y="3750022"/>
            <a:chExt cx="2299395" cy="496044"/>
          </a:xfrm>
        </p:grpSpPr>
        <p:sp>
          <p:nvSpPr>
            <p:cNvPr id="12" name="Shape 9"/>
            <p:cNvSpPr/>
            <p:nvPr/>
          </p:nvSpPr>
          <p:spPr>
            <a:xfrm>
              <a:off x="6348487" y="3750022"/>
              <a:ext cx="2299395" cy="496044"/>
            </a:xfrm>
            <a:prstGeom prst="roundRect">
              <a:avLst>
                <a:gd name="adj" fmla="val 3751"/>
              </a:avLst>
            </a:prstGeom>
            <a:solidFill>
              <a:srgbClr val="E9ECF2"/>
            </a:solidFill>
            <a:ln/>
          </p:spPr>
          <p:txBody>
            <a:bodyPr/>
            <a:lstStyle/>
            <a:p>
              <a:endParaRPr lang="en-IN"/>
            </a:p>
          </p:txBody>
        </p:sp>
        <p:sp>
          <p:nvSpPr>
            <p:cNvPr id="13" name="Text 10"/>
            <p:cNvSpPr/>
            <p:nvPr/>
          </p:nvSpPr>
          <p:spPr>
            <a:xfrm>
              <a:off x="6472461" y="3873996"/>
              <a:ext cx="2051447"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Effective</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1619548"/>
            <a:ext cx="5847829"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Real‑Life Algorithms You Already Know</a:t>
            </a:r>
            <a:endParaRPr lang="en-US" sz="2400" dirty="0"/>
          </a:p>
        </p:txBody>
      </p:sp>
      <p:sp>
        <p:nvSpPr>
          <p:cNvPr id="3" name="Text 1"/>
          <p:cNvSpPr/>
          <p:nvPr/>
        </p:nvSpPr>
        <p:spPr>
          <a:xfrm>
            <a:off x="496119" y="2255118"/>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 follow algorithms every single day without even realizing it! Here are some examples:</a:t>
            </a:r>
            <a:endParaRPr lang="en-US" sz="1200" dirty="0"/>
          </a:p>
        </p:txBody>
      </p:sp>
      <p:grpSp>
        <p:nvGrpSpPr>
          <p:cNvPr id="18" name="Group 17">
            <a:extLst>
              <a:ext uri="{FF2B5EF4-FFF2-40B4-BE49-F238E27FC236}">
                <a16:creationId xmlns:a16="http://schemas.microsoft.com/office/drawing/2014/main" id="{845AF10D-9C82-0C4A-0E03-1EA590B6670F}"/>
              </a:ext>
            </a:extLst>
          </p:cNvPr>
          <p:cNvGrpSpPr/>
          <p:nvPr/>
        </p:nvGrpSpPr>
        <p:grpSpPr>
          <a:xfrm>
            <a:off x="496119" y="2642741"/>
            <a:ext cx="4013895" cy="881137"/>
            <a:chOff x="496119" y="2642741"/>
            <a:chExt cx="4013895" cy="881137"/>
          </a:xfrm>
        </p:grpSpPr>
        <p:sp>
          <p:nvSpPr>
            <p:cNvPr id="4" name="Shape 2"/>
            <p:cNvSpPr/>
            <p:nvPr/>
          </p:nvSpPr>
          <p:spPr>
            <a:xfrm>
              <a:off x="496119" y="2642741"/>
              <a:ext cx="4013895" cy="881137"/>
            </a:xfrm>
            <a:prstGeom prst="roundRect">
              <a:avLst>
                <a:gd name="adj" fmla="val 2112"/>
              </a:avLst>
            </a:prstGeom>
            <a:solidFill>
              <a:srgbClr val="FBFCFE"/>
            </a:solidFill>
            <a:ln w="14288">
              <a:solidFill>
                <a:srgbClr val="CFD2D8"/>
              </a:solidFill>
              <a:prstDash val="solid"/>
            </a:ln>
          </p:spPr>
          <p:txBody>
            <a:bodyPr/>
            <a:lstStyle/>
            <a:p>
              <a:endParaRPr lang="en-IN"/>
            </a:p>
          </p:txBody>
        </p:sp>
        <p:grpSp>
          <p:nvGrpSpPr>
            <p:cNvPr id="12" name="Group 11">
              <a:extLst>
                <a:ext uri="{FF2B5EF4-FFF2-40B4-BE49-F238E27FC236}">
                  <a16:creationId xmlns:a16="http://schemas.microsoft.com/office/drawing/2014/main" id="{DAC95CE1-19F4-0E5B-BA99-98EE5F8F80BA}"/>
                </a:ext>
              </a:extLst>
            </p:cNvPr>
            <p:cNvGrpSpPr/>
            <p:nvPr/>
          </p:nvGrpSpPr>
          <p:grpSpPr>
            <a:xfrm>
              <a:off x="510406" y="2657029"/>
              <a:ext cx="3985320" cy="728588"/>
              <a:chOff x="510406" y="2657029"/>
              <a:chExt cx="3985320" cy="728588"/>
            </a:xfrm>
          </p:grpSpPr>
          <p:sp>
            <p:nvSpPr>
              <p:cNvPr id="5" name="Shape 3"/>
              <p:cNvSpPr/>
              <p:nvPr/>
            </p:nvSpPr>
            <p:spPr>
              <a:xfrm>
                <a:off x="510406" y="2657029"/>
                <a:ext cx="3985320" cy="372070"/>
              </a:xfrm>
              <a:prstGeom prst="roundRect">
                <a:avLst>
                  <a:gd name="adj" fmla="val 393"/>
                </a:avLst>
              </a:prstGeom>
              <a:solidFill>
                <a:srgbClr val="E9ECF2"/>
              </a:solidFill>
              <a:ln/>
            </p:spPr>
            <p:txBody>
              <a:bodyPr/>
              <a:lstStyle/>
              <a:p>
                <a:endParaRPr lang="en-IN"/>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0048" y="2749972"/>
                <a:ext cx="186035" cy="186035"/>
              </a:xfrm>
              <a:prstGeom prst="rect">
                <a:avLst/>
              </a:prstGeom>
            </p:spPr>
          </p:pic>
          <p:sp>
            <p:nvSpPr>
              <p:cNvPr id="7" name="Text 4"/>
              <p:cNvSpPr/>
              <p:nvPr/>
            </p:nvSpPr>
            <p:spPr>
              <a:xfrm>
                <a:off x="634380" y="3153073"/>
                <a:ext cx="2192164" cy="232544"/>
              </a:xfrm>
              <a:prstGeom prst="rect">
                <a:avLst/>
              </a:prstGeom>
              <a:noFill/>
              <a:ln/>
            </p:spPr>
            <p:txBody>
              <a:bodyPr wrap="none" lIns="0" tIns="0" rIns="0" bIns="0" rtlCol="0" anchor="t"/>
              <a:lstStyle/>
              <a:p>
                <a:pPr marL="0" indent="0" algn="l">
                  <a:lnSpc>
                    <a:spcPts val="1800"/>
                  </a:lnSpc>
                  <a:buNone/>
                </a:pPr>
                <a:r>
                  <a:rPr lang="en-US" sz="1450" b="1" dirty="0">
                    <a:solidFill>
                      <a:srgbClr val="15213F"/>
                    </a:solidFill>
                    <a:latin typeface="Roboto Slab" pitchFamily="34" charset="0"/>
                    <a:ea typeface="Roboto Slab" pitchFamily="34" charset="-122"/>
                    <a:cs typeface="Roboto Slab" pitchFamily="34" charset="-120"/>
                  </a:rPr>
                  <a:t>Getting Ready for School</a:t>
                </a:r>
                <a:endParaRPr lang="en-US" sz="1450" dirty="0"/>
              </a:p>
            </p:txBody>
          </p:sp>
        </p:grpSp>
      </p:grpSp>
      <p:grpSp>
        <p:nvGrpSpPr>
          <p:cNvPr id="17" name="Group 16">
            <a:extLst>
              <a:ext uri="{FF2B5EF4-FFF2-40B4-BE49-F238E27FC236}">
                <a16:creationId xmlns:a16="http://schemas.microsoft.com/office/drawing/2014/main" id="{8733A56F-091B-31DD-154C-0499A3B3C297}"/>
              </a:ext>
            </a:extLst>
          </p:cNvPr>
          <p:cNvGrpSpPr/>
          <p:nvPr/>
        </p:nvGrpSpPr>
        <p:grpSpPr>
          <a:xfrm>
            <a:off x="4633987" y="2642741"/>
            <a:ext cx="4013895" cy="881137"/>
            <a:chOff x="4633987" y="2642741"/>
            <a:chExt cx="4013895" cy="881137"/>
          </a:xfrm>
        </p:grpSpPr>
        <p:sp>
          <p:nvSpPr>
            <p:cNvPr id="8" name="Shape 5"/>
            <p:cNvSpPr/>
            <p:nvPr/>
          </p:nvSpPr>
          <p:spPr>
            <a:xfrm>
              <a:off x="4633987" y="2642741"/>
              <a:ext cx="4013895" cy="881137"/>
            </a:xfrm>
            <a:prstGeom prst="roundRect">
              <a:avLst>
                <a:gd name="adj" fmla="val 2112"/>
              </a:avLst>
            </a:prstGeom>
            <a:solidFill>
              <a:srgbClr val="FBFCFE"/>
            </a:solidFill>
            <a:ln w="14288">
              <a:solidFill>
                <a:srgbClr val="CFD2D8"/>
              </a:solidFill>
              <a:prstDash val="solid"/>
            </a:ln>
          </p:spPr>
          <p:txBody>
            <a:bodyPr/>
            <a:lstStyle/>
            <a:p>
              <a:endParaRPr lang="en-IN"/>
            </a:p>
          </p:txBody>
        </p:sp>
        <p:sp>
          <p:nvSpPr>
            <p:cNvPr id="9" name="Shape 6"/>
            <p:cNvSpPr/>
            <p:nvPr/>
          </p:nvSpPr>
          <p:spPr>
            <a:xfrm>
              <a:off x="4648274" y="2657029"/>
              <a:ext cx="3985320" cy="372070"/>
            </a:xfrm>
            <a:prstGeom prst="roundRect">
              <a:avLst>
                <a:gd name="adj" fmla="val 393"/>
              </a:avLst>
            </a:prstGeom>
            <a:solidFill>
              <a:srgbClr val="E9ECF2"/>
            </a:solidFill>
            <a:ln/>
          </p:spPr>
          <p:txBody>
            <a:bodyPr/>
            <a:lstStyle/>
            <a:p>
              <a:endParaRPr lang="en-IN"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7917" y="2749972"/>
              <a:ext cx="186035" cy="186035"/>
            </a:xfrm>
            <a:prstGeom prst="rect">
              <a:avLst/>
            </a:prstGeom>
          </p:spPr>
        </p:pic>
        <p:sp>
          <p:nvSpPr>
            <p:cNvPr id="11" name="Text 7"/>
            <p:cNvSpPr/>
            <p:nvPr/>
          </p:nvSpPr>
          <p:spPr>
            <a:xfrm>
              <a:off x="4772248" y="3153073"/>
              <a:ext cx="2630984" cy="232544"/>
            </a:xfrm>
            <a:prstGeom prst="rect">
              <a:avLst/>
            </a:prstGeom>
            <a:noFill/>
            <a:ln/>
          </p:spPr>
          <p:txBody>
            <a:bodyPr wrap="none" lIns="0" tIns="0" rIns="0" bIns="0" rtlCol="0" anchor="t"/>
            <a:lstStyle/>
            <a:p>
              <a:pPr marL="0" indent="0" algn="l">
                <a:lnSpc>
                  <a:spcPts val="1800"/>
                </a:lnSpc>
                <a:buNone/>
              </a:pPr>
              <a:r>
                <a:rPr lang="en-US" sz="1450" b="1" dirty="0">
                  <a:solidFill>
                    <a:srgbClr val="15213F"/>
                  </a:solidFill>
                  <a:latin typeface="Roboto Slab" pitchFamily="34" charset="0"/>
                  <a:ea typeface="Roboto Slab" pitchFamily="34" charset="-122"/>
                  <a:cs typeface="Roboto Slab" pitchFamily="34" charset="-120"/>
                </a:rPr>
                <a:t>Directions to a Friend's House</a:t>
              </a:r>
              <a:endParaRPr lang="en-US" sz="14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721370"/>
            <a:ext cx="2480890"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Think of It This Way</a:t>
            </a:r>
            <a:endParaRPr lang="en-US" sz="1950" dirty="0"/>
          </a:p>
        </p:txBody>
      </p:sp>
      <p:sp>
        <p:nvSpPr>
          <p:cNvPr id="3" name="Text 1"/>
          <p:cNvSpPr/>
          <p:nvPr/>
        </p:nvSpPr>
        <p:spPr>
          <a:xfrm>
            <a:off x="496119" y="1217488"/>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An algorithm is a </a:t>
            </a:r>
            <a:r>
              <a:rPr lang="en-US" sz="1200" b="1" dirty="0">
                <a:solidFill>
                  <a:srgbClr val="15213F"/>
                </a:solidFill>
                <a:latin typeface="Roboto" pitchFamily="34" charset="0"/>
                <a:ea typeface="Roboto" pitchFamily="34" charset="-122"/>
                <a:cs typeface="Roboto" pitchFamily="34" charset="-120"/>
              </a:rPr>
              <a:t>recipe for a computer</a:t>
            </a:r>
            <a:r>
              <a:rPr lang="en-US" sz="1200" dirty="0">
                <a:solidFill>
                  <a:srgbClr val="15213F"/>
                </a:solidFill>
                <a:latin typeface="Roboto" pitchFamily="34" charset="0"/>
                <a:ea typeface="Roboto" pitchFamily="34" charset="-122"/>
                <a:cs typeface="Roboto" pitchFamily="34" charset="-120"/>
              </a:rPr>
              <a:t>.</a:t>
            </a:r>
            <a:endParaRPr lang="en-US" sz="1200" dirty="0"/>
          </a:p>
        </p:txBody>
      </p:sp>
      <p:sp>
        <p:nvSpPr>
          <p:cNvPr id="4" name="Shape 2"/>
          <p:cNvSpPr/>
          <p:nvPr/>
        </p:nvSpPr>
        <p:spPr>
          <a:xfrm>
            <a:off x="496119" y="1605111"/>
            <a:ext cx="8151763" cy="2041773"/>
          </a:xfrm>
          <a:prstGeom prst="roundRect">
            <a:avLst>
              <a:gd name="adj" fmla="val 911"/>
            </a:avLst>
          </a:prstGeom>
          <a:noFill/>
          <a:ln w="4763">
            <a:solidFill>
              <a:srgbClr val="000000">
                <a:alpha val="8000"/>
              </a:srgbClr>
            </a:solidFill>
            <a:prstDash val="solid"/>
          </a:ln>
        </p:spPr>
        <p:txBody>
          <a:bodyPr/>
          <a:lstStyle/>
          <a:p>
            <a:endParaRPr lang="en-IN"/>
          </a:p>
        </p:txBody>
      </p:sp>
      <p:sp>
        <p:nvSpPr>
          <p:cNvPr id="5" name="Shape 3"/>
          <p:cNvSpPr/>
          <p:nvPr/>
        </p:nvSpPr>
        <p:spPr>
          <a:xfrm>
            <a:off x="500881" y="1609874"/>
            <a:ext cx="8142238" cy="406450"/>
          </a:xfrm>
          <a:prstGeom prst="rect">
            <a:avLst/>
          </a:prstGeom>
          <a:solidFill>
            <a:srgbClr val="FFFFFF">
              <a:alpha val="4000"/>
            </a:srgbClr>
          </a:solidFill>
          <a:ln/>
        </p:spPr>
        <p:txBody>
          <a:bodyPr/>
          <a:lstStyle/>
          <a:p>
            <a:endParaRPr lang="en-IN"/>
          </a:p>
        </p:txBody>
      </p:sp>
      <p:sp>
        <p:nvSpPr>
          <p:cNvPr id="6" name="Text 4"/>
          <p:cNvSpPr/>
          <p:nvPr/>
        </p:nvSpPr>
        <p:spPr>
          <a:xfrm>
            <a:off x="624855" y="1689050"/>
            <a:ext cx="38207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Recipe</a:t>
            </a:r>
            <a:endParaRPr lang="en-US" sz="1200" dirty="0"/>
          </a:p>
        </p:txBody>
      </p:sp>
      <p:sp>
        <p:nvSpPr>
          <p:cNvPr id="7" name="Text 5"/>
          <p:cNvSpPr/>
          <p:nvPr/>
        </p:nvSpPr>
        <p:spPr>
          <a:xfrm>
            <a:off x="4698355" y="1689050"/>
            <a:ext cx="38207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Algorithm</a:t>
            </a:r>
            <a:endParaRPr lang="en-US" sz="1200" dirty="0"/>
          </a:p>
        </p:txBody>
      </p:sp>
      <p:sp>
        <p:nvSpPr>
          <p:cNvPr id="8" name="Shape 6"/>
          <p:cNvSpPr/>
          <p:nvPr/>
        </p:nvSpPr>
        <p:spPr>
          <a:xfrm>
            <a:off x="500881" y="2016323"/>
            <a:ext cx="8142238" cy="406450"/>
          </a:xfrm>
          <a:prstGeom prst="rect">
            <a:avLst/>
          </a:prstGeom>
          <a:solidFill>
            <a:srgbClr val="000000">
              <a:alpha val="4000"/>
            </a:srgbClr>
          </a:solidFill>
          <a:ln/>
        </p:spPr>
        <p:txBody>
          <a:bodyPr/>
          <a:lstStyle/>
          <a:p>
            <a:endParaRPr lang="en-IN"/>
          </a:p>
        </p:txBody>
      </p:sp>
      <p:sp>
        <p:nvSpPr>
          <p:cNvPr id="9" name="Text 7"/>
          <p:cNvSpPr/>
          <p:nvPr/>
        </p:nvSpPr>
        <p:spPr>
          <a:xfrm>
            <a:off x="624855" y="2095500"/>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Written for a human cook</a:t>
            </a:r>
            <a:endParaRPr lang="en-US" sz="1200" dirty="0"/>
          </a:p>
        </p:txBody>
      </p:sp>
      <p:sp>
        <p:nvSpPr>
          <p:cNvPr id="10" name="Text 8"/>
          <p:cNvSpPr/>
          <p:nvPr/>
        </p:nvSpPr>
        <p:spPr>
          <a:xfrm>
            <a:off x="4698355" y="2095500"/>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Written for a computer</a:t>
            </a:r>
            <a:endParaRPr lang="en-US" sz="1200" dirty="0"/>
          </a:p>
        </p:txBody>
      </p:sp>
      <p:sp>
        <p:nvSpPr>
          <p:cNvPr id="11" name="Shape 9"/>
          <p:cNvSpPr/>
          <p:nvPr/>
        </p:nvSpPr>
        <p:spPr>
          <a:xfrm>
            <a:off x="500881" y="2422773"/>
            <a:ext cx="8142238" cy="406450"/>
          </a:xfrm>
          <a:prstGeom prst="rect">
            <a:avLst/>
          </a:prstGeom>
          <a:solidFill>
            <a:srgbClr val="FFFFFF">
              <a:alpha val="4000"/>
            </a:srgbClr>
          </a:solidFill>
          <a:ln/>
        </p:spPr>
        <p:txBody>
          <a:bodyPr/>
          <a:lstStyle/>
          <a:p>
            <a:endParaRPr lang="en-IN"/>
          </a:p>
        </p:txBody>
      </p:sp>
      <p:sp>
        <p:nvSpPr>
          <p:cNvPr id="12" name="Text 10"/>
          <p:cNvSpPr/>
          <p:nvPr/>
        </p:nvSpPr>
        <p:spPr>
          <a:xfrm>
            <a:off x="624855" y="2501950"/>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Uses ingredients</a:t>
            </a:r>
            <a:endParaRPr lang="en-US" sz="1200" dirty="0"/>
          </a:p>
        </p:txBody>
      </p:sp>
      <p:sp>
        <p:nvSpPr>
          <p:cNvPr id="13" name="Text 11"/>
          <p:cNvSpPr/>
          <p:nvPr/>
        </p:nvSpPr>
        <p:spPr>
          <a:xfrm>
            <a:off x="4698355" y="2501950"/>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Uses data</a:t>
            </a:r>
            <a:endParaRPr lang="en-US" sz="1200" dirty="0"/>
          </a:p>
        </p:txBody>
      </p:sp>
      <p:sp>
        <p:nvSpPr>
          <p:cNvPr id="14" name="Shape 12"/>
          <p:cNvSpPr/>
          <p:nvPr/>
        </p:nvSpPr>
        <p:spPr>
          <a:xfrm>
            <a:off x="500881" y="2829223"/>
            <a:ext cx="8142238" cy="406450"/>
          </a:xfrm>
          <a:prstGeom prst="rect">
            <a:avLst/>
          </a:prstGeom>
          <a:solidFill>
            <a:srgbClr val="000000">
              <a:alpha val="4000"/>
            </a:srgbClr>
          </a:solidFill>
          <a:ln/>
        </p:spPr>
        <p:txBody>
          <a:bodyPr/>
          <a:lstStyle/>
          <a:p>
            <a:endParaRPr lang="en-IN"/>
          </a:p>
        </p:txBody>
      </p:sp>
      <p:sp>
        <p:nvSpPr>
          <p:cNvPr id="15" name="Text 13"/>
          <p:cNvSpPr/>
          <p:nvPr/>
        </p:nvSpPr>
        <p:spPr>
          <a:xfrm>
            <a:off x="624855" y="2908399"/>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Produces a dish</a:t>
            </a:r>
            <a:endParaRPr lang="en-US" sz="1200" dirty="0"/>
          </a:p>
        </p:txBody>
      </p:sp>
      <p:sp>
        <p:nvSpPr>
          <p:cNvPr id="16" name="Text 14"/>
          <p:cNvSpPr/>
          <p:nvPr/>
        </p:nvSpPr>
        <p:spPr>
          <a:xfrm>
            <a:off x="4698355" y="2908399"/>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Produces a result</a:t>
            </a:r>
            <a:endParaRPr lang="en-US" sz="1200" dirty="0"/>
          </a:p>
        </p:txBody>
      </p:sp>
      <p:sp>
        <p:nvSpPr>
          <p:cNvPr id="17" name="Shape 15"/>
          <p:cNvSpPr/>
          <p:nvPr/>
        </p:nvSpPr>
        <p:spPr>
          <a:xfrm>
            <a:off x="500881" y="3235672"/>
            <a:ext cx="8142238" cy="406450"/>
          </a:xfrm>
          <a:prstGeom prst="rect">
            <a:avLst/>
          </a:prstGeom>
          <a:solidFill>
            <a:srgbClr val="FFFFFF">
              <a:alpha val="4000"/>
            </a:srgbClr>
          </a:solidFill>
          <a:ln/>
        </p:spPr>
        <p:txBody>
          <a:bodyPr/>
          <a:lstStyle/>
          <a:p>
            <a:endParaRPr lang="en-IN"/>
          </a:p>
        </p:txBody>
      </p:sp>
      <p:sp>
        <p:nvSpPr>
          <p:cNvPr id="18" name="Text 16"/>
          <p:cNvSpPr/>
          <p:nvPr/>
        </p:nvSpPr>
        <p:spPr>
          <a:xfrm>
            <a:off x="624855" y="3314849"/>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Can be followed by anyone</a:t>
            </a:r>
            <a:endParaRPr lang="en-US" sz="1200" dirty="0"/>
          </a:p>
        </p:txBody>
      </p:sp>
      <p:sp>
        <p:nvSpPr>
          <p:cNvPr id="19" name="Text 17"/>
          <p:cNvSpPr/>
          <p:nvPr/>
        </p:nvSpPr>
        <p:spPr>
          <a:xfrm>
            <a:off x="4698355" y="3314849"/>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Can be run on any computer</a:t>
            </a:r>
            <a:endParaRPr lang="en-US" sz="1200" dirty="0"/>
          </a:p>
        </p:txBody>
      </p:sp>
      <p:sp>
        <p:nvSpPr>
          <p:cNvPr id="20" name="Text 18"/>
          <p:cNvSpPr/>
          <p:nvPr/>
        </p:nvSpPr>
        <p:spPr>
          <a:xfrm>
            <a:off x="496119" y="3786411"/>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21" name="Text 19"/>
          <p:cNvSpPr/>
          <p:nvPr/>
        </p:nvSpPr>
        <p:spPr>
          <a:xfrm>
            <a:off x="496119" y="4174034"/>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582588"/>
            <a:ext cx="4875684" cy="401836"/>
          </a:xfrm>
          <a:prstGeom prst="rect">
            <a:avLst/>
          </a:prstGeom>
          <a:noFill/>
          <a:ln/>
        </p:spPr>
        <p:txBody>
          <a:bodyPr wrap="none" lIns="0" tIns="0" rIns="0" bIns="0" rtlCol="0" anchor="t"/>
          <a:lstStyle/>
          <a:p>
            <a:pPr marL="0" indent="0" algn="l">
              <a:lnSpc>
                <a:spcPts val="3050"/>
              </a:lnSpc>
              <a:buNone/>
            </a:pPr>
            <a:r>
              <a:rPr lang="en-US" sz="2400" dirty="0">
                <a:solidFill>
                  <a:srgbClr val="000000"/>
                </a:solidFill>
                <a:latin typeface="Roboto Slab" pitchFamily="34" charset="0"/>
                <a:ea typeface="Roboto Slab" pitchFamily="34" charset="-122"/>
                <a:cs typeface="Roboto Slab" pitchFamily="34" charset="-120"/>
              </a:rPr>
              <a:t>🎮</a:t>
            </a:r>
            <a:r>
              <a:rPr lang="en-US" sz="2400" dirty="0">
                <a:solidFill>
                  <a:srgbClr val="3257B8"/>
                </a:solidFill>
                <a:latin typeface="Roboto Slab" pitchFamily="34" charset="0"/>
                <a:ea typeface="Roboto Slab" pitchFamily="34" charset="-122"/>
                <a:cs typeface="Roboto Slab" pitchFamily="34" charset="-120"/>
              </a:rPr>
              <a:t> Mini Activity: Algorithm Hunt</a:t>
            </a:r>
            <a:endParaRPr lang="en-US" sz="2400" dirty="0"/>
          </a:p>
        </p:txBody>
      </p:sp>
      <p:sp>
        <p:nvSpPr>
          <p:cNvPr id="3" name="Text 1"/>
          <p:cNvSpPr/>
          <p:nvPr/>
        </p:nvSpPr>
        <p:spPr>
          <a:xfrm>
            <a:off x="496119" y="1232446"/>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Find 3 things YOU do step‑by‑step every day. Write down your algorithm for each one.</a:t>
            </a:r>
            <a:endParaRPr lang="en-US" sz="1200" dirty="0"/>
          </a:p>
        </p:txBody>
      </p:sp>
      <p:sp>
        <p:nvSpPr>
          <p:cNvPr id="4" name="Text 2"/>
          <p:cNvSpPr/>
          <p:nvPr/>
        </p:nvSpPr>
        <p:spPr>
          <a:xfrm>
            <a:off x="496119" y="1620069"/>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5" name="Text 3"/>
          <p:cNvSpPr/>
          <p:nvPr/>
        </p:nvSpPr>
        <p:spPr>
          <a:xfrm>
            <a:off x="496119" y="2007691"/>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Need Ideas?</a:t>
            </a:r>
            <a:endParaRPr lang="en-US" sz="1200" dirty="0"/>
          </a:p>
        </p:txBody>
      </p:sp>
      <p:grpSp>
        <p:nvGrpSpPr>
          <p:cNvPr id="22" name="Group 21">
            <a:extLst>
              <a:ext uri="{FF2B5EF4-FFF2-40B4-BE49-F238E27FC236}">
                <a16:creationId xmlns:a16="http://schemas.microsoft.com/office/drawing/2014/main" id="{F202FDD1-E54D-9C54-8B89-9F117ECF8578}"/>
              </a:ext>
            </a:extLst>
          </p:cNvPr>
          <p:cNvGrpSpPr/>
          <p:nvPr/>
        </p:nvGrpSpPr>
        <p:grpSpPr>
          <a:xfrm>
            <a:off x="496119" y="2395314"/>
            <a:ext cx="1944960" cy="1020812"/>
            <a:chOff x="496119" y="2395314"/>
            <a:chExt cx="1944960" cy="1020812"/>
          </a:xfrm>
        </p:grpSpPr>
        <p:sp>
          <p:nvSpPr>
            <p:cNvPr id="6" name="Shape 4"/>
            <p:cNvSpPr/>
            <p:nvPr/>
          </p:nvSpPr>
          <p:spPr>
            <a:xfrm>
              <a:off x="496119" y="2395314"/>
              <a:ext cx="1944960" cy="1020812"/>
            </a:xfrm>
            <a:prstGeom prst="roundRect">
              <a:avLst>
                <a:gd name="adj" fmla="val 1823"/>
              </a:avLst>
            </a:prstGeom>
            <a:solidFill>
              <a:srgbClr val="FBFCFE"/>
            </a:solidFill>
            <a:ln w="14288">
              <a:solidFill>
                <a:srgbClr val="CFD2D8"/>
              </a:solidFill>
              <a:prstDash val="solid"/>
            </a:ln>
          </p:spPr>
          <p:txBody>
            <a:bodyPr/>
            <a:lstStyle/>
            <a:p>
              <a:endParaRPr lang="en-IN"/>
            </a:p>
          </p:txBody>
        </p:sp>
        <p:sp>
          <p:nvSpPr>
            <p:cNvPr id="7" name="Text 5"/>
            <p:cNvSpPr/>
            <p:nvPr/>
          </p:nvSpPr>
          <p:spPr>
            <a:xfrm>
              <a:off x="634380" y="2533576"/>
              <a:ext cx="166843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you brush your teeth</a:t>
              </a:r>
              <a:endParaRPr lang="en-US" sz="1200" dirty="0"/>
            </a:p>
          </p:txBody>
        </p:sp>
      </p:grpSp>
      <p:grpSp>
        <p:nvGrpSpPr>
          <p:cNvPr id="23" name="Group 22">
            <a:extLst>
              <a:ext uri="{FF2B5EF4-FFF2-40B4-BE49-F238E27FC236}">
                <a16:creationId xmlns:a16="http://schemas.microsoft.com/office/drawing/2014/main" id="{28763355-6062-F544-AB6C-58634B08E642}"/>
              </a:ext>
            </a:extLst>
          </p:cNvPr>
          <p:cNvGrpSpPr/>
          <p:nvPr/>
        </p:nvGrpSpPr>
        <p:grpSpPr>
          <a:xfrm>
            <a:off x="2565053" y="2395314"/>
            <a:ext cx="1944960" cy="1020812"/>
            <a:chOff x="2565053" y="2395314"/>
            <a:chExt cx="1944960" cy="1020812"/>
          </a:xfrm>
        </p:grpSpPr>
        <p:sp>
          <p:nvSpPr>
            <p:cNvPr id="8" name="Shape 6"/>
            <p:cNvSpPr/>
            <p:nvPr/>
          </p:nvSpPr>
          <p:spPr>
            <a:xfrm>
              <a:off x="2565053" y="2395314"/>
              <a:ext cx="1944960" cy="1020812"/>
            </a:xfrm>
            <a:prstGeom prst="roundRect">
              <a:avLst>
                <a:gd name="adj" fmla="val 1823"/>
              </a:avLst>
            </a:prstGeom>
            <a:solidFill>
              <a:srgbClr val="FBFCFE"/>
            </a:solidFill>
            <a:ln w="14288">
              <a:solidFill>
                <a:srgbClr val="CFD2D8"/>
              </a:solidFill>
              <a:prstDash val="solid"/>
            </a:ln>
          </p:spPr>
          <p:txBody>
            <a:bodyPr/>
            <a:lstStyle/>
            <a:p>
              <a:endParaRPr lang="en-IN"/>
            </a:p>
          </p:txBody>
        </p:sp>
        <p:sp>
          <p:nvSpPr>
            <p:cNvPr id="9" name="Text 7"/>
            <p:cNvSpPr/>
            <p:nvPr/>
          </p:nvSpPr>
          <p:spPr>
            <a:xfrm>
              <a:off x="2703314" y="2533576"/>
              <a:ext cx="166843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you log into your favorite game</a:t>
              </a:r>
              <a:endParaRPr lang="en-US" sz="1200" dirty="0"/>
            </a:p>
          </p:txBody>
        </p:sp>
      </p:grpSp>
      <p:grpSp>
        <p:nvGrpSpPr>
          <p:cNvPr id="24" name="Group 23">
            <a:extLst>
              <a:ext uri="{FF2B5EF4-FFF2-40B4-BE49-F238E27FC236}">
                <a16:creationId xmlns:a16="http://schemas.microsoft.com/office/drawing/2014/main" id="{BC1F4125-3B1B-8484-1A5E-50FCA9F3CC69}"/>
              </a:ext>
            </a:extLst>
          </p:cNvPr>
          <p:cNvGrpSpPr/>
          <p:nvPr/>
        </p:nvGrpSpPr>
        <p:grpSpPr>
          <a:xfrm>
            <a:off x="4633987" y="2395314"/>
            <a:ext cx="1944960" cy="1020812"/>
            <a:chOff x="4633987" y="2395314"/>
            <a:chExt cx="1944960" cy="1020812"/>
          </a:xfrm>
        </p:grpSpPr>
        <p:sp>
          <p:nvSpPr>
            <p:cNvPr id="10" name="Shape 8"/>
            <p:cNvSpPr/>
            <p:nvPr/>
          </p:nvSpPr>
          <p:spPr>
            <a:xfrm>
              <a:off x="4633987" y="2395314"/>
              <a:ext cx="1944960" cy="1020812"/>
            </a:xfrm>
            <a:prstGeom prst="roundRect">
              <a:avLst>
                <a:gd name="adj" fmla="val 1823"/>
              </a:avLst>
            </a:prstGeom>
            <a:solidFill>
              <a:srgbClr val="FBFCFE"/>
            </a:solidFill>
            <a:ln w="14288">
              <a:solidFill>
                <a:srgbClr val="CFD2D8"/>
              </a:solidFill>
              <a:prstDash val="solid"/>
            </a:ln>
          </p:spPr>
          <p:txBody>
            <a:bodyPr/>
            <a:lstStyle/>
            <a:p>
              <a:endParaRPr lang="en-IN"/>
            </a:p>
          </p:txBody>
        </p:sp>
        <p:sp>
          <p:nvSpPr>
            <p:cNvPr id="11" name="Text 9"/>
            <p:cNvSpPr/>
            <p:nvPr/>
          </p:nvSpPr>
          <p:spPr>
            <a:xfrm>
              <a:off x="4772248" y="2533576"/>
              <a:ext cx="1668438"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you make your favourite snack or sandwich</a:t>
              </a:r>
              <a:endParaRPr lang="en-US" sz="1200" dirty="0"/>
            </a:p>
          </p:txBody>
        </p:sp>
      </p:grpSp>
      <p:grpSp>
        <p:nvGrpSpPr>
          <p:cNvPr id="25" name="Group 24">
            <a:extLst>
              <a:ext uri="{FF2B5EF4-FFF2-40B4-BE49-F238E27FC236}">
                <a16:creationId xmlns:a16="http://schemas.microsoft.com/office/drawing/2014/main" id="{461C6CBF-54E5-ABFC-DBC8-F4319E11077A}"/>
              </a:ext>
            </a:extLst>
          </p:cNvPr>
          <p:cNvGrpSpPr/>
          <p:nvPr/>
        </p:nvGrpSpPr>
        <p:grpSpPr>
          <a:xfrm>
            <a:off x="6702921" y="2395314"/>
            <a:ext cx="1944960" cy="1020812"/>
            <a:chOff x="6702921" y="2395314"/>
            <a:chExt cx="1944960" cy="1020812"/>
          </a:xfrm>
        </p:grpSpPr>
        <p:sp>
          <p:nvSpPr>
            <p:cNvPr id="12" name="Shape 10"/>
            <p:cNvSpPr/>
            <p:nvPr/>
          </p:nvSpPr>
          <p:spPr>
            <a:xfrm>
              <a:off x="6702921" y="2395314"/>
              <a:ext cx="1944960" cy="1020812"/>
            </a:xfrm>
            <a:prstGeom prst="roundRect">
              <a:avLst>
                <a:gd name="adj" fmla="val 1823"/>
              </a:avLst>
            </a:prstGeom>
            <a:solidFill>
              <a:srgbClr val="FBFCFE"/>
            </a:solidFill>
            <a:ln w="14288">
              <a:solidFill>
                <a:srgbClr val="CFD2D8"/>
              </a:solidFill>
              <a:prstDash val="solid"/>
            </a:ln>
          </p:spPr>
          <p:txBody>
            <a:bodyPr/>
            <a:lstStyle/>
            <a:p>
              <a:endParaRPr lang="en-IN"/>
            </a:p>
          </p:txBody>
        </p:sp>
        <p:sp>
          <p:nvSpPr>
            <p:cNvPr id="13" name="Text 11"/>
            <p:cNvSpPr/>
            <p:nvPr/>
          </p:nvSpPr>
          <p:spPr>
            <a:xfrm>
              <a:off x="6841182" y="2533576"/>
              <a:ext cx="166843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you get ready for a picnic</a:t>
              </a:r>
              <a:endParaRPr lang="en-US" sz="1200" dirty="0"/>
            </a:p>
          </p:txBody>
        </p:sp>
      </p:grpSp>
      <p:grpSp>
        <p:nvGrpSpPr>
          <p:cNvPr id="26" name="Group 25">
            <a:extLst>
              <a:ext uri="{FF2B5EF4-FFF2-40B4-BE49-F238E27FC236}">
                <a16:creationId xmlns:a16="http://schemas.microsoft.com/office/drawing/2014/main" id="{08D8BC60-369E-A374-940F-F5E6E2EA89F4}"/>
              </a:ext>
            </a:extLst>
          </p:cNvPr>
          <p:cNvGrpSpPr/>
          <p:nvPr/>
        </p:nvGrpSpPr>
        <p:grpSpPr>
          <a:xfrm>
            <a:off x="496119" y="3540100"/>
            <a:ext cx="1944960" cy="1020812"/>
            <a:chOff x="496119" y="3540100"/>
            <a:chExt cx="1944960" cy="1020812"/>
          </a:xfrm>
        </p:grpSpPr>
        <p:sp>
          <p:nvSpPr>
            <p:cNvPr id="14" name="Shape 12"/>
            <p:cNvSpPr/>
            <p:nvPr/>
          </p:nvSpPr>
          <p:spPr>
            <a:xfrm>
              <a:off x="496119" y="3540100"/>
              <a:ext cx="1944960" cy="1020812"/>
            </a:xfrm>
            <a:prstGeom prst="roundRect">
              <a:avLst>
                <a:gd name="adj" fmla="val 1823"/>
              </a:avLst>
            </a:prstGeom>
            <a:solidFill>
              <a:srgbClr val="FBFCFE"/>
            </a:solidFill>
            <a:ln w="14288">
              <a:solidFill>
                <a:srgbClr val="CFD2D8"/>
              </a:solidFill>
              <a:prstDash val="solid"/>
            </a:ln>
          </p:spPr>
          <p:txBody>
            <a:bodyPr/>
            <a:lstStyle/>
            <a:p>
              <a:endParaRPr lang="en-IN"/>
            </a:p>
          </p:txBody>
        </p:sp>
        <p:sp>
          <p:nvSpPr>
            <p:cNvPr id="15" name="Text 13"/>
            <p:cNvSpPr/>
            <p:nvPr/>
          </p:nvSpPr>
          <p:spPr>
            <a:xfrm>
              <a:off x="634380" y="3678362"/>
              <a:ext cx="166843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you solve a math problem</a:t>
              </a:r>
              <a:endParaRPr lang="en-US" sz="1200" dirty="0"/>
            </a:p>
          </p:txBody>
        </p:sp>
      </p:grpSp>
      <p:grpSp>
        <p:nvGrpSpPr>
          <p:cNvPr id="27" name="Group 26">
            <a:extLst>
              <a:ext uri="{FF2B5EF4-FFF2-40B4-BE49-F238E27FC236}">
                <a16:creationId xmlns:a16="http://schemas.microsoft.com/office/drawing/2014/main" id="{6AE0BEC3-634F-4F6E-38AB-08296F20B3D5}"/>
              </a:ext>
            </a:extLst>
          </p:cNvPr>
          <p:cNvGrpSpPr/>
          <p:nvPr/>
        </p:nvGrpSpPr>
        <p:grpSpPr>
          <a:xfrm>
            <a:off x="2565053" y="3540100"/>
            <a:ext cx="1944960" cy="1020812"/>
            <a:chOff x="2565053" y="3540100"/>
            <a:chExt cx="1944960" cy="1020812"/>
          </a:xfrm>
        </p:grpSpPr>
        <p:sp>
          <p:nvSpPr>
            <p:cNvPr id="16" name="Shape 14"/>
            <p:cNvSpPr/>
            <p:nvPr/>
          </p:nvSpPr>
          <p:spPr>
            <a:xfrm>
              <a:off x="2565053" y="3540100"/>
              <a:ext cx="1944960" cy="1020812"/>
            </a:xfrm>
            <a:prstGeom prst="roundRect">
              <a:avLst>
                <a:gd name="adj" fmla="val 1823"/>
              </a:avLst>
            </a:prstGeom>
            <a:solidFill>
              <a:srgbClr val="FBFCFE"/>
            </a:solidFill>
            <a:ln w="14288">
              <a:solidFill>
                <a:srgbClr val="CFD2D8"/>
              </a:solidFill>
              <a:prstDash val="solid"/>
            </a:ln>
          </p:spPr>
          <p:txBody>
            <a:bodyPr/>
            <a:lstStyle/>
            <a:p>
              <a:endParaRPr lang="en-IN"/>
            </a:p>
          </p:txBody>
        </p:sp>
        <p:sp>
          <p:nvSpPr>
            <p:cNvPr id="17" name="Text 15"/>
            <p:cNvSpPr/>
            <p:nvPr/>
          </p:nvSpPr>
          <p:spPr>
            <a:xfrm>
              <a:off x="2703314" y="3678362"/>
              <a:ext cx="166843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you pack your school bag</a:t>
              </a:r>
              <a:endParaRPr lang="en-US" sz="1200" dirty="0"/>
            </a:p>
          </p:txBody>
        </p:sp>
      </p:grpSp>
      <p:grpSp>
        <p:nvGrpSpPr>
          <p:cNvPr id="28" name="Group 27">
            <a:extLst>
              <a:ext uri="{FF2B5EF4-FFF2-40B4-BE49-F238E27FC236}">
                <a16:creationId xmlns:a16="http://schemas.microsoft.com/office/drawing/2014/main" id="{FF07B69F-F54B-EA5A-54FE-4C6C72E469FC}"/>
              </a:ext>
            </a:extLst>
          </p:cNvPr>
          <p:cNvGrpSpPr/>
          <p:nvPr/>
        </p:nvGrpSpPr>
        <p:grpSpPr>
          <a:xfrm>
            <a:off x="4633987" y="3540100"/>
            <a:ext cx="1944960" cy="1020812"/>
            <a:chOff x="4633987" y="3540100"/>
            <a:chExt cx="1944960" cy="1020812"/>
          </a:xfrm>
        </p:grpSpPr>
        <p:sp>
          <p:nvSpPr>
            <p:cNvPr id="18" name="Shape 16"/>
            <p:cNvSpPr/>
            <p:nvPr/>
          </p:nvSpPr>
          <p:spPr>
            <a:xfrm>
              <a:off x="4633987" y="3540100"/>
              <a:ext cx="1944960" cy="1020812"/>
            </a:xfrm>
            <a:prstGeom prst="roundRect">
              <a:avLst>
                <a:gd name="adj" fmla="val 1823"/>
              </a:avLst>
            </a:prstGeom>
            <a:solidFill>
              <a:srgbClr val="FBFCFE"/>
            </a:solidFill>
            <a:ln w="14288">
              <a:solidFill>
                <a:srgbClr val="CFD2D8"/>
              </a:solidFill>
              <a:prstDash val="solid"/>
            </a:ln>
          </p:spPr>
          <p:txBody>
            <a:bodyPr/>
            <a:lstStyle/>
            <a:p>
              <a:endParaRPr lang="en-IN"/>
            </a:p>
          </p:txBody>
        </p:sp>
        <p:sp>
          <p:nvSpPr>
            <p:cNvPr id="19" name="Text 17"/>
            <p:cNvSpPr/>
            <p:nvPr/>
          </p:nvSpPr>
          <p:spPr>
            <a:xfrm>
              <a:off x="4772248" y="3678362"/>
              <a:ext cx="1668438"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you tie your shoes</a:t>
              </a:r>
              <a:endParaRPr lang="en-US" sz="1200" dirty="0"/>
            </a:p>
          </p:txBody>
        </p:sp>
      </p:grpSp>
      <p:grpSp>
        <p:nvGrpSpPr>
          <p:cNvPr id="29" name="Group 28">
            <a:extLst>
              <a:ext uri="{FF2B5EF4-FFF2-40B4-BE49-F238E27FC236}">
                <a16:creationId xmlns:a16="http://schemas.microsoft.com/office/drawing/2014/main" id="{658C80DD-8617-917D-2135-2A7CBA940026}"/>
              </a:ext>
            </a:extLst>
          </p:cNvPr>
          <p:cNvGrpSpPr/>
          <p:nvPr/>
        </p:nvGrpSpPr>
        <p:grpSpPr>
          <a:xfrm>
            <a:off x="6702921" y="3540100"/>
            <a:ext cx="1944960" cy="1020812"/>
            <a:chOff x="6702921" y="3540100"/>
            <a:chExt cx="1944960" cy="1020812"/>
          </a:xfrm>
        </p:grpSpPr>
        <p:sp>
          <p:nvSpPr>
            <p:cNvPr id="20" name="Shape 18"/>
            <p:cNvSpPr/>
            <p:nvPr/>
          </p:nvSpPr>
          <p:spPr>
            <a:xfrm>
              <a:off x="6702921" y="3540100"/>
              <a:ext cx="1944960" cy="1020812"/>
            </a:xfrm>
            <a:prstGeom prst="roundRect">
              <a:avLst>
                <a:gd name="adj" fmla="val 1823"/>
              </a:avLst>
            </a:prstGeom>
            <a:solidFill>
              <a:srgbClr val="FBFCFE"/>
            </a:solidFill>
            <a:ln w="14288">
              <a:solidFill>
                <a:srgbClr val="CFD2D8"/>
              </a:solidFill>
              <a:prstDash val="solid"/>
            </a:ln>
          </p:spPr>
          <p:txBody>
            <a:bodyPr/>
            <a:lstStyle/>
            <a:p>
              <a:endParaRPr lang="en-IN"/>
            </a:p>
          </p:txBody>
        </p:sp>
        <p:sp>
          <p:nvSpPr>
            <p:cNvPr id="21" name="Text 19"/>
            <p:cNvSpPr/>
            <p:nvPr/>
          </p:nvSpPr>
          <p:spPr>
            <a:xfrm>
              <a:off x="6841182" y="3678362"/>
              <a:ext cx="1668438"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you navigate to a new place on your phone</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354434"/>
            <a:ext cx="4461123" cy="329431"/>
          </a:xfrm>
          <a:prstGeom prst="rect">
            <a:avLst/>
          </a:prstGeom>
          <a:noFill/>
          <a:ln/>
        </p:spPr>
        <p:txBody>
          <a:bodyPr wrap="none" lIns="0" tIns="0" rIns="0" bIns="0" rtlCol="0" anchor="t"/>
          <a:lstStyle/>
          <a:p>
            <a:pPr marL="0" indent="0" algn="l">
              <a:lnSpc>
                <a:spcPts val="2550"/>
              </a:lnSpc>
              <a:buNone/>
            </a:pPr>
            <a:r>
              <a:rPr lang="en-US" sz="2050" dirty="0">
                <a:solidFill>
                  <a:srgbClr val="3257B8"/>
                </a:solidFill>
                <a:latin typeface="Roboto Slab" pitchFamily="34" charset="0"/>
                <a:ea typeface="Roboto Slab" pitchFamily="34" charset="-122"/>
                <a:cs typeface="Roboto Slab" pitchFamily="34" charset="-120"/>
              </a:rPr>
              <a:t>Training - How AI Learns from Data</a:t>
            </a:r>
            <a:endParaRPr lang="en-US" sz="2050" dirty="0"/>
          </a:p>
        </p:txBody>
      </p:sp>
      <p:sp>
        <p:nvSpPr>
          <p:cNvPr id="4" name="Text 1"/>
          <p:cNvSpPr/>
          <p:nvPr/>
        </p:nvSpPr>
        <p:spPr>
          <a:xfrm>
            <a:off x="3925119" y="818257"/>
            <a:ext cx="4722763" cy="195039"/>
          </a:xfrm>
          <a:prstGeom prst="rect">
            <a:avLst/>
          </a:prstGeom>
          <a:noFill/>
          <a:ln/>
        </p:spPr>
        <p:txBody>
          <a:bodyPr wrap="none" lIns="0" tIns="0" rIns="0" bIns="0" rtlCol="0" anchor="t"/>
          <a:lstStyle/>
          <a:p>
            <a:pPr marL="0" indent="0" algn="l">
              <a:lnSpc>
                <a:spcPts val="1500"/>
              </a:lnSpc>
              <a:buNone/>
            </a:pPr>
            <a:r>
              <a:rPr lang="en-US" sz="1000" b="1" dirty="0">
                <a:solidFill>
                  <a:srgbClr val="15213F"/>
                </a:solidFill>
                <a:latin typeface="Roboto" pitchFamily="34" charset="0"/>
                <a:ea typeface="Roboto" pitchFamily="34" charset="-122"/>
                <a:cs typeface="Roboto" pitchFamily="34" charset="-120"/>
              </a:rPr>
              <a:t>Training</a:t>
            </a:r>
            <a:r>
              <a:rPr lang="en-US" sz="1000" dirty="0">
                <a:solidFill>
                  <a:srgbClr val="15213F"/>
                </a:solidFill>
                <a:latin typeface="Roboto" pitchFamily="34" charset="0"/>
                <a:ea typeface="Roboto" pitchFamily="34" charset="-122"/>
                <a:cs typeface="Roboto" pitchFamily="34" charset="-120"/>
              </a:rPr>
              <a:t> is the process where an AI system learns from data.</a:t>
            </a:r>
            <a:endParaRPr lang="en-US" sz="1000" dirty="0"/>
          </a:p>
        </p:txBody>
      </p:sp>
      <p:sp>
        <p:nvSpPr>
          <p:cNvPr id="5" name="Text 2"/>
          <p:cNvSpPr/>
          <p:nvPr/>
        </p:nvSpPr>
        <p:spPr>
          <a:xfrm>
            <a:off x="3925119" y="1147688"/>
            <a:ext cx="2981623" cy="263575"/>
          </a:xfrm>
          <a:prstGeom prst="rect">
            <a:avLst/>
          </a:prstGeom>
          <a:noFill/>
          <a:ln/>
        </p:spPr>
        <p:txBody>
          <a:bodyPr wrap="none" lIns="0" tIns="0" rIns="0" bIns="0" rtlCol="0" anchor="t"/>
          <a:lstStyle/>
          <a:p>
            <a:pPr marL="0" indent="0" algn="l">
              <a:lnSpc>
                <a:spcPts val="2050"/>
              </a:lnSpc>
              <a:buNone/>
            </a:pPr>
            <a:r>
              <a:rPr lang="en-US" sz="1650" dirty="0">
                <a:solidFill>
                  <a:srgbClr val="3257B8"/>
                </a:solidFill>
                <a:latin typeface="Roboto Slab" pitchFamily="34" charset="0"/>
                <a:ea typeface="Roboto Slab" pitchFamily="34" charset="-122"/>
                <a:cs typeface="Roboto Slab" pitchFamily="34" charset="-120"/>
              </a:rPr>
              <a:t>How Training Works (Simply)</a:t>
            </a:r>
            <a:endParaRPr lang="en-US" sz="1650" dirty="0"/>
          </a:p>
        </p:txBody>
      </p:sp>
      <p:sp>
        <p:nvSpPr>
          <p:cNvPr id="6" name="Text 3"/>
          <p:cNvSpPr/>
          <p:nvPr/>
        </p:nvSpPr>
        <p:spPr>
          <a:xfrm>
            <a:off x="3925119" y="1545654"/>
            <a:ext cx="4722763" cy="195039"/>
          </a:xfrm>
          <a:prstGeom prst="rect">
            <a:avLst/>
          </a:prstGeom>
          <a:noFill/>
          <a:ln/>
        </p:spPr>
        <p:txBody>
          <a:bodyPr wrap="none" lIns="0" tIns="0" rIns="0" bIns="0" rtlCol="0" anchor="t"/>
          <a:lstStyle/>
          <a:p>
            <a:pPr marL="0" indent="0" algn="l">
              <a:lnSpc>
                <a:spcPts val="1500"/>
              </a:lnSpc>
              <a:buNone/>
            </a:pPr>
            <a:endParaRPr lang="en-US" sz="1000" dirty="0"/>
          </a:p>
        </p:txBody>
      </p:sp>
      <p:grpSp>
        <p:nvGrpSpPr>
          <p:cNvPr id="24" name="Group 23">
            <a:extLst>
              <a:ext uri="{FF2B5EF4-FFF2-40B4-BE49-F238E27FC236}">
                <a16:creationId xmlns:a16="http://schemas.microsoft.com/office/drawing/2014/main" id="{14AC541C-D6FE-4766-6DC3-C269D8128E45}"/>
              </a:ext>
            </a:extLst>
          </p:cNvPr>
          <p:cNvGrpSpPr/>
          <p:nvPr/>
        </p:nvGrpSpPr>
        <p:grpSpPr>
          <a:xfrm>
            <a:off x="3925119" y="1841450"/>
            <a:ext cx="2361381" cy="924744"/>
            <a:chOff x="3925119" y="1841450"/>
            <a:chExt cx="2361381" cy="924744"/>
          </a:xfrm>
        </p:grpSpPr>
        <p:pic>
          <p:nvPicPr>
            <p:cNvPr id="7" name="Image 1" descr="preencoded.png"/>
            <p:cNvPicPr>
              <a:picLocks noChangeAspect="1"/>
            </p:cNvPicPr>
            <p:nvPr/>
          </p:nvPicPr>
          <p:blipFill>
            <a:blip r:embed="rId4"/>
            <a:stretch>
              <a:fillRect/>
            </a:stretch>
          </p:blipFill>
          <p:spPr>
            <a:xfrm>
              <a:off x="3925119" y="1841450"/>
              <a:ext cx="2361381" cy="421704"/>
            </a:xfrm>
            <a:prstGeom prst="rect">
              <a:avLst/>
            </a:prstGeom>
          </p:spPr>
        </p:pic>
        <p:grpSp>
          <p:nvGrpSpPr>
            <p:cNvPr id="22" name="Group 21">
              <a:extLst>
                <a:ext uri="{FF2B5EF4-FFF2-40B4-BE49-F238E27FC236}">
                  <a16:creationId xmlns:a16="http://schemas.microsoft.com/office/drawing/2014/main" id="{0AFEB1A9-8D49-D25A-4239-4411E9A5FC91}"/>
                </a:ext>
              </a:extLst>
            </p:cNvPr>
            <p:cNvGrpSpPr/>
            <p:nvPr/>
          </p:nvGrpSpPr>
          <p:grpSpPr>
            <a:xfrm>
              <a:off x="4030489" y="2352749"/>
              <a:ext cx="2150641" cy="413445"/>
              <a:chOff x="4030489" y="2352749"/>
              <a:chExt cx="2150641" cy="413445"/>
            </a:xfrm>
          </p:grpSpPr>
          <p:sp>
            <p:nvSpPr>
              <p:cNvPr id="8" name="Text 4"/>
              <p:cNvSpPr/>
              <p:nvPr/>
            </p:nvSpPr>
            <p:spPr>
              <a:xfrm>
                <a:off x="4030489" y="2352749"/>
                <a:ext cx="1317947" cy="164678"/>
              </a:xfrm>
              <a:prstGeom prst="rect">
                <a:avLst/>
              </a:prstGeom>
              <a:noFill/>
              <a:ln/>
            </p:spPr>
            <p:txBody>
              <a:bodyPr wrap="none" lIns="0" tIns="0" rIns="0" bIns="0" rtlCol="0" anchor="t"/>
              <a:lstStyle/>
              <a:p>
                <a:pPr marL="0" indent="0" algn="l">
                  <a:lnSpc>
                    <a:spcPts val="1250"/>
                  </a:lnSpc>
                  <a:buNone/>
                </a:pPr>
                <a:r>
                  <a:rPr lang="en-US" sz="1000" b="1" dirty="0">
                    <a:solidFill>
                      <a:srgbClr val="15213F"/>
                    </a:solidFill>
                    <a:latin typeface="Roboto Slab" pitchFamily="34" charset="0"/>
                    <a:ea typeface="Roboto Slab" pitchFamily="34" charset="-122"/>
                    <a:cs typeface="Roboto Slab" pitchFamily="34" charset="-120"/>
                  </a:rPr>
                  <a:t>DATA</a:t>
                </a:r>
                <a:endParaRPr lang="en-US" sz="1000" dirty="0"/>
              </a:p>
            </p:txBody>
          </p:sp>
          <p:sp>
            <p:nvSpPr>
              <p:cNvPr id="9" name="Text 5"/>
              <p:cNvSpPr/>
              <p:nvPr/>
            </p:nvSpPr>
            <p:spPr>
              <a:xfrm>
                <a:off x="4030489" y="2571155"/>
                <a:ext cx="2150641" cy="195039"/>
              </a:xfrm>
              <a:prstGeom prst="rect">
                <a:avLst/>
              </a:prstGeom>
              <a:noFill/>
              <a:ln/>
            </p:spPr>
            <p:txBody>
              <a:bodyPr wrap="none" lIns="0" tIns="0" rIns="0" bIns="0" rtlCol="0" anchor="t"/>
              <a:lstStyle/>
              <a:p>
                <a:pPr marL="0" indent="0" algn="l">
                  <a:lnSpc>
                    <a:spcPts val="1500"/>
                  </a:lnSpc>
                  <a:buNone/>
                </a:pPr>
                <a:r>
                  <a:rPr lang="en-US" sz="1000" dirty="0">
                    <a:solidFill>
                      <a:srgbClr val="15213F"/>
                    </a:solidFill>
                    <a:latin typeface="Roboto" pitchFamily="34" charset="0"/>
                    <a:ea typeface="Roboto" pitchFamily="34" charset="-122"/>
                    <a:cs typeface="Roboto" pitchFamily="34" charset="-120"/>
                  </a:rPr>
                  <a:t>(Examples)</a:t>
                </a:r>
                <a:endParaRPr lang="en-US" sz="1000" dirty="0"/>
              </a:p>
            </p:txBody>
          </p:sp>
        </p:grpSp>
      </p:grpSp>
      <p:grpSp>
        <p:nvGrpSpPr>
          <p:cNvPr id="23" name="Group 22">
            <a:extLst>
              <a:ext uri="{FF2B5EF4-FFF2-40B4-BE49-F238E27FC236}">
                <a16:creationId xmlns:a16="http://schemas.microsoft.com/office/drawing/2014/main" id="{B6EC8454-B4C4-FCF4-64FC-BC04EB10505E}"/>
              </a:ext>
            </a:extLst>
          </p:cNvPr>
          <p:cNvGrpSpPr/>
          <p:nvPr/>
        </p:nvGrpSpPr>
        <p:grpSpPr>
          <a:xfrm>
            <a:off x="6286500" y="1841450"/>
            <a:ext cx="2361381" cy="924744"/>
            <a:chOff x="6286500" y="1841450"/>
            <a:chExt cx="2361381" cy="924744"/>
          </a:xfrm>
        </p:grpSpPr>
        <p:pic>
          <p:nvPicPr>
            <p:cNvPr id="10" name="Image 2" descr="preencoded.png"/>
            <p:cNvPicPr>
              <a:picLocks noChangeAspect="1"/>
            </p:cNvPicPr>
            <p:nvPr/>
          </p:nvPicPr>
          <p:blipFill>
            <a:blip r:embed="rId5"/>
            <a:stretch>
              <a:fillRect/>
            </a:stretch>
          </p:blipFill>
          <p:spPr>
            <a:xfrm>
              <a:off x="6286500" y="1841450"/>
              <a:ext cx="2361381" cy="421704"/>
            </a:xfrm>
            <a:prstGeom prst="rect">
              <a:avLst/>
            </a:prstGeom>
          </p:spPr>
        </p:pic>
        <p:sp>
          <p:nvSpPr>
            <p:cNvPr id="11" name="Text 6"/>
            <p:cNvSpPr/>
            <p:nvPr/>
          </p:nvSpPr>
          <p:spPr>
            <a:xfrm>
              <a:off x="6391870" y="2352749"/>
              <a:ext cx="1317947" cy="164678"/>
            </a:xfrm>
            <a:prstGeom prst="rect">
              <a:avLst/>
            </a:prstGeom>
            <a:noFill/>
            <a:ln/>
          </p:spPr>
          <p:txBody>
            <a:bodyPr wrap="none" lIns="0" tIns="0" rIns="0" bIns="0" rtlCol="0" anchor="t"/>
            <a:lstStyle/>
            <a:p>
              <a:pPr marL="0" indent="0" algn="l">
                <a:lnSpc>
                  <a:spcPts val="1250"/>
                </a:lnSpc>
                <a:buNone/>
              </a:pPr>
              <a:r>
                <a:rPr lang="en-US" sz="1000" b="1" dirty="0">
                  <a:solidFill>
                    <a:srgbClr val="15213F"/>
                  </a:solidFill>
                  <a:latin typeface="Roboto Slab" pitchFamily="34" charset="0"/>
                  <a:ea typeface="Roboto Slab" pitchFamily="34" charset="-122"/>
                  <a:cs typeface="Roboto Slab" pitchFamily="34" charset="-120"/>
                </a:rPr>
                <a:t>ALGORITHM</a:t>
              </a:r>
              <a:endParaRPr lang="en-US" sz="1000" dirty="0"/>
            </a:p>
          </p:txBody>
        </p:sp>
        <p:sp>
          <p:nvSpPr>
            <p:cNvPr id="12" name="Text 7"/>
            <p:cNvSpPr/>
            <p:nvPr/>
          </p:nvSpPr>
          <p:spPr>
            <a:xfrm>
              <a:off x="6391870" y="2571155"/>
              <a:ext cx="2150641" cy="195039"/>
            </a:xfrm>
            <a:prstGeom prst="rect">
              <a:avLst/>
            </a:prstGeom>
            <a:noFill/>
            <a:ln/>
          </p:spPr>
          <p:txBody>
            <a:bodyPr wrap="none" lIns="0" tIns="0" rIns="0" bIns="0" rtlCol="0" anchor="t"/>
            <a:lstStyle/>
            <a:p>
              <a:pPr marL="0" indent="0" algn="l">
                <a:lnSpc>
                  <a:spcPts val="1500"/>
                </a:lnSpc>
                <a:buNone/>
              </a:pPr>
              <a:r>
                <a:rPr lang="en-US" sz="1000" dirty="0">
                  <a:solidFill>
                    <a:srgbClr val="15213F"/>
                  </a:solidFill>
                  <a:latin typeface="Roboto" pitchFamily="34" charset="0"/>
                  <a:ea typeface="Roboto" pitchFamily="34" charset="-122"/>
                  <a:cs typeface="Roboto" pitchFamily="34" charset="-120"/>
                </a:rPr>
                <a:t>(Recipe)</a:t>
              </a:r>
              <a:endParaRPr lang="en-US" sz="1000" dirty="0"/>
            </a:p>
          </p:txBody>
        </p:sp>
      </p:grpSp>
      <p:grpSp>
        <p:nvGrpSpPr>
          <p:cNvPr id="25" name="Group 24">
            <a:extLst>
              <a:ext uri="{FF2B5EF4-FFF2-40B4-BE49-F238E27FC236}">
                <a16:creationId xmlns:a16="http://schemas.microsoft.com/office/drawing/2014/main" id="{29F3BB66-5E28-0F5E-5021-C9EE3B6B7ABB}"/>
              </a:ext>
            </a:extLst>
          </p:cNvPr>
          <p:cNvGrpSpPr/>
          <p:nvPr/>
        </p:nvGrpSpPr>
        <p:grpSpPr>
          <a:xfrm>
            <a:off x="3925119" y="2871564"/>
            <a:ext cx="2361381" cy="924744"/>
            <a:chOff x="3925119" y="2871564"/>
            <a:chExt cx="2361381" cy="924744"/>
          </a:xfrm>
        </p:grpSpPr>
        <p:pic>
          <p:nvPicPr>
            <p:cNvPr id="13" name="Image 3" descr="preencoded.png"/>
            <p:cNvPicPr>
              <a:picLocks noChangeAspect="1"/>
            </p:cNvPicPr>
            <p:nvPr/>
          </p:nvPicPr>
          <p:blipFill>
            <a:blip r:embed="rId6"/>
            <a:stretch>
              <a:fillRect/>
            </a:stretch>
          </p:blipFill>
          <p:spPr>
            <a:xfrm>
              <a:off x="3925119" y="2871564"/>
              <a:ext cx="2361381" cy="421704"/>
            </a:xfrm>
            <a:prstGeom prst="rect">
              <a:avLst/>
            </a:prstGeom>
          </p:spPr>
        </p:pic>
        <p:sp>
          <p:nvSpPr>
            <p:cNvPr id="14" name="Text 8"/>
            <p:cNvSpPr/>
            <p:nvPr/>
          </p:nvSpPr>
          <p:spPr>
            <a:xfrm>
              <a:off x="4030489" y="3382863"/>
              <a:ext cx="1317947" cy="164678"/>
            </a:xfrm>
            <a:prstGeom prst="rect">
              <a:avLst/>
            </a:prstGeom>
            <a:noFill/>
            <a:ln/>
          </p:spPr>
          <p:txBody>
            <a:bodyPr wrap="none" lIns="0" tIns="0" rIns="0" bIns="0" rtlCol="0" anchor="t"/>
            <a:lstStyle/>
            <a:p>
              <a:pPr marL="0" indent="0" algn="l">
                <a:lnSpc>
                  <a:spcPts val="1250"/>
                </a:lnSpc>
                <a:buNone/>
              </a:pPr>
              <a:r>
                <a:rPr lang="en-US" sz="1000" b="1" dirty="0">
                  <a:solidFill>
                    <a:srgbClr val="15213F"/>
                  </a:solidFill>
                  <a:latin typeface="Roboto Slab" pitchFamily="34" charset="0"/>
                  <a:ea typeface="Roboto Slab" pitchFamily="34" charset="-122"/>
                  <a:cs typeface="Roboto Slab" pitchFamily="34" charset="-120"/>
                </a:rPr>
                <a:t>TRAINING</a:t>
              </a:r>
              <a:endParaRPr lang="en-US" sz="1000" dirty="0"/>
            </a:p>
          </p:txBody>
        </p:sp>
        <p:sp>
          <p:nvSpPr>
            <p:cNvPr id="15" name="Text 9"/>
            <p:cNvSpPr/>
            <p:nvPr/>
          </p:nvSpPr>
          <p:spPr>
            <a:xfrm>
              <a:off x="4030489" y="3601269"/>
              <a:ext cx="2150641" cy="195039"/>
            </a:xfrm>
            <a:prstGeom prst="rect">
              <a:avLst/>
            </a:prstGeom>
            <a:noFill/>
            <a:ln/>
          </p:spPr>
          <p:txBody>
            <a:bodyPr wrap="none" lIns="0" tIns="0" rIns="0" bIns="0" rtlCol="0" anchor="t"/>
            <a:lstStyle/>
            <a:p>
              <a:pPr marL="0" indent="0" algn="l">
                <a:lnSpc>
                  <a:spcPts val="1500"/>
                </a:lnSpc>
                <a:buNone/>
              </a:pPr>
              <a:r>
                <a:rPr lang="en-US" sz="1000" dirty="0">
                  <a:solidFill>
                    <a:srgbClr val="15213F"/>
                  </a:solidFill>
                  <a:latin typeface="Roboto" pitchFamily="34" charset="0"/>
                  <a:ea typeface="Roboto" pitchFamily="34" charset="-122"/>
                  <a:cs typeface="Roboto" pitchFamily="34" charset="-120"/>
                </a:rPr>
                <a:t>(Process)</a:t>
              </a:r>
              <a:endParaRPr lang="en-US" sz="1000" dirty="0"/>
            </a:p>
          </p:txBody>
        </p:sp>
      </p:grpSp>
      <p:grpSp>
        <p:nvGrpSpPr>
          <p:cNvPr id="26" name="Group 25">
            <a:extLst>
              <a:ext uri="{FF2B5EF4-FFF2-40B4-BE49-F238E27FC236}">
                <a16:creationId xmlns:a16="http://schemas.microsoft.com/office/drawing/2014/main" id="{4FDE2885-0F16-6FDC-4DEC-B707977C39DA}"/>
              </a:ext>
            </a:extLst>
          </p:cNvPr>
          <p:cNvGrpSpPr/>
          <p:nvPr/>
        </p:nvGrpSpPr>
        <p:grpSpPr>
          <a:xfrm>
            <a:off x="6286500" y="2871564"/>
            <a:ext cx="2361381" cy="924744"/>
            <a:chOff x="6286500" y="2871564"/>
            <a:chExt cx="2361381" cy="924744"/>
          </a:xfrm>
        </p:grpSpPr>
        <p:pic>
          <p:nvPicPr>
            <p:cNvPr id="16" name="Image 4" descr="preencoded.png"/>
            <p:cNvPicPr>
              <a:picLocks noChangeAspect="1"/>
            </p:cNvPicPr>
            <p:nvPr/>
          </p:nvPicPr>
          <p:blipFill>
            <a:blip r:embed="rId7"/>
            <a:stretch>
              <a:fillRect/>
            </a:stretch>
          </p:blipFill>
          <p:spPr>
            <a:xfrm>
              <a:off x="6286500" y="2871564"/>
              <a:ext cx="2361381" cy="421704"/>
            </a:xfrm>
            <a:prstGeom prst="rect">
              <a:avLst/>
            </a:prstGeom>
          </p:spPr>
        </p:pic>
        <p:sp>
          <p:nvSpPr>
            <p:cNvPr id="17" name="Text 10"/>
            <p:cNvSpPr/>
            <p:nvPr/>
          </p:nvSpPr>
          <p:spPr>
            <a:xfrm>
              <a:off x="6391870" y="3382863"/>
              <a:ext cx="1317947" cy="164678"/>
            </a:xfrm>
            <a:prstGeom prst="rect">
              <a:avLst/>
            </a:prstGeom>
            <a:noFill/>
            <a:ln/>
          </p:spPr>
          <p:txBody>
            <a:bodyPr wrap="none" lIns="0" tIns="0" rIns="0" bIns="0" rtlCol="0" anchor="t"/>
            <a:lstStyle/>
            <a:p>
              <a:pPr marL="0" indent="0" algn="l">
                <a:lnSpc>
                  <a:spcPts val="1250"/>
                </a:lnSpc>
                <a:buNone/>
              </a:pPr>
              <a:r>
                <a:rPr lang="en-US" sz="1000" b="1" dirty="0">
                  <a:solidFill>
                    <a:srgbClr val="15213F"/>
                  </a:solidFill>
                  <a:latin typeface="Roboto Slab" pitchFamily="34" charset="0"/>
                  <a:ea typeface="Roboto Slab" pitchFamily="34" charset="-122"/>
                  <a:cs typeface="Roboto Slab" pitchFamily="34" charset="-120"/>
                </a:rPr>
                <a:t>MODEL</a:t>
              </a:r>
              <a:endParaRPr lang="en-US" sz="1000" dirty="0"/>
            </a:p>
          </p:txBody>
        </p:sp>
        <p:sp>
          <p:nvSpPr>
            <p:cNvPr id="18" name="Text 11"/>
            <p:cNvSpPr/>
            <p:nvPr/>
          </p:nvSpPr>
          <p:spPr>
            <a:xfrm>
              <a:off x="6391870" y="3601269"/>
              <a:ext cx="2150641" cy="195039"/>
            </a:xfrm>
            <a:prstGeom prst="rect">
              <a:avLst/>
            </a:prstGeom>
            <a:noFill/>
            <a:ln/>
          </p:spPr>
          <p:txBody>
            <a:bodyPr wrap="none" lIns="0" tIns="0" rIns="0" bIns="0" rtlCol="0" anchor="t"/>
            <a:lstStyle/>
            <a:p>
              <a:pPr marL="0" indent="0" algn="l">
                <a:lnSpc>
                  <a:spcPts val="1500"/>
                </a:lnSpc>
                <a:buNone/>
              </a:pPr>
              <a:r>
                <a:rPr lang="en-US" sz="1000" dirty="0">
                  <a:solidFill>
                    <a:srgbClr val="15213F"/>
                  </a:solidFill>
                  <a:latin typeface="Roboto" pitchFamily="34" charset="0"/>
                  <a:ea typeface="Roboto" pitchFamily="34" charset="-122"/>
                  <a:cs typeface="Roboto" pitchFamily="34" charset="-120"/>
                </a:rPr>
                <a:t>(Result)</a:t>
              </a:r>
              <a:endParaRPr lang="en-US" sz="1000" dirty="0"/>
            </a:p>
          </p:txBody>
        </p:sp>
      </p:grpSp>
      <p:sp>
        <p:nvSpPr>
          <p:cNvPr id="19" name="Text 12"/>
          <p:cNvSpPr/>
          <p:nvPr/>
        </p:nvSpPr>
        <p:spPr>
          <a:xfrm>
            <a:off x="3925119" y="4002435"/>
            <a:ext cx="4722763" cy="195039"/>
          </a:xfrm>
          <a:prstGeom prst="rect">
            <a:avLst/>
          </a:prstGeom>
          <a:noFill/>
          <a:ln/>
        </p:spPr>
        <p:txBody>
          <a:bodyPr wrap="none" lIns="0" tIns="0" rIns="0" bIns="0" rtlCol="0" anchor="t"/>
          <a:lstStyle/>
          <a:p>
            <a:pPr marL="0" indent="0" algn="l">
              <a:lnSpc>
                <a:spcPts val="1500"/>
              </a:lnSpc>
              <a:buNone/>
            </a:pPr>
            <a:endParaRPr lang="en-US" sz="1000" dirty="0"/>
          </a:p>
        </p:txBody>
      </p:sp>
      <p:sp>
        <p:nvSpPr>
          <p:cNvPr id="20" name="Text 13"/>
          <p:cNvSpPr/>
          <p:nvPr/>
        </p:nvSpPr>
        <p:spPr>
          <a:xfrm>
            <a:off x="3925119" y="4298231"/>
            <a:ext cx="4722763" cy="195039"/>
          </a:xfrm>
          <a:prstGeom prst="rect">
            <a:avLst/>
          </a:prstGeom>
          <a:noFill/>
          <a:ln/>
        </p:spPr>
        <p:txBody>
          <a:bodyPr wrap="none" lIns="0" tIns="0" rIns="0" bIns="0" rtlCol="0" anchor="t"/>
          <a:lstStyle/>
          <a:p>
            <a:pPr marL="0" indent="0" algn="l">
              <a:lnSpc>
                <a:spcPts val="1500"/>
              </a:lnSpc>
              <a:buNone/>
            </a:pPr>
            <a:endParaRPr lang="en-US" sz="1000" dirty="0"/>
          </a:p>
        </p:txBody>
      </p:sp>
      <p:sp>
        <p:nvSpPr>
          <p:cNvPr id="21" name="Text 14"/>
          <p:cNvSpPr/>
          <p:nvPr/>
        </p:nvSpPr>
        <p:spPr>
          <a:xfrm>
            <a:off x="3925119" y="4594027"/>
            <a:ext cx="4722763" cy="195039"/>
          </a:xfrm>
          <a:prstGeom prst="rect">
            <a:avLst/>
          </a:prstGeom>
          <a:noFill/>
          <a:ln/>
        </p:spPr>
        <p:txBody>
          <a:bodyPr wrap="none" lIns="0" tIns="0" rIns="0" bIns="0" rtlCol="0" anchor="t"/>
          <a:lstStyle/>
          <a:p>
            <a:pPr marL="0" indent="0" algn="l">
              <a:lnSpc>
                <a:spcPts val="1500"/>
              </a:lnSpc>
              <a:buNone/>
            </a:pP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96119" y="439787"/>
            <a:ext cx="7462763"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What Actually Happens Inside AI During Training?</a:t>
            </a:r>
            <a:endParaRPr lang="en-US" sz="2400" dirty="0"/>
          </a:p>
        </p:txBody>
      </p:sp>
      <p:sp>
        <p:nvSpPr>
          <p:cNvPr id="3" name="Text 1"/>
          <p:cNvSpPr/>
          <p:nvPr/>
        </p:nvSpPr>
        <p:spPr>
          <a:xfrm>
            <a:off x="496119" y="1075358"/>
            <a:ext cx="81517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During training, the algorithm goes through a continuous loop:</a:t>
            </a:r>
            <a:endParaRPr lang="en-US" sz="1200" dirty="0"/>
          </a:p>
        </p:txBody>
      </p:sp>
      <p:sp>
        <p:nvSpPr>
          <p:cNvPr id="4" name="Text 2"/>
          <p:cNvSpPr/>
          <p:nvPr/>
        </p:nvSpPr>
        <p:spPr>
          <a:xfrm>
            <a:off x="496119" y="1462980"/>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5" name="Text 3"/>
          <p:cNvSpPr/>
          <p:nvPr/>
        </p:nvSpPr>
        <p:spPr>
          <a:xfrm>
            <a:off x="1408807" y="2420392"/>
            <a:ext cx="1550566" cy="193849"/>
          </a:xfrm>
          <a:prstGeom prst="rect">
            <a:avLst/>
          </a:prstGeom>
          <a:noFill/>
          <a:ln/>
        </p:spPr>
        <p:txBody>
          <a:bodyPr wrap="none" lIns="0" tIns="0" rIns="0" bIns="0" rtlCol="0" anchor="t"/>
          <a:lstStyle/>
          <a:p>
            <a:pPr marL="0" indent="0" algn="r">
              <a:lnSpc>
                <a:spcPts val="1500"/>
              </a:lnSpc>
              <a:buNone/>
            </a:pPr>
            <a:r>
              <a:rPr lang="en-US" sz="1200" b="1" dirty="0">
                <a:solidFill>
                  <a:srgbClr val="15213F"/>
                </a:solidFill>
                <a:latin typeface="Roboto Slab" pitchFamily="34" charset="0"/>
                <a:ea typeface="Roboto Slab" pitchFamily="34" charset="-122"/>
                <a:cs typeface="Roboto Slab" pitchFamily="34" charset="-120"/>
              </a:rPr>
              <a:t>Make a guess</a:t>
            </a:r>
            <a:endParaRPr lang="en-US" sz="1200" dirty="0"/>
          </a:p>
        </p:txBody>
      </p:sp>
      <p:pic>
        <p:nvPicPr>
          <p:cNvPr id="6" name="Image 0" descr="preencoded.png"/>
          <p:cNvPicPr>
            <a:picLocks noChangeAspect="1"/>
          </p:cNvPicPr>
          <p:nvPr/>
        </p:nvPicPr>
        <p:blipFill>
          <a:blip r:embed="rId3"/>
          <a:stretch>
            <a:fillRect/>
          </a:stretch>
        </p:blipFill>
        <p:spPr>
          <a:xfrm>
            <a:off x="3145408" y="1850603"/>
            <a:ext cx="2853110" cy="2853110"/>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04915" y="2367297"/>
            <a:ext cx="185589" cy="185589"/>
          </a:xfrm>
          <a:prstGeom prst="rect">
            <a:avLst/>
          </a:prstGeom>
        </p:spPr>
      </p:pic>
      <p:sp>
        <p:nvSpPr>
          <p:cNvPr id="8" name="Text 4"/>
          <p:cNvSpPr/>
          <p:nvPr/>
        </p:nvSpPr>
        <p:spPr>
          <a:xfrm>
            <a:off x="6184553" y="2420392"/>
            <a:ext cx="1812503"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Check if guess was right</a:t>
            </a:r>
            <a:endParaRPr lang="en-US" sz="1200" dirty="0"/>
          </a:p>
        </p:txBody>
      </p:sp>
      <p:pic>
        <p:nvPicPr>
          <p:cNvPr id="9" name="Image 2" descr="preencoded.png"/>
          <p:cNvPicPr>
            <a:picLocks noChangeAspect="1"/>
          </p:cNvPicPr>
          <p:nvPr/>
        </p:nvPicPr>
        <p:blipFill>
          <a:blip r:embed="rId5"/>
          <a:stretch>
            <a:fillRect/>
          </a:stretch>
        </p:blipFill>
        <p:spPr>
          <a:xfrm>
            <a:off x="3145408" y="1850603"/>
            <a:ext cx="2853110" cy="2853110"/>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96086" y="2610110"/>
            <a:ext cx="185589" cy="185589"/>
          </a:xfrm>
          <a:prstGeom prst="rect">
            <a:avLst/>
          </a:prstGeom>
        </p:spPr>
      </p:pic>
      <p:sp>
        <p:nvSpPr>
          <p:cNvPr id="11" name="Text 5"/>
          <p:cNvSpPr/>
          <p:nvPr/>
        </p:nvSpPr>
        <p:spPr>
          <a:xfrm>
            <a:off x="6184553" y="3940001"/>
            <a:ext cx="1587178"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Adjust itself a tiny bit</a:t>
            </a:r>
            <a:endParaRPr lang="en-US" sz="1200" dirty="0"/>
          </a:p>
        </p:txBody>
      </p:sp>
      <p:pic>
        <p:nvPicPr>
          <p:cNvPr id="12" name="Image 4" descr="preencoded.png"/>
          <p:cNvPicPr>
            <a:picLocks noChangeAspect="1"/>
          </p:cNvPicPr>
          <p:nvPr/>
        </p:nvPicPr>
        <p:blipFill>
          <a:blip r:embed="rId7"/>
          <a:stretch>
            <a:fillRect/>
          </a:stretch>
        </p:blipFill>
        <p:spPr>
          <a:xfrm>
            <a:off x="3145408" y="1850603"/>
            <a:ext cx="2853110" cy="2853110"/>
          </a:xfrm>
          <a:prstGeom prst="rect">
            <a:avLst/>
          </a:prstGeom>
        </p:spPr>
      </p:pic>
      <p:pic>
        <p:nvPicPr>
          <p:cNvPr id="1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53273" y="4001281"/>
            <a:ext cx="185589" cy="185589"/>
          </a:xfrm>
          <a:prstGeom prst="rect">
            <a:avLst/>
          </a:prstGeom>
        </p:spPr>
      </p:pic>
      <p:sp>
        <p:nvSpPr>
          <p:cNvPr id="14" name="Text 6"/>
          <p:cNvSpPr/>
          <p:nvPr/>
        </p:nvSpPr>
        <p:spPr>
          <a:xfrm>
            <a:off x="1025723" y="3940001"/>
            <a:ext cx="1933649" cy="193849"/>
          </a:xfrm>
          <a:prstGeom prst="rect">
            <a:avLst/>
          </a:prstGeom>
          <a:noFill/>
          <a:ln/>
        </p:spPr>
        <p:txBody>
          <a:bodyPr wrap="none" lIns="0" tIns="0" rIns="0" bIns="0" rtlCol="0" anchor="t"/>
          <a:lstStyle/>
          <a:p>
            <a:pPr marL="0" indent="0" algn="r">
              <a:lnSpc>
                <a:spcPts val="1500"/>
              </a:lnSpc>
              <a:buNone/>
            </a:pPr>
            <a:r>
              <a:rPr lang="en-US" sz="1200" b="1" dirty="0">
                <a:solidFill>
                  <a:srgbClr val="15213F"/>
                </a:solidFill>
                <a:latin typeface="Roboto Slab" pitchFamily="34" charset="0"/>
                <a:ea typeface="Roboto Slab" pitchFamily="34" charset="-122"/>
                <a:cs typeface="Roboto Slab" pitchFamily="34" charset="-120"/>
              </a:rPr>
              <a:t>REPEAT millions of times!</a:t>
            </a:r>
            <a:endParaRPr lang="en-US" sz="1200" dirty="0"/>
          </a:p>
        </p:txBody>
      </p:sp>
      <p:pic>
        <p:nvPicPr>
          <p:cNvPr id="15" name="Image 6" descr="preencoded.png"/>
          <p:cNvPicPr>
            <a:picLocks noChangeAspect="1"/>
          </p:cNvPicPr>
          <p:nvPr/>
        </p:nvPicPr>
        <p:blipFill>
          <a:blip r:embed="rId9"/>
          <a:stretch>
            <a:fillRect/>
          </a:stretch>
        </p:blipFill>
        <p:spPr>
          <a:xfrm>
            <a:off x="3145408" y="1850603"/>
            <a:ext cx="2853110" cy="2853110"/>
          </a:xfrm>
          <a:prstGeom prst="rect">
            <a:avLst/>
          </a:prstGeom>
        </p:spPr>
      </p:pic>
      <p:pic>
        <p:nvPicPr>
          <p:cNvPr id="16"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662102" y="3758468"/>
            <a:ext cx="185589" cy="1855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951509"/>
            <a:ext cx="3767584"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Think of It Like Tuning a Guitar </a:t>
            </a:r>
            <a:endParaRPr lang="en-US" sz="1950" dirty="0"/>
          </a:p>
        </p:txBody>
      </p:sp>
      <p:sp>
        <p:nvSpPr>
          <p:cNvPr id="4" name="Text 1"/>
          <p:cNvSpPr/>
          <p:nvPr/>
        </p:nvSpPr>
        <p:spPr>
          <a:xfrm>
            <a:off x="3925119" y="2447627"/>
            <a:ext cx="4722763" cy="744289"/>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Think of training an AI like tuning a guitar. You pluck, listen, adjust over and over until it sounds right. AI does the same thing, adjusting millions of tiny numbers until its predictions are accurate.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96119" y="1188169"/>
            <a:ext cx="6037287"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Training Takes… A LOT of Data and Time!</a:t>
            </a:r>
            <a:endParaRPr lang="en-US" sz="2400" dirty="0"/>
          </a:p>
        </p:txBody>
      </p:sp>
      <p:sp>
        <p:nvSpPr>
          <p:cNvPr id="3" name="Shape 1"/>
          <p:cNvSpPr/>
          <p:nvPr/>
        </p:nvSpPr>
        <p:spPr>
          <a:xfrm>
            <a:off x="496119" y="1823740"/>
            <a:ext cx="8151763" cy="2131516"/>
          </a:xfrm>
          <a:prstGeom prst="roundRect">
            <a:avLst>
              <a:gd name="adj" fmla="val 873"/>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828502"/>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1907679"/>
            <a:ext cx="1798216"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What's Being Trained</a:t>
            </a:r>
            <a:endParaRPr lang="en-US" sz="1200" dirty="0"/>
          </a:p>
        </p:txBody>
      </p:sp>
      <p:sp>
        <p:nvSpPr>
          <p:cNvPr id="6" name="Text 4"/>
          <p:cNvSpPr/>
          <p:nvPr/>
        </p:nvSpPr>
        <p:spPr>
          <a:xfrm>
            <a:off x="2675855" y="1907679"/>
            <a:ext cx="2794099"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How Much Data</a:t>
            </a:r>
            <a:endParaRPr lang="en-US" sz="1200" dirty="0"/>
          </a:p>
        </p:txBody>
      </p:sp>
      <p:sp>
        <p:nvSpPr>
          <p:cNvPr id="7" name="Text 5"/>
          <p:cNvSpPr/>
          <p:nvPr/>
        </p:nvSpPr>
        <p:spPr>
          <a:xfrm>
            <a:off x="5722665" y="1907679"/>
            <a:ext cx="279648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How Long It Takes</a:t>
            </a:r>
            <a:endParaRPr lang="en-US" sz="1200" dirty="0"/>
          </a:p>
        </p:txBody>
      </p:sp>
      <p:sp>
        <p:nvSpPr>
          <p:cNvPr id="8" name="Shape 6"/>
          <p:cNvSpPr/>
          <p:nvPr/>
        </p:nvSpPr>
        <p:spPr>
          <a:xfrm>
            <a:off x="500881" y="2234952"/>
            <a:ext cx="8142238" cy="406450"/>
          </a:xfrm>
          <a:prstGeom prst="rect">
            <a:avLst/>
          </a:prstGeom>
          <a:solidFill>
            <a:srgbClr val="000000">
              <a:alpha val="4000"/>
            </a:srgbClr>
          </a:solidFill>
          <a:ln/>
        </p:spPr>
        <p:txBody>
          <a:bodyPr/>
          <a:lstStyle/>
          <a:p>
            <a:endParaRPr lang="en-IN"/>
          </a:p>
        </p:txBody>
      </p:sp>
      <p:sp>
        <p:nvSpPr>
          <p:cNvPr id="9" name="Text 7"/>
          <p:cNvSpPr/>
          <p:nvPr/>
        </p:nvSpPr>
        <p:spPr>
          <a:xfrm>
            <a:off x="624929" y="2314129"/>
            <a:ext cx="17982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Simple image classifier</a:t>
            </a:r>
            <a:endParaRPr lang="en-US" sz="1200" dirty="0"/>
          </a:p>
        </p:txBody>
      </p:sp>
      <p:sp>
        <p:nvSpPr>
          <p:cNvPr id="10" name="Text 8"/>
          <p:cNvSpPr/>
          <p:nvPr/>
        </p:nvSpPr>
        <p:spPr>
          <a:xfrm>
            <a:off x="2675855" y="2314129"/>
            <a:ext cx="279409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50‑100 images</a:t>
            </a:r>
            <a:endParaRPr lang="en-US" sz="1200" dirty="0"/>
          </a:p>
        </p:txBody>
      </p:sp>
      <p:sp>
        <p:nvSpPr>
          <p:cNvPr id="11" name="Text 9"/>
          <p:cNvSpPr/>
          <p:nvPr/>
        </p:nvSpPr>
        <p:spPr>
          <a:xfrm>
            <a:off x="5722665" y="2314129"/>
            <a:ext cx="279648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few minutes</a:t>
            </a:r>
            <a:endParaRPr lang="en-US" sz="1200" dirty="0"/>
          </a:p>
        </p:txBody>
      </p:sp>
      <p:sp>
        <p:nvSpPr>
          <p:cNvPr id="12" name="Shape 10"/>
          <p:cNvSpPr/>
          <p:nvPr/>
        </p:nvSpPr>
        <p:spPr>
          <a:xfrm>
            <a:off x="500881" y="2641402"/>
            <a:ext cx="8142238" cy="654546"/>
          </a:xfrm>
          <a:prstGeom prst="rect">
            <a:avLst/>
          </a:prstGeom>
          <a:solidFill>
            <a:srgbClr val="FFFFFF">
              <a:alpha val="4000"/>
            </a:srgbClr>
          </a:solidFill>
          <a:ln/>
        </p:spPr>
        <p:txBody>
          <a:bodyPr/>
          <a:lstStyle/>
          <a:p>
            <a:endParaRPr lang="en-IN"/>
          </a:p>
        </p:txBody>
      </p:sp>
      <p:sp>
        <p:nvSpPr>
          <p:cNvPr id="13" name="Text 11"/>
          <p:cNvSpPr/>
          <p:nvPr/>
        </p:nvSpPr>
        <p:spPr>
          <a:xfrm>
            <a:off x="624929" y="2720578"/>
            <a:ext cx="17982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ChatGPT / Gemini</a:t>
            </a:r>
            <a:endParaRPr lang="en-US" sz="1200" dirty="0"/>
          </a:p>
        </p:txBody>
      </p:sp>
      <p:sp>
        <p:nvSpPr>
          <p:cNvPr id="14" name="Text 12"/>
          <p:cNvSpPr/>
          <p:nvPr/>
        </p:nvSpPr>
        <p:spPr>
          <a:xfrm>
            <a:off x="2675855" y="2720578"/>
            <a:ext cx="2794099"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Billions of web pages, books, articles - that's petabytes of data!</a:t>
            </a:r>
            <a:endParaRPr lang="en-US" sz="1200" dirty="0"/>
          </a:p>
        </p:txBody>
      </p:sp>
      <p:sp>
        <p:nvSpPr>
          <p:cNvPr id="15" name="Text 13"/>
          <p:cNvSpPr/>
          <p:nvPr/>
        </p:nvSpPr>
        <p:spPr>
          <a:xfrm>
            <a:off x="5722665" y="2720578"/>
            <a:ext cx="2796480"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Months, using thousands of powerful computers running 24/7</a:t>
            </a:r>
            <a:endParaRPr lang="en-US" sz="1200" dirty="0"/>
          </a:p>
        </p:txBody>
      </p:sp>
      <p:sp>
        <p:nvSpPr>
          <p:cNvPr id="16" name="Shape 14"/>
          <p:cNvSpPr/>
          <p:nvPr/>
        </p:nvSpPr>
        <p:spPr>
          <a:xfrm>
            <a:off x="500881" y="3295948"/>
            <a:ext cx="8142238" cy="654546"/>
          </a:xfrm>
          <a:prstGeom prst="rect">
            <a:avLst/>
          </a:prstGeom>
          <a:solidFill>
            <a:srgbClr val="000000">
              <a:alpha val="4000"/>
            </a:srgbClr>
          </a:solidFill>
          <a:ln/>
        </p:spPr>
        <p:txBody>
          <a:bodyPr/>
          <a:lstStyle/>
          <a:p>
            <a:endParaRPr lang="en-IN"/>
          </a:p>
        </p:txBody>
      </p:sp>
      <p:sp>
        <p:nvSpPr>
          <p:cNvPr id="17" name="Text 15"/>
          <p:cNvSpPr/>
          <p:nvPr/>
        </p:nvSpPr>
        <p:spPr>
          <a:xfrm>
            <a:off x="624929" y="3375124"/>
            <a:ext cx="17982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Self-driving car AI</a:t>
            </a:r>
            <a:endParaRPr lang="en-US" sz="1200" dirty="0"/>
          </a:p>
        </p:txBody>
      </p:sp>
      <p:sp>
        <p:nvSpPr>
          <p:cNvPr id="18" name="Text 16"/>
          <p:cNvSpPr/>
          <p:nvPr/>
        </p:nvSpPr>
        <p:spPr>
          <a:xfrm>
            <a:off x="2675855" y="3375124"/>
            <a:ext cx="2794099"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Millions of miles of video footage, sensor data</a:t>
            </a:r>
            <a:endParaRPr lang="en-US" sz="1200" dirty="0"/>
          </a:p>
        </p:txBody>
      </p:sp>
      <p:sp>
        <p:nvSpPr>
          <p:cNvPr id="19" name="Text 17"/>
          <p:cNvSpPr/>
          <p:nvPr/>
        </p:nvSpPr>
        <p:spPr>
          <a:xfrm>
            <a:off x="5722665" y="3375124"/>
            <a:ext cx="279648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Years of real and simulated driving</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912813"/>
            <a:ext cx="4526533"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Model - The Result of Learning</a:t>
            </a:r>
            <a:endParaRPr lang="en-US" sz="2400" dirty="0"/>
          </a:p>
        </p:txBody>
      </p:sp>
      <p:sp>
        <p:nvSpPr>
          <p:cNvPr id="4" name="Text 1"/>
          <p:cNvSpPr/>
          <p:nvPr/>
        </p:nvSpPr>
        <p:spPr>
          <a:xfrm>
            <a:off x="3925119" y="2486397"/>
            <a:ext cx="4722763"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a:t>
            </a:r>
            <a:r>
              <a:rPr lang="en-US" sz="1200" b="1" dirty="0">
                <a:solidFill>
                  <a:srgbClr val="15213F"/>
                </a:solidFill>
                <a:latin typeface="Roboto" pitchFamily="34" charset="0"/>
                <a:ea typeface="Roboto" pitchFamily="34" charset="-122"/>
                <a:cs typeface="Roboto" pitchFamily="34" charset="-120"/>
              </a:rPr>
              <a:t>model </a:t>
            </a:r>
            <a:r>
              <a:rPr lang="en-US" sz="1200" dirty="0">
                <a:solidFill>
                  <a:srgbClr val="15213F"/>
                </a:solidFill>
                <a:latin typeface="Roboto" pitchFamily="34" charset="0"/>
                <a:ea typeface="Roboto" pitchFamily="34" charset="-122"/>
                <a:cs typeface="Roboto" pitchFamily="34" charset="-120"/>
              </a:rPr>
              <a:t>is the output of training - a mathematical representation of patterns learned from data, used to make predictions on new, unseen data.</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96119" y="626641"/>
            <a:ext cx="3860825"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The Cooking Analogy (Extended)</a:t>
            </a:r>
            <a:endParaRPr lang="en-US" sz="1950" dirty="0"/>
          </a:p>
        </p:txBody>
      </p:sp>
      <p:sp>
        <p:nvSpPr>
          <p:cNvPr id="3" name="Shape 1"/>
          <p:cNvSpPr/>
          <p:nvPr/>
        </p:nvSpPr>
        <p:spPr>
          <a:xfrm>
            <a:off x="496119" y="1184746"/>
            <a:ext cx="8151763" cy="2944416"/>
          </a:xfrm>
          <a:prstGeom prst="roundRect">
            <a:avLst>
              <a:gd name="adj" fmla="val 632"/>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189509"/>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855" y="1268685"/>
            <a:ext cx="38207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Cooking Step</a:t>
            </a:r>
            <a:endParaRPr lang="en-US" sz="1200" dirty="0"/>
          </a:p>
        </p:txBody>
      </p:sp>
      <p:sp>
        <p:nvSpPr>
          <p:cNvPr id="6" name="Text 4"/>
          <p:cNvSpPr/>
          <p:nvPr/>
        </p:nvSpPr>
        <p:spPr>
          <a:xfrm>
            <a:off x="4698355" y="1268685"/>
            <a:ext cx="38207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AI Step</a:t>
            </a:r>
            <a:endParaRPr lang="en-US" sz="1200" dirty="0"/>
          </a:p>
        </p:txBody>
      </p:sp>
      <p:sp>
        <p:nvSpPr>
          <p:cNvPr id="7" name="Shape 5"/>
          <p:cNvSpPr/>
          <p:nvPr/>
        </p:nvSpPr>
        <p:spPr>
          <a:xfrm>
            <a:off x="500881" y="1595958"/>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855" y="1675135"/>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 have a </a:t>
            </a:r>
            <a:r>
              <a:rPr lang="en-US" sz="1200" b="1" dirty="0">
                <a:solidFill>
                  <a:srgbClr val="15213F"/>
                </a:solidFill>
                <a:latin typeface="Roboto" pitchFamily="34" charset="0"/>
                <a:ea typeface="Roboto" pitchFamily="34" charset="-122"/>
                <a:cs typeface="Roboto" pitchFamily="34" charset="-120"/>
              </a:rPr>
              <a:t>recipe</a:t>
            </a:r>
            <a:r>
              <a:rPr lang="en-US" sz="1200" dirty="0">
                <a:solidFill>
                  <a:srgbClr val="15213F"/>
                </a:solidFill>
                <a:latin typeface="Roboto" pitchFamily="34" charset="0"/>
                <a:ea typeface="Roboto" pitchFamily="34" charset="-122"/>
                <a:cs typeface="Roboto" pitchFamily="34" charset="-120"/>
              </a:rPr>
              <a:t> </a:t>
            </a:r>
            <a:endParaRPr lang="en-US" sz="1200" dirty="0"/>
          </a:p>
        </p:txBody>
      </p:sp>
      <p:sp>
        <p:nvSpPr>
          <p:cNvPr id="9" name="Text 7"/>
          <p:cNvSpPr/>
          <p:nvPr/>
        </p:nvSpPr>
        <p:spPr>
          <a:xfrm>
            <a:off x="4698355" y="1675135"/>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 have an </a:t>
            </a:r>
            <a:r>
              <a:rPr lang="en-US" sz="1200" b="1" dirty="0">
                <a:solidFill>
                  <a:srgbClr val="15213F"/>
                </a:solidFill>
                <a:latin typeface="Roboto" pitchFamily="34" charset="0"/>
                <a:ea typeface="Roboto" pitchFamily="34" charset="-122"/>
                <a:cs typeface="Roboto" pitchFamily="34" charset="-120"/>
              </a:rPr>
              <a:t>algorithm</a:t>
            </a:r>
            <a:endParaRPr lang="en-US" sz="1200" dirty="0"/>
          </a:p>
        </p:txBody>
      </p:sp>
      <p:sp>
        <p:nvSpPr>
          <p:cNvPr id="10" name="Shape 8"/>
          <p:cNvSpPr/>
          <p:nvPr/>
        </p:nvSpPr>
        <p:spPr>
          <a:xfrm>
            <a:off x="500881" y="2002408"/>
            <a:ext cx="8142238" cy="406450"/>
          </a:xfrm>
          <a:prstGeom prst="rect">
            <a:avLst/>
          </a:prstGeom>
          <a:solidFill>
            <a:srgbClr val="FFFFFF">
              <a:alpha val="4000"/>
            </a:srgbClr>
          </a:solidFill>
          <a:ln/>
        </p:spPr>
        <p:txBody>
          <a:bodyPr/>
          <a:lstStyle/>
          <a:p>
            <a:endParaRPr lang="en-IN"/>
          </a:p>
        </p:txBody>
      </p:sp>
      <p:sp>
        <p:nvSpPr>
          <p:cNvPr id="11" name="Text 9"/>
          <p:cNvSpPr/>
          <p:nvPr/>
        </p:nvSpPr>
        <p:spPr>
          <a:xfrm>
            <a:off x="624855" y="2081585"/>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 gather </a:t>
            </a:r>
            <a:r>
              <a:rPr lang="en-US" sz="1200" b="1" dirty="0">
                <a:solidFill>
                  <a:srgbClr val="15213F"/>
                </a:solidFill>
                <a:latin typeface="Roboto" pitchFamily="34" charset="0"/>
                <a:ea typeface="Roboto" pitchFamily="34" charset="-122"/>
                <a:cs typeface="Roboto" pitchFamily="34" charset="-120"/>
              </a:rPr>
              <a:t>ingredients</a:t>
            </a:r>
            <a:endParaRPr lang="en-US" sz="1200" dirty="0"/>
          </a:p>
        </p:txBody>
      </p:sp>
      <p:sp>
        <p:nvSpPr>
          <p:cNvPr id="12" name="Text 10"/>
          <p:cNvSpPr/>
          <p:nvPr/>
        </p:nvSpPr>
        <p:spPr>
          <a:xfrm>
            <a:off x="4698355" y="2081585"/>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 gather </a:t>
            </a:r>
            <a:r>
              <a:rPr lang="en-US" sz="1200" b="1" dirty="0">
                <a:solidFill>
                  <a:srgbClr val="15213F"/>
                </a:solidFill>
                <a:latin typeface="Roboto" pitchFamily="34" charset="0"/>
                <a:ea typeface="Roboto" pitchFamily="34" charset="-122"/>
                <a:cs typeface="Roboto" pitchFamily="34" charset="-120"/>
              </a:rPr>
              <a:t>data</a:t>
            </a:r>
            <a:endParaRPr lang="en-US" sz="1200" dirty="0"/>
          </a:p>
        </p:txBody>
      </p:sp>
      <p:sp>
        <p:nvSpPr>
          <p:cNvPr id="13" name="Shape 11"/>
          <p:cNvSpPr/>
          <p:nvPr/>
        </p:nvSpPr>
        <p:spPr>
          <a:xfrm>
            <a:off x="500881" y="2408858"/>
            <a:ext cx="8142238" cy="654546"/>
          </a:xfrm>
          <a:prstGeom prst="rect">
            <a:avLst/>
          </a:prstGeom>
          <a:solidFill>
            <a:srgbClr val="000000">
              <a:alpha val="4000"/>
            </a:srgbClr>
          </a:solidFill>
          <a:ln/>
        </p:spPr>
        <p:txBody>
          <a:bodyPr/>
          <a:lstStyle/>
          <a:p>
            <a:endParaRPr lang="en-IN"/>
          </a:p>
        </p:txBody>
      </p:sp>
      <p:sp>
        <p:nvSpPr>
          <p:cNvPr id="14" name="Text 12"/>
          <p:cNvSpPr/>
          <p:nvPr/>
        </p:nvSpPr>
        <p:spPr>
          <a:xfrm>
            <a:off x="624855" y="2488034"/>
            <a:ext cx="3820790"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 </a:t>
            </a:r>
            <a:r>
              <a:rPr lang="en-US" sz="1200" b="1" dirty="0">
                <a:solidFill>
                  <a:srgbClr val="15213F"/>
                </a:solidFill>
                <a:latin typeface="Roboto" pitchFamily="34" charset="0"/>
                <a:ea typeface="Roboto" pitchFamily="34" charset="-122"/>
                <a:cs typeface="Roboto" pitchFamily="34" charset="-120"/>
              </a:rPr>
              <a:t>practice</a:t>
            </a:r>
            <a:r>
              <a:rPr lang="en-US" sz="1200" dirty="0">
                <a:solidFill>
                  <a:srgbClr val="15213F"/>
                </a:solidFill>
                <a:latin typeface="Roboto" pitchFamily="34" charset="0"/>
                <a:ea typeface="Roboto" pitchFamily="34" charset="-122"/>
                <a:cs typeface="Roboto" pitchFamily="34" charset="-120"/>
              </a:rPr>
              <a:t> making the dish many times, adjusting as you go</a:t>
            </a:r>
            <a:endParaRPr lang="en-US" sz="1200" dirty="0"/>
          </a:p>
        </p:txBody>
      </p:sp>
      <p:sp>
        <p:nvSpPr>
          <p:cNvPr id="15" name="Text 13"/>
          <p:cNvSpPr/>
          <p:nvPr/>
        </p:nvSpPr>
        <p:spPr>
          <a:xfrm>
            <a:off x="4698355" y="2488034"/>
            <a:ext cx="38207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Training</a:t>
            </a:r>
            <a:r>
              <a:rPr lang="en-US" sz="1200" dirty="0">
                <a:solidFill>
                  <a:srgbClr val="15213F"/>
                </a:solidFill>
                <a:latin typeface="Roboto" pitchFamily="34" charset="0"/>
                <a:ea typeface="Roboto" pitchFamily="34" charset="-122"/>
                <a:cs typeface="Roboto" pitchFamily="34" charset="-120"/>
              </a:rPr>
              <a:t> happens – the algorithm learns from data</a:t>
            </a:r>
            <a:endParaRPr lang="en-US" sz="1200" dirty="0"/>
          </a:p>
        </p:txBody>
      </p:sp>
      <p:sp>
        <p:nvSpPr>
          <p:cNvPr id="16" name="Shape 14"/>
          <p:cNvSpPr/>
          <p:nvPr/>
        </p:nvSpPr>
        <p:spPr>
          <a:xfrm>
            <a:off x="500881" y="3063404"/>
            <a:ext cx="8142238" cy="654546"/>
          </a:xfrm>
          <a:prstGeom prst="rect">
            <a:avLst/>
          </a:prstGeom>
          <a:solidFill>
            <a:srgbClr val="FFFFFF">
              <a:alpha val="4000"/>
            </a:srgbClr>
          </a:solidFill>
          <a:ln/>
        </p:spPr>
        <p:txBody>
          <a:bodyPr/>
          <a:lstStyle/>
          <a:p>
            <a:endParaRPr lang="en-IN"/>
          </a:p>
        </p:txBody>
      </p:sp>
      <p:sp>
        <p:nvSpPr>
          <p:cNvPr id="17" name="Text 15"/>
          <p:cNvSpPr/>
          <p:nvPr/>
        </p:nvSpPr>
        <p:spPr>
          <a:xfrm>
            <a:off x="624855" y="3142580"/>
            <a:ext cx="3820790"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 become a </a:t>
            </a:r>
            <a:r>
              <a:rPr lang="en-US" sz="1200" b="1" dirty="0">
                <a:solidFill>
                  <a:srgbClr val="15213F"/>
                </a:solidFill>
                <a:latin typeface="Roboto" pitchFamily="34" charset="0"/>
                <a:ea typeface="Roboto" pitchFamily="34" charset="-122"/>
                <a:cs typeface="Roboto" pitchFamily="34" charset="-120"/>
              </a:rPr>
              <a:t>skilled chef</a:t>
            </a:r>
            <a:r>
              <a:rPr lang="en-US" sz="1200" dirty="0">
                <a:solidFill>
                  <a:srgbClr val="15213F"/>
                </a:solidFill>
                <a:latin typeface="Roboto" pitchFamily="34" charset="0"/>
                <a:ea typeface="Roboto" pitchFamily="34" charset="-122"/>
                <a:cs typeface="Roboto" pitchFamily="34" charset="-120"/>
              </a:rPr>
              <a:t> who knows the recipe by heart</a:t>
            </a:r>
            <a:endParaRPr lang="en-US" sz="1200" dirty="0"/>
          </a:p>
        </p:txBody>
      </p:sp>
      <p:sp>
        <p:nvSpPr>
          <p:cNvPr id="18" name="Text 16"/>
          <p:cNvSpPr/>
          <p:nvPr/>
        </p:nvSpPr>
        <p:spPr>
          <a:xfrm>
            <a:off x="4698355" y="3142580"/>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algorithm becomes a </a:t>
            </a:r>
            <a:r>
              <a:rPr lang="en-US" sz="1200" b="1" dirty="0">
                <a:solidFill>
                  <a:srgbClr val="15213F"/>
                </a:solidFill>
                <a:latin typeface="Roboto" pitchFamily="34" charset="0"/>
                <a:ea typeface="Roboto" pitchFamily="34" charset="-122"/>
                <a:cs typeface="Roboto" pitchFamily="34" charset="-120"/>
              </a:rPr>
              <a:t>trained model</a:t>
            </a:r>
            <a:endParaRPr lang="en-US" sz="1200" dirty="0"/>
          </a:p>
        </p:txBody>
      </p:sp>
      <p:sp>
        <p:nvSpPr>
          <p:cNvPr id="19" name="Shape 17"/>
          <p:cNvSpPr/>
          <p:nvPr/>
        </p:nvSpPr>
        <p:spPr>
          <a:xfrm>
            <a:off x="500881" y="3717950"/>
            <a:ext cx="8142238" cy="406450"/>
          </a:xfrm>
          <a:prstGeom prst="rect">
            <a:avLst/>
          </a:prstGeom>
          <a:solidFill>
            <a:srgbClr val="000000">
              <a:alpha val="4000"/>
            </a:srgbClr>
          </a:solidFill>
          <a:ln/>
        </p:spPr>
        <p:txBody>
          <a:bodyPr/>
          <a:lstStyle/>
          <a:p>
            <a:endParaRPr lang="en-IN"/>
          </a:p>
        </p:txBody>
      </p:sp>
      <p:sp>
        <p:nvSpPr>
          <p:cNvPr id="20" name="Text 18"/>
          <p:cNvSpPr/>
          <p:nvPr/>
        </p:nvSpPr>
        <p:spPr>
          <a:xfrm>
            <a:off x="624855" y="3797126"/>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 </a:t>
            </a:r>
            <a:r>
              <a:rPr lang="en-US" sz="1200" b="1" dirty="0">
                <a:solidFill>
                  <a:srgbClr val="15213F"/>
                </a:solidFill>
                <a:latin typeface="Roboto" pitchFamily="34" charset="0"/>
                <a:ea typeface="Roboto" pitchFamily="34" charset="-122"/>
                <a:cs typeface="Roboto" pitchFamily="34" charset="-120"/>
              </a:rPr>
              <a:t>cook for friends</a:t>
            </a:r>
            <a:r>
              <a:rPr lang="en-US" sz="1200" dirty="0">
                <a:solidFill>
                  <a:srgbClr val="15213F"/>
                </a:solidFill>
                <a:latin typeface="Roboto" pitchFamily="34" charset="0"/>
                <a:ea typeface="Roboto" pitchFamily="34" charset="-122"/>
                <a:cs typeface="Roboto" pitchFamily="34" charset="-120"/>
              </a:rPr>
              <a:t> using your skill</a:t>
            </a:r>
            <a:endParaRPr lang="en-US" sz="1200" dirty="0"/>
          </a:p>
        </p:txBody>
      </p:sp>
      <p:sp>
        <p:nvSpPr>
          <p:cNvPr id="21" name="Text 19"/>
          <p:cNvSpPr/>
          <p:nvPr/>
        </p:nvSpPr>
        <p:spPr>
          <a:xfrm>
            <a:off x="4698355" y="3797126"/>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model makes </a:t>
            </a:r>
            <a:r>
              <a:rPr lang="en-US" sz="1200" b="1" dirty="0">
                <a:solidFill>
                  <a:srgbClr val="15213F"/>
                </a:solidFill>
                <a:latin typeface="Roboto" pitchFamily="34" charset="0"/>
                <a:ea typeface="Roboto" pitchFamily="34" charset="-122"/>
                <a:cs typeface="Roboto" pitchFamily="34" charset="-120"/>
              </a:rPr>
              <a:t>predictions</a:t>
            </a:r>
            <a:r>
              <a:rPr lang="en-US" sz="1200" dirty="0">
                <a:solidFill>
                  <a:srgbClr val="15213F"/>
                </a:solidFill>
                <a:latin typeface="Roboto" pitchFamily="34" charset="0"/>
                <a:ea typeface="Roboto" pitchFamily="34" charset="-122"/>
                <a:cs typeface="Roboto" pitchFamily="34" charset="-120"/>
              </a:rPr>
              <a:t> on new data</a:t>
            </a:r>
            <a:endParaRPr lang="en-US" sz="1200" dirty="0"/>
          </a:p>
        </p:txBody>
      </p:sp>
      <p:sp>
        <p:nvSpPr>
          <p:cNvPr id="22" name="Text 20"/>
          <p:cNvSpPr/>
          <p:nvPr/>
        </p:nvSpPr>
        <p:spPr>
          <a:xfrm>
            <a:off x="496119" y="4268688"/>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7" grpId="0" animBg="1"/>
      <p:bldP spid="18" grpId="0" animBg="1"/>
      <p:bldP spid="20" grpId="0" animBg="1"/>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96119" y="1377181"/>
            <a:ext cx="5762179"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Examples of Models You Use Every Day</a:t>
            </a:r>
            <a:endParaRPr lang="en-US" sz="2400" dirty="0"/>
          </a:p>
        </p:txBody>
      </p:sp>
      <p:sp>
        <p:nvSpPr>
          <p:cNvPr id="3" name="Text 1"/>
          <p:cNvSpPr/>
          <p:nvPr/>
        </p:nvSpPr>
        <p:spPr>
          <a:xfrm>
            <a:off x="496119" y="2012752"/>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grpSp>
        <p:nvGrpSpPr>
          <p:cNvPr id="19" name="Group 18">
            <a:extLst>
              <a:ext uri="{FF2B5EF4-FFF2-40B4-BE49-F238E27FC236}">
                <a16:creationId xmlns:a16="http://schemas.microsoft.com/office/drawing/2014/main" id="{5233085E-4479-56EC-9089-EA1B76FE8C5C}"/>
              </a:ext>
            </a:extLst>
          </p:cNvPr>
          <p:cNvGrpSpPr/>
          <p:nvPr/>
        </p:nvGrpSpPr>
        <p:grpSpPr>
          <a:xfrm>
            <a:off x="496119" y="2350740"/>
            <a:ext cx="1736526" cy="193849"/>
            <a:chOff x="496119" y="2350740"/>
            <a:chExt cx="1736526" cy="193849"/>
          </a:xfrm>
        </p:grpSpPr>
        <p:pic>
          <p:nvPicPr>
            <p:cNvPr id="4" name="Image 0" descr="preencoded.png"/>
            <p:cNvPicPr>
              <a:picLocks noChangeAspect="1"/>
            </p:cNvPicPr>
            <p:nvPr/>
          </p:nvPicPr>
          <p:blipFill>
            <a:blip r:embed="rId3"/>
            <a:stretch>
              <a:fillRect/>
            </a:stretch>
          </p:blipFill>
          <p:spPr>
            <a:xfrm>
              <a:off x="496119" y="2416634"/>
              <a:ext cx="61987" cy="61987"/>
            </a:xfrm>
            <a:prstGeom prst="rect">
              <a:avLst/>
            </a:prstGeom>
          </p:spPr>
        </p:pic>
        <p:sp>
          <p:nvSpPr>
            <p:cNvPr id="5" name="Text 2"/>
            <p:cNvSpPr/>
            <p:nvPr/>
          </p:nvSpPr>
          <p:spPr>
            <a:xfrm>
              <a:off x="682079" y="2350740"/>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ChatGPT / Gemini</a:t>
              </a:r>
              <a:endParaRPr lang="en-US" sz="1200" dirty="0"/>
            </a:p>
          </p:txBody>
        </p:sp>
      </p:grpSp>
      <p:grpSp>
        <p:nvGrpSpPr>
          <p:cNvPr id="22" name="Group 21">
            <a:extLst>
              <a:ext uri="{FF2B5EF4-FFF2-40B4-BE49-F238E27FC236}">
                <a16:creationId xmlns:a16="http://schemas.microsoft.com/office/drawing/2014/main" id="{CE246ADC-80C5-2150-ED8E-BB9780EF45FF}"/>
              </a:ext>
            </a:extLst>
          </p:cNvPr>
          <p:cNvGrpSpPr/>
          <p:nvPr/>
        </p:nvGrpSpPr>
        <p:grpSpPr>
          <a:xfrm>
            <a:off x="3264991" y="2350740"/>
            <a:ext cx="2204591" cy="193849"/>
            <a:chOff x="3264991" y="2350740"/>
            <a:chExt cx="2204591" cy="193849"/>
          </a:xfrm>
        </p:grpSpPr>
        <p:pic>
          <p:nvPicPr>
            <p:cNvPr id="6" name="Image 1" descr="preencoded.png"/>
            <p:cNvPicPr>
              <a:picLocks noChangeAspect="1"/>
            </p:cNvPicPr>
            <p:nvPr/>
          </p:nvPicPr>
          <p:blipFill>
            <a:blip r:embed="rId3"/>
            <a:stretch>
              <a:fillRect/>
            </a:stretch>
          </p:blipFill>
          <p:spPr>
            <a:xfrm>
              <a:off x="3264991" y="2416634"/>
              <a:ext cx="61987" cy="61987"/>
            </a:xfrm>
            <a:prstGeom prst="rect">
              <a:avLst/>
            </a:prstGeom>
          </p:spPr>
        </p:pic>
        <p:sp>
          <p:nvSpPr>
            <p:cNvPr id="7" name="Text 3"/>
            <p:cNvSpPr/>
            <p:nvPr/>
          </p:nvSpPr>
          <p:spPr>
            <a:xfrm>
              <a:off x="3450952" y="2350740"/>
              <a:ext cx="2018630"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Face Unlock on Your Phone</a:t>
              </a:r>
              <a:endParaRPr lang="en-US" sz="1200" dirty="0"/>
            </a:p>
          </p:txBody>
        </p:sp>
      </p:grpSp>
      <p:grpSp>
        <p:nvGrpSpPr>
          <p:cNvPr id="24" name="Group 23">
            <a:extLst>
              <a:ext uri="{FF2B5EF4-FFF2-40B4-BE49-F238E27FC236}">
                <a16:creationId xmlns:a16="http://schemas.microsoft.com/office/drawing/2014/main" id="{A287CCDF-451A-D28B-9AB2-3E89FBB2D7EA}"/>
              </a:ext>
            </a:extLst>
          </p:cNvPr>
          <p:cNvGrpSpPr/>
          <p:nvPr/>
        </p:nvGrpSpPr>
        <p:grpSpPr>
          <a:xfrm>
            <a:off x="6033939" y="2350740"/>
            <a:ext cx="2106513" cy="193849"/>
            <a:chOff x="6033939" y="2350740"/>
            <a:chExt cx="2106513" cy="193849"/>
          </a:xfrm>
        </p:grpSpPr>
        <p:pic>
          <p:nvPicPr>
            <p:cNvPr id="8" name="Image 2" descr="preencoded.png"/>
            <p:cNvPicPr>
              <a:picLocks noChangeAspect="1"/>
            </p:cNvPicPr>
            <p:nvPr/>
          </p:nvPicPr>
          <p:blipFill>
            <a:blip r:embed="rId3"/>
            <a:stretch>
              <a:fillRect/>
            </a:stretch>
          </p:blipFill>
          <p:spPr>
            <a:xfrm>
              <a:off x="6033939" y="2416634"/>
              <a:ext cx="61987" cy="61987"/>
            </a:xfrm>
            <a:prstGeom prst="rect">
              <a:avLst/>
            </a:prstGeom>
          </p:spPr>
        </p:pic>
        <p:sp>
          <p:nvSpPr>
            <p:cNvPr id="9" name="Text 4"/>
            <p:cNvSpPr/>
            <p:nvPr/>
          </p:nvSpPr>
          <p:spPr>
            <a:xfrm>
              <a:off x="6219899" y="2350740"/>
              <a:ext cx="1920553"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Netflix Recommendations</a:t>
              </a:r>
              <a:endParaRPr lang="en-US" sz="1200" dirty="0"/>
            </a:p>
          </p:txBody>
        </p:sp>
      </p:grpSp>
      <p:grpSp>
        <p:nvGrpSpPr>
          <p:cNvPr id="20" name="Group 19">
            <a:extLst>
              <a:ext uri="{FF2B5EF4-FFF2-40B4-BE49-F238E27FC236}">
                <a16:creationId xmlns:a16="http://schemas.microsoft.com/office/drawing/2014/main" id="{647079D9-8A47-0E7F-27EF-7B84433A9348}"/>
              </a:ext>
            </a:extLst>
          </p:cNvPr>
          <p:cNvGrpSpPr/>
          <p:nvPr/>
        </p:nvGrpSpPr>
        <p:grpSpPr>
          <a:xfrm>
            <a:off x="496119" y="2792611"/>
            <a:ext cx="1759817" cy="193849"/>
            <a:chOff x="496119" y="2792611"/>
            <a:chExt cx="1759817" cy="193849"/>
          </a:xfrm>
        </p:grpSpPr>
        <p:pic>
          <p:nvPicPr>
            <p:cNvPr id="10" name="Image 3" descr="preencoded.png"/>
            <p:cNvPicPr>
              <a:picLocks noChangeAspect="1"/>
            </p:cNvPicPr>
            <p:nvPr/>
          </p:nvPicPr>
          <p:blipFill>
            <a:blip r:embed="rId3"/>
            <a:stretch>
              <a:fillRect/>
            </a:stretch>
          </p:blipFill>
          <p:spPr>
            <a:xfrm>
              <a:off x="496119" y="2858505"/>
              <a:ext cx="61987" cy="61987"/>
            </a:xfrm>
            <a:prstGeom prst="rect">
              <a:avLst/>
            </a:prstGeom>
          </p:spPr>
        </p:pic>
        <p:sp>
          <p:nvSpPr>
            <p:cNvPr id="11" name="Text 5"/>
            <p:cNvSpPr/>
            <p:nvPr/>
          </p:nvSpPr>
          <p:spPr>
            <a:xfrm>
              <a:off x="682079" y="2792611"/>
              <a:ext cx="1573857"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Spotify / Apple Music</a:t>
              </a:r>
              <a:endParaRPr lang="en-US" sz="1200" dirty="0"/>
            </a:p>
          </p:txBody>
        </p:sp>
      </p:grpSp>
      <p:grpSp>
        <p:nvGrpSpPr>
          <p:cNvPr id="23" name="Group 22">
            <a:extLst>
              <a:ext uri="{FF2B5EF4-FFF2-40B4-BE49-F238E27FC236}">
                <a16:creationId xmlns:a16="http://schemas.microsoft.com/office/drawing/2014/main" id="{4B579CD3-78CC-3576-439A-48DB251B9A7D}"/>
              </a:ext>
            </a:extLst>
          </p:cNvPr>
          <p:cNvGrpSpPr/>
          <p:nvPr/>
        </p:nvGrpSpPr>
        <p:grpSpPr>
          <a:xfrm>
            <a:off x="3264991" y="2792611"/>
            <a:ext cx="1736527" cy="193849"/>
            <a:chOff x="3264991" y="2792611"/>
            <a:chExt cx="1736527" cy="193849"/>
          </a:xfrm>
        </p:grpSpPr>
        <p:pic>
          <p:nvPicPr>
            <p:cNvPr id="12" name="Image 4" descr="preencoded.png"/>
            <p:cNvPicPr>
              <a:picLocks noChangeAspect="1"/>
            </p:cNvPicPr>
            <p:nvPr/>
          </p:nvPicPr>
          <p:blipFill>
            <a:blip r:embed="rId3"/>
            <a:stretch>
              <a:fillRect/>
            </a:stretch>
          </p:blipFill>
          <p:spPr>
            <a:xfrm>
              <a:off x="3264991" y="2858505"/>
              <a:ext cx="61987" cy="61987"/>
            </a:xfrm>
            <a:prstGeom prst="rect">
              <a:avLst/>
            </a:prstGeom>
          </p:spPr>
        </p:pic>
        <p:sp>
          <p:nvSpPr>
            <p:cNvPr id="13" name="Text 6"/>
            <p:cNvSpPr/>
            <p:nvPr/>
          </p:nvSpPr>
          <p:spPr>
            <a:xfrm>
              <a:off x="3450952" y="2792611"/>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Google Translate</a:t>
              </a:r>
              <a:endParaRPr lang="en-US" sz="1200" dirty="0"/>
            </a:p>
          </p:txBody>
        </p:sp>
      </p:grpSp>
      <p:grpSp>
        <p:nvGrpSpPr>
          <p:cNvPr id="25" name="Group 24">
            <a:extLst>
              <a:ext uri="{FF2B5EF4-FFF2-40B4-BE49-F238E27FC236}">
                <a16:creationId xmlns:a16="http://schemas.microsoft.com/office/drawing/2014/main" id="{16DC43D5-3539-05D8-BAF6-0A477BC23E53}"/>
              </a:ext>
            </a:extLst>
          </p:cNvPr>
          <p:cNvGrpSpPr/>
          <p:nvPr/>
        </p:nvGrpSpPr>
        <p:grpSpPr>
          <a:xfrm>
            <a:off x="6033939" y="2792611"/>
            <a:ext cx="2449413" cy="193849"/>
            <a:chOff x="6033939" y="2792611"/>
            <a:chExt cx="2449413" cy="193849"/>
          </a:xfrm>
        </p:grpSpPr>
        <p:pic>
          <p:nvPicPr>
            <p:cNvPr id="14" name="Image 5" descr="preencoded.png"/>
            <p:cNvPicPr>
              <a:picLocks noChangeAspect="1"/>
            </p:cNvPicPr>
            <p:nvPr/>
          </p:nvPicPr>
          <p:blipFill>
            <a:blip r:embed="rId3"/>
            <a:stretch>
              <a:fillRect/>
            </a:stretch>
          </p:blipFill>
          <p:spPr>
            <a:xfrm>
              <a:off x="6033939" y="2858505"/>
              <a:ext cx="61987" cy="61987"/>
            </a:xfrm>
            <a:prstGeom prst="rect">
              <a:avLst/>
            </a:prstGeom>
          </p:spPr>
        </p:pic>
        <p:sp>
          <p:nvSpPr>
            <p:cNvPr id="15" name="Text 7"/>
            <p:cNvSpPr/>
            <p:nvPr/>
          </p:nvSpPr>
          <p:spPr>
            <a:xfrm>
              <a:off x="6219899" y="2792611"/>
              <a:ext cx="2263453"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Google Maps Traffic Prediction</a:t>
              </a:r>
              <a:endParaRPr lang="en-US" sz="1200" dirty="0"/>
            </a:p>
          </p:txBody>
        </p:sp>
      </p:grpSp>
      <p:grpSp>
        <p:nvGrpSpPr>
          <p:cNvPr id="21" name="Group 20">
            <a:extLst>
              <a:ext uri="{FF2B5EF4-FFF2-40B4-BE49-F238E27FC236}">
                <a16:creationId xmlns:a16="http://schemas.microsoft.com/office/drawing/2014/main" id="{6DEE5732-7232-806C-0EEA-5B82698DBDB5}"/>
              </a:ext>
            </a:extLst>
          </p:cNvPr>
          <p:cNvGrpSpPr/>
          <p:nvPr/>
        </p:nvGrpSpPr>
        <p:grpSpPr>
          <a:xfrm>
            <a:off x="496119" y="3234482"/>
            <a:ext cx="1736526" cy="193849"/>
            <a:chOff x="496119" y="3234482"/>
            <a:chExt cx="1736526" cy="193849"/>
          </a:xfrm>
        </p:grpSpPr>
        <p:pic>
          <p:nvPicPr>
            <p:cNvPr id="16" name="Image 6" descr="preencoded.png"/>
            <p:cNvPicPr>
              <a:picLocks noChangeAspect="1"/>
            </p:cNvPicPr>
            <p:nvPr/>
          </p:nvPicPr>
          <p:blipFill>
            <a:blip r:embed="rId3"/>
            <a:stretch>
              <a:fillRect/>
            </a:stretch>
          </p:blipFill>
          <p:spPr>
            <a:xfrm>
              <a:off x="496119" y="3300375"/>
              <a:ext cx="61987" cy="61987"/>
            </a:xfrm>
            <a:prstGeom prst="rect">
              <a:avLst/>
            </a:prstGeom>
          </p:spPr>
        </p:pic>
        <p:sp>
          <p:nvSpPr>
            <p:cNvPr id="17" name="Text 8"/>
            <p:cNvSpPr/>
            <p:nvPr/>
          </p:nvSpPr>
          <p:spPr>
            <a:xfrm>
              <a:off x="682079" y="3234482"/>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Spam Filter in Gmail</a:t>
              </a:r>
              <a:endParaRPr lang="en-US" sz="1200" dirty="0"/>
            </a:p>
          </p:txBody>
        </p:sp>
      </p:grpSp>
      <p:sp>
        <p:nvSpPr>
          <p:cNvPr id="18" name="Text 9"/>
          <p:cNvSpPr/>
          <p:nvPr/>
        </p:nvSpPr>
        <p:spPr>
          <a:xfrm>
            <a:off x="496119" y="3567857"/>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96119" y="1190104"/>
            <a:ext cx="3020988"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Key Insight About Models</a:t>
            </a:r>
            <a:endParaRPr lang="en-US" sz="1950" dirty="0"/>
          </a:p>
        </p:txBody>
      </p:sp>
      <p:sp>
        <p:nvSpPr>
          <p:cNvPr id="3" name="Text 1"/>
          <p:cNvSpPr/>
          <p:nvPr/>
        </p:nvSpPr>
        <p:spPr>
          <a:xfrm>
            <a:off x="496119" y="1748210"/>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model itself is NOT the most important part - the </a:t>
            </a:r>
            <a:r>
              <a:rPr lang="en-US" sz="1200" b="1" dirty="0">
                <a:solidFill>
                  <a:srgbClr val="15213F"/>
                </a:solidFill>
                <a:latin typeface="Roboto" pitchFamily="34" charset="0"/>
                <a:ea typeface="Roboto" pitchFamily="34" charset="-122"/>
                <a:cs typeface="Roboto" pitchFamily="34" charset="-120"/>
              </a:rPr>
              <a:t>data</a:t>
            </a:r>
            <a:r>
              <a:rPr lang="en-US" sz="1200" dirty="0">
                <a:solidFill>
                  <a:srgbClr val="15213F"/>
                </a:solidFill>
                <a:latin typeface="Roboto" pitchFamily="34" charset="0"/>
                <a:ea typeface="Roboto" pitchFamily="34" charset="-122"/>
                <a:cs typeface="Roboto" pitchFamily="34" charset="-120"/>
              </a:rPr>
              <a:t> is!</a:t>
            </a:r>
            <a:endParaRPr lang="en-US" sz="1200" dirty="0"/>
          </a:p>
        </p:txBody>
      </p:sp>
      <p:sp>
        <p:nvSpPr>
          <p:cNvPr id="4" name="Shape 2"/>
          <p:cNvSpPr/>
          <p:nvPr/>
        </p:nvSpPr>
        <p:spPr>
          <a:xfrm>
            <a:off x="496119" y="2135832"/>
            <a:ext cx="4013895" cy="713780"/>
          </a:xfrm>
          <a:prstGeom prst="roundRect">
            <a:avLst>
              <a:gd name="adj" fmla="val 9608"/>
            </a:avLst>
          </a:prstGeom>
          <a:solidFill>
            <a:srgbClr val="FBFCFE"/>
          </a:solidFill>
          <a:ln w="14288">
            <a:solidFill>
              <a:srgbClr val="CFD2D8"/>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481831" y="2135832"/>
            <a:ext cx="57150" cy="713780"/>
          </a:xfrm>
          <a:prstGeom prst="rect">
            <a:avLst/>
          </a:prstGeom>
        </p:spPr>
      </p:pic>
      <p:sp>
        <p:nvSpPr>
          <p:cNvPr id="6" name="Text 3"/>
          <p:cNvSpPr/>
          <p:nvPr/>
        </p:nvSpPr>
        <p:spPr>
          <a:xfrm>
            <a:off x="1329035" y="2274094"/>
            <a:ext cx="2390924" cy="193849"/>
          </a:xfrm>
          <a:prstGeom prst="rect">
            <a:avLst/>
          </a:prstGeom>
          <a:noFill/>
          <a:ln/>
        </p:spPr>
        <p:txBody>
          <a:bodyPr wrap="none" lIns="0" tIns="0" rIns="0" bIns="0" rtlCol="0" anchor="t"/>
          <a:lstStyle/>
          <a:p>
            <a:pPr marL="0" indent="0" algn="ctr">
              <a:lnSpc>
                <a:spcPts val="1500"/>
              </a:lnSpc>
              <a:buNone/>
            </a:pPr>
            <a:r>
              <a:rPr lang="en-US" sz="1200" b="1" dirty="0">
                <a:solidFill>
                  <a:srgbClr val="15213F"/>
                </a:solidFill>
                <a:latin typeface="Roboto Slab" pitchFamily="34" charset="0"/>
                <a:ea typeface="Roboto Slab" pitchFamily="34" charset="-122"/>
                <a:cs typeface="Roboto Slab" pitchFamily="34" charset="-120"/>
              </a:rPr>
              <a:t>Same algorithm + Different data </a:t>
            </a:r>
            <a:endParaRPr lang="en-US" sz="1200" dirty="0"/>
          </a:p>
        </p:txBody>
      </p:sp>
      <p:sp>
        <p:nvSpPr>
          <p:cNvPr id="7" name="Text 4"/>
          <p:cNvSpPr/>
          <p:nvPr/>
        </p:nvSpPr>
        <p:spPr>
          <a:xfrm>
            <a:off x="1749177" y="2517502"/>
            <a:ext cx="1550566" cy="193849"/>
          </a:xfrm>
          <a:prstGeom prst="rect">
            <a:avLst/>
          </a:prstGeom>
          <a:noFill/>
          <a:ln/>
        </p:spPr>
        <p:txBody>
          <a:bodyPr wrap="none" lIns="0" tIns="0" rIns="0" bIns="0" rtlCol="0" anchor="t"/>
          <a:lstStyle/>
          <a:p>
            <a:pPr marL="0" indent="0" algn="ctr">
              <a:lnSpc>
                <a:spcPts val="1500"/>
              </a:lnSpc>
              <a:buNone/>
            </a:pPr>
            <a:r>
              <a:rPr lang="en-US" sz="1200" b="1" dirty="0">
                <a:solidFill>
                  <a:srgbClr val="15213F"/>
                </a:solidFill>
                <a:latin typeface="Roboto Slab" pitchFamily="34" charset="0"/>
                <a:ea typeface="Roboto Slab" pitchFamily="34" charset="-122"/>
                <a:cs typeface="Roboto Slab" pitchFamily="34" charset="-120"/>
              </a:rPr>
              <a:t>= Different models</a:t>
            </a:r>
            <a:endParaRPr lang="en-US" sz="1200" dirty="0"/>
          </a:p>
        </p:txBody>
      </p:sp>
      <p:sp>
        <p:nvSpPr>
          <p:cNvPr id="8" name="Shape 5"/>
          <p:cNvSpPr/>
          <p:nvPr/>
        </p:nvSpPr>
        <p:spPr>
          <a:xfrm>
            <a:off x="4633987" y="2135832"/>
            <a:ext cx="4013895" cy="713780"/>
          </a:xfrm>
          <a:prstGeom prst="roundRect">
            <a:avLst>
              <a:gd name="adj" fmla="val 9608"/>
            </a:avLst>
          </a:prstGeom>
          <a:solidFill>
            <a:srgbClr val="FBFCFE"/>
          </a:solidFill>
          <a:ln w="14288">
            <a:solidFill>
              <a:srgbClr val="CFD2D8"/>
            </a:solidFill>
            <a:prstDash val="solid"/>
          </a:ln>
        </p:spPr>
        <p:txBody>
          <a:bodyPr/>
          <a:lstStyle/>
          <a:p>
            <a:endParaRPr lang="en-IN"/>
          </a:p>
        </p:txBody>
      </p:sp>
      <p:pic>
        <p:nvPicPr>
          <p:cNvPr id="9" name="Image 1" descr="preencoded.png"/>
          <p:cNvPicPr>
            <a:picLocks noChangeAspect="1"/>
          </p:cNvPicPr>
          <p:nvPr/>
        </p:nvPicPr>
        <p:blipFill>
          <a:blip r:embed="rId3"/>
          <a:stretch>
            <a:fillRect/>
          </a:stretch>
        </p:blipFill>
        <p:spPr>
          <a:xfrm>
            <a:off x="4619699" y="2135832"/>
            <a:ext cx="57150" cy="713780"/>
          </a:xfrm>
          <a:prstGeom prst="rect">
            <a:avLst/>
          </a:prstGeom>
        </p:spPr>
      </p:pic>
      <p:sp>
        <p:nvSpPr>
          <p:cNvPr id="10" name="Text 6"/>
          <p:cNvSpPr/>
          <p:nvPr/>
        </p:nvSpPr>
        <p:spPr>
          <a:xfrm>
            <a:off x="5427762" y="2274094"/>
            <a:ext cx="2469207" cy="193849"/>
          </a:xfrm>
          <a:prstGeom prst="rect">
            <a:avLst/>
          </a:prstGeom>
          <a:noFill/>
          <a:ln/>
        </p:spPr>
        <p:txBody>
          <a:bodyPr wrap="none" lIns="0" tIns="0" rIns="0" bIns="0" rtlCol="0" anchor="t"/>
          <a:lstStyle/>
          <a:p>
            <a:pPr marL="0" indent="0" algn="ctr">
              <a:lnSpc>
                <a:spcPts val="1500"/>
              </a:lnSpc>
              <a:buNone/>
            </a:pPr>
            <a:r>
              <a:rPr lang="en-US" sz="1200" b="1" dirty="0">
                <a:solidFill>
                  <a:srgbClr val="15213F"/>
                </a:solidFill>
                <a:latin typeface="Roboto Slab" pitchFamily="34" charset="0"/>
                <a:ea typeface="Roboto Slab" pitchFamily="34" charset="-122"/>
                <a:cs typeface="Roboto Slab" pitchFamily="34" charset="-120"/>
              </a:rPr>
              <a:t>Different algorithms + Same data </a:t>
            </a:r>
            <a:endParaRPr lang="en-US" sz="1200" dirty="0"/>
          </a:p>
        </p:txBody>
      </p:sp>
      <p:sp>
        <p:nvSpPr>
          <p:cNvPr id="11" name="Text 7"/>
          <p:cNvSpPr/>
          <p:nvPr/>
        </p:nvSpPr>
        <p:spPr>
          <a:xfrm>
            <a:off x="5887045" y="2517502"/>
            <a:ext cx="1550566" cy="193849"/>
          </a:xfrm>
          <a:prstGeom prst="rect">
            <a:avLst/>
          </a:prstGeom>
          <a:noFill/>
          <a:ln/>
        </p:spPr>
        <p:txBody>
          <a:bodyPr wrap="none" lIns="0" tIns="0" rIns="0" bIns="0" rtlCol="0" anchor="t"/>
          <a:lstStyle/>
          <a:p>
            <a:pPr marL="0" indent="0" algn="ctr">
              <a:lnSpc>
                <a:spcPts val="1500"/>
              </a:lnSpc>
              <a:buNone/>
            </a:pPr>
            <a:r>
              <a:rPr lang="en-US" sz="1200" b="1" dirty="0">
                <a:solidFill>
                  <a:srgbClr val="15213F"/>
                </a:solidFill>
                <a:latin typeface="Roboto Slab" pitchFamily="34" charset="0"/>
                <a:ea typeface="Roboto Slab" pitchFamily="34" charset="-122"/>
                <a:cs typeface="Roboto Slab" pitchFamily="34" charset="-120"/>
              </a:rPr>
              <a:t>= Different models</a:t>
            </a:r>
            <a:endParaRPr lang="en-US" sz="1200" dirty="0"/>
          </a:p>
        </p:txBody>
      </p:sp>
      <p:sp>
        <p:nvSpPr>
          <p:cNvPr id="12" name="Text 8"/>
          <p:cNvSpPr/>
          <p:nvPr/>
        </p:nvSpPr>
        <p:spPr>
          <a:xfrm>
            <a:off x="496119" y="2989138"/>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grpSp>
        <p:nvGrpSpPr>
          <p:cNvPr id="16" name="Group 15">
            <a:extLst>
              <a:ext uri="{FF2B5EF4-FFF2-40B4-BE49-F238E27FC236}">
                <a16:creationId xmlns:a16="http://schemas.microsoft.com/office/drawing/2014/main" id="{30BBB4D3-19E9-5E47-C717-414CE93E9EF8}"/>
              </a:ext>
            </a:extLst>
          </p:cNvPr>
          <p:cNvGrpSpPr/>
          <p:nvPr/>
        </p:nvGrpSpPr>
        <p:grpSpPr>
          <a:xfrm>
            <a:off x="496119" y="3376761"/>
            <a:ext cx="8151763" cy="576635"/>
            <a:chOff x="496119" y="3376761"/>
            <a:chExt cx="8151763" cy="576635"/>
          </a:xfrm>
        </p:grpSpPr>
        <p:sp>
          <p:nvSpPr>
            <p:cNvPr id="13" name="Shape 9"/>
            <p:cNvSpPr/>
            <p:nvPr/>
          </p:nvSpPr>
          <p:spPr>
            <a:xfrm>
              <a:off x="496119" y="3376761"/>
              <a:ext cx="8151763" cy="576635"/>
            </a:xfrm>
            <a:prstGeom prst="roundRect">
              <a:avLst>
                <a:gd name="adj" fmla="val 3227"/>
              </a:avLst>
            </a:prstGeom>
            <a:solidFill>
              <a:srgbClr val="F2F2F2"/>
            </a:solidFill>
            <a:ln/>
          </p:spPr>
          <p:txBody>
            <a:bodyPr/>
            <a:lstStyle/>
            <a:p>
              <a:endParaRPr lang="en-IN"/>
            </a:p>
          </p:txBody>
        </p:sp>
        <p:pic>
          <p:nvPicPr>
            <p:cNvPr id="14" name="Image 2" descr="preencoded.png"/>
            <p:cNvPicPr>
              <a:picLocks noChangeAspect="1"/>
            </p:cNvPicPr>
            <p:nvPr/>
          </p:nvPicPr>
          <p:blipFill>
            <a:blip r:embed="rId4"/>
            <a:stretch>
              <a:fillRect/>
            </a:stretch>
          </p:blipFill>
          <p:spPr>
            <a:xfrm>
              <a:off x="620092" y="3572247"/>
              <a:ext cx="193774" cy="155004"/>
            </a:xfrm>
            <a:prstGeom prst="rect">
              <a:avLst/>
            </a:prstGeom>
          </p:spPr>
        </p:pic>
        <p:sp>
          <p:nvSpPr>
            <p:cNvPr id="15" name="Text 10"/>
            <p:cNvSpPr/>
            <p:nvPr/>
          </p:nvSpPr>
          <p:spPr>
            <a:xfrm>
              <a:off x="937840" y="3531691"/>
              <a:ext cx="7586067" cy="248096"/>
            </a:xfrm>
            <a:prstGeom prst="rect">
              <a:avLst/>
            </a:prstGeom>
            <a:noFill/>
            <a:ln/>
          </p:spPr>
          <p:txBody>
            <a:bodyPr wrap="none" lIns="0" tIns="0" rIns="0" bIns="0" rtlCol="0" anchor="t"/>
            <a:lstStyle/>
            <a:p>
              <a:pPr marL="0" indent="0" algn="l">
                <a:lnSpc>
                  <a:spcPts val="1950"/>
                </a:lnSpc>
                <a:buNone/>
              </a:pPr>
              <a:r>
                <a:rPr lang="en-US" sz="1200" b="1" dirty="0">
                  <a:solidFill>
                    <a:srgbClr val="000000"/>
                  </a:solidFill>
                  <a:latin typeface="Roboto" pitchFamily="34" charset="0"/>
                  <a:ea typeface="Roboto" pitchFamily="34" charset="-122"/>
                  <a:cs typeface="Roboto" pitchFamily="34" charset="-120"/>
                </a:rPr>
                <a:t>Any model is only as good as the data it learns from.</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96119" y="1029816"/>
            <a:ext cx="6545684"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Algorithm vs. Model - What's the Difference?</a:t>
            </a:r>
            <a:endParaRPr lang="en-US" sz="2400" dirty="0"/>
          </a:p>
        </p:txBody>
      </p:sp>
      <p:sp>
        <p:nvSpPr>
          <p:cNvPr id="3" name="Shape 1"/>
          <p:cNvSpPr/>
          <p:nvPr/>
        </p:nvSpPr>
        <p:spPr>
          <a:xfrm>
            <a:off x="496119" y="1665387"/>
            <a:ext cx="8151763" cy="2448223"/>
          </a:xfrm>
          <a:prstGeom prst="roundRect">
            <a:avLst>
              <a:gd name="adj" fmla="val 760"/>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670149"/>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1749326"/>
            <a:ext cx="2807866"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Algorithm</a:t>
            </a:r>
            <a:endParaRPr lang="en-US" sz="1200" dirty="0"/>
          </a:p>
        </p:txBody>
      </p:sp>
      <p:sp>
        <p:nvSpPr>
          <p:cNvPr id="6" name="Text 4"/>
          <p:cNvSpPr/>
          <p:nvPr/>
        </p:nvSpPr>
        <p:spPr>
          <a:xfrm>
            <a:off x="3685505" y="1749326"/>
            <a:ext cx="483364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Model</a:t>
            </a:r>
            <a:endParaRPr lang="en-US" sz="1200" dirty="0"/>
          </a:p>
        </p:txBody>
      </p:sp>
      <p:sp>
        <p:nvSpPr>
          <p:cNvPr id="7" name="Shape 5"/>
          <p:cNvSpPr/>
          <p:nvPr/>
        </p:nvSpPr>
        <p:spPr>
          <a:xfrm>
            <a:off x="500881" y="2076599"/>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929" y="2155775"/>
            <a:ext cx="280786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recipe</a:t>
            </a:r>
            <a:endParaRPr lang="en-US" sz="1200" dirty="0"/>
          </a:p>
        </p:txBody>
      </p:sp>
      <p:sp>
        <p:nvSpPr>
          <p:cNvPr id="9" name="Text 7"/>
          <p:cNvSpPr/>
          <p:nvPr/>
        </p:nvSpPr>
        <p:spPr>
          <a:xfrm>
            <a:off x="3685505" y="2155775"/>
            <a:ext cx="483364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trained chef</a:t>
            </a:r>
            <a:endParaRPr lang="en-US" sz="1200" dirty="0"/>
          </a:p>
        </p:txBody>
      </p:sp>
      <p:sp>
        <p:nvSpPr>
          <p:cNvPr id="10" name="Shape 8"/>
          <p:cNvSpPr/>
          <p:nvPr/>
        </p:nvSpPr>
        <p:spPr>
          <a:xfrm>
            <a:off x="500881" y="2483048"/>
            <a:ext cx="8142238" cy="406450"/>
          </a:xfrm>
          <a:prstGeom prst="rect">
            <a:avLst/>
          </a:prstGeom>
          <a:solidFill>
            <a:srgbClr val="FFFFFF">
              <a:alpha val="4000"/>
            </a:srgbClr>
          </a:solidFill>
          <a:ln/>
        </p:spPr>
        <p:txBody>
          <a:bodyPr/>
          <a:lstStyle/>
          <a:p>
            <a:endParaRPr lang="en-IN"/>
          </a:p>
        </p:txBody>
      </p:sp>
      <p:sp>
        <p:nvSpPr>
          <p:cNvPr id="11" name="Text 9"/>
          <p:cNvSpPr/>
          <p:nvPr/>
        </p:nvSpPr>
        <p:spPr>
          <a:xfrm>
            <a:off x="624929" y="2562225"/>
            <a:ext cx="280786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Blank sheet music</a:t>
            </a:r>
            <a:endParaRPr lang="en-US" sz="1200" dirty="0"/>
          </a:p>
        </p:txBody>
      </p:sp>
      <p:sp>
        <p:nvSpPr>
          <p:cNvPr id="12" name="Text 10"/>
          <p:cNvSpPr/>
          <p:nvPr/>
        </p:nvSpPr>
        <p:spPr>
          <a:xfrm>
            <a:off x="3685505" y="2562225"/>
            <a:ext cx="483364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musician who has practiced and can perform</a:t>
            </a:r>
            <a:endParaRPr lang="en-US" sz="1200" dirty="0"/>
          </a:p>
        </p:txBody>
      </p:sp>
      <p:sp>
        <p:nvSpPr>
          <p:cNvPr id="13" name="Shape 11"/>
          <p:cNvSpPr/>
          <p:nvPr/>
        </p:nvSpPr>
        <p:spPr>
          <a:xfrm>
            <a:off x="500881" y="2889498"/>
            <a:ext cx="8142238" cy="406450"/>
          </a:xfrm>
          <a:prstGeom prst="rect">
            <a:avLst/>
          </a:prstGeom>
          <a:solidFill>
            <a:srgbClr val="000000">
              <a:alpha val="4000"/>
            </a:srgbClr>
          </a:solidFill>
          <a:ln/>
        </p:spPr>
        <p:txBody>
          <a:bodyPr/>
          <a:lstStyle/>
          <a:p>
            <a:endParaRPr lang="en-IN"/>
          </a:p>
        </p:txBody>
      </p:sp>
      <p:sp>
        <p:nvSpPr>
          <p:cNvPr id="14" name="Text 12"/>
          <p:cNvSpPr/>
          <p:nvPr/>
        </p:nvSpPr>
        <p:spPr>
          <a:xfrm>
            <a:off x="624929" y="2968675"/>
            <a:ext cx="280786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workout plan</a:t>
            </a:r>
            <a:endParaRPr lang="en-US" sz="1200" dirty="0"/>
          </a:p>
        </p:txBody>
      </p:sp>
      <p:sp>
        <p:nvSpPr>
          <p:cNvPr id="15" name="Text 13"/>
          <p:cNvSpPr/>
          <p:nvPr/>
        </p:nvSpPr>
        <p:spPr>
          <a:xfrm>
            <a:off x="3685505" y="2968675"/>
            <a:ext cx="483364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An athlete who has trained for months</a:t>
            </a:r>
            <a:endParaRPr lang="en-US" sz="1200" dirty="0"/>
          </a:p>
        </p:txBody>
      </p:sp>
      <p:sp>
        <p:nvSpPr>
          <p:cNvPr id="16" name="Shape 14"/>
          <p:cNvSpPr/>
          <p:nvPr/>
        </p:nvSpPr>
        <p:spPr>
          <a:xfrm>
            <a:off x="500881" y="3295948"/>
            <a:ext cx="8142238" cy="406450"/>
          </a:xfrm>
          <a:prstGeom prst="rect">
            <a:avLst/>
          </a:prstGeom>
          <a:solidFill>
            <a:srgbClr val="FFFFFF">
              <a:alpha val="4000"/>
            </a:srgbClr>
          </a:solidFill>
          <a:ln/>
        </p:spPr>
        <p:txBody>
          <a:bodyPr/>
          <a:lstStyle/>
          <a:p>
            <a:endParaRPr lang="en-IN"/>
          </a:p>
        </p:txBody>
      </p:sp>
      <p:sp>
        <p:nvSpPr>
          <p:cNvPr id="17" name="Text 15"/>
          <p:cNvSpPr/>
          <p:nvPr/>
        </p:nvSpPr>
        <p:spPr>
          <a:xfrm>
            <a:off x="624929" y="3375124"/>
            <a:ext cx="280786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General instructions</a:t>
            </a:r>
            <a:endParaRPr lang="en-US" sz="1200" dirty="0"/>
          </a:p>
        </p:txBody>
      </p:sp>
      <p:sp>
        <p:nvSpPr>
          <p:cNvPr id="18" name="Text 16"/>
          <p:cNvSpPr/>
          <p:nvPr/>
        </p:nvSpPr>
        <p:spPr>
          <a:xfrm>
            <a:off x="3685505" y="3375124"/>
            <a:ext cx="483364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Specific knowledge</a:t>
            </a:r>
            <a:endParaRPr lang="en-US" sz="1200" dirty="0"/>
          </a:p>
        </p:txBody>
      </p:sp>
      <p:sp>
        <p:nvSpPr>
          <p:cNvPr id="19" name="Shape 17"/>
          <p:cNvSpPr/>
          <p:nvPr/>
        </p:nvSpPr>
        <p:spPr>
          <a:xfrm>
            <a:off x="500881" y="3702397"/>
            <a:ext cx="8142238" cy="406450"/>
          </a:xfrm>
          <a:prstGeom prst="rect">
            <a:avLst/>
          </a:prstGeom>
          <a:solidFill>
            <a:srgbClr val="000000">
              <a:alpha val="4000"/>
            </a:srgbClr>
          </a:solidFill>
          <a:ln/>
        </p:spPr>
        <p:txBody>
          <a:bodyPr/>
          <a:lstStyle/>
          <a:p>
            <a:endParaRPr lang="en-IN"/>
          </a:p>
        </p:txBody>
      </p:sp>
      <p:sp>
        <p:nvSpPr>
          <p:cNvPr id="20" name="Text 18"/>
          <p:cNvSpPr/>
          <p:nvPr/>
        </p:nvSpPr>
        <p:spPr>
          <a:xfrm>
            <a:off x="624929" y="3781574"/>
            <a:ext cx="280786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Everyone can have the same algorithm</a:t>
            </a:r>
            <a:endParaRPr lang="en-US" sz="1200" dirty="0"/>
          </a:p>
        </p:txBody>
      </p:sp>
      <p:sp>
        <p:nvSpPr>
          <p:cNvPr id="21" name="Text 19"/>
          <p:cNvSpPr/>
          <p:nvPr/>
        </p:nvSpPr>
        <p:spPr>
          <a:xfrm>
            <a:off x="3685505" y="3781574"/>
            <a:ext cx="483364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Each model is unique - based on its specific training data</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4" grpId="0" animBg="1"/>
      <p:bldP spid="15" grpId="0" animBg="1"/>
      <p:bldP spid="17" grpId="0" animBg="1"/>
      <p:bldP spid="18" grpId="0" animBg="1"/>
      <p:bldP spid="20" grpId="0" animBg="1"/>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96119" y="1599902"/>
            <a:ext cx="4038377"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Most Important Takeaways</a:t>
            </a:r>
            <a:endParaRPr lang="en-US" sz="2400" dirty="0"/>
          </a:p>
        </p:txBody>
      </p:sp>
      <p:grpSp>
        <p:nvGrpSpPr>
          <p:cNvPr id="21" name="Group 20">
            <a:extLst>
              <a:ext uri="{FF2B5EF4-FFF2-40B4-BE49-F238E27FC236}">
                <a16:creationId xmlns:a16="http://schemas.microsoft.com/office/drawing/2014/main" id="{3EF564EB-F6ED-707D-23CE-8B0B57289DC2}"/>
              </a:ext>
            </a:extLst>
          </p:cNvPr>
          <p:cNvGrpSpPr/>
          <p:nvPr/>
        </p:nvGrpSpPr>
        <p:grpSpPr>
          <a:xfrm>
            <a:off x="481831" y="2235473"/>
            <a:ext cx="4028183" cy="713780"/>
            <a:chOff x="481831" y="2235473"/>
            <a:chExt cx="4028183" cy="713780"/>
          </a:xfrm>
        </p:grpSpPr>
        <p:sp>
          <p:nvSpPr>
            <p:cNvPr id="3" name="Shape 1"/>
            <p:cNvSpPr/>
            <p:nvPr/>
          </p:nvSpPr>
          <p:spPr>
            <a:xfrm>
              <a:off x="496119" y="2235473"/>
              <a:ext cx="4013895" cy="713780"/>
            </a:xfrm>
            <a:prstGeom prst="roundRect">
              <a:avLst>
                <a:gd name="adj" fmla="val 9608"/>
              </a:avLst>
            </a:prstGeom>
            <a:solidFill>
              <a:srgbClr val="FBFCFE"/>
            </a:solidFill>
            <a:ln w="14288">
              <a:solidFill>
                <a:srgbClr val="CFD2D8"/>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481831" y="2235473"/>
              <a:ext cx="57150" cy="713780"/>
            </a:xfrm>
            <a:prstGeom prst="rect">
              <a:avLst/>
            </a:prstGeom>
          </p:spPr>
        </p:pic>
        <p:sp>
          <p:nvSpPr>
            <p:cNvPr id="5" name="Text 2"/>
            <p:cNvSpPr/>
            <p:nvPr/>
          </p:nvSpPr>
          <p:spPr>
            <a:xfrm>
              <a:off x="677242" y="2373734"/>
              <a:ext cx="2452241"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Same algorithm + Different data =</a:t>
              </a:r>
              <a:endParaRPr lang="en-US" sz="1200" dirty="0"/>
            </a:p>
          </p:txBody>
        </p:sp>
        <p:sp>
          <p:nvSpPr>
            <p:cNvPr id="6" name="Text 3"/>
            <p:cNvSpPr/>
            <p:nvPr/>
          </p:nvSpPr>
          <p:spPr>
            <a:xfrm>
              <a:off x="677242" y="2617143"/>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 Different models</a:t>
              </a:r>
              <a:endParaRPr lang="en-US" sz="1200" dirty="0"/>
            </a:p>
          </p:txBody>
        </p:sp>
      </p:grpSp>
      <p:grpSp>
        <p:nvGrpSpPr>
          <p:cNvPr id="22" name="Group 21">
            <a:extLst>
              <a:ext uri="{FF2B5EF4-FFF2-40B4-BE49-F238E27FC236}">
                <a16:creationId xmlns:a16="http://schemas.microsoft.com/office/drawing/2014/main" id="{19274832-D6E5-D681-2116-6A91C1A85A05}"/>
              </a:ext>
            </a:extLst>
          </p:cNvPr>
          <p:cNvGrpSpPr/>
          <p:nvPr/>
        </p:nvGrpSpPr>
        <p:grpSpPr>
          <a:xfrm>
            <a:off x="4619699" y="2235473"/>
            <a:ext cx="4028183" cy="713780"/>
            <a:chOff x="4619699" y="2235473"/>
            <a:chExt cx="4028183" cy="713780"/>
          </a:xfrm>
        </p:grpSpPr>
        <p:sp>
          <p:nvSpPr>
            <p:cNvPr id="7" name="Shape 4"/>
            <p:cNvSpPr/>
            <p:nvPr/>
          </p:nvSpPr>
          <p:spPr>
            <a:xfrm>
              <a:off x="4633987" y="2235473"/>
              <a:ext cx="4013895" cy="713780"/>
            </a:xfrm>
            <a:prstGeom prst="roundRect">
              <a:avLst>
                <a:gd name="adj" fmla="val 9608"/>
              </a:avLst>
            </a:prstGeom>
            <a:solidFill>
              <a:srgbClr val="FBFCFE"/>
            </a:solidFill>
            <a:ln w="14288">
              <a:solidFill>
                <a:srgbClr val="CFD2D8"/>
              </a:solidFill>
              <a:prstDash val="solid"/>
            </a:ln>
          </p:spPr>
          <p:txBody>
            <a:bodyPr/>
            <a:lstStyle/>
            <a:p>
              <a:endParaRPr lang="en-IN"/>
            </a:p>
          </p:txBody>
        </p:sp>
        <p:pic>
          <p:nvPicPr>
            <p:cNvPr id="8" name="Image 1" descr="preencoded.png"/>
            <p:cNvPicPr>
              <a:picLocks noChangeAspect="1"/>
            </p:cNvPicPr>
            <p:nvPr/>
          </p:nvPicPr>
          <p:blipFill>
            <a:blip r:embed="rId3"/>
            <a:stretch>
              <a:fillRect/>
            </a:stretch>
          </p:blipFill>
          <p:spPr>
            <a:xfrm>
              <a:off x="4619699" y="2235473"/>
              <a:ext cx="57150" cy="713780"/>
            </a:xfrm>
            <a:prstGeom prst="rect">
              <a:avLst/>
            </a:prstGeom>
          </p:spPr>
        </p:pic>
        <p:sp>
          <p:nvSpPr>
            <p:cNvPr id="9" name="Text 5"/>
            <p:cNvSpPr/>
            <p:nvPr/>
          </p:nvSpPr>
          <p:spPr>
            <a:xfrm>
              <a:off x="4815111" y="2373734"/>
              <a:ext cx="2568104"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Different algorithms + Same data = </a:t>
              </a:r>
              <a:endParaRPr lang="en-US" sz="1200" dirty="0"/>
            </a:p>
          </p:txBody>
        </p:sp>
        <p:sp>
          <p:nvSpPr>
            <p:cNvPr id="10" name="Text 6"/>
            <p:cNvSpPr/>
            <p:nvPr/>
          </p:nvSpPr>
          <p:spPr>
            <a:xfrm>
              <a:off x="4815111" y="2617143"/>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Different models</a:t>
              </a:r>
              <a:endParaRPr lang="en-US" sz="1200" dirty="0"/>
            </a:p>
          </p:txBody>
        </p:sp>
      </p:grpSp>
      <p:grpSp>
        <p:nvGrpSpPr>
          <p:cNvPr id="25" name="Group 24">
            <a:extLst>
              <a:ext uri="{FF2B5EF4-FFF2-40B4-BE49-F238E27FC236}">
                <a16:creationId xmlns:a16="http://schemas.microsoft.com/office/drawing/2014/main" id="{F3659E77-4B0E-6E7E-85E3-9F78E41C4872}"/>
              </a:ext>
            </a:extLst>
          </p:cNvPr>
          <p:cNvGrpSpPr/>
          <p:nvPr/>
        </p:nvGrpSpPr>
        <p:grpSpPr>
          <a:xfrm>
            <a:off x="481831" y="3073226"/>
            <a:ext cx="4028183" cy="470371"/>
            <a:chOff x="481831" y="3073226"/>
            <a:chExt cx="4028183" cy="470371"/>
          </a:xfrm>
        </p:grpSpPr>
        <p:sp>
          <p:nvSpPr>
            <p:cNvPr id="11" name="Shape 7"/>
            <p:cNvSpPr/>
            <p:nvPr/>
          </p:nvSpPr>
          <p:spPr>
            <a:xfrm>
              <a:off x="496119" y="3073226"/>
              <a:ext cx="4013895" cy="470371"/>
            </a:xfrm>
            <a:prstGeom prst="roundRect">
              <a:avLst>
                <a:gd name="adj" fmla="val 14580"/>
              </a:avLst>
            </a:prstGeom>
            <a:solidFill>
              <a:srgbClr val="FBFCFE"/>
            </a:solidFill>
            <a:ln w="14288">
              <a:solidFill>
                <a:srgbClr val="CFD2D8"/>
              </a:solidFill>
              <a:prstDash val="solid"/>
            </a:ln>
          </p:spPr>
          <p:txBody>
            <a:bodyPr/>
            <a:lstStyle/>
            <a:p>
              <a:endParaRPr lang="en-IN"/>
            </a:p>
          </p:txBody>
        </p:sp>
        <p:pic>
          <p:nvPicPr>
            <p:cNvPr id="12" name="Image 2" descr="preencoded.png"/>
            <p:cNvPicPr>
              <a:picLocks noChangeAspect="1"/>
            </p:cNvPicPr>
            <p:nvPr/>
          </p:nvPicPr>
          <p:blipFill>
            <a:blip r:embed="rId4"/>
            <a:stretch>
              <a:fillRect/>
            </a:stretch>
          </p:blipFill>
          <p:spPr>
            <a:xfrm>
              <a:off x="481831" y="3073226"/>
              <a:ext cx="57150" cy="470371"/>
            </a:xfrm>
            <a:prstGeom prst="rect">
              <a:avLst/>
            </a:prstGeom>
          </p:spPr>
        </p:pic>
        <p:sp>
          <p:nvSpPr>
            <p:cNvPr id="13" name="Text 8"/>
            <p:cNvSpPr/>
            <p:nvPr/>
          </p:nvSpPr>
          <p:spPr>
            <a:xfrm>
              <a:off x="677242" y="3211488"/>
              <a:ext cx="2814265"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No model without algorithm AND data</a:t>
              </a:r>
              <a:endParaRPr lang="en-US" sz="1200" dirty="0"/>
            </a:p>
          </p:txBody>
        </p:sp>
      </p:grpSp>
      <p:grpSp>
        <p:nvGrpSpPr>
          <p:cNvPr id="24" name="Group 23">
            <a:extLst>
              <a:ext uri="{FF2B5EF4-FFF2-40B4-BE49-F238E27FC236}">
                <a16:creationId xmlns:a16="http://schemas.microsoft.com/office/drawing/2014/main" id="{D0C62758-511D-79DD-9825-694B52AA52C8}"/>
              </a:ext>
            </a:extLst>
          </p:cNvPr>
          <p:cNvGrpSpPr/>
          <p:nvPr/>
        </p:nvGrpSpPr>
        <p:grpSpPr>
          <a:xfrm>
            <a:off x="4619699" y="3073226"/>
            <a:ext cx="4028183" cy="470371"/>
            <a:chOff x="4619699" y="3073226"/>
            <a:chExt cx="4028183" cy="470371"/>
          </a:xfrm>
        </p:grpSpPr>
        <p:sp>
          <p:nvSpPr>
            <p:cNvPr id="14" name="Shape 9"/>
            <p:cNvSpPr/>
            <p:nvPr/>
          </p:nvSpPr>
          <p:spPr>
            <a:xfrm>
              <a:off x="4633987" y="3073226"/>
              <a:ext cx="4013895" cy="470371"/>
            </a:xfrm>
            <a:prstGeom prst="roundRect">
              <a:avLst>
                <a:gd name="adj" fmla="val 14580"/>
              </a:avLst>
            </a:prstGeom>
            <a:solidFill>
              <a:srgbClr val="FBFCFE"/>
            </a:solidFill>
            <a:ln w="14288">
              <a:solidFill>
                <a:srgbClr val="CFD2D8"/>
              </a:solidFill>
              <a:prstDash val="solid"/>
            </a:ln>
          </p:spPr>
          <p:txBody>
            <a:bodyPr/>
            <a:lstStyle/>
            <a:p>
              <a:endParaRPr lang="en-IN"/>
            </a:p>
          </p:txBody>
        </p:sp>
        <p:pic>
          <p:nvPicPr>
            <p:cNvPr id="15" name="Image 3" descr="preencoded.png"/>
            <p:cNvPicPr>
              <a:picLocks noChangeAspect="1"/>
            </p:cNvPicPr>
            <p:nvPr/>
          </p:nvPicPr>
          <p:blipFill>
            <a:blip r:embed="rId4"/>
            <a:stretch>
              <a:fillRect/>
            </a:stretch>
          </p:blipFill>
          <p:spPr>
            <a:xfrm>
              <a:off x="4619699" y="3073226"/>
              <a:ext cx="57150" cy="470371"/>
            </a:xfrm>
            <a:prstGeom prst="rect">
              <a:avLst/>
            </a:prstGeom>
          </p:spPr>
        </p:pic>
        <p:sp>
          <p:nvSpPr>
            <p:cNvPr id="16" name="Text 10"/>
            <p:cNvSpPr/>
            <p:nvPr/>
          </p:nvSpPr>
          <p:spPr>
            <a:xfrm>
              <a:off x="4815111" y="3211488"/>
              <a:ext cx="2809577"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Algorithm is general; Model is specific</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957263"/>
            <a:ext cx="4682654" cy="348853"/>
          </a:xfrm>
          <a:prstGeom prst="rect">
            <a:avLst/>
          </a:prstGeom>
          <a:noFill/>
          <a:ln/>
        </p:spPr>
        <p:txBody>
          <a:bodyPr wrap="none" lIns="0" tIns="0" rIns="0" bIns="0" rtlCol="0" anchor="t"/>
          <a:lstStyle/>
          <a:p>
            <a:pPr marL="0" indent="0" algn="l">
              <a:lnSpc>
                <a:spcPts val="2700"/>
              </a:lnSpc>
              <a:buNone/>
            </a:pPr>
            <a:r>
              <a:rPr lang="en-US" sz="2150" dirty="0">
                <a:solidFill>
                  <a:srgbClr val="3257B8"/>
                </a:solidFill>
                <a:latin typeface="Roboto Slab" pitchFamily="34" charset="0"/>
                <a:ea typeface="Roboto Slab" pitchFamily="34" charset="-122"/>
                <a:cs typeface="Roboto Slab" pitchFamily="34" charset="-120"/>
              </a:rPr>
              <a:t>Hands-On Activity : Explore Gemini</a:t>
            </a:r>
            <a:endParaRPr lang="en-US" sz="2150" dirty="0"/>
          </a:p>
        </p:txBody>
      </p:sp>
      <p:sp>
        <p:nvSpPr>
          <p:cNvPr id="4" name="Text 1"/>
          <p:cNvSpPr/>
          <p:nvPr/>
        </p:nvSpPr>
        <p:spPr>
          <a:xfrm>
            <a:off x="496119" y="1456804"/>
            <a:ext cx="4722763" cy="424160"/>
          </a:xfrm>
          <a:prstGeom prst="rect">
            <a:avLst/>
          </a:prstGeom>
          <a:noFill/>
          <a:ln/>
        </p:spPr>
        <p:txBody>
          <a:bodyPr wrap="squar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Gemini is a type of AI that was trained on enormous amounts of text from the internet, books, articles, and other sources.</a:t>
            </a:r>
            <a:endParaRPr lang="en-US" sz="1050" dirty="0"/>
          </a:p>
        </p:txBody>
      </p:sp>
      <p:sp>
        <p:nvSpPr>
          <p:cNvPr id="5" name="Text 2"/>
          <p:cNvSpPr/>
          <p:nvPr/>
        </p:nvSpPr>
        <p:spPr>
          <a:xfrm>
            <a:off x="496119" y="1993999"/>
            <a:ext cx="4722763"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Gemini can:</a:t>
            </a:r>
            <a:endParaRPr lang="en-US" sz="1050" dirty="0"/>
          </a:p>
        </p:txBody>
      </p:sp>
      <p:sp>
        <p:nvSpPr>
          <p:cNvPr id="6" name="Shape 3"/>
          <p:cNvSpPr/>
          <p:nvPr/>
        </p:nvSpPr>
        <p:spPr>
          <a:xfrm>
            <a:off x="579834" y="2319114"/>
            <a:ext cx="14288" cy="1867049"/>
          </a:xfrm>
          <a:prstGeom prst="roundRect">
            <a:avLst>
              <a:gd name="adj" fmla="val 117205"/>
            </a:avLst>
          </a:prstGeom>
          <a:solidFill>
            <a:srgbClr val="CFD2D8"/>
          </a:solidFill>
          <a:ln/>
        </p:spPr>
        <p:txBody>
          <a:bodyPr/>
          <a:lstStyle/>
          <a:p>
            <a:endParaRPr lang="en-IN"/>
          </a:p>
        </p:txBody>
      </p:sp>
      <p:grpSp>
        <p:nvGrpSpPr>
          <p:cNvPr id="22" name="Group 21">
            <a:extLst>
              <a:ext uri="{FF2B5EF4-FFF2-40B4-BE49-F238E27FC236}">
                <a16:creationId xmlns:a16="http://schemas.microsoft.com/office/drawing/2014/main" id="{461A2BA4-22FD-8AD4-468B-E47FB1279A5D}"/>
              </a:ext>
            </a:extLst>
          </p:cNvPr>
          <p:cNvGrpSpPr/>
          <p:nvPr/>
        </p:nvGrpSpPr>
        <p:grpSpPr>
          <a:xfrm>
            <a:off x="537976" y="2357438"/>
            <a:ext cx="3001157" cy="174352"/>
            <a:chOff x="537976" y="2357438"/>
            <a:chExt cx="3001157" cy="174352"/>
          </a:xfrm>
        </p:grpSpPr>
        <p:sp>
          <p:nvSpPr>
            <p:cNvPr id="7" name="Shape 4"/>
            <p:cNvSpPr/>
            <p:nvPr/>
          </p:nvSpPr>
          <p:spPr>
            <a:xfrm>
              <a:off x="565547" y="2437507"/>
              <a:ext cx="223242" cy="14288"/>
            </a:xfrm>
            <a:prstGeom prst="roundRect">
              <a:avLst>
                <a:gd name="adj" fmla="val 117205"/>
              </a:avLst>
            </a:prstGeom>
            <a:solidFill>
              <a:srgbClr val="CFD2D8"/>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537976" y="2402793"/>
              <a:ext cx="83716" cy="83716"/>
            </a:xfrm>
            <a:prstGeom prst="rect">
              <a:avLst/>
            </a:prstGeom>
          </p:spPr>
        </p:pic>
        <p:sp>
          <p:nvSpPr>
            <p:cNvPr id="9" name="Text 5"/>
            <p:cNvSpPr/>
            <p:nvPr/>
          </p:nvSpPr>
          <p:spPr>
            <a:xfrm>
              <a:off x="1026393" y="2357438"/>
              <a:ext cx="2512740" cy="174352"/>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Slab" pitchFamily="34" charset="0"/>
                  <a:ea typeface="Roboto Slab" pitchFamily="34" charset="-122"/>
                  <a:cs typeface="Roboto Slab" pitchFamily="34" charset="-120"/>
                </a:rPr>
                <a:t>Answer questions on almost any topic</a:t>
              </a:r>
              <a:endParaRPr lang="en-US" sz="1050" dirty="0"/>
            </a:p>
          </p:txBody>
        </p:sp>
      </p:grpSp>
      <p:grpSp>
        <p:nvGrpSpPr>
          <p:cNvPr id="23" name="Group 22">
            <a:extLst>
              <a:ext uri="{FF2B5EF4-FFF2-40B4-BE49-F238E27FC236}">
                <a16:creationId xmlns:a16="http://schemas.microsoft.com/office/drawing/2014/main" id="{BF40DE40-31D5-D501-562F-C8814BE766A9}"/>
              </a:ext>
            </a:extLst>
          </p:cNvPr>
          <p:cNvGrpSpPr/>
          <p:nvPr/>
        </p:nvGrpSpPr>
        <p:grpSpPr>
          <a:xfrm>
            <a:off x="537976" y="2771031"/>
            <a:ext cx="3287948" cy="174352"/>
            <a:chOff x="537976" y="2771031"/>
            <a:chExt cx="3287948" cy="174352"/>
          </a:xfrm>
        </p:grpSpPr>
        <p:sp>
          <p:nvSpPr>
            <p:cNvPr id="10" name="Shape 6"/>
            <p:cNvSpPr/>
            <p:nvPr/>
          </p:nvSpPr>
          <p:spPr>
            <a:xfrm>
              <a:off x="565547" y="2851100"/>
              <a:ext cx="223242" cy="14288"/>
            </a:xfrm>
            <a:prstGeom prst="roundRect">
              <a:avLst>
                <a:gd name="adj" fmla="val 117205"/>
              </a:avLst>
            </a:prstGeom>
            <a:solidFill>
              <a:srgbClr val="CFD2D8"/>
            </a:solidFill>
            <a:ln/>
          </p:spPr>
          <p:txBody>
            <a:bodyPr/>
            <a:lstStyle/>
            <a:p>
              <a:endParaRPr lang="en-IN"/>
            </a:p>
          </p:txBody>
        </p:sp>
        <p:pic>
          <p:nvPicPr>
            <p:cNvPr id="11" name="Image 2" descr="preencoded.png"/>
            <p:cNvPicPr>
              <a:picLocks noChangeAspect="1"/>
            </p:cNvPicPr>
            <p:nvPr/>
          </p:nvPicPr>
          <p:blipFill>
            <a:blip r:embed="rId4"/>
            <a:stretch>
              <a:fillRect/>
            </a:stretch>
          </p:blipFill>
          <p:spPr>
            <a:xfrm>
              <a:off x="537976" y="2816386"/>
              <a:ext cx="83716" cy="83716"/>
            </a:xfrm>
            <a:prstGeom prst="rect">
              <a:avLst/>
            </a:prstGeom>
          </p:spPr>
        </p:pic>
        <p:sp>
          <p:nvSpPr>
            <p:cNvPr id="12" name="Text 7"/>
            <p:cNvSpPr/>
            <p:nvPr/>
          </p:nvSpPr>
          <p:spPr>
            <a:xfrm>
              <a:off x="1026393" y="2771031"/>
              <a:ext cx="2799531" cy="174352"/>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Slab" pitchFamily="34" charset="0"/>
                  <a:ea typeface="Roboto Slab" pitchFamily="34" charset="-122"/>
                  <a:cs typeface="Roboto Slab" pitchFamily="34" charset="-120"/>
                </a:rPr>
                <a:t>Explain complex concepts in simple terms</a:t>
              </a:r>
              <a:endParaRPr lang="en-US" sz="1050" dirty="0"/>
            </a:p>
          </p:txBody>
        </p:sp>
      </p:grpSp>
      <p:grpSp>
        <p:nvGrpSpPr>
          <p:cNvPr id="24" name="Group 23">
            <a:extLst>
              <a:ext uri="{FF2B5EF4-FFF2-40B4-BE49-F238E27FC236}">
                <a16:creationId xmlns:a16="http://schemas.microsoft.com/office/drawing/2014/main" id="{FFFC3D72-6E0D-555E-9ECC-38845B8CC99E}"/>
              </a:ext>
            </a:extLst>
          </p:cNvPr>
          <p:cNvGrpSpPr/>
          <p:nvPr/>
        </p:nvGrpSpPr>
        <p:grpSpPr>
          <a:xfrm>
            <a:off x="537976" y="3184624"/>
            <a:ext cx="2250319" cy="174352"/>
            <a:chOff x="537976" y="3184624"/>
            <a:chExt cx="2250319" cy="174352"/>
          </a:xfrm>
        </p:grpSpPr>
        <p:sp>
          <p:nvSpPr>
            <p:cNvPr id="13" name="Shape 8"/>
            <p:cNvSpPr/>
            <p:nvPr/>
          </p:nvSpPr>
          <p:spPr>
            <a:xfrm>
              <a:off x="565547" y="3264694"/>
              <a:ext cx="223242" cy="14288"/>
            </a:xfrm>
            <a:prstGeom prst="roundRect">
              <a:avLst>
                <a:gd name="adj" fmla="val 117205"/>
              </a:avLst>
            </a:prstGeom>
            <a:solidFill>
              <a:srgbClr val="CFD2D8"/>
            </a:solidFill>
            <a:ln/>
          </p:spPr>
          <p:txBody>
            <a:bodyPr/>
            <a:lstStyle/>
            <a:p>
              <a:endParaRPr lang="en-IN"/>
            </a:p>
          </p:txBody>
        </p:sp>
        <p:pic>
          <p:nvPicPr>
            <p:cNvPr id="14" name="Image 3" descr="preencoded.png"/>
            <p:cNvPicPr>
              <a:picLocks noChangeAspect="1"/>
            </p:cNvPicPr>
            <p:nvPr/>
          </p:nvPicPr>
          <p:blipFill>
            <a:blip r:embed="rId4"/>
            <a:stretch>
              <a:fillRect/>
            </a:stretch>
          </p:blipFill>
          <p:spPr>
            <a:xfrm>
              <a:off x="537976" y="3229980"/>
              <a:ext cx="83716" cy="83716"/>
            </a:xfrm>
            <a:prstGeom prst="rect">
              <a:avLst/>
            </a:prstGeom>
          </p:spPr>
        </p:pic>
        <p:sp>
          <p:nvSpPr>
            <p:cNvPr id="15" name="Text 9"/>
            <p:cNvSpPr/>
            <p:nvPr/>
          </p:nvSpPr>
          <p:spPr>
            <a:xfrm>
              <a:off x="1026393" y="3184624"/>
              <a:ext cx="1761902" cy="174352"/>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Slab" pitchFamily="34" charset="0"/>
                  <a:ea typeface="Roboto Slab" pitchFamily="34" charset="-122"/>
                  <a:cs typeface="Roboto Slab" pitchFamily="34" charset="-120"/>
                </a:rPr>
                <a:t>Help with creative projects</a:t>
              </a:r>
              <a:endParaRPr lang="en-US" sz="1050" dirty="0"/>
            </a:p>
          </p:txBody>
        </p:sp>
      </p:grpSp>
      <p:grpSp>
        <p:nvGrpSpPr>
          <p:cNvPr id="25" name="Group 24">
            <a:extLst>
              <a:ext uri="{FF2B5EF4-FFF2-40B4-BE49-F238E27FC236}">
                <a16:creationId xmlns:a16="http://schemas.microsoft.com/office/drawing/2014/main" id="{9E8A091C-B8B4-6A25-C690-95F217F3B9FE}"/>
              </a:ext>
            </a:extLst>
          </p:cNvPr>
          <p:cNvGrpSpPr/>
          <p:nvPr/>
        </p:nvGrpSpPr>
        <p:grpSpPr>
          <a:xfrm>
            <a:off x="537976" y="3598218"/>
            <a:ext cx="2424076" cy="174352"/>
            <a:chOff x="537976" y="3598218"/>
            <a:chExt cx="2424076" cy="174352"/>
          </a:xfrm>
        </p:grpSpPr>
        <p:sp>
          <p:nvSpPr>
            <p:cNvPr id="16" name="Shape 10"/>
            <p:cNvSpPr/>
            <p:nvPr/>
          </p:nvSpPr>
          <p:spPr>
            <a:xfrm>
              <a:off x="565547" y="3678287"/>
              <a:ext cx="223242" cy="14288"/>
            </a:xfrm>
            <a:prstGeom prst="roundRect">
              <a:avLst>
                <a:gd name="adj" fmla="val 117205"/>
              </a:avLst>
            </a:prstGeom>
            <a:solidFill>
              <a:srgbClr val="CFD2D8"/>
            </a:solidFill>
            <a:ln/>
          </p:spPr>
          <p:txBody>
            <a:bodyPr/>
            <a:lstStyle/>
            <a:p>
              <a:endParaRPr lang="en-IN"/>
            </a:p>
          </p:txBody>
        </p:sp>
        <p:pic>
          <p:nvPicPr>
            <p:cNvPr id="17" name="Image 4" descr="preencoded.png"/>
            <p:cNvPicPr>
              <a:picLocks noChangeAspect="1"/>
            </p:cNvPicPr>
            <p:nvPr/>
          </p:nvPicPr>
          <p:blipFill>
            <a:blip r:embed="rId4"/>
            <a:stretch>
              <a:fillRect/>
            </a:stretch>
          </p:blipFill>
          <p:spPr>
            <a:xfrm>
              <a:off x="537976" y="3643573"/>
              <a:ext cx="83716" cy="83716"/>
            </a:xfrm>
            <a:prstGeom prst="rect">
              <a:avLst/>
            </a:prstGeom>
          </p:spPr>
        </p:pic>
        <p:sp>
          <p:nvSpPr>
            <p:cNvPr id="18" name="Text 11"/>
            <p:cNvSpPr/>
            <p:nvPr/>
          </p:nvSpPr>
          <p:spPr>
            <a:xfrm>
              <a:off x="1026393" y="3598218"/>
              <a:ext cx="1935659" cy="174352"/>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Slab" pitchFamily="34" charset="0"/>
                  <a:ea typeface="Roboto Slab" pitchFamily="34" charset="-122"/>
                  <a:cs typeface="Roboto Slab" pitchFamily="34" charset="-120"/>
                </a:rPr>
                <a:t>Translate between languages</a:t>
              </a:r>
              <a:endParaRPr lang="en-US" sz="1050" dirty="0"/>
            </a:p>
          </p:txBody>
        </p:sp>
      </p:grpSp>
      <p:grpSp>
        <p:nvGrpSpPr>
          <p:cNvPr id="26" name="Group 25">
            <a:extLst>
              <a:ext uri="{FF2B5EF4-FFF2-40B4-BE49-F238E27FC236}">
                <a16:creationId xmlns:a16="http://schemas.microsoft.com/office/drawing/2014/main" id="{77C85E67-41EA-56A2-3BCB-4BCDE9FFE1E3}"/>
              </a:ext>
            </a:extLst>
          </p:cNvPr>
          <p:cNvGrpSpPr/>
          <p:nvPr/>
        </p:nvGrpSpPr>
        <p:grpSpPr>
          <a:xfrm>
            <a:off x="537976" y="4011811"/>
            <a:ext cx="1883904" cy="174352"/>
            <a:chOff x="537976" y="4011811"/>
            <a:chExt cx="1883904" cy="174352"/>
          </a:xfrm>
        </p:grpSpPr>
        <p:sp>
          <p:nvSpPr>
            <p:cNvPr id="19" name="Shape 12"/>
            <p:cNvSpPr/>
            <p:nvPr/>
          </p:nvSpPr>
          <p:spPr>
            <a:xfrm>
              <a:off x="565547" y="4091880"/>
              <a:ext cx="223242" cy="14288"/>
            </a:xfrm>
            <a:prstGeom prst="roundRect">
              <a:avLst>
                <a:gd name="adj" fmla="val 117205"/>
              </a:avLst>
            </a:prstGeom>
            <a:solidFill>
              <a:srgbClr val="CFD2D8"/>
            </a:solidFill>
            <a:ln/>
          </p:spPr>
          <p:txBody>
            <a:bodyPr/>
            <a:lstStyle/>
            <a:p>
              <a:endParaRPr lang="en-IN"/>
            </a:p>
          </p:txBody>
        </p:sp>
        <p:pic>
          <p:nvPicPr>
            <p:cNvPr id="20" name="Image 5" descr="preencoded.png"/>
            <p:cNvPicPr>
              <a:picLocks noChangeAspect="1"/>
            </p:cNvPicPr>
            <p:nvPr/>
          </p:nvPicPr>
          <p:blipFill>
            <a:blip r:embed="rId4"/>
            <a:stretch>
              <a:fillRect/>
            </a:stretch>
          </p:blipFill>
          <p:spPr>
            <a:xfrm>
              <a:off x="537976" y="4057166"/>
              <a:ext cx="83716" cy="83716"/>
            </a:xfrm>
            <a:prstGeom prst="rect">
              <a:avLst/>
            </a:prstGeom>
          </p:spPr>
        </p:pic>
        <p:sp>
          <p:nvSpPr>
            <p:cNvPr id="21" name="Text 13"/>
            <p:cNvSpPr/>
            <p:nvPr/>
          </p:nvSpPr>
          <p:spPr>
            <a:xfrm>
              <a:off x="1026393" y="4011811"/>
              <a:ext cx="1395487" cy="174352"/>
            </a:xfrm>
            <a:prstGeom prst="rect">
              <a:avLst/>
            </a:prstGeom>
            <a:noFill/>
            <a:ln/>
          </p:spPr>
          <p:txBody>
            <a:bodyPr wrap="none" lIns="0" tIns="0" rIns="0" bIns="0" rtlCol="0" anchor="t"/>
            <a:lstStyle/>
            <a:p>
              <a:pPr marL="0" indent="0" algn="l">
                <a:lnSpc>
                  <a:spcPts val="1350"/>
                </a:lnSpc>
                <a:buNone/>
              </a:pPr>
              <a:r>
                <a:rPr lang="en-US" sz="1050" dirty="0">
                  <a:solidFill>
                    <a:srgbClr val="15213F"/>
                  </a:solidFill>
                  <a:latin typeface="Roboto Slab" pitchFamily="34" charset="0"/>
                  <a:ea typeface="Roboto Slab" pitchFamily="34" charset="-122"/>
                  <a:cs typeface="Roboto Slab" pitchFamily="34" charset="-120"/>
                </a:rPr>
                <a:t>And much more!</a:t>
              </a:r>
              <a:endParaRPr lang="en-US" sz="10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96119" y="527968"/>
            <a:ext cx="5203329"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Hands-On Activity : Explore Gemini</a:t>
            </a:r>
            <a:endParaRPr lang="en-US" sz="2400" dirty="0"/>
          </a:p>
        </p:txBody>
      </p:sp>
      <p:sp>
        <p:nvSpPr>
          <p:cNvPr id="3" name="Text 1"/>
          <p:cNvSpPr/>
          <p:nvPr/>
        </p:nvSpPr>
        <p:spPr>
          <a:xfrm>
            <a:off x="496119" y="1163538"/>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Open Gemini (</a:t>
            </a:r>
            <a:r>
              <a:rPr lang="en-US" sz="1200" u="sng" dirty="0">
                <a:solidFill>
                  <a:srgbClr val="3257B8"/>
                </a:solidFill>
                <a:latin typeface="Roboto" pitchFamily="34" charset="0"/>
                <a:ea typeface="Roboto" pitchFamily="34" charset="-122"/>
                <a:cs typeface="Roboto" pitchFamily="34" charset="-120"/>
                <a:hlinkClick r:id="rId3">
                  <a:extLst>
                    <a:ext uri="{A12FA001-AC4F-418D-AE19-62706E023703}">
                      <ahyp:hlinkClr xmlns:ahyp="http://schemas.microsoft.com/office/drawing/2018/hyperlinkcolor" val="tx"/>
                    </a:ext>
                  </a:extLst>
                </a:hlinkClick>
              </a:rPr>
              <a:t>gemini.google.com</a:t>
            </a:r>
            <a:r>
              <a:rPr lang="en-US" sz="1200" dirty="0">
                <a:solidFill>
                  <a:srgbClr val="15213F"/>
                </a:solidFill>
                <a:latin typeface="Roboto" pitchFamily="34" charset="0"/>
                <a:ea typeface="Roboto" pitchFamily="34" charset="-122"/>
                <a:cs typeface="Roboto" pitchFamily="34" charset="-120"/>
              </a:rPr>
              <a:t>) and try these three things. Write your answers below.</a:t>
            </a:r>
            <a:endParaRPr lang="en-US" sz="1200" dirty="0"/>
          </a:p>
        </p:txBody>
      </p:sp>
      <p:sp>
        <p:nvSpPr>
          <p:cNvPr id="4" name="Text 2"/>
          <p:cNvSpPr/>
          <p:nvPr/>
        </p:nvSpPr>
        <p:spPr>
          <a:xfrm>
            <a:off x="496119" y="1551161"/>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5" name="Shape 3"/>
          <p:cNvSpPr/>
          <p:nvPr/>
        </p:nvSpPr>
        <p:spPr>
          <a:xfrm>
            <a:off x="496119" y="1938784"/>
            <a:ext cx="4013895" cy="2676748"/>
          </a:xfrm>
          <a:prstGeom prst="roundRect">
            <a:avLst>
              <a:gd name="adj" fmla="val 695"/>
            </a:avLst>
          </a:prstGeom>
          <a:solidFill>
            <a:srgbClr val="FBFCFE"/>
          </a:solidFill>
          <a:ln w="14288">
            <a:solidFill>
              <a:srgbClr val="CFD2D8"/>
            </a:solidFill>
            <a:prstDash val="solid"/>
          </a:ln>
        </p:spPr>
        <p:txBody>
          <a:bodyPr/>
          <a:lstStyle/>
          <a:p>
            <a:endParaRPr lang="en-IN"/>
          </a:p>
        </p:txBody>
      </p:sp>
      <p:sp>
        <p:nvSpPr>
          <p:cNvPr id="6" name="Text 4"/>
          <p:cNvSpPr/>
          <p:nvPr/>
        </p:nvSpPr>
        <p:spPr>
          <a:xfrm>
            <a:off x="634380" y="2077045"/>
            <a:ext cx="373737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Task 1: Ask About Data &amp; Training</a:t>
            </a:r>
            <a:endParaRPr lang="en-US" sz="1200" dirty="0"/>
          </a:p>
        </p:txBody>
      </p:sp>
      <p:sp>
        <p:nvSpPr>
          <p:cNvPr id="7" name="Text 5"/>
          <p:cNvSpPr/>
          <p:nvPr/>
        </p:nvSpPr>
        <p:spPr>
          <a:xfrm>
            <a:off x="634380" y="2399556"/>
            <a:ext cx="373737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Ask Gemini:</a:t>
            </a:r>
            <a:endParaRPr lang="en-US" sz="1200" dirty="0"/>
          </a:p>
        </p:txBody>
      </p:sp>
      <p:sp>
        <p:nvSpPr>
          <p:cNvPr id="8" name="Text 6"/>
          <p:cNvSpPr/>
          <p:nvPr/>
        </p:nvSpPr>
        <p:spPr>
          <a:xfrm>
            <a:off x="634380" y="2722066"/>
            <a:ext cx="3737372" cy="539576"/>
          </a:xfrm>
          <a:prstGeom prst="rect">
            <a:avLst/>
          </a:prstGeom>
          <a:noFill/>
          <a:ln/>
        </p:spPr>
        <p:txBody>
          <a:bodyPr wrap="square" lIns="0" tIns="0" rIns="0" bIns="0" rtlCol="0" anchor="t"/>
          <a:lstStyle/>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"What data were you trained on?"</a:t>
            </a:r>
            <a:endParaRPr lang="en-US" sz="950" dirty="0"/>
          </a:p>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"How much text did you learn from?"</a:t>
            </a:r>
            <a:endParaRPr lang="en-US" sz="950" dirty="0"/>
          </a:p>
        </p:txBody>
      </p:sp>
      <p:sp>
        <p:nvSpPr>
          <p:cNvPr id="9" name="Text 7"/>
          <p:cNvSpPr/>
          <p:nvPr/>
        </p:nvSpPr>
        <p:spPr>
          <a:xfrm>
            <a:off x="634380" y="3336057"/>
            <a:ext cx="3737372"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10" name="Text 8"/>
          <p:cNvSpPr/>
          <p:nvPr/>
        </p:nvSpPr>
        <p:spPr>
          <a:xfrm>
            <a:off x="634380" y="3658567"/>
            <a:ext cx="3737372"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11" name="Text 9"/>
          <p:cNvSpPr/>
          <p:nvPr/>
        </p:nvSpPr>
        <p:spPr>
          <a:xfrm>
            <a:off x="634380" y="3981078"/>
            <a:ext cx="373737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What do these answers tell you about the </a:t>
            </a:r>
            <a:r>
              <a:rPr lang="en-US" sz="1200" b="1" dirty="0">
                <a:solidFill>
                  <a:srgbClr val="15213F"/>
                </a:solidFill>
                <a:latin typeface="Roboto" pitchFamily="34" charset="0"/>
                <a:ea typeface="Roboto" pitchFamily="34" charset="-122"/>
                <a:cs typeface="Roboto" pitchFamily="34" charset="-120"/>
              </a:rPr>
              <a:t>DATA</a:t>
            </a:r>
            <a:r>
              <a:rPr lang="en-US" sz="1200" dirty="0">
                <a:solidFill>
                  <a:srgbClr val="15213F"/>
                </a:solidFill>
                <a:latin typeface="Roboto" pitchFamily="34" charset="0"/>
                <a:ea typeface="Roboto" pitchFamily="34" charset="-122"/>
                <a:cs typeface="Roboto" pitchFamily="34" charset="-120"/>
              </a:rPr>
              <a:t> and </a:t>
            </a:r>
            <a:r>
              <a:rPr lang="en-US" sz="1200" b="1" dirty="0">
                <a:solidFill>
                  <a:srgbClr val="15213F"/>
                </a:solidFill>
                <a:latin typeface="Roboto" pitchFamily="34" charset="0"/>
                <a:ea typeface="Roboto" pitchFamily="34" charset="-122"/>
                <a:cs typeface="Roboto" pitchFamily="34" charset="-120"/>
              </a:rPr>
              <a:t>TRAINING</a:t>
            </a:r>
            <a:r>
              <a:rPr lang="en-US" sz="1200" dirty="0">
                <a:solidFill>
                  <a:srgbClr val="15213F"/>
                </a:solidFill>
                <a:latin typeface="Roboto" pitchFamily="34" charset="0"/>
                <a:ea typeface="Roboto" pitchFamily="34" charset="-122"/>
                <a:cs typeface="Roboto" pitchFamily="34" charset="-120"/>
              </a:rPr>
              <a:t> behind Gemini?</a:t>
            </a:r>
            <a:endParaRPr lang="en-US" sz="1200" dirty="0"/>
          </a:p>
        </p:txBody>
      </p:sp>
      <p:sp>
        <p:nvSpPr>
          <p:cNvPr id="12" name="Shape 10"/>
          <p:cNvSpPr/>
          <p:nvPr/>
        </p:nvSpPr>
        <p:spPr>
          <a:xfrm>
            <a:off x="4633987" y="1938784"/>
            <a:ext cx="4013895" cy="2676748"/>
          </a:xfrm>
          <a:prstGeom prst="roundRect">
            <a:avLst>
              <a:gd name="adj" fmla="val 695"/>
            </a:avLst>
          </a:prstGeom>
          <a:solidFill>
            <a:srgbClr val="FBFCFE"/>
          </a:solidFill>
          <a:ln w="14288">
            <a:solidFill>
              <a:srgbClr val="CFD2D8"/>
            </a:solidFill>
            <a:prstDash val="solid"/>
          </a:ln>
        </p:spPr>
        <p:txBody>
          <a:bodyPr/>
          <a:lstStyle/>
          <a:p>
            <a:endParaRPr lang="en-IN"/>
          </a:p>
        </p:txBody>
      </p:sp>
      <p:sp>
        <p:nvSpPr>
          <p:cNvPr id="13" name="Text 11"/>
          <p:cNvSpPr/>
          <p:nvPr/>
        </p:nvSpPr>
        <p:spPr>
          <a:xfrm>
            <a:off x="4772248" y="2077045"/>
            <a:ext cx="373737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Task 2: Ask for Explanations</a:t>
            </a:r>
            <a:endParaRPr lang="en-US" sz="1200" dirty="0"/>
          </a:p>
        </p:txBody>
      </p:sp>
      <p:sp>
        <p:nvSpPr>
          <p:cNvPr id="14" name="Text 12"/>
          <p:cNvSpPr/>
          <p:nvPr/>
        </p:nvSpPr>
        <p:spPr>
          <a:xfrm>
            <a:off x="4772248" y="2399556"/>
            <a:ext cx="373737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Ask Gemini:</a:t>
            </a:r>
            <a:endParaRPr lang="en-US" sz="1200" dirty="0"/>
          </a:p>
        </p:txBody>
      </p:sp>
      <p:sp>
        <p:nvSpPr>
          <p:cNvPr id="15" name="Text 13"/>
          <p:cNvSpPr/>
          <p:nvPr/>
        </p:nvSpPr>
        <p:spPr>
          <a:xfrm>
            <a:off x="4772248" y="2722066"/>
            <a:ext cx="3737372" cy="787673"/>
          </a:xfrm>
          <a:prstGeom prst="rect">
            <a:avLst/>
          </a:prstGeom>
          <a:noFill/>
          <a:ln/>
        </p:spPr>
        <p:txBody>
          <a:bodyPr wrap="square" lIns="0" tIns="0" rIns="0" bIns="0" rtlCol="0" anchor="t"/>
          <a:lstStyle/>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"Explain how a refrigerator works using a simple analogy."</a:t>
            </a:r>
            <a:endParaRPr lang="en-US" sz="950" dirty="0"/>
          </a:p>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"Now explain it like I'm 5 years old."</a:t>
            </a:r>
            <a:endParaRPr lang="en-US" sz="950" dirty="0"/>
          </a:p>
        </p:txBody>
      </p:sp>
      <p:sp>
        <p:nvSpPr>
          <p:cNvPr id="16" name="Text 14"/>
          <p:cNvSpPr/>
          <p:nvPr/>
        </p:nvSpPr>
        <p:spPr>
          <a:xfrm>
            <a:off x="4772248" y="3584153"/>
            <a:ext cx="3737372"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17" name="Text 15"/>
          <p:cNvSpPr/>
          <p:nvPr/>
        </p:nvSpPr>
        <p:spPr>
          <a:xfrm>
            <a:off x="4772248" y="3906664"/>
            <a:ext cx="373737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are they different? What does this tell you about the </a:t>
            </a:r>
            <a:r>
              <a:rPr lang="en-US" sz="1200" b="1" dirty="0">
                <a:solidFill>
                  <a:srgbClr val="15213F"/>
                </a:solidFill>
                <a:latin typeface="Roboto" pitchFamily="34" charset="0"/>
                <a:ea typeface="Roboto" pitchFamily="34" charset="-122"/>
                <a:cs typeface="Roboto" pitchFamily="34" charset="-120"/>
              </a:rPr>
              <a:t>MODEL</a:t>
            </a:r>
            <a:r>
              <a:rPr lang="en-US" sz="1200" dirty="0">
                <a:solidFill>
                  <a:srgbClr val="15213F"/>
                </a:solidFill>
                <a:latin typeface="Roboto" pitchFamily="34" charset="0"/>
                <a:ea typeface="Roboto" pitchFamily="34" charset="-122"/>
                <a:cs typeface="Roboto" pitchFamily="34" charset="-120"/>
              </a:rPr>
              <a:t>?</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06822" y="1204466"/>
            <a:ext cx="4018583" cy="2734568"/>
          </a:xfrm>
          <a:prstGeom prst="roundRect">
            <a:avLst>
              <a:gd name="adj" fmla="val 680"/>
            </a:avLst>
          </a:prstGeom>
          <a:solidFill>
            <a:srgbClr val="F2F2F2"/>
          </a:solidFill>
          <a:ln/>
        </p:spPr>
        <p:txBody>
          <a:bodyPr/>
          <a:lstStyle/>
          <a:p>
            <a:endParaRPr lang="en-IN"/>
          </a:p>
        </p:txBody>
      </p:sp>
      <p:sp>
        <p:nvSpPr>
          <p:cNvPr id="3" name="Text 1"/>
          <p:cNvSpPr/>
          <p:nvPr/>
        </p:nvSpPr>
        <p:spPr>
          <a:xfrm>
            <a:off x="530796" y="1316087"/>
            <a:ext cx="377063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Task 3: Complete These Sentences</a:t>
            </a:r>
            <a:endParaRPr lang="en-US" sz="1200" dirty="0"/>
          </a:p>
        </p:txBody>
      </p:sp>
      <p:sp>
        <p:nvSpPr>
          <p:cNvPr id="4" name="Text 2"/>
          <p:cNvSpPr/>
          <p:nvPr/>
        </p:nvSpPr>
        <p:spPr>
          <a:xfrm>
            <a:off x="530796" y="1675805"/>
            <a:ext cx="3770635"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Ask Gemini to finish these sentences. Observe what it says.</a:t>
            </a:r>
            <a:endParaRPr lang="en-US" sz="1200" dirty="0"/>
          </a:p>
        </p:txBody>
      </p:sp>
      <p:sp>
        <p:nvSpPr>
          <p:cNvPr id="5" name="Text 3"/>
          <p:cNvSpPr/>
          <p:nvPr/>
        </p:nvSpPr>
        <p:spPr>
          <a:xfrm>
            <a:off x="530796" y="2283619"/>
            <a:ext cx="3770635" cy="1327249"/>
          </a:xfrm>
          <a:prstGeom prst="rect">
            <a:avLst/>
          </a:prstGeom>
          <a:noFill/>
          <a:ln/>
        </p:spPr>
        <p:txBody>
          <a:bodyPr wrap="square" lIns="0" tIns="0" rIns="0" bIns="0" rtlCol="0" anchor="t"/>
          <a:lstStyle/>
          <a:p>
            <a:pPr marL="342900" indent="-342900" algn="l">
              <a:lnSpc>
                <a:spcPts val="1550"/>
              </a:lnSpc>
              <a:buSzPct val="100000"/>
              <a:buFont typeface="+mj-lt"/>
              <a:buAutoNum type="arabicPeriod"/>
            </a:pPr>
            <a:r>
              <a:rPr lang="en-US" sz="950" dirty="0">
                <a:solidFill>
                  <a:srgbClr val="15213F"/>
                </a:solidFill>
                <a:latin typeface="Roboto" pitchFamily="34" charset="0"/>
                <a:ea typeface="Roboto" pitchFamily="34" charset="-122"/>
                <a:cs typeface="Roboto" pitchFamily="34" charset="-120"/>
              </a:rPr>
              <a:t>"The first person to walk on the moon was _______________"</a:t>
            </a:r>
            <a:endParaRPr lang="en-US" sz="950" dirty="0"/>
          </a:p>
          <a:p>
            <a:pPr marL="342900" indent="-342900" algn="l">
              <a:lnSpc>
                <a:spcPts val="1550"/>
              </a:lnSpc>
              <a:buSzPct val="100000"/>
              <a:buFont typeface="+mj-lt"/>
              <a:buAutoNum type="arabicPeriod" startAt="2"/>
            </a:pPr>
            <a:r>
              <a:rPr lang="en-US" sz="950" dirty="0">
                <a:solidFill>
                  <a:srgbClr val="15213F"/>
                </a:solidFill>
                <a:latin typeface="Roboto" pitchFamily="34" charset="0"/>
                <a:ea typeface="Roboto" pitchFamily="34" charset="-122"/>
                <a:cs typeface="Roboto" pitchFamily="34" charset="-120"/>
              </a:rPr>
              <a:t>"For my birthday, I hope I get _______________"</a:t>
            </a:r>
            <a:endParaRPr lang="en-US" sz="950" dirty="0"/>
          </a:p>
          <a:p>
            <a:pPr marL="342900" indent="-342900" algn="l">
              <a:lnSpc>
                <a:spcPts val="1550"/>
              </a:lnSpc>
              <a:buSzPct val="100000"/>
              <a:buFont typeface="+mj-lt"/>
              <a:buAutoNum type="arabicPeriod" startAt="3"/>
            </a:pPr>
            <a:r>
              <a:rPr lang="en-US" sz="950" dirty="0">
                <a:solidFill>
                  <a:srgbClr val="15213F"/>
                </a:solidFill>
                <a:latin typeface="Roboto" pitchFamily="34" charset="0"/>
                <a:ea typeface="Roboto" pitchFamily="34" charset="-122"/>
                <a:cs typeface="Roboto" pitchFamily="34" charset="-120"/>
              </a:rPr>
              <a:t>"Once upon a time, in a galaxy far, far away, _______________"</a:t>
            </a:r>
            <a:endParaRPr lang="en-US" sz="950" dirty="0"/>
          </a:p>
        </p:txBody>
      </p:sp>
      <p:sp>
        <p:nvSpPr>
          <p:cNvPr id="6" name="Text 4"/>
          <p:cNvSpPr/>
          <p:nvPr/>
        </p:nvSpPr>
        <p:spPr>
          <a:xfrm>
            <a:off x="4643438" y="1316087"/>
            <a:ext cx="400913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parts of </a:t>
            </a:r>
            <a:r>
              <a:rPr lang="en-US" sz="1200" b="1" dirty="0">
                <a:solidFill>
                  <a:srgbClr val="15213F"/>
                </a:solidFill>
                <a:latin typeface="Roboto" pitchFamily="34" charset="0"/>
                <a:ea typeface="Roboto" pitchFamily="34" charset="-122"/>
                <a:cs typeface="Roboto" pitchFamily="34" charset="-120"/>
              </a:rPr>
              <a:t>"The AI Recipe"</a:t>
            </a:r>
            <a:r>
              <a:rPr lang="en-US" sz="1200" dirty="0">
                <a:solidFill>
                  <a:srgbClr val="15213F"/>
                </a:solidFill>
                <a:latin typeface="Roboto" pitchFamily="34" charset="0"/>
                <a:ea typeface="Roboto" pitchFamily="34" charset="-122"/>
                <a:cs typeface="Roboto" pitchFamily="34" charset="-120"/>
              </a:rPr>
              <a:t> you just experienced:</a:t>
            </a:r>
            <a:endParaRPr lang="en-US" sz="1200" dirty="0"/>
          </a:p>
        </p:txBody>
      </p:sp>
      <p:grpSp>
        <p:nvGrpSpPr>
          <p:cNvPr id="18" name="Group 17">
            <a:extLst>
              <a:ext uri="{FF2B5EF4-FFF2-40B4-BE49-F238E27FC236}">
                <a16:creationId xmlns:a16="http://schemas.microsoft.com/office/drawing/2014/main" id="{96A77881-23ED-61F8-BA9C-84F07A1E915D}"/>
              </a:ext>
            </a:extLst>
          </p:cNvPr>
          <p:cNvGrpSpPr/>
          <p:nvPr/>
        </p:nvGrpSpPr>
        <p:grpSpPr>
          <a:xfrm>
            <a:off x="4643438" y="1703710"/>
            <a:ext cx="1942579" cy="496044"/>
            <a:chOff x="4643438" y="1703710"/>
            <a:chExt cx="1942579" cy="496044"/>
          </a:xfrm>
        </p:grpSpPr>
        <p:sp>
          <p:nvSpPr>
            <p:cNvPr id="7" name="Shape 5"/>
            <p:cNvSpPr/>
            <p:nvPr/>
          </p:nvSpPr>
          <p:spPr>
            <a:xfrm>
              <a:off x="4643438" y="1703710"/>
              <a:ext cx="1942579" cy="496044"/>
            </a:xfrm>
            <a:prstGeom prst="roundRect">
              <a:avLst>
                <a:gd name="adj" fmla="val 3751"/>
              </a:avLst>
            </a:prstGeom>
            <a:solidFill>
              <a:srgbClr val="E9ECF2"/>
            </a:solidFill>
            <a:ln/>
          </p:spPr>
          <p:txBody>
            <a:bodyPr/>
            <a:lstStyle/>
            <a:p>
              <a:endParaRPr lang="en-IN"/>
            </a:p>
          </p:txBody>
        </p:sp>
        <p:sp>
          <p:nvSpPr>
            <p:cNvPr id="8" name="Text 6"/>
            <p:cNvSpPr/>
            <p:nvPr/>
          </p:nvSpPr>
          <p:spPr>
            <a:xfrm>
              <a:off x="4767411" y="1827684"/>
              <a:ext cx="169463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DATA</a:t>
              </a:r>
              <a:endParaRPr lang="en-US" sz="1200" dirty="0"/>
            </a:p>
          </p:txBody>
        </p:sp>
      </p:grpSp>
      <p:grpSp>
        <p:nvGrpSpPr>
          <p:cNvPr id="19" name="Group 18">
            <a:extLst>
              <a:ext uri="{FF2B5EF4-FFF2-40B4-BE49-F238E27FC236}">
                <a16:creationId xmlns:a16="http://schemas.microsoft.com/office/drawing/2014/main" id="{3BF3EE6B-654B-DCDC-6A90-3FF015F36940}"/>
              </a:ext>
            </a:extLst>
          </p:cNvPr>
          <p:cNvGrpSpPr/>
          <p:nvPr/>
        </p:nvGrpSpPr>
        <p:grpSpPr>
          <a:xfrm>
            <a:off x="6709990" y="1703710"/>
            <a:ext cx="1942579" cy="496044"/>
            <a:chOff x="6709990" y="1703710"/>
            <a:chExt cx="1942579" cy="496044"/>
          </a:xfrm>
        </p:grpSpPr>
        <p:sp>
          <p:nvSpPr>
            <p:cNvPr id="9" name="Shape 7"/>
            <p:cNvSpPr/>
            <p:nvPr/>
          </p:nvSpPr>
          <p:spPr>
            <a:xfrm>
              <a:off x="6709990" y="1703710"/>
              <a:ext cx="1942579" cy="496044"/>
            </a:xfrm>
            <a:prstGeom prst="roundRect">
              <a:avLst>
                <a:gd name="adj" fmla="val 3751"/>
              </a:avLst>
            </a:prstGeom>
            <a:solidFill>
              <a:srgbClr val="E9ECF2"/>
            </a:solidFill>
            <a:ln/>
          </p:spPr>
          <p:txBody>
            <a:bodyPr/>
            <a:lstStyle/>
            <a:p>
              <a:endParaRPr lang="en-IN"/>
            </a:p>
          </p:txBody>
        </p:sp>
        <p:sp>
          <p:nvSpPr>
            <p:cNvPr id="10" name="Text 8"/>
            <p:cNvSpPr/>
            <p:nvPr/>
          </p:nvSpPr>
          <p:spPr>
            <a:xfrm>
              <a:off x="6833964" y="1827684"/>
              <a:ext cx="169463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ALGORITHM</a:t>
              </a:r>
              <a:endParaRPr lang="en-US" sz="1200" dirty="0"/>
            </a:p>
          </p:txBody>
        </p:sp>
      </p:grpSp>
      <p:grpSp>
        <p:nvGrpSpPr>
          <p:cNvPr id="20" name="Group 19">
            <a:extLst>
              <a:ext uri="{FF2B5EF4-FFF2-40B4-BE49-F238E27FC236}">
                <a16:creationId xmlns:a16="http://schemas.microsoft.com/office/drawing/2014/main" id="{42BF4AD0-C690-2BB7-F612-8727C317C488}"/>
              </a:ext>
            </a:extLst>
          </p:cNvPr>
          <p:cNvGrpSpPr/>
          <p:nvPr/>
        </p:nvGrpSpPr>
        <p:grpSpPr>
          <a:xfrm>
            <a:off x="4643438" y="2323728"/>
            <a:ext cx="1942579" cy="496044"/>
            <a:chOff x="4643438" y="2323728"/>
            <a:chExt cx="1942579" cy="496044"/>
          </a:xfrm>
        </p:grpSpPr>
        <p:sp>
          <p:nvSpPr>
            <p:cNvPr id="11" name="Shape 9"/>
            <p:cNvSpPr/>
            <p:nvPr/>
          </p:nvSpPr>
          <p:spPr>
            <a:xfrm>
              <a:off x="4643438" y="2323728"/>
              <a:ext cx="1942579" cy="496044"/>
            </a:xfrm>
            <a:prstGeom prst="roundRect">
              <a:avLst>
                <a:gd name="adj" fmla="val 3751"/>
              </a:avLst>
            </a:prstGeom>
            <a:solidFill>
              <a:srgbClr val="E9ECF2"/>
            </a:solidFill>
            <a:ln/>
          </p:spPr>
          <p:txBody>
            <a:bodyPr/>
            <a:lstStyle/>
            <a:p>
              <a:endParaRPr lang="en-IN"/>
            </a:p>
          </p:txBody>
        </p:sp>
        <p:sp>
          <p:nvSpPr>
            <p:cNvPr id="12" name="Text 10"/>
            <p:cNvSpPr/>
            <p:nvPr/>
          </p:nvSpPr>
          <p:spPr>
            <a:xfrm>
              <a:off x="4767411" y="2447702"/>
              <a:ext cx="169463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TRAINING</a:t>
              </a:r>
              <a:endParaRPr lang="en-US" sz="1200" dirty="0"/>
            </a:p>
          </p:txBody>
        </p:sp>
      </p:grpSp>
      <p:grpSp>
        <p:nvGrpSpPr>
          <p:cNvPr id="21" name="Group 20">
            <a:extLst>
              <a:ext uri="{FF2B5EF4-FFF2-40B4-BE49-F238E27FC236}">
                <a16:creationId xmlns:a16="http://schemas.microsoft.com/office/drawing/2014/main" id="{14A9A85E-3384-2700-C4E3-8CB73F9D0F2C}"/>
              </a:ext>
            </a:extLst>
          </p:cNvPr>
          <p:cNvGrpSpPr/>
          <p:nvPr/>
        </p:nvGrpSpPr>
        <p:grpSpPr>
          <a:xfrm>
            <a:off x="6709990" y="2323728"/>
            <a:ext cx="1942579" cy="496044"/>
            <a:chOff x="6709990" y="2323728"/>
            <a:chExt cx="1942579" cy="496044"/>
          </a:xfrm>
        </p:grpSpPr>
        <p:sp>
          <p:nvSpPr>
            <p:cNvPr id="13" name="Shape 11"/>
            <p:cNvSpPr/>
            <p:nvPr/>
          </p:nvSpPr>
          <p:spPr>
            <a:xfrm>
              <a:off x="6709990" y="2323728"/>
              <a:ext cx="1942579" cy="496044"/>
            </a:xfrm>
            <a:prstGeom prst="roundRect">
              <a:avLst>
                <a:gd name="adj" fmla="val 3751"/>
              </a:avLst>
            </a:prstGeom>
            <a:solidFill>
              <a:srgbClr val="E9ECF2"/>
            </a:solidFill>
            <a:ln/>
          </p:spPr>
          <p:txBody>
            <a:bodyPr/>
            <a:lstStyle/>
            <a:p>
              <a:endParaRPr lang="en-IN"/>
            </a:p>
          </p:txBody>
        </p:sp>
        <p:sp>
          <p:nvSpPr>
            <p:cNvPr id="14" name="Text 12"/>
            <p:cNvSpPr/>
            <p:nvPr/>
          </p:nvSpPr>
          <p:spPr>
            <a:xfrm>
              <a:off x="6833964" y="2447702"/>
              <a:ext cx="169463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MODEL</a:t>
              </a:r>
              <a:endParaRPr lang="en-US" sz="1200" dirty="0"/>
            </a:p>
          </p:txBody>
        </p:sp>
      </p:grpSp>
      <p:grpSp>
        <p:nvGrpSpPr>
          <p:cNvPr id="22" name="Group 21">
            <a:extLst>
              <a:ext uri="{FF2B5EF4-FFF2-40B4-BE49-F238E27FC236}">
                <a16:creationId xmlns:a16="http://schemas.microsoft.com/office/drawing/2014/main" id="{2BEB9B77-7CCC-D193-3587-AEB659D20200}"/>
              </a:ext>
            </a:extLst>
          </p:cNvPr>
          <p:cNvGrpSpPr/>
          <p:nvPr/>
        </p:nvGrpSpPr>
        <p:grpSpPr>
          <a:xfrm>
            <a:off x="4643438" y="2943747"/>
            <a:ext cx="4009132" cy="496044"/>
            <a:chOff x="4643438" y="2943747"/>
            <a:chExt cx="4009132" cy="496044"/>
          </a:xfrm>
        </p:grpSpPr>
        <p:sp>
          <p:nvSpPr>
            <p:cNvPr id="15" name="Shape 13"/>
            <p:cNvSpPr/>
            <p:nvPr/>
          </p:nvSpPr>
          <p:spPr>
            <a:xfrm>
              <a:off x="4643438" y="2943747"/>
              <a:ext cx="4009132" cy="496044"/>
            </a:xfrm>
            <a:prstGeom prst="roundRect">
              <a:avLst>
                <a:gd name="adj" fmla="val 3751"/>
              </a:avLst>
            </a:prstGeom>
            <a:solidFill>
              <a:srgbClr val="E9ECF2"/>
            </a:solidFill>
            <a:ln/>
          </p:spPr>
          <p:txBody>
            <a:bodyPr/>
            <a:lstStyle/>
            <a:p>
              <a:endParaRPr lang="en-IN"/>
            </a:p>
          </p:txBody>
        </p:sp>
        <p:sp>
          <p:nvSpPr>
            <p:cNvPr id="16" name="Text 14"/>
            <p:cNvSpPr/>
            <p:nvPr/>
          </p:nvSpPr>
          <p:spPr>
            <a:xfrm>
              <a:off x="4767411" y="3067720"/>
              <a:ext cx="376118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PREDICTION</a:t>
              </a:r>
              <a:endParaRPr lang="en-US" sz="1200" dirty="0"/>
            </a:p>
          </p:txBody>
        </p:sp>
      </p:grpSp>
      <p:sp>
        <p:nvSpPr>
          <p:cNvPr id="17" name="Text 15"/>
          <p:cNvSpPr/>
          <p:nvPr/>
        </p:nvSpPr>
        <p:spPr>
          <a:xfrm>
            <a:off x="4643438" y="3579316"/>
            <a:ext cx="4009132" cy="248096"/>
          </a:xfrm>
          <a:prstGeom prst="rect">
            <a:avLst/>
          </a:prstGeom>
          <a:noFill/>
          <a:ln/>
        </p:spPr>
        <p:txBody>
          <a:bodyPr wrap="none" lIns="0" tIns="0" rIns="0" bIns="0" rtlCol="0" anchor="t"/>
          <a:lstStyle/>
          <a:p>
            <a:pPr marL="0" indent="0" algn="l">
              <a:lnSpc>
                <a:spcPts val="1950"/>
              </a:lnSpc>
              <a:buNone/>
            </a:pP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304255"/>
            <a:ext cx="4254475"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Prediction - AI's Smart Guess</a:t>
            </a:r>
            <a:endParaRPr lang="en-US" sz="2400" dirty="0"/>
          </a:p>
        </p:txBody>
      </p:sp>
      <p:sp>
        <p:nvSpPr>
          <p:cNvPr id="4" name="Text 1"/>
          <p:cNvSpPr/>
          <p:nvPr/>
        </p:nvSpPr>
        <p:spPr>
          <a:xfrm>
            <a:off x="3925119" y="1877839"/>
            <a:ext cx="4722763" cy="744289"/>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Prediction is what a trained model does when it encounters new data.</a:t>
            </a:r>
            <a:r>
              <a:rPr lang="en-US" sz="1200" dirty="0">
                <a:solidFill>
                  <a:srgbClr val="15213F"/>
                </a:solidFill>
                <a:latin typeface="Roboto" pitchFamily="34" charset="0"/>
                <a:ea typeface="Roboto" pitchFamily="34" charset="-122"/>
                <a:cs typeface="Roboto" pitchFamily="34" charset="-120"/>
              </a:rPr>
              <a:t> It's the model making its best "guess" based on everything it learned during training.</a:t>
            </a:r>
            <a:endParaRPr lang="en-US" sz="1200" dirty="0"/>
          </a:p>
        </p:txBody>
      </p:sp>
      <p:sp>
        <p:nvSpPr>
          <p:cNvPr id="5" name="Text 2"/>
          <p:cNvSpPr/>
          <p:nvPr/>
        </p:nvSpPr>
        <p:spPr>
          <a:xfrm>
            <a:off x="3925119" y="2761655"/>
            <a:ext cx="47227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Prediction Is Everywhere!</a:t>
            </a:r>
            <a:endParaRPr lang="en-US" sz="1200" dirty="0"/>
          </a:p>
        </p:txBody>
      </p:sp>
      <p:grpSp>
        <p:nvGrpSpPr>
          <p:cNvPr id="18" name="Group 17">
            <a:extLst>
              <a:ext uri="{FF2B5EF4-FFF2-40B4-BE49-F238E27FC236}">
                <a16:creationId xmlns:a16="http://schemas.microsoft.com/office/drawing/2014/main" id="{5F55C67B-2C89-8AA9-8BDA-2E438D4D3DD8}"/>
              </a:ext>
            </a:extLst>
          </p:cNvPr>
          <p:cNvGrpSpPr/>
          <p:nvPr/>
        </p:nvGrpSpPr>
        <p:grpSpPr>
          <a:xfrm>
            <a:off x="3925119" y="3170932"/>
            <a:ext cx="1470868" cy="199281"/>
            <a:chOff x="3925119" y="3170932"/>
            <a:chExt cx="1470868" cy="199281"/>
          </a:xfrm>
        </p:grpSpPr>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5119" y="3170932"/>
              <a:ext cx="186035" cy="186035"/>
            </a:xfrm>
            <a:prstGeom prst="rect">
              <a:avLst/>
            </a:prstGeom>
          </p:spPr>
        </p:pic>
        <p:sp>
          <p:nvSpPr>
            <p:cNvPr id="7" name="Text 3"/>
            <p:cNvSpPr/>
            <p:nvPr/>
          </p:nvSpPr>
          <p:spPr>
            <a:xfrm>
              <a:off x="4235128" y="3176364"/>
              <a:ext cx="1160859"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Netflix</a:t>
              </a:r>
              <a:endParaRPr lang="en-US" sz="1200" dirty="0"/>
            </a:p>
          </p:txBody>
        </p:sp>
      </p:grpSp>
      <p:grpSp>
        <p:nvGrpSpPr>
          <p:cNvPr id="19" name="Group 18">
            <a:extLst>
              <a:ext uri="{FF2B5EF4-FFF2-40B4-BE49-F238E27FC236}">
                <a16:creationId xmlns:a16="http://schemas.microsoft.com/office/drawing/2014/main" id="{E64D56FA-8FDE-3999-6A3A-1DD54CA239EA}"/>
              </a:ext>
            </a:extLst>
          </p:cNvPr>
          <p:cNvGrpSpPr/>
          <p:nvPr/>
        </p:nvGrpSpPr>
        <p:grpSpPr>
          <a:xfrm>
            <a:off x="5550991" y="3170932"/>
            <a:ext cx="1470943" cy="199281"/>
            <a:chOff x="5550991" y="3170932"/>
            <a:chExt cx="1470943" cy="199281"/>
          </a:xfrm>
        </p:grpSpPr>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50991" y="3170932"/>
              <a:ext cx="186035" cy="186035"/>
            </a:xfrm>
            <a:prstGeom prst="rect">
              <a:avLst/>
            </a:prstGeom>
          </p:spPr>
        </p:pic>
        <p:sp>
          <p:nvSpPr>
            <p:cNvPr id="9" name="Text 4"/>
            <p:cNvSpPr/>
            <p:nvPr/>
          </p:nvSpPr>
          <p:spPr>
            <a:xfrm>
              <a:off x="5861000" y="3176364"/>
              <a:ext cx="1160934"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Google Maps</a:t>
              </a:r>
              <a:endParaRPr lang="en-US" sz="1200" dirty="0"/>
            </a:p>
          </p:txBody>
        </p:sp>
      </p:grpSp>
      <p:grpSp>
        <p:nvGrpSpPr>
          <p:cNvPr id="20" name="Group 19">
            <a:extLst>
              <a:ext uri="{FF2B5EF4-FFF2-40B4-BE49-F238E27FC236}">
                <a16:creationId xmlns:a16="http://schemas.microsoft.com/office/drawing/2014/main" id="{4AA02B1A-C207-9BA1-FCB6-872695B7CA65}"/>
              </a:ext>
            </a:extLst>
          </p:cNvPr>
          <p:cNvGrpSpPr/>
          <p:nvPr/>
        </p:nvGrpSpPr>
        <p:grpSpPr>
          <a:xfrm>
            <a:off x="7176939" y="3170932"/>
            <a:ext cx="1470868" cy="199281"/>
            <a:chOff x="7176939" y="3170932"/>
            <a:chExt cx="1470868" cy="199281"/>
          </a:xfrm>
        </p:grpSpPr>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76939" y="3170932"/>
              <a:ext cx="186035" cy="186035"/>
            </a:xfrm>
            <a:prstGeom prst="rect">
              <a:avLst/>
            </a:prstGeom>
          </p:spPr>
        </p:pic>
        <p:sp>
          <p:nvSpPr>
            <p:cNvPr id="11" name="Text 5"/>
            <p:cNvSpPr/>
            <p:nvPr/>
          </p:nvSpPr>
          <p:spPr>
            <a:xfrm>
              <a:off x="7486948" y="3176364"/>
              <a:ext cx="1160859"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Gmail</a:t>
              </a:r>
              <a:endParaRPr lang="en-US" sz="1200" dirty="0"/>
            </a:p>
          </p:txBody>
        </p:sp>
      </p:grpSp>
      <p:grpSp>
        <p:nvGrpSpPr>
          <p:cNvPr id="21" name="Group 20">
            <a:extLst>
              <a:ext uri="{FF2B5EF4-FFF2-40B4-BE49-F238E27FC236}">
                <a16:creationId xmlns:a16="http://schemas.microsoft.com/office/drawing/2014/main" id="{214CCA58-EBF0-3F9B-6669-C26B2F2949F1}"/>
              </a:ext>
            </a:extLst>
          </p:cNvPr>
          <p:cNvGrpSpPr/>
          <p:nvPr/>
        </p:nvGrpSpPr>
        <p:grpSpPr>
          <a:xfrm>
            <a:off x="3925119" y="3639889"/>
            <a:ext cx="1470868" cy="199282"/>
            <a:chOff x="3925119" y="3639889"/>
            <a:chExt cx="1470868" cy="199282"/>
          </a:xfrm>
        </p:grpSpPr>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925119" y="3639889"/>
              <a:ext cx="186035" cy="186035"/>
            </a:xfrm>
            <a:prstGeom prst="rect">
              <a:avLst/>
            </a:prstGeom>
          </p:spPr>
        </p:pic>
        <p:sp>
          <p:nvSpPr>
            <p:cNvPr id="13" name="Text 6"/>
            <p:cNvSpPr/>
            <p:nvPr/>
          </p:nvSpPr>
          <p:spPr>
            <a:xfrm>
              <a:off x="4235128" y="3645322"/>
              <a:ext cx="1160859"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Amazon</a:t>
              </a:r>
              <a:endParaRPr lang="en-US" sz="1200" dirty="0"/>
            </a:p>
          </p:txBody>
        </p:sp>
      </p:grpSp>
      <p:grpSp>
        <p:nvGrpSpPr>
          <p:cNvPr id="22" name="Group 21">
            <a:extLst>
              <a:ext uri="{FF2B5EF4-FFF2-40B4-BE49-F238E27FC236}">
                <a16:creationId xmlns:a16="http://schemas.microsoft.com/office/drawing/2014/main" id="{7A27F21A-795A-52E5-6314-64D385E51438}"/>
              </a:ext>
            </a:extLst>
          </p:cNvPr>
          <p:cNvGrpSpPr/>
          <p:nvPr/>
        </p:nvGrpSpPr>
        <p:grpSpPr>
          <a:xfrm>
            <a:off x="5550991" y="3639889"/>
            <a:ext cx="1470943" cy="199282"/>
            <a:chOff x="5550991" y="3639889"/>
            <a:chExt cx="1470943" cy="199282"/>
          </a:xfrm>
        </p:grpSpPr>
        <p:pic>
          <p:nvPicPr>
            <p:cNvPr id="1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50991" y="3639889"/>
              <a:ext cx="186035" cy="186035"/>
            </a:xfrm>
            <a:prstGeom prst="rect">
              <a:avLst/>
            </a:prstGeom>
          </p:spPr>
        </p:pic>
        <p:sp>
          <p:nvSpPr>
            <p:cNvPr id="15" name="Text 7"/>
            <p:cNvSpPr/>
            <p:nvPr/>
          </p:nvSpPr>
          <p:spPr>
            <a:xfrm>
              <a:off x="5861000" y="3645322"/>
              <a:ext cx="1160934"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Weather App</a:t>
              </a:r>
              <a:endParaRPr lang="en-US" sz="1200" dirty="0"/>
            </a:p>
          </p:txBody>
        </p:sp>
      </p:grpSp>
      <p:grpSp>
        <p:nvGrpSpPr>
          <p:cNvPr id="23" name="Group 22">
            <a:extLst>
              <a:ext uri="{FF2B5EF4-FFF2-40B4-BE49-F238E27FC236}">
                <a16:creationId xmlns:a16="http://schemas.microsoft.com/office/drawing/2014/main" id="{507560B6-1DA5-B9FB-D352-A9D56516B159}"/>
              </a:ext>
            </a:extLst>
          </p:cNvPr>
          <p:cNvGrpSpPr/>
          <p:nvPr/>
        </p:nvGrpSpPr>
        <p:grpSpPr>
          <a:xfrm>
            <a:off x="7176939" y="3639889"/>
            <a:ext cx="1470868" cy="199282"/>
            <a:chOff x="7176939" y="3639889"/>
            <a:chExt cx="1470868" cy="199282"/>
          </a:xfrm>
        </p:grpSpPr>
        <p:pic>
          <p:nvPicPr>
            <p:cNvPr id="1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76939" y="3639889"/>
              <a:ext cx="186035" cy="186035"/>
            </a:xfrm>
            <a:prstGeom prst="rect">
              <a:avLst/>
            </a:prstGeom>
          </p:spPr>
        </p:pic>
        <p:sp>
          <p:nvSpPr>
            <p:cNvPr id="17" name="Text 8"/>
            <p:cNvSpPr/>
            <p:nvPr/>
          </p:nvSpPr>
          <p:spPr>
            <a:xfrm>
              <a:off x="7486948" y="3645322"/>
              <a:ext cx="1160859"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Spotify</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96119" y="1271811"/>
            <a:ext cx="2687241"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Training vs. Prediction</a:t>
            </a:r>
            <a:endParaRPr lang="en-US" sz="1950" dirty="0"/>
          </a:p>
        </p:txBody>
      </p:sp>
      <p:sp>
        <p:nvSpPr>
          <p:cNvPr id="3" name="Shape 1"/>
          <p:cNvSpPr/>
          <p:nvPr/>
        </p:nvSpPr>
        <p:spPr>
          <a:xfrm>
            <a:off x="496119" y="1829916"/>
            <a:ext cx="8151763" cy="2041773"/>
          </a:xfrm>
          <a:prstGeom prst="roundRect">
            <a:avLst>
              <a:gd name="adj" fmla="val 911"/>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834679"/>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855" y="1913855"/>
            <a:ext cx="38207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Training</a:t>
            </a:r>
            <a:endParaRPr lang="en-US" sz="1200" dirty="0"/>
          </a:p>
        </p:txBody>
      </p:sp>
      <p:sp>
        <p:nvSpPr>
          <p:cNvPr id="6" name="Text 4"/>
          <p:cNvSpPr/>
          <p:nvPr/>
        </p:nvSpPr>
        <p:spPr>
          <a:xfrm>
            <a:off x="4698355" y="1913855"/>
            <a:ext cx="38207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Prediction</a:t>
            </a:r>
            <a:endParaRPr lang="en-US" sz="1200" dirty="0"/>
          </a:p>
        </p:txBody>
      </p:sp>
      <p:sp>
        <p:nvSpPr>
          <p:cNvPr id="7" name="Shape 5"/>
          <p:cNvSpPr/>
          <p:nvPr/>
        </p:nvSpPr>
        <p:spPr>
          <a:xfrm>
            <a:off x="500881" y="2241128"/>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855" y="2320305"/>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Learning from examples</a:t>
            </a:r>
            <a:endParaRPr lang="en-US" sz="1200" dirty="0"/>
          </a:p>
        </p:txBody>
      </p:sp>
      <p:sp>
        <p:nvSpPr>
          <p:cNvPr id="9" name="Text 7"/>
          <p:cNvSpPr/>
          <p:nvPr/>
        </p:nvSpPr>
        <p:spPr>
          <a:xfrm>
            <a:off x="4698355" y="2320305"/>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Using what was learned</a:t>
            </a:r>
            <a:endParaRPr lang="en-US" sz="1200" dirty="0"/>
          </a:p>
        </p:txBody>
      </p:sp>
      <p:sp>
        <p:nvSpPr>
          <p:cNvPr id="10" name="Shape 8"/>
          <p:cNvSpPr/>
          <p:nvPr/>
        </p:nvSpPr>
        <p:spPr>
          <a:xfrm>
            <a:off x="500881" y="2647578"/>
            <a:ext cx="8142238" cy="406450"/>
          </a:xfrm>
          <a:prstGeom prst="rect">
            <a:avLst/>
          </a:prstGeom>
          <a:solidFill>
            <a:srgbClr val="FFFFFF">
              <a:alpha val="4000"/>
            </a:srgbClr>
          </a:solidFill>
          <a:ln/>
        </p:spPr>
        <p:txBody>
          <a:bodyPr/>
          <a:lstStyle/>
          <a:p>
            <a:endParaRPr lang="en-IN"/>
          </a:p>
        </p:txBody>
      </p:sp>
      <p:sp>
        <p:nvSpPr>
          <p:cNvPr id="11" name="Text 9"/>
          <p:cNvSpPr/>
          <p:nvPr/>
        </p:nvSpPr>
        <p:spPr>
          <a:xfrm>
            <a:off x="624855" y="2726754"/>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Takes a long time</a:t>
            </a:r>
            <a:endParaRPr lang="en-US" sz="1200" dirty="0"/>
          </a:p>
        </p:txBody>
      </p:sp>
      <p:sp>
        <p:nvSpPr>
          <p:cNvPr id="12" name="Text 10"/>
          <p:cNvSpPr/>
          <p:nvPr/>
        </p:nvSpPr>
        <p:spPr>
          <a:xfrm>
            <a:off x="4698355" y="2726754"/>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Happens instantly</a:t>
            </a:r>
            <a:endParaRPr lang="en-US" sz="1200" dirty="0"/>
          </a:p>
        </p:txBody>
      </p:sp>
      <p:sp>
        <p:nvSpPr>
          <p:cNvPr id="13" name="Shape 11"/>
          <p:cNvSpPr/>
          <p:nvPr/>
        </p:nvSpPr>
        <p:spPr>
          <a:xfrm>
            <a:off x="500881" y="3054028"/>
            <a:ext cx="8142238" cy="406450"/>
          </a:xfrm>
          <a:prstGeom prst="rect">
            <a:avLst/>
          </a:prstGeom>
          <a:solidFill>
            <a:srgbClr val="000000">
              <a:alpha val="4000"/>
            </a:srgbClr>
          </a:solidFill>
          <a:ln/>
        </p:spPr>
        <p:txBody>
          <a:bodyPr/>
          <a:lstStyle/>
          <a:p>
            <a:endParaRPr lang="en-IN"/>
          </a:p>
        </p:txBody>
      </p:sp>
      <p:sp>
        <p:nvSpPr>
          <p:cNvPr id="14" name="Text 12"/>
          <p:cNvSpPr/>
          <p:nvPr/>
        </p:nvSpPr>
        <p:spPr>
          <a:xfrm>
            <a:off x="624855" y="3133204"/>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Needs lots of data</a:t>
            </a:r>
            <a:endParaRPr lang="en-US" sz="1200" dirty="0"/>
          </a:p>
        </p:txBody>
      </p:sp>
      <p:sp>
        <p:nvSpPr>
          <p:cNvPr id="15" name="Text 13"/>
          <p:cNvSpPr/>
          <p:nvPr/>
        </p:nvSpPr>
        <p:spPr>
          <a:xfrm>
            <a:off x="4698355" y="3133204"/>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Needs just one new input</a:t>
            </a:r>
            <a:endParaRPr lang="en-US" sz="1200" dirty="0"/>
          </a:p>
        </p:txBody>
      </p:sp>
      <p:sp>
        <p:nvSpPr>
          <p:cNvPr id="16" name="Shape 14"/>
          <p:cNvSpPr/>
          <p:nvPr/>
        </p:nvSpPr>
        <p:spPr>
          <a:xfrm>
            <a:off x="500881" y="3460477"/>
            <a:ext cx="8142238" cy="406450"/>
          </a:xfrm>
          <a:prstGeom prst="rect">
            <a:avLst/>
          </a:prstGeom>
          <a:solidFill>
            <a:srgbClr val="FFFFFF">
              <a:alpha val="4000"/>
            </a:srgbClr>
          </a:solidFill>
          <a:ln/>
        </p:spPr>
        <p:txBody>
          <a:bodyPr/>
          <a:lstStyle/>
          <a:p>
            <a:endParaRPr lang="en-IN"/>
          </a:p>
        </p:txBody>
      </p:sp>
      <p:sp>
        <p:nvSpPr>
          <p:cNvPr id="17" name="Text 15"/>
          <p:cNvSpPr/>
          <p:nvPr/>
        </p:nvSpPr>
        <p:spPr>
          <a:xfrm>
            <a:off x="624855" y="3539654"/>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Creates the model</a:t>
            </a:r>
            <a:endParaRPr lang="en-US" sz="1200" dirty="0"/>
          </a:p>
        </p:txBody>
      </p:sp>
      <p:sp>
        <p:nvSpPr>
          <p:cNvPr id="18" name="Text 16"/>
          <p:cNvSpPr/>
          <p:nvPr/>
        </p:nvSpPr>
        <p:spPr>
          <a:xfrm>
            <a:off x="4698355" y="3539654"/>
            <a:ext cx="382079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Uses the model</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96119" y="417016"/>
            <a:ext cx="5579269"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The AI Recipe - Putting It All Together</a:t>
            </a:r>
            <a:endParaRPr lang="en-US" sz="2400" dirty="0"/>
          </a:p>
        </p:txBody>
      </p:sp>
      <p:pic>
        <p:nvPicPr>
          <p:cNvPr id="3" name="Image 0" descr="preencoded.png"/>
          <p:cNvPicPr>
            <a:picLocks noChangeAspect="1"/>
          </p:cNvPicPr>
          <p:nvPr/>
        </p:nvPicPr>
        <p:blipFill>
          <a:blip r:embed="rId3"/>
          <a:stretch>
            <a:fillRect/>
          </a:stretch>
        </p:blipFill>
        <p:spPr>
          <a:xfrm>
            <a:off x="626641" y="1052587"/>
            <a:ext cx="7890644" cy="2960936"/>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5341" y="1806790"/>
            <a:ext cx="407584" cy="407584"/>
          </a:xfrm>
          <a:prstGeom prst="rect">
            <a:avLst/>
          </a:prstGeom>
        </p:spPr>
      </p:pic>
      <p:sp>
        <p:nvSpPr>
          <p:cNvPr id="5" name="Text 1"/>
          <p:cNvSpPr/>
          <p:nvPr/>
        </p:nvSpPr>
        <p:spPr>
          <a:xfrm>
            <a:off x="7002209" y="3294728"/>
            <a:ext cx="1190147" cy="229266"/>
          </a:xfrm>
          <a:prstGeom prst="rect">
            <a:avLst/>
          </a:prstGeom>
          <a:noFill/>
          <a:ln/>
        </p:spPr>
        <p:txBody>
          <a:bodyPr wrap="none" lIns="0" tIns="0" rIns="0" bIns="0" rtlCol="0" anchor="t"/>
          <a:lstStyle/>
          <a:p>
            <a:pPr marL="0" indent="0" algn="ctr">
              <a:lnSpc>
                <a:spcPts val="1800"/>
              </a:lnSpc>
              <a:buNone/>
            </a:pPr>
            <a:r>
              <a:rPr lang="en-US" sz="1400" dirty="0">
                <a:solidFill>
                  <a:srgbClr val="15213F"/>
                </a:solidFill>
                <a:latin typeface="Roboto Slab" pitchFamily="34" charset="0"/>
                <a:ea typeface="Roboto Slab" pitchFamily="34" charset="-122"/>
                <a:cs typeface="Roboto Slab" pitchFamily="34" charset="-120"/>
              </a:rPr>
              <a:t>PREDICTION</a:t>
            </a:r>
            <a:endParaRPr lang="en-US" sz="1400" dirty="0"/>
          </a:p>
        </p:txBody>
      </p:sp>
      <p:pic>
        <p:nvPicPr>
          <p:cNvPr id="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73200" y="1807554"/>
            <a:ext cx="407584" cy="407584"/>
          </a:xfrm>
          <a:prstGeom prst="rect">
            <a:avLst/>
          </a:prstGeom>
        </p:spPr>
      </p:pic>
      <p:sp>
        <p:nvSpPr>
          <p:cNvPr id="7" name="Text 2"/>
          <p:cNvSpPr/>
          <p:nvPr/>
        </p:nvSpPr>
        <p:spPr>
          <a:xfrm>
            <a:off x="5502299" y="3294728"/>
            <a:ext cx="1190146" cy="229266"/>
          </a:xfrm>
          <a:prstGeom prst="rect">
            <a:avLst/>
          </a:prstGeom>
          <a:noFill/>
          <a:ln/>
        </p:spPr>
        <p:txBody>
          <a:bodyPr wrap="none" lIns="0" tIns="0" rIns="0" bIns="0" rtlCol="0" anchor="t"/>
          <a:lstStyle/>
          <a:p>
            <a:pPr marL="0" indent="0" algn="ctr">
              <a:lnSpc>
                <a:spcPts val="1800"/>
              </a:lnSpc>
              <a:buNone/>
            </a:pPr>
            <a:r>
              <a:rPr lang="en-US" sz="1400" dirty="0">
                <a:solidFill>
                  <a:srgbClr val="15213F"/>
                </a:solidFill>
                <a:latin typeface="Roboto Slab" pitchFamily="34" charset="0"/>
                <a:ea typeface="Roboto Slab" pitchFamily="34" charset="-122"/>
                <a:cs typeface="Roboto Slab" pitchFamily="34" charset="-120"/>
              </a:rPr>
              <a:t>MODEL</a:t>
            </a:r>
            <a:endParaRPr lang="en-US" sz="1400" dirty="0"/>
          </a:p>
        </p:txBody>
      </p:sp>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81442" y="1807554"/>
            <a:ext cx="407584" cy="407584"/>
          </a:xfrm>
          <a:prstGeom prst="rect">
            <a:avLst/>
          </a:prstGeom>
        </p:spPr>
      </p:pic>
      <p:sp>
        <p:nvSpPr>
          <p:cNvPr id="9" name="Text 3"/>
          <p:cNvSpPr/>
          <p:nvPr/>
        </p:nvSpPr>
        <p:spPr>
          <a:xfrm>
            <a:off x="4010540" y="3294728"/>
            <a:ext cx="1190146" cy="229266"/>
          </a:xfrm>
          <a:prstGeom prst="rect">
            <a:avLst/>
          </a:prstGeom>
          <a:noFill/>
          <a:ln/>
        </p:spPr>
        <p:txBody>
          <a:bodyPr wrap="none" lIns="0" tIns="0" rIns="0" bIns="0" rtlCol="0" anchor="t"/>
          <a:lstStyle/>
          <a:p>
            <a:pPr marL="0" indent="0" algn="ctr">
              <a:lnSpc>
                <a:spcPts val="1800"/>
              </a:lnSpc>
              <a:buNone/>
            </a:pPr>
            <a:r>
              <a:rPr lang="en-US" sz="1400" dirty="0">
                <a:solidFill>
                  <a:srgbClr val="15213F"/>
                </a:solidFill>
                <a:latin typeface="Roboto Slab" pitchFamily="34" charset="0"/>
                <a:ea typeface="Roboto Slab" pitchFamily="34" charset="-122"/>
                <a:cs typeface="Roboto Slab" pitchFamily="34" charset="-120"/>
              </a:rPr>
              <a:t>TRAINING</a:t>
            </a:r>
            <a:endParaRPr lang="en-US" sz="1400" dirty="0"/>
          </a:p>
        </p:txBody>
      </p:sp>
      <p:pic>
        <p:nvPicPr>
          <p:cNvPr id="1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89683" y="1807554"/>
            <a:ext cx="407584" cy="407584"/>
          </a:xfrm>
          <a:prstGeom prst="rect">
            <a:avLst/>
          </a:prstGeom>
        </p:spPr>
      </p:pic>
      <p:sp>
        <p:nvSpPr>
          <p:cNvPr id="11" name="Text 4"/>
          <p:cNvSpPr/>
          <p:nvPr/>
        </p:nvSpPr>
        <p:spPr>
          <a:xfrm>
            <a:off x="2518781" y="3294728"/>
            <a:ext cx="1190146" cy="229266"/>
          </a:xfrm>
          <a:prstGeom prst="rect">
            <a:avLst/>
          </a:prstGeom>
          <a:noFill/>
          <a:ln/>
        </p:spPr>
        <p:txBody>
          <a:bodyPr wrap="none" lIns="0" tIns="0" rIns="0" bIns="0" rtlCol="0" anchor="t"/>
          <a:lstStyle/>
          <a:p>
            <a:pPr marL="0" indent="0" algn="ctr">
              <a:lnSpc>
                <a:spcPts val="1800"/>
              </a:lnSpc>
              <a:buNone/>
            </a:pPr>
            <a:r>
              <a:rPr lang="en-US" sz="1400" dirty="0">
                <a:solidFill>
                  <a:srgbClr val="15213F"/>
                </a:solidFill>
                <a:latin typeface="Roboto Slab" pitchFamily="34" charset="0"/>
                <a:ea typeface="Roboto Slab" pitchFamily="34" charset="-122"/>
                <a:cs typeface="Roboto Slab" pitchFamily="34" charset="-120"/>
              </a:rPr>
              <a:t>ALGORITHM</a:t>
            </a:r>
            <a:endParaRPr lang="en-US" sz="1400" dirty="0"/>
          </a:p>
        </p:txBody>
      </p:sp>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89772" y="1807554"/>
            <a:ext cx="407584" cy="407584"/>
          </a:xfrm>
          <a:prstGeom prst="rect">
            <a:avLst/>
          </a:prstGeom>
        </p:spPr>
      </p:pic>
      <p:sp>
        <p:nvSpPr>
          <p:cNvPr id="13" name="Text 5"/>
          <p:cNvSpPr/>
          <p:nvPr/>
        </p:nvSpPr>
        <p:spPr>
          <a:xfrm>
            <a:off x="994415" y="3294728"/>
            <a:ext cx="1190146" cy="229266"/>
          </a:xfrm>
          <a:prstGeom prst="rect">
            <a:avLst/>
          </a:prstGeom>
          <a:noFill/>
          <a:ln/>
        </p:spPr>
        <p:txBody>
          <a:bodyPr wrap="none" lIns="0" tIns="0" rIns="0" bIns="0" rtlCol="0" anchor="t"/>
          <a:lstStyle/>
          <a:p>
            <a:pPr marL="0" indent="0" algn="ctr">
              <a:lnSpc>
                <a:spcPts val="1800"/>
              </a:lnSpc>
              <a:buNone/>
            </a:pPr>
            <a:r>
              <a:rPr lang="en-US" sz="1400" dirty="0">
                <a:solidFill>
                  <a:srgbClr val="15213F"/>
                </a:solidFill>
                <a:latin typeface="Roboto Slab" pitchFamily="34" charset="0"/>
                <a:ea typeface="Roboto Slab" pitchFamily="34" charset="-122"/>
                <a:cs typeface="Roboto Slab" pitchFamily="34" charset="-120"/>
              </a:rPr>
              <a:t>DATA</a:t>
            </a:r>
            <a:endParaRPr lang="en-US" sz="1400" dirty="0"/>
          </a:p>
        </p:txBody>
      </p:sp>
      <p:sp>
        <p:nvSpPr>
          <p:cNvPr id="14" name="Shape 6"/>
          <p:cNvSpPr/>
          <p:nvPr/>
        </p:nvSpPr>
        <p:spPr>
          <a:xfrm>
            <a:off x="496119" y="4153049"/>
            <a:ext cx="8151763" cy="573435"/>
          </a:xfrm>
          <a:prstGeom prst="roundRect">
            <a:avLst>
              <a:gd name="adj" fmla="val 3245"/>
            </a:avLst>
          </a:prstGeom>
          <a:solidFill>
            <a:srgbClr val="F2F2F2"/>
          </a:solidFill>
          <a:ln/>
        </p:spPr>
        <p:txBody>
          <a:bodyPr/>
          <a:lstStyle/>
          <a:p>
            <a:endParaRPr lang="en-IN"/>
          </a:p>
        </p:txBody>
      </p:sp>
      <p:pic>
        <p:nvPicPr>
          <p:cNvPr id="15" name="Image 6" descr="preencoded.png"/>
          <p:cNvPicPr>
            <a:picLocks noChangeAspect="1"/>
          </p:cNvPicPr>
          <p:nvPr/>
        </p:nvPicPr>
        <p:blipFill>
          <a:blip r:embed="rId9"/>
          <a:stretch>
            <a:fillRect/>
          </a:stretch>
        </p:blipFill>
        <p:spPr>
          <a:xfrm>
            <a:off x="620092" y="4330898"/>
            <a:ext cx="232544" cy="186035"/>
          </a:xfrm>
          <a:prstGeom prst="rect">
            <a:avLst/>
          </a:prstGeom>
        </p:spPr>
      </p:pic>
      <p:sp>
        <p:nvSpPr>
          <p:cNvPr id="16" name="Text 7"/>
          <p:cNvSpPr/>
          <p:nvPr/>
        </p:nvSpPr>
        <p:spPr>
          <a:xfrm>
            <a:off x="2469877" y="4307979"/>
            <a:ext cx="4560689" cy="232544"/>
          </a:xfrm>
          <a:prstGeom prst="rect">
            <a:avLst/>
          </a:prstGeom>
          <a:noFill/>
          <a:ln/>
        </p:spPr>
        <p:txBody>
          <a:bodyPr wrap="none" lIns="0" tIns="0" rIns="0" bIns="0" rtlCol="0" anchor="t"/>
          <a:lstStyle/>
          <a:p>
            <a:pPr marL="0" indent="0" algn="ctr">
              <a:lnSpc>
                <a:spcPts val="1800"/>
              </a:lnSpc>
              <a:buNone/>
            </a:pPr>
            <a:r>
              <a:rPr lang="en-US" sz="1450" dirty="0">
                <a:solidFill>
                  <a:srgbClr val="3257B8"/>
                </a:solidFill>
                <a:latin typeface="Roboto Slab" pitchFamily="34" charset="0"/>
                <a:ea typeface="Roboto Slab" pitchFamily="34" charset="-122"/>
                <a:cs typeface="Roboto Slab" pitchFamily="34" charset="-120"/>
              </a:rPr>
              <a:t>Data + Algorithm → Training → Model → Prediction</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96119" y="884337"/>
            <a:ext cx="3433465" cy="368201"/>
          </a:xfrm>
          <a:prstGeom prst="rect">
            <a:avLst/>
          </a:prstGeom>
          <a:noFill/>
          <a:ln/>
        </p:spPr>
        <p:txBody>
          <a:bodyPr wrap="none" lIns="0" tIns="0" rIns="0" bIns="0" rtlCol="0" anchor="t"/>
          <a:lstStyle/>
          <a:p>
            <a:pPr marL="0" indent="0" algn="l">
              <a:lnSpc>
                <a:spcPts val="2850"/>
              </a:lnSpc>
              <a:buNone/>
            </a:pPr>
            <a:r>
              <a:rPr lang="en-US" sz="2300" dirty="0">
                <a:solidFill>
                  <a:srgbClr val="3257B8"/>
                </a:solidFill>
                <a:latin typeface="Roboto Slab" pitchFamily="34" charset="0"/>
                <a:ea typeface="Roboto Slab" pitchFamily="34" charset="-122"/>
                <a:cs typeface="Roboto Slab" pitchFamily="34" charset="-120"/>
              </a:rPr>
              <a:t>What We Learned Today</a:t>
            </a:r>
            <a:endParaRPr lang="en-US" sz="2300" dirty="0"/>
          </a:p>
        </p:txBody>
      </p:sp>
      <p:sp>
        <p:nvSpPr>
          <p:cNvPr id="3" name="Text 1"/>
          <p:cNvSpPr/>
          <p:nvPr/>
        </p:nvSpPr>
        <p:spPr>
          <a:xfrm>
            <a:off x="496119" y="1297260"/>
            <a:ext cx="1473026" cy="184175"/>
          </a:xfrm>
          <a:prstGeom prst="rect">
            <a:avLst/>
          </a:prstGeom>
          <a:noFill/>
          <a:ln/>
        </p:spPr>
        <p:txBody>
          <a:bodyPr wrap="none" lIns="0" tIns="0" rIns="0" bIns="0" rtlCol="0" anchor="t"/>
          <a:lstStyle/>
          <a:p>
            <a:pPr marL="0" indent="0" algn="l">
              <a:lnSpc>
                <a:spcPts val="1400"/>
              </a:lnSpc>
              <a:buNone/>
            </a:pPr>
            <a:r>
              <a:rPr lang="en-US" sz="1150" dirty="0">
                <a:solidFill>
                  <a:srgbClr val="3257B8"/>
                </a:solidFill>
                <a:latin typeface="Roboto Slab" pitchFamily="34" charset="0"/>
                <a:ea typeface="Roboto Slab" pitchFamily="34" charset="-122"/>
                <a:cs typeface="Roboto Slab" pitchFamily="34" charset="-120"/>
              </a:rPr>
              <a:t>The AI Recipe : </a:t>
            </a:r>
            <a:endParaRPr lang="en-US" sz="1150" dirty="0"/>
          </a:p>
        </p:txBody>
      </p:sp>
      <p:sp>
        <p:nvSpPr>
          <p:cNvPr id="4" name="Shape 2"/>
          <p:cNvSpPr/>
          <p:nvPr/>
        </p:nvSpPr>
        <p:spPr>
          <a:xfrm>
            <a:off x="496119" y="1649313"/>
            <a:ext cx="8151763" cy="606623"/>
          </a:xfrm>
          <a:prstGeom prst="roundRect">
            <a:avLst>
              <a:gd name="adj" fmla="val 2914"/>
            </a:avLst>
          </a:prstGeom>
          <a:solidFill>
            <a:srgbClr val="F2F2F2"/>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13916" y="1822475"/>
            <a:ext cx="294605" cy="235669"/>
          </a:xfrm>
          <a:prstGeom prst="rect">
            <a:avLst/>
          </a:prstGeom>
        </p:spPr>
      </p:pic>
      <p:sp>
        <p:nvSpPr>
          <p:cNvPr id="6" name="Text 3"/>
          <p:cNvSpPr/>
          <p:nvPr/>
        </p:nvSpPr>
        <p:spPr>
          <a:xfrm>
            <a:off x="1026319" y="1790626"/>
            <a:ext cx="5777954" cy="294531"/>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Data + Algorithm → Training → Model → Prediction</a:t>
            </a:r>
            <a:endParaRPr lang="en-US" sz="1850" dirty="0"/>
          </a:p>
        </p:txBody>
      </p:sp>
      <p:sp>
        <p:nvSpPr>
          <p:cNvPr id="7" name="Shape 4"/>
          <p:cNvSpPr/>
          <p:nvPr/>
        </p:nvSpPr>
        <p:spPr>
          <a:xfrm>
            <a:off x="496119" y="2381845"/>
            <a:ext cx="8151763" cy="1877318"/>
          </a:xfrm>
          <a:prstGeom prst="roundRect">
            <a:avLst>
              <a:gd name="adj" fmla="val 942"/>
            </a:avLst>
          </a:prstGeom>
          <a:noFill/>
          <a:ln w="4763">
            <a:solidFill>
              <a:srgbClr val="000000">
                <a:alpha val="8000"/>
              </a:srgbClr>
            </a:solidFill>
            <a:prstDash val="solid"/>
          </a:ln>
        </p:spPr>
        <p:txBody>
          <a:bodyPr/>
          <a:lstStyle/>
          <a:p>
            <a:endParaRPr lang="en-IN"/>
          </a:p>
        </p:txBody>
      </p:sp>
      <p:sp>
        <p:nvSpPr>
          <p:cNvPr id="8" name="Shape 5"/>
          <p:cNvSpPr/>
          <p:nvPr/>
        </p:nvSpPr>
        <p:spPr>
          <a:xfrm>
            <a:off x="500881" y="2386608"/>
            <a:ext cx="8142238" cy="373559"/>
          </a:xfrm>
          <a:prstGeom prst="rect">
            <a:avLst/>
          </a:prstGeom>
          <a:solidFill>
            <a:srgbClr val="FFFFFF">
              <a:alpha val="4000"/>
            </a:srgbClr>
          </a:solidFill>
          <a:ln/>
        </p:spPr>
        <p:txBody>
          <a:bodyPr/>
          <a:lstStyle/>
          <a:p>
            <a:endParaRPr lang="en-IN"/>
          </a:p>
        </p:txBody>
      </p:sp>
      <p:sp>
        <p:nvSpPr>
          <p:cNvPr id="9" name="Text 6"/>
          <p:cNvSpPr/>
          <p:nvPr/>
        </p:nvSpPr>
        <p:spPr>
          <a:xfrm>
            <a:off x="618753" y="2458492"/>
            <a:ext cx="146372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Data</a:t>
            </a:r>
            <a:endParaRPr lang="en-US" sz="1150" dirty="0"/>
          </a:p>
        </p:txBody>
      </p:sp>
      <p:sp>
        <p:nvSpPr>
          <p:cNvPr id="10" name="Text 7"/>
          <p:cNvSpPr/>
          <p:nvPr/>
        </p:nvSpPr>
        <p:spPr>
          <a:xfrm>
            <a:off x="2322835" y="2458492"/>
            <a:ext cx="6202487"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Information AI learns from</a:t>
            </a:r>
            <a:endParaRPr lang="en-US" sz="1150" dirty="0"/>
          </a:p>
        </p:txBody>
      </p:sp>
      <p:sp>
        <p:nvSpPr>
          <p:cNvPr id="11" name="Shape 8"/>
          <p:cNvSpPr/>
          <p:nvPr/>
        </p:nvSpPr>
        <p:spPr>
          <a:xfrm>
            <a:off x="500881" y="2760166"/>
            <a:ext cx="8142238" cy="373559"/>
          </a:xfrm>
          <a:prstGeom prst="rect">
            <a:avLst/>
          </a:prstGeom>
          <a:solidFill>
            <a:srgbClr val="000000">
              <a:alpha val="4000"/>
            </a:srgbClr>
          </a:solidFill>
          <a:ln/>
        </p:spPr>
        <p:txBody>
          <a:bodyPr/>
          <a:lstStyle/>
          <a:p>
            <a:endParaRPr lang="en-IN"/>
          </a:p>
        </p:txBody>
      </p:sp>
      <p:sp>
        <p:nvSpPr>
          <p:cNvPr id="12" name="Text 9"/>
          <p:cNvSpPr/>
          <p:nvPr/>
        </p:nvSpPr>
        <p:spPr>
          <a:xfrm>
            <a:off x="618753" y="2832050"/>
            <a:ext cx="146372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Algorithm</a:t>
            </a:r>
            <a:endParaRPr lang="en-US" sz="1150" dirty="0"/>
          </a:p>
        </p:txBody>
      </p:sp>
      <p:sp>
        <p:nvSpPr>
          <p:cNvPr id="13" name="Text 10"/>
          <p:cNvSpPr/>
          <p:nvPr/>
        </p:nvSpPr>
        <p:spPr>
          <a:xfrm>
            <a:off x="2322835" y="2832050"/>
            <a:ext cx="6202487"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Step‑by‑step instructions for solving a problem</a:t>
            </a:r>
            <a:endParaRPr lang="en-US" sz="1150" dirty="0"/>
          </a:p>
        </p:txBody>
      </p:sp>
      <p:sp>
        <p:nvSpPr>
          <p:cNvPr id="14" name="Shape 11"/>
          <p:cNvSpPr/>
          <p:nvPr/>
        </p:nvSpPr>
        <p:spPr>
          <a:xfrm>
            <a:off x="500881" y="3133725"/>
            <a:ext cx="8142238" cy="373559"/>
          </a:xfrm>
          <a:prstGeom prst="rect">
            <a:avLst/>
          </a:prstGeom>
          <a:solidFill>
            <a:srgbClr val="FFFFFF">
              <a:alpha val="4000"/>
            </a:srgbClr>
          </a:solidFill>
          <a:ln/>
        </p:spPr>
        <p:txBody>
          <a:bodyPr/>
          <a:lstStyle/>
          <a:p>
            <a:endParaRPr lang="en-IN"/>
          </a:p>
        </p:txBody>
      </p:sp>
      <p:sp>
        <p:nvSpPr>
          <p:cNvPr id="15" name="Text 12"/>
          <p:cNvSpPr/>
          <p:nvPr/>
        </p:nvSpPr>
        <p:spPr>
          <a:xfrm>
            <a:off x="618753" y="3205609"/>
            <a:ext cx="146372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Training</a:t>
            </a:r>
            <a:endParaRPr lang="en-US" sz="1150" dirty="0"/>
          </a:p>
        </p:txBody>
      </p:sp>
      <p:sp>
        <p:nvSpPr>
          <p:cNvPr id="16" name="Text 13"/>
          <p:cNvSpPr/>
          <p:nvPr/>
        </p:nvSpPr>
        <p:spPr>
          <a:xfrm>
            <a:off x="2322835" y="3205609"/>
            <a:ext cx="6202487"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The process where AI learns from examples</a:t>
            </a:r>
            <a:endParaRPr lang="en-US" sz="1150" dirty="0"/>
          </a:p>
        </p:txBody>
      </p:sp>
      <p:sp>
        <p:nvSpPr>
          <p:cNvPr id="17" name="Shape 14"/>
          <p:cNvSpPr/>
          <p:nvPr/>
        </p:nvSpPr>
        <p:spPr>
          <a:xfrm>
            <a:off x="500881" y="3507284"/>
            <a:ext cx="8142238" cy="373559"/>
          </a:xfrm>
          <a:prstGeom prst="rect">
            <a:avLst/>
          </a:prstGeom>
          <a:solidFill>
            <a:srgbClr val="000000">
              <a:alpha val="4000"/>
            </a:srgbClr>
          </a:solidFill>
          <a:ln/>
        </p:spPr>
        <p:txBody>
          <a:bodyPr/>
          <a:lstStyle/>
          <a:p>
            <a:endParaRPr lang="en-IN"/>
          </a:p>
        </p:txBody>
      </p:sp>
      <p:sp>
        <p:nvSpPr>
          <p:cNvPr id="18" name="Text 15"/>
          <p:cNvSpPr/>
          <p:nvPr/>
        </p:nvSpPr>
        <p:spPr>
          <a:xfrm>
            <a:off x="618753" y="3579168"/>
            <a:ext cx="146372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Model</a:t>
            </a:r>
            <a:endParaRPr lang="en-US" sz="1150" dirty="0"/>
          </a:p>
        </p:txBody>
      </p:sp>
      <p:sp>
        <p:nvSpPr>
          <p:cNvPr id="19" name="Text 16"/>
          <p:cNvSpPr/>
          <p:nvPr/>
        </p:nvSpPr>
        <p:spPr>
          <a:xfrm>
            <a:off x="2322835" y="3579168"/>
            <a:ext cx="6202487"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What an algorithm becomes after training - the trained expert</a:t>
            </a:r>
            <a:endParaRPr lang="en-US" sz="1150" dirty="0"/>
          </a:p>
        </p:txBody>
      </p:sp>
      <p:sp>
        <p:nvSpPr>
          <p:cNvPr id="20" name="Shape 17"/>
          <p:cNvSpPr/>
          <p:nvPr/>
        </p:nvSpPr>
        <p:spPr>
          <a:xfrm>
            <a:off x="500881" y="3880842"/>
            <a:ext cx="8142238" cy="373559"/>
          </a:xfrm>
          <a:prstGeom prst="rect">
            <a:avLst/>
          </a:prstGeom>
          <a:solidFill>
            <a:srgbClr val="FFFFFF">
              <a:alpha val="4000"/>
            </a:srgbClr>
          </a:solidFill>
          <a:ln/>
        </p:spPr>
        <p:txBody>
          <a:bodyPr/>
          <a:lstStyle/>
          <a:p>
            <a:endParaRPr lang="en-IN"/>
          </a:p>
        </p:txBody>
      </p:sp>
      <p:sp>
        <p:nvSpPr>
          <p:cNvPr id="21" name="Text 18"/>
          <p:cNvSpPr/>
          <p:nvPr/>
        </p:nvSpPr>
        <p:spPr>
          <a:xfrm>
            <a:off x="618753" y="3952726"/>
            <a:ext cx="146372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Prediction</a:t>
            </a:r>
            <a:endParaRPr lang="en-US" sz="1150" dirty="0"/>
          </a:p>
        </p:txBody>
      </p:sp>
      <p:sp>
        <p:nvSpPr>
          <p:cNvPr id="22" name="Text 19"/>
          <p:cNvSpPr/>
          <p:nvPr/>
        </p:nvSpPr>
        <p:spPr>
          <a:xfrm>
            <a:off x="2322835" y="3952726"/>
            <a:ext cx="6202487"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The model making a statistical guess on new data</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96119" y="1105198"/>
            <a:ext cx="3533775"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Homework: AI Detective</a:t>
            </a:r>
            <a:endParaRPr lang="en-US" sz="2400" dirty="0"/>
          </a:p>
        </p:txBody>
      </p:sp>
      <p:sp>
        <p:nvSpPr>
          <p:cNvPr id="3" name="Text 1"/>
          <p:cNvSpPr/>
          <p:nvPr/>
        </p:nvSpPr>
        <p:spPr>
          <a:xfrm>
            <a:off x="496119" y="1542306"/>
            <a:ext cx="4784527"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Choose ONE AI system you use regularly:</a:t>
            </a:r>
            <a:endParaRPr lang="en-US" sz="1950" dirty="0"/>
          </a:p>
        </p:txBody>
      </p:sp>
      <p:sp>
        <p:nvSpPr>
          <p:cNvPr id="4" name="Shape 2"/>
          <p:cNvSpPr/>
          <p:nvPr/>
        </p:nvSpPr>
        <p:spPr>
          <a:xfrm>
            <a:off x="496119" y="2038424"/>
            <a:ext cx="1944960" cy="744141"/>
          </a:xfrm>
          <a:prstGeom prst="roundRect">
            <a:avLst>
              <a:gd name="adj" fmla="val 2500"/>
            </a:avLst>
          </a:prstGeom>
          <a:solidFill>
            <a:srgbClr val="E9ECF2"/>
          </a:solidFill>
          <a:ln/>
        </p:spPr>
        <p:txBody>
          <a:bodyPr/>
          <a:lstStyle/>
          <a:p>
            <a:endParaRPr lang="en-IN"/>
          </a:p>
        </p:txBody>
      </p:sp>
      <p:sp>
        <p:nvSpPr>
          <p:cNvPr id="5" name="Text 3"/>
          <p:cNvSpPr/>
          <p:nvPr/>
        </p:nvSpPr>
        <p:spPr>
          <a:xfrm>
            <a:off x="620092" y="2162398"/>
            <a:ext cx="1697013"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Netflix / YouTube recommendations</a:t>
            </a:r>
            <a:endParaRPr lang="en-US" sz="1200" dirty="0"/>
          </a:p>
        </p:txBody>
      </p:sp>
      <p:sp>
        <p:nvSpPr>
          <p:cNvPr id="6" name="Shape 4"/>
          <p:cNvSpPr/>
          <p:nvPr/>
        </p:nvSpPr>
        <p:spPr>
          <a:xfrm>
            <a:off x="2565053" y="2038424"/>
            <a:ext cx="1944960" cy="744141"/>
          </a:xfrm>
          <a:prstGeom prst="roundRect">
            <a:avLst>
              <a:gd name="adj" fmla="val 2500"/>
            </a:avLst>
          </a:prstGeom>
          <a:solidFill>
            <a:srgbClr val="E9ECF2"/>
          </a:solidFill>
          <a:ln/>
        </p:spPr>
        <p:txBody>
          <a:bodyPr/>
          <a:lstStyle/>
          <a:p>
            <a:endParaRPr lang="en-IN"/>
          </a:p>
        </p:txBody>
      </p:sp>
      <p:sp>
        <p:nvSpPr>
          <p:cNvPr id="7" name="Text 5"/>
          <p:cNvSpPr/>
          <p:nvPr/>
        </p:nvSpPr>
        <p:spPr>
          <a:xfrm>
            <a:off x="2689027" y="2162398"/>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Spotify playlists</a:t>
            </a:r>
            <a:endParaRPr lang="en-US" sz="1200" dirty="0"/>
          </a:p>
        </p:txBody>
      </p:sp>
      <p:sp>
        <p:nvSpPr>
          <p:cNvPr id="8" name="Shape 6"/>
          <p:cNvSpPr/>
          <p:nvPr/>
        </p:nvSpPr>
        <p:spPr>
          <a:xfrm>
            <a:off x="4633987" y="2038424"/>
            <a:ext cx="1944960" cy="744141"/>
          </a:xfrm>
          <a:prstGeom prst="roundRect">
            <a:avLst>
              <a:gd name="adj" fmla="val 2500"/>
            </a:avLst>
          </a:prstGeom>
          <a:solidFill>
            <a:srgbClr val="E9ECF2"/>
          </a:solidFill>
          <a:ln/>
        </p:spPr>
        <p:txBody>
          <a:bodyPr/>
          <a:lstStyle/>
          <a:p>
            <a:endParaRPr lang="en-IN"/>
          </a:p>
        </p:txBody>
      </p:sp>
      <p:sp>
        <p:nvSpPr>
          <p:cNvPr id="9" name="Text 7"/>
          <p:cNvSpPr/>
          <p:nvPr/>
        </p:nvSpPr>
        <p:spPr>
          <a:xfrm>
            <a:off x="4757961" y="2162398"/>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Google Maps</a:t>
            </a:r>
            <a:endParaRPr lang="en-US" sz="1200" dirty="0"/>
          </a:p>
        </p:txBody>
      </p:sp>
      <p:sp>
        <p:nvSpPr>
          <p:cNvPr id="10" name="Shape 8"/>
          <p:cNvSpPr/>
          <p:nvPr/>
        </p:nvSpPr>
        <p:spPr>
          <a:xfrm>
            <a:off x="6702921" y="2038424"/>
            <a:ext cx="1944960" cy="744141"/>
          </a:xfrm>
          <a:prstGeom prst="roundRect">
            <a:avLst>
              <a:gd name="adj" fmla="val 2500"/>
            </a:avLst>
          </a:prstGeom>
          <a:solidFill>
            <a:srgbClr val="E9ECF2"/>
          </a:solidFill>
          <a:ln/>
        </p:spPr>
        <p:txBody>
          <a:bodyPr/>
          <a:lstStyle/>
          <a:p>
            <a:endParaRPr lang="en-IN"/>
          </a:p>
        </p:txBody>
      </p:sp>
      <p:sp>
        <p:nvSpPr>
          <p:cNvPr id="11" name="Text 9"/>
          <p:cNvSpPr/>
          <p:nvPr/>
        </p:nvSpPr>
        <p:spPr>
          <a:xfrm>
            <a:off x="6826895" y="2162398"/>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Instagram feed</a:t>
            </a:r>
            <a:endParaRPr lang="en-US" sz="1200" dirty="0"/>
          </a:p>
        </p:txBody>
      </p:sp>
      <p:sp>
        <p:nvSpPr>
          <p:cNvPr id="12" name="Shape 10"/>
          <p:cNvSpPr/>
          <p:nvPr/>
        </p:nvSpPr>
        <p:spPr>
          <a:xfrm>
            <a:off x="496119" y="2906539"/>
            <a:ext cx="1944960" cy="744141"/>
          </a:xfrm>
          <a:prstGeom prst="roundRect">
            <a:avLst>
              <a:gd name="adj" fmla="val 2500"/>
            </a:avLst>
          </a:prstGeom>
          <a:solidFill>
            <a:srgbClr val="E9ECF2"/>
          </a:solidFill>
          <a:ln/>
        </p:spPr>
        <p:txBody>
          <a:bodyPr/>
          <a:lstStyle/>
          <a:p>
            <a:endParaRPr lang="en-IN"/>
          </a:p>
        </p:txBody>
      </p:sp>
      <p:sp>
        <p:nvSpPr>
          <p:cNvPr id="13" name="Text 11"/>
          <p:cNvSpPr/>
          <p:nvPr/>
        </p:nvSpPr>
        <p:spPr>
          <a:xfrm>
            <a:off x="620092" y="3030513"/>
            <a:ext cx="1697013"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Siri / Google Assistant</a:t>
            </a:r>
            <a:endParaRPr lang="en-US" sz="1200" dirty="0"/>
          </a:p>
        </p:txBody>
      </p:sp>
      <p:sp>
        <p:nvSpPr>
          <p:cNvPr id="14" name="Shape 12"/>
          <p:cNvSpPr/>
          <p:nvPr/>
        </p:nvSpPr>
        <p:spPr>
          <a:xfrm>
            <a:off x="2565053" y="2906539"/>
            <a:ext cx="1944960" cy="744141"/>
          </a:xfrm>
          <a:prstGeom prst="roundRect">
            <a:avLst>
              <a:gd name="adj" fmla="val 2500"/>
            </a:avLst>
          </a:prstGeom>
          <a:solidFill>
            <a:srgbClr val="E9ECF2"/>
          </a:solidFill>
          <a:ln/>
        </p:spPr>
        <p:txBody>
          <a:bodyPr/>
          <a:lstStyle/>
          <a:p>
            <a:endParaRPr lang="en-IN"/>
          </a:p>
        </p:txBody>
      </p:sp>
      <p:sp>
        <p:nvSpPr>
          <p:cNvPr id="15" name="Text 13"/>
          <p:cNvSpPr/>
          <p:nvPr/>
        </p:nvSpPr>
        <p:spPr>
          <a:xfrm>
            <a:off x="2689027" y="3030513"/>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Snapchat filters</a:t>
            </a:r>
            <a:endParaRPr lang="en-US" sz="1200" dirty="0"/>
          </a:p>
        </p:txBody>
      </p:sp>
      <p:sp>
        <p:nvSpPr>
          <p:cNvPr id="16" name="Shape 14"/>
          <p:cNvSpPr/>
          <p:nvPr/>
        </p:nvSpPr>
        <p:spPr>
          <a:xfrm>
            <a:off x="4633987" y="2906539"/>
            <a:ext cx="1944960" cy="744141"/>
          </a:xfrm>
          <a:prstGeom prst="roundRect">
            <a:avLst>
              <a:gd name="adj" fmla="val 2500"/>
            </a:avLst>
          </a:prstGeom>
          <a:solidFill>
            <a:srgbClr val="E9ECF2"/>
          </a:solidFill>
          <a:ln/>
        </p:spPr>
        <p:txBody>
          <a:bodyPr/>
          <a:lstStyle/>
          <a:p>
            <a:endParaRPr lang="en-IN"/>
          </a:p>
        </p:txBody>
      </p:sp>
      <p:sp>
        <p:nvSpPr>
          <p:cNvPr id="17" name="Text 15"/>
          <p:cNvSpPr/>
          <p:nvPr/>
        </p:nvSpPr>
        <p:spPr>
          <a:xfrm>
            <a:off x="4757961" y="3030513"/>
            <a:ext cx="1697013"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Gmail Smart Compose</a:t>
            </a:r>
            <a:endParaRPr lang="en-US" sz="1200" dirty="0"/>
          </a:p>
        </p:txBody>
      </p:sp>
      <p:sp>
        <p:nvSpPr>
          <p:cNvPr id="18" name="Shape 16"/>
          <p:cNvSpPr/>
          <p:nvPr/>
        </p:nvSpPr>
        <p:spPr>
          <a:xfrm>
            <a:off x="6702921" y="2906539"/>
            <a:ext cx="1944960" cy="744141"/>
          </a:xfrm>
          <a:prstGeom prst="roundRect">
            <a:avLst>
              <a:gd name="adj" fmla="val 2500"/>
            </a:avLst>
          </a:prstGeom>
          <a:solidFill>
            <a:srgbClr val="E9ECF2"/>
          </a:solidFill>
          <a:ln/>
        </p:spPr>
        <p:txBody>
          <a:bodyPr/>
          <a:lstStyle/>
          <a:p>
            <a:endParaRPr lang="en-IN"/>
          </a:p>
        </p:txBody>
      </p:sp>
      <p:sp>
        <p:nvSpPr>
          <p:cNvPr id="19" name="Text 17"/>
          <p:cNvSpPr/>
          <p:nvPr/>
        </p:nvSpPr>
        <p:spPr>
          <a:xfrm>
            <a:off x="6826895" y="3030513"/>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dirty="0">
                <a:solidFill>
                  <a:srgbClr val="15213F"/>
                </a:solidFill>
                <a:latin typeface="Roboto" pitchFamily="34" charset="0"/>
                <a:ea typeface="Roboto" pitchFamily="34" charset="-122"/>
                <a:cs typeface="Roboto" pitchFamily="34" charset="-120"/>
              </a:rPr>
              <a:t> Amazon suggestions</a:t>
            </a:r>
            <a:endParaRPr lang="en-US" sz="1200" dirty="0"/>
          </a:p>
        </p:txBody>
      </p:sp>
      <p:sp>
        <p:nvSpPr>
          <p:cNvPr id="20" name="Text 18"/>
          <p:cNvSpPr/>
          <p:nvPr/>
        </p:nvSpPr>
        <p:spPr>
          <a:xfrm>
            <a:off x="496119" y="3790206"/>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DC1CC778-9391-2876-3DF8-47DC4065DEEB}"/>
              </a:ext>
            </a:extLst>
          </p:cNvPr>
          <p:cNvSpPr/>
          <p:nvPr/>
        </p:nvSpPr>
        <p:spPr>
          <a:xfrm>
            <a:off x="496119" y="1563960"/>
            <a:ext cx="3445594"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Next Session Preview - </a:t>
            </a:r>
            <a:endParaRPr lang="en-US" sz="2400" dirty="0"/>
          </a:p>
        </p:txBody>
      </p:sp>
      <p:sp>
        <p:nvSpPr>
          <p:cNvPr id="6" name="Text 1">
            <a:extLst>
              <a:ext uri="{FF2B5EF4-FFF2-40B4-BE49-F238E27FC236}">
                <a16:creationId xmlns:a16="http://schemas.microsoft.com/office/drawing/2014/main" id="{5CFEB7BE-24D9-62EA-ACA1-5E9178FA4C43}"/>
              </a:ext>
            </a:extLst>
          </p:cNvPr>
          <p:cNvSpPr/>
          <p:nvPr/>
        </p:nvSpPr>
        <p:spPr>
          <a:xfrm>
            <a:off x="496119" y="2076570"/>
            <a:ext cx="4396383"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Session 3 : What is Machine Learning</a:t>
            </a:r>
            <a:endParaRPr lang="en-US" sz="1950" dirty="0"/>
          </a:p>
        </p:txBody>
      </p:sp>
      <p:sp>
        <p:nvSpPr>
          <p:cNvPr id="7" name="Text 3">
            <a:extLst>
              <a:ext uri="{FF2B5EF4-FFF2-40B4-BE49-F238E27FC236}">
                <a16:creationId xmlns:a16="http://schemas.microsoft.com/office/drawing/2014/main" id="{D47BB82D-40DF-A430-6FF8-2793417BB3F3}"/>
              </a:ext>
            </a:extLst>
          </p:cNvPr>
          <p:cNvSpPr/>
          <p:nvPr/>
        </p:nvSpPr>
        <p:spPr>
          <a:xfrm>
            <a:off x="496119" y="2835176"/>
            <a:ext cx="8151763"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Next session we go inside how AI actually learns. You'll define machine learning, compare different learning approaches, and understand why simple rules aren't enough. From spotting patterns in data to identifying ML in your everyday life - and seeing it in action.</a:t>
            </a:r>
            <a:endParaRPr lang="en-US" sz="1200" dirty="0"/>
          </a:p>
        </p:txBody>
      </p:sp>
    </p:spTree>
    <p:extLst>
      <p:ext uri="{BB962C8B-B14F-4D97-AF65-F5344CB8AC3E}">
        <p14:creationId xmlns:p14="http://schemas.microsoft.com/office/powerpoint/2010/main" val="953993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文档" ma:contentTypeID="0x010100D1C97E870F6D7542BABA8D0CA62BEE9C" ma:contentTypeVersion="4" ma:contentTypeDescription="新建文档。" ma:contentTypeScope="" ma:versionID="2a884758a1a96afdab5f030d69ab96dc">
  <xsd:schema xmlns:xsd="http://www.w3.org/2001/XMLSchema" xmlns:xs="http://www.w3.org/2001/XMLSchema" xmlns:p="http://schemas.microsoft.com/office/2006/metadata/properties" xmlns:ns3="e0221f9d-b794-42ac-8043-be0753f8addc" targetNamespace="http://schemas.microsoft.com/office/2006/metadata/properties" ma:root="true" ma:fieldsID="c6778a65063483b2d790b89d984a301d" ns3:_="">
    <xsd:import namespace="e0221f9d-b794-42ac-8043-be0753f8add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221f9d-b794-42ac-8043-be0753f8add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ECFB5D-57BB-4ED1-99CF-B8F13293925F}">
  <ds:schemaRefs>
    <ds:schemaRef ds:uri="http://purl.org/dc/elements/1.1/"/>
    <ds:schemaRef ds:uri="http://schemas.microsoft.com/office/infopath/2007/PartnerControls"/>
    <ds:schemaRef ds:uri="http://www.w3.org/XML/1998/namespace"/>
    <ds:schemaRef ds:uri="http://schemas.microsoft.com/office/2006/documentManagement/types"/>
    <ds:schemaRef ds:uri="http://purl.org/dc/dcmitype/"/>
    <ds:schemaRef ds:uri="e0221f9d-b794-42ac-8043-be0753f8addc"/>
    <ds:schemaRef ds:uri="http://purl.org/dc/term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75E2DF9D-0D65-4638-8907-38E0F6678B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221f9d-b794-42ac-8043-be0753f8ad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D5D5ABC-1823-4138-956D-7044F088713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89</TotalTime>
  <Words>1667</Words>
  <Application>Microsoft Office PowerPoint</Application>
  <PresentationFormat>On-screen Show (16:9)</PresentationFormat>
  <Paragraphs>322</Paragraphs>
  <Slides>33</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Roboto Slab</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sneha arya</dc:creator>
  <cp:lastModifiedBy>Office</cp:lastModifiedBy>
  <cp:revision>6</cp:revision>
  <dcterms:created xsi:type="dcterms:W3CDTF">2026-05-07T07:28:25Z</dcterms:created>
  <dcterms:modified xsi:type="dcterms:W3CDTF">2026-05-07T10:10:50Z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0x010100D1C97E870F6D7542BABA8D0CA62BEE9C</vt:lpwstr>
  </property>
</Properties>
</file>