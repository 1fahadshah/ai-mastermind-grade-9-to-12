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35"/>
  </p:notesMasterIdLst>
  <p:sldIdLst>
    <p:sldId id="256" r:id="rId5"/>
    <p:sldId id="257" r:id="rId6"/>
    <p:sldId id="258" r:id="rId7"/>
    <p:sldId id="259" r:id="rId8"/>
    <p:sldId id="260" r:id="rId9"/>
    <p:sldId id="261" r:id="rId10"/>
    <p:sldId id="262" r:id="rId11"/>
    <p:sldId id="263" r:id="rId12"/>
    <p:sldId id="264" r:id="rId13"/>
    <p:sldId id="286" r:id="rId14"/>
    <p:sldId id="267" r:id="rId15"/>
    <p:sldId id="268" r:id="rId16"/>
    <p:sldId id="269" r:id="rId17"/>
    <p:sldId id="288" r:id="rId18"/>
    <p:sldId id="291" r:id="rId19"/>
    <p:sldId id="289"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x="9144000" cy="5143500" type="screen16x9"/>
  <p:notesSz cx="5143500" cy="9144000"/>
  <p:embeddedFontLst>
    <p:embeddedFont>
      <p:font typeface="Roboto" panose="02000000000000000000" pitchFamily="2" charset="0"/>
      <p:regular r:id="rId36"/>
      <p:bold r:id="rId37"/>
      <p:italic r:id="rId38"/>
    </p:embeddedFont>
    <p:embeddedFont>
      <p:font typeface="Roboto Slab" pitchFamily="2" charset="0"/>
      <p:regular r:id="rId39"/>
      <p:bold r:id="rId40"/>
    </p:embeddedFont>
    <p:embeddedFont>
      <p:font typeface="Roboto Slab Light" pitchFamily="2" charset="0"/>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154829-F71E-4A27-8EE4-DF2EECC651B5}" v="1" dt="2026-05-09T09:59:58.7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5" d="100"/>
          <a:sy n="125" d="100"/>
        </p:scale>
        <p:origin x="226" y="-4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7030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IN"/>
          </a:p>
        </p:txBody>
      </p:sp>
      <p:sp>
        <p:nvSpPr>
          <p:cNvPr id="3" name="Shape 1"/>
          <p:cNvSpPr/>
          <p:nvPr/>
        </p:nvSpPr>
        <p:spPr>
          <a:xfrm>
            <a:off x="0" y="0"/>
            <a:ext cx="9144000" cy="5143500"/>
          </a:xfrm>
          <a:prstGeom prst="rect">
            <a:avLst/>
          </a:prstGeom>
          <a:solidFill>
            <a:srgbClr val="FBFCFE"/>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sp>
      <p:sp>
        <p:nvSpPr>
          <p:cNvPr id="3" name="Shape 1"/>
          <p:cNvSpPr/>
          <p:nvPr/>
        </p:nvSpPr>
        <p:spPr>
          <a:xfrm>
            <a:off x="0" y="0"/>
            <a:ext cx="9144000" cy="5143500"/>
          </a:xfrm>
          <a:prstGeom prst="rect">
            <a:avLst/>
          </a:prstGeom>
          <a:solidFill>
            <a:srgbClr val="FBFCFE"/>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image" Target="../media/image17.svg"/><Relationship Id="rId5" Type="http://schemas.openxmlformats.org/officeDocument/2006/relationships/image" Target="../media/image16.pn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28.xml"/><Relationship Id="rId4" Type="http://schemas.openxmlformats.org/officeDocument/2006/relationships/image" Target="../media/image25.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31.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2159422"/>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Session 11: </a:t>
            </a:r>
            <a:endParaRPr lang="en-US" sz="2400" dirty="0"/>
          </a:p>
        </p:txBody>
      </p:sp>
      <p:sp>
        <p:nvSpPr>
          <p:cNvPr id="4" name="Text 1"/>
          <p:cNvSpPr/>
          <p:nvPr/>
        </p:nvSpPr>
        <p:spPr>
          <a:xfrm>
            <a:off x="496119" y="2596530"/>
            <a:ext cx="311765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The Art of Prompting</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900187"/>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Objectives</a:t>
            </a:r>
            <a:endParaRPr lang="en-US" sz="2400" dirty="0"/>
          </a:p>
        </p:txBody>
      </p:sp>
      <p:sp>
        <p:nvSpPr>
          <p:cNvPr id="3" name="Text 1"/>
          <p:cNvSpPr/>
          <p:nvPr/>
        </p:nvSpPr>
        <p:spPr>
          <a:xfrm>
            <a:off x="496119" y="1535757"/>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By the end of this session, you will be able to:</a:t>
            </a:r>
            <a:endParaRPr lang="en-US" sz="1200" dirty="0"/>
          </a:p>
        </p:txBody>
      </p:sp>
      <p:sp>
        <p:nvSpPr>
          <p:cNvPr id="4" name="Text 2"/>
          <p:cNvSpPr/>
          <p:nvPr/>
        </p:nvSpPr>
        <p:spPr>
          <a:xfrm>
            <a:off x="496119" y="1923380"/>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5" name="Text 3"/>
          <p:cNvSpPr/>
          <p:nvPr/>
        </p:nvSpPr>
        <p:spPr>
          <a:xfrm>
            <a:off x="496119" y="2311003"/>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01</a:t>
            </a:r>
            <a:endParaRPr lang="en-US" sz="950" dirty="0"/>
          </a:p>
        </p:txBody>
      </p:sp>
      <p:pic>
        <p:nvPicPr>
          <p:cNvPr id="6" name="Image 0" descr="preencoded.png"/>
          <p:cNvPicPr>
            <a:picLocks noChangeAspect="1"/>
          </p:cNvPicPr>
          <p:nvPr/>
        </p:nvPicPr>
        <p:blipFill>
          <a:blip r:embed="rId3"/>
          <a:stretch>
            <a:fillRect/>
          </a:stretch>
        </p:blipFill>
        <p:spPr>
          <a:xfrm>
            <a:off x="496119" y="2507456"/>
            <a:ext cx="1944960" cy="14288"/>
          </a:xfrm>
          <a:prstGeom prst="rect">
            <a:avLst/>
          </a:prstGeom>
        </p:spPr>
      </p:pic>
      <p:sp>
        <p:nvSpPr>
          <p:cNvPr id="7" name="Text 4"/>
          <p:cNvSpPr/>
          <p:nvPr/>
        </p:nvSpPr>
        <p:spPr>
          <a:xfrm>
            <a:off x="496119" y="2598018"/>
            <a:ext cx="1944960" cy="387697"/>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Define what a prompt is and why it matters</a:t>
            </a:r>
            <a:endParaRPr lang="en-US" sz="1200" dirty="0"/>
          </a:p>
        </p:txBody>
      </p:sp>
      <p:sp>
        <p:nvSpPr>
          <p:cNvPr id="8" name="Text 5"/>
          <p:cNvSpPr/>
          <p:nvPr/>
        </p:nvSpPr>
        <p:spPr>
          <a:xfrm>
            <a:off x="2565053" y="2311003"/>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02</a:t>
            </a:r>
            <a:endParaRPr lang="en-US" sz="950" dirty="0"/>
          </a:p>
        </p:txBody>
      </p:sp>
      <p:pic>
        <p:nvPicPr>
          <p:cNvPr id="9" name="Image 1" descr="preencoded.png"/>
          <p:cNvPicPr>
            <a:picLocks noChangeAspect="1"/>
          </p:cNvPicPr>
          <p:nvPr/>
        </p:nvPicPr>
        <p:blipFill>
          <a:blip r:embed="rId3"/>
          <a:stretch>
            <a:fillRect/>
          </a:stretch>
        </p:blipFill>
        <p:spPr>
          <a:xfrm>
            <a:off x="2565053" y="2507456"/>
            <a:ext cx="1944960" cy="14288"/>
          </a:xfrm>
          <a:prstGeom prst="rect">
            <a:avLst/>
          </a:prstGeom>
        </p:spPr>
      </p:pic>
      <p:sp>
        <p:nvSpPr>
          <p:cNvPr id="10" name="Text 6"/>
          <p:cNvSpPr/>
          <p:nvPr/>
        </p:nvSpPr>
        <p:spPr>
          <a:xfrm>
            <a:off x="2565053" y="2598018"/>
            <a:ext cx="1944960" cy="387697"/>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Identify key elements that can strengthen a prompt</a:t>
            </a:r>
            <a:endParaRPr lang="en-US" sz="1200" dirty="0"/>
          </a:p>
        </p:txBody>
      </p:sp>
      <p:sp>
        <p:nvSpPr>
          <p:cNvPr id="11" name="Text 7"/>
          <p:cNvSpPr/>
          <p:nvPr/>
        </p:nvSpPr>
        <p:spPr>
          <a:xfrm>
            <a:off x="4633987" y="2311003"/>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03</a:t>
            </a:r>
            <a:endParaRPr lang="en-US" sz="950" dirty="0"/>
          </a:p>
        </p:txBody>
      </p:sp>
      <p:pic>
        <p:nvPicPr>
          <p:cNvPr id="12" name="Image 2" descr="preencoded.png"/>
          <p:cNvPicPr>
            <a:picLocks noChangeAspect="1"/>
          </p:cNvPicPr>
          <p:nvPr/>
        </p:nvPicPr>
        <p:blipFill>
          <a:blip r:embed="rId3"/>
          <a:stretch>
            <a:fillRect/>
          </a:stretch>
        </p:blipFill>
        <p:spPr>
          <a:xfrm>
            <a:off x="4633987" y="2507456"/>
            <a:ext cx="1944960" cy="14288"/>
          </a:xfrm>
          <a:prstGeom prst="rect">
            <a:avLst/>
          </a:prstGeom>
        </p:spPr>
      </p:pic>
      <p:sp>
        <p:nvSpPr>
          <p:cNvPr id="13" name="Text 8"/>
          <p:cNvSpPr/>
          <p:nvPr/>
        </p:nvSpPr>
        <p:spPr>
          <a:xfrm>
            <a:off x="4633987" y="2598018"/>
            <a:ext cx="1944960" cy="581546"/>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Recognize when a prompt might be missing helpful details</a:t>
            </a:r>
            <a:endParaRPr lang="en-US" sz="1200" dirty="0"/>
          </a:p>
        </p:txBody>
      </p:sp>
      <p:sp>
        <p:nvSpPr>
          <p:cNvPr id="14" name="Text 9"/>
          <p:cNvSpPr/>
          <p:nvPr/>
        </p:nvSpPr>
        <p:spPr>
          <a:xfrm>
            <a:off x="6702921" y="2311003"/>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04</a:t>
            </a:r>
            <a:endParaRPr lang="en-US" sz="950" dirty="0"/>
          </a:p>
        </p:txBody>
      </p:sp>
      <p:pic>
        <p:nvPicPr>
          <p:cNvPr id="15" name="Image 3" descr="preencoded.png"/>
          <p:cNvPicPr>
            <a:picLocks noChangeAspect="1"/>
          </p:cNvPicPr>
          <p:nvPr/>
        </p:nvPicPr>
        <p:blipFill>
          <a:blip r:embed="rId3"/>
          <a:stretch>
            <a:fillRect/>
          </a:stretch>
        </p:blipFill>
        <p:spPr>
          <a:xfrm>
            <a:off x="6702921" y="2507456"/>
            <a:ext cx="1944960" cy="14288"/>
          </a:xfrm>
          <a:prstGeom prst="rect">
            <a:avLst/>
          </a:prstGeom>
        </p:spPr>
      </p:pic>
      <p:sp>
        <p:nvSpPr>
          <p:cNvPr id="16" name="Text 10"/>
          <p:cNvSpPr/>
          <p:nvPr/>
        </p:nvSpPr>
        <p:spPr>
          <a:xfrm>
            <a:off x="6702921" y="2598018"/>
            <a:ext cx="1944960" cy="581546"/>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Recognize common prompting mistakes and why they happen</a:t>
            </a:r>
            <a:endParaRPr lang="en-US" sz="1200" dirty="0"/>
          </a:p>
        </p:txBody>
      </p:sp>
      <p:sp>
        <p:nvSpPr>
          <p:cNvPr id="17" name="Text 11"/>
          <p:cNvSpPr/>
          <p:nvPr/>
        </p:nvSpPr>
        <p:spPr>
          <a:xfrm>
            <a:off x="496119" y="3396555"/>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05</a:t>
            </a:r>
            <a:endParaRPr lang="en-US" sz="950" dirty="0"/>
          </a:p>
        </p:txBody>
      </p:sp>
      <p:pic>
        <p:nvPicPr>
          <p:cNvPr id="18" name="Image 4" descr="preencoded.png"/>
          <p:cNvPicPr>
            <a:picLocks noChangeAspect="1"/>
          </p:cNvPicPr>
          <p:nvPr/>
        </p:nvPicPr>
        <p:blipFill>
          <a:blip r:embed="rId3"/>
          <a:stretch>
            <a:fillRect/>
          </a:stretch>
        </p:blipFill>
        <p:spPr>
          <a:xfrm>
            <a:off x="496119" y="3580581"/>
            <a:ext cx="1944960" cy="14288"/>
          </a:xfrm>
          <a:prstGeom prst="rect">
            <a:avLst/>
          </a:prstGeom>
        </p:spPr>
      </p:pic>
      <p:sp>
        <p:nvSpPr>
          <p:cNvPr id="19" name="Text 12"/>
          <p:cNvSpPr/>
          <p:nvPr/>
        </p:nvSpPr>
        <p:spPr>
          <a:xfrm>
            <a:off x="496119" y="3683571"/>
            <a:ext cx="1944960" cy="387697"/>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Transform weak prompts into stronger ones</a:t>
            </a:r>
            <a:endParaRPr lang="en-US" sz="1200" dirty="0"/>
          </a:p>
        </p:txBody>
      </p:sp>
      <p:sp>
        <p:nvSpPr>
          <p:cNvPr id="20" name="Text 13"/>
          <p:cNvSpPr/>
          <p:nvPr/>
        </p:nvSpPr>
        <p:spPr>
          <a:xfrm>
            <a:off x="2565053" y="3396555"/>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06</a:t>
            </a:r>
            <a:endParaRPr lang="en-US" sz="950" dirty="0"/>
          </a:p>
        </p:txBody>
      </p:sp>
      <p:pic>
        <p:nvPicPr>
          <p:cNvPr id="21" name="Image 5" descr="preencoded.png"/>
          <p:cNvPicPr>
            <a:picLocks noChangeAspect="1"/>
          </p:cNvPicPr>
          <p:nvPr/>
        </p:nvPicPr>
        <p:blipFill>
          <a:blip r:embed="rId3"/>
          <a:stretch>
            <a:fillRect/>
          </a:stretch>
        </p:blipFill>
        <p:spPr>
          <a:xfrm>
            <a:off x="2565053" y="3580581"/>
            <a:ext cx="1944960" cy="14288"/>
          </a:xfrm>
          <a:prstGeom prst="rect">
            <a:avLst/>
          </a:prstGeom>
        </p:spPr>
      </p:pic>
      <p:sp>
        <p:nvSpPr>
          <p:cNvPr id="22" name="Text 14"/>
          <p:cNvSpPr/>
          <p:nvPr/>
        </p:nvSpPr>
        <p:spPr>
          <a:xfrm>
            <a:off x="2565053" y="3683571"/>
            <a:ext cx="1944960" cy="387697"/>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Use iterative prompting to improve AI responses</a:t>
            </a:r>
            <a:endParaRPr lang="en-US" sz="1200" dirty="0"/>
          </a:p>
        </p:txBody>
      </p:sp>
      <p:sp>
        <p:nvSpPr>
          <p:cNvPr id="23" name="Text 15"/>
          <p:cNvSpPr/>
          <p:nvPr/>
        </p:nvSpPr>
        <p:spPr>
          <a:xfrm>
            <a:off x="4633987" y="3396555"/>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07</a:t>
            </a:r>
            <a:endParaRPr lang="en-US" sz="950" dirty="0"/>
          </a:p>
        </p:txBody>
      </p:sp>
      <p:pic>
        <p:nvPicPr>
          <p:cNvPr id="24" name="Image 6" descr="preencoded.png"/>
          <p:cNvPicPr>
            <a:picLocks noChangeAspect="1"/>
          </p:cNvPicPr>
          <p:nvPr/>
        </p:nvPicPr>
        <p:blipFill>
          <a:blip r:embed="rId3"/>
          <a:stretch>
            <a:fillRect/>
          </a:stretch>
        </p:blipFill>
        <p:spPr>
          <a:xfrm>
            <a:off x="4633987" y="3580581"/>
            <a:ext cx="1944960" cy="14288"/>
          </a:xfrm>
          <a:prstGeom prst="rect">
            <a:avLst/>
          </a:prstGeom>
        </p:spPr>
      </p:pic>
      <p:sp>
        <p:nvSpPr>
          <p:cNvPr id="25" name="Text 16"/>
          <p:cNvSpPr/>
          <p:nvPr/>
        </p:nvSpPr>
        <p:spPr>
          <a:xfrm>
            <a:off x="4633987" y="3683571"/>
            <a:ext cx="1944960" cy="387697"/>
          </a:xfrm>
          <a:prstGeom prst="rect">
            <a:avLst/>
          </a:prstGeom>
          <a:noFill/>
          <a:ln/>
        </p:spPr>
        <p:txBody>
          <a:bodyPr wrap="squar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Apply The Prompt Framework</a:t>
            </a:r>
            <a:endParaRPr lang="en-US" sz="1200" dirty="0"/>
          </a:p>
        </p:txBody>
      </p:sp>
      <p:sp>
        <p:nvSpPr>
          <p:cNvPr id="26" name="Text 17"/>
          <p:cNvSpPr/>
          <p:nvPr/>
        </p:nvSpPr>
        <p:spPr>
          <a:xfrm>
            <a:off x="6702921" y="3396555"/>
            <a:ext cx="248022" cy="155004"/>
          </a:xfrm>
          <a:prstGeom prst="rect">
            <a:avLst/>
          </a:prstGeom>
          <a:noFill/>
          <a:ln/>
        </p:spPr>
        <p:txBody>
          <a:bodyPr wrap="none" lIns="0" tIns="0" rIns="0" bIns="0" rtlCol="0" anchor="ctr"/>
          <a:lstStyle/>
          <a:p>
            <a:pPr marL="0" indent="0" algn="l">
              <a:lnSpc>
                <a:spcPct val="100000"/>
              </a:lnSpc>
              <a:buNone/>
            </a:pPr>
            <a:r>
              <a:rPr lang="en-US" sz="950" dirty="0">
                <a:solidFill>
                  <a:srgbClr val="15213F"/>
                </a:solidFill>
                <a:latin typeface="Roboto Slab Light" pitchFamily="34" charset="0"/>
                <a:ea typeface="Roboto Slab Light" pitchFamily="34" charset="-122"/>
                <a:cs typeface="Roboto Slab Light" pitchFamily="34" charset="-120"/>
              </a:rPr>
              <a:t>08</a:t>
            </a:r>
            <a:endParaRPr lang="en-US" sz="950" dirty="0"/>
          </a:p>
        </p:txBody>
      </p:sp>
      <p:pic>
        <p:nvPicPr>
          <p:cNvPr id="27" name="Image 7" descr="preencoded.png"/>
          <p:cNvPicPr>
            <a:picLocks noChangeAspect="1"/>
          </p:cNvPicPr>
          <p:nvPr/>
        </p:nvPicPr>
        <p:blipFill>
          <a:blip r:embed="rId3"/>
          <a:stretch>
            <a:fillRect/>
          </a:stretch>
        </p:blipFill>
        <p:spPr>
          <a:xfrm>
            <a:off x="6702921" y="3580581"/>
            <a:ext cx="1944960" cy="14288"/>
          </a:xfrm>
          <a:prstGeom prst="rect">
            <a:avLst/>
          </a:prstGeom>
        </p:spPr>
      </p:pic>
      <p:sp>
        <p:nvSpPr>
          <p:cNvPr id="28" name="Text 18"/>
          <p:cNvSpPr/>
          <p:nvPr/>
        </p:nvSpPr>
        <p:spPr>
          <a:xfrm>
            <a:off x="6702921" y="3683571"/>
            <a:ext cx="1878360"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Start your Prompt Library</a:t>
            </a:r>
            <a:endParaRPr lang="en-US" sz="1200" dirty="0"/>
          </a:p>
        </p:txBody>
      </p:sp>
      <p:sp>
        <p:nvSpPr>
          <p:cNvPr id="29" name="Text 19"/>
          <p:cNvSpPr/>
          <p:nvPr/>
        </p:nvSpPr>
        <p:spPr>
          <a:xfrm>
            <a:off x="6702921" y="3951833"/>
            <a:ext cx="1944960" cy="198462"/>
          </a:xfrm>
          <a:prstGeom prst="rect">
            <a:avLst/>
          </a:prstGeom>
          <a:noFill/>
          <a:ln/>
        </p:spPr>
        <p:txBody>
          <a:bodyPr wrap="none" lIns="0" tIns="0" rIns="0" bIns="0" rtlCol="0" anchor="t"/>
          <a:lstStyle/>
          <a:p>
            <a:pPr marL="0" indent="0" algn="l">
              <a:lnSpc>
                <a:spcPts val="1550"/>
              </a:lnSpc>
              <a:buNone/>
            </a:pPr>
            <a:endParaRPr lang="en-US" sz="950" dirty="0"/>
          </a:p>
        </p:txBody>
      </p:sp>
      <p:cxnSp>
        <p:nvCxnSpPr>
          <p:cNvPr id="31" name="Straight Connector 30">
            <a:extLst>
              <a:ext uri="{FF2B5EF4-FFF2-40B4-BE49-F238E27FC236}">
                <a16:creationId xmlns:a16="http://schemas.microsoft.com/office/drawing/2014/main" id="{2A7BAB25-5E07-FF17-28CE-52541369618B}"/>
              </a:ext>
            </a:extLst>
          </p:cNvPr>
          <p:cNvCxnSpPr>
            <a:cxnSpLocks/>
            <a:stCxn id="6" idx="1"/>
            <a:endCxn id="6" idx="3"/>
          </p:cNvCxnSpPr>
          <p:nvPr/>
        </p:nvCxnSpPr>
        <p:spPr>
          <a:xfrm>
            <a:off x="496119" y="2514600"/>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0B0DCD7-4782-789D-17F4-6A65DF8A637B}"/>
              </a:ext>
            </a:extLst>
          </p:cNvPr>
          <p:cNvCxnSpPr>
            <a:cxnSpLocks/>
          </p:cNvCxnSpPr>
          <p:nvPr/>
        </p:nvCxnSpPr>
        <p:spPr>
          <a:xfrm>
            <a:off x="2558957" y="2515648"/>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BF541CA-7E9F-4760-E119-4B8C10B94EB1}"/>
              </a:ext>
            </a:extLst>
          </p:cNvPr>
          <p:cNvCxnSpPr>
            <a:cxnSpLocks/>
          </p:cNvCxnSpPr>
          <p:nvPr/>
        </p:nvCxnSpPr>
        <p:spPr>
          <a:xfrm>
            <a:off x="4629207" y="2514600"/>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B80B523-8793-DC3E-082A-1B9E7620733B}"/>
              </a:ext>
            </a:extLst>
          </p:cNvPr>
          <p:cNvCxnSpPr>
            <a:cxnSpLocks/>
          </p:cNvCxnSpPr>
          <p:nvPr/>
        </p:nvCxnSpPr>
        <p:spPr>
          <a:xfrm>
            <a:off x="6701847" y="2514600"/>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205B970-5D5B-4296-C6E9-4F992A942074}"/>
              </a:ext>
            </a:extLst>
          </p:cNvPr>
          <p:cNvCxnSpPr>
            <a:cxnSpLocks/>
          </p:cNvCxnSpPr>
          <p:nvPr/>
        </p:nvCxnSpPr>
        <p:spPr>
          <a:xfrm>
            <a:off x="4623111" y="3593592"/>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C5DF332-7025-5EF2-21D8-B82D8B540EDF}"/>
              </a:ext>
            </a:extLst>
          </p:cNvPr>
          <p:cNvCxnSpPr>
            <a:cxnSpLocks/>
          </p:cNvCxnSpPr>
          <p:nvPr/>
        </p:nvCxnSpPr>
        <p:spPr>
          <a:xfrm>
            <a:off x="2550471" y="3593592"/>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DBF0BAF-61E9-3FC4-7872-B17576C272F3}"/>
              </a:ext>
            </a:extLst>
          </p:cNvPr>
          <p:cNvCxnSpPr>
            <a:cxnSpLocks/>
          </p:cNvCxnSpPr>
          <p:nvPr/>
        </p:nvCxnSpPr>
        <p:spPr>
          <a:xfrm>
            <a:off x="502215" y="3593592"/>
            <a:ext cx="19449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0953A456-AE29-126A-763A-157EAFD7F8F7}"/>
              </a:ext>
            </a:extLst>
          </p:cNvPr>
          <p:cNvCxnSpPr>
            <a:cxnSpLocks/>
          </p:cNvCxnSpPr>
          <p:nvPr/>
        </p:nvCxnSpPr>
        <p:spPr>
          <a:xfrm>
            <a:off x="6683559" y="3593592"/>
            <a:ext cx="194496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457870"/>
            <a:ext cx="5628159"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Recap: What We Learned in Session 10</a:t>
            </a:r>
            <a:endParaRPr lang="en-US" sz="2400" dirty="0"/>
          </a:p>
        </p:txBody>
      </p:sp>
      <p:sp>
        <p:nvSpPr>
          <p:cNvPr id="3" name="Shape 1"/>
          <p:cNvSpPr/>
          <p:nvPr/>
        </p:nvSpPr>
        <p:spPr>
          <a:xfrm>
            <a:off x="496119" y="1093440"/>
            <a:ext cx="8151763" cy="2041773"/>
          </a:xfrm>
          <a:prstGeom prst="roundRect">
            <a:avLst>
              <a:gd name="adj" fmla="val 911"/>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098203"/>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1177379"/>
            <a:ext cx="178519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Key Term</a:t>
            </a:r>
            <a:endParaRPr lang="en-US" sz="1200" dirty="0"/>
          </a:p>
        </p:txBody>
      </p:sp>
      <p:sp>
        <p:nvSpPr>
          <p:cNvPr id="6" name="Text 4"/>
          <p:cNvSpPr/>
          <p:nvPr/>
        </p:nvSpPr>
        <p:spPr>
          <a:xfrm>
            <a:off x="2662833" y="1177379"/>
            <a:ext cx="585631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It Means</a:t>
            </a:r>
            <a:endParaRPr lang="en-US" sz="1200" dirty="0"/>
          </a:p>
        </p:txBody>
      </p:sp>
      <p:sp>
        <p:nvSpPr>
          <p:cNvPr id="7" name="Shape 5"/>
          <p:cNvSpPr/>
          <p:nvPr/>
        </p:nvSpPr>
        <p:spPr>
          <a:xfrm>
            <a:off x="500881" y="1504652"/>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929" y="1583829"/>
            <a:ext cx="1785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Strength</a:t>
            </a:r>
            <a:endParaRPr lang="en-US" sz="1200" dirty="0"/>
          </a:p>
        </p:txBody>
      </p:sp>
      <p:sp>
        <p:nvSpPr>
          <p:cNvPr id="9" name="Text 7"/>
          <p:cNvSpPr/>
          <p:nvPr/>
        </p:nvSpPr>
        <p:spPr>
          <a:xfrm>
            <a:off x="2662833" y="1583829"/>
            <a:ext cx="585631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What generative AI does well (speed, brainstorming, explaining).</a:t>
            </a:r>
            <a:endParaRPr lang="en-US" sz="1200" dirty="0"/>
          </a:p>
        </p:txBody>
      </p:sp>
      <p:sp>
        <p:nvSpPr>
          <p:cNvPr id="10" name="Shape 8"/>
          <p:cNvSpPr/>
          <p:nvPr/>
        </p:nvSpPr>
        <p:spPr>
          <a:xfrm>
            <a:off x="500881" y="1911102"/>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929" y="1990279"/>
            <a:ext cx="1785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Limit</a:t>
            </a:r>
            <a:endParaRPr lang="en-US" sz="1200" dirty="0"/>
          </a:p>
        </p:txBody>
      </p:sp>
      <p:sp>
        <p:nvSpPr>
          <p:cNvPr id="12" name="Text 10"/>
          <p:cNvSpPr/>
          <p:nvPr/>
        </p:nvSpPr>
        <p:spPr>
          <a:xfrm>
            <a:off x="2662833" y="1990279"/>
            <a:ext cx="585631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What generative AI struggles with (no understanding, outdated info, bias).</a:t>
            </a:r>
            <a:endParaRPr lang="en-US" sz="1200" dirty="0"/>
          </a:p>
        </p:txBody>
      </p:sp>
      <p:sp>
        <p:nvSpPr>
          <p:cNvPr id="13" name="Shape 11"/>
          <p:cNvSpPr/>
          <p:nvPr/>
        </p:nvSpPr>
        <p:spPr>
          <a:xfrm>
            <a:off x="500881" y="2317552"/>
            <a:ext cx="8142238" cy="406450"/>
          </a:xfrm>
          <a:prstGeom prst="rect">
            <a:avLst/>
          </a:prstGeom>
          <a:solidFill>
            <a:srgbClr val="000000">
              <a:alpha val="4000"/>
            </a:srgbClr>
          </a:solidFill>
          <a:ln/>
        </p:spPr>
        <p:txBody>
          <a:bodyPr/>
          <a:lstStyle/>
          <a:p>
            <a:endParaRPr lang="en-IN"/>
          </a:p>
        </p:txBody>
      </p:sp>
      <p:sp>
        <p:nvSpPr>
          <p:cNvPr id="14" name="Text 12"/>
          <p:cNvSpPr/>
          <p:nvPr/>
        </p:nvSpPr>
        <p:spPr>
          <a:xfrm>
            <a:off x="624929" y="2396728"/>
            <a:ext cx="1785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Human‑in‑the‑Loop</a:t>
            </a:r>
            <a:endParaRPr lang="en-US" sz="1200" dirty="0"/>
          </a:p>
        </p:txBody>
      </p:sp>
      <p:sp>
        <p:nvSpPr>
          <p:cNvPr id="15" name="Text 13"/>
          <p:cNvSpPr/>
          <p:nvPr/>
        </p:nvSpPr>
        <p:spPr>
          <a:xfrm>
            <a:off x="2662833" y="2396728"/>
            <a:ext cx="585631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Keeping a human in control – AI assists, humans decide.</a:t>
            </a:r>
            <a:endParaRPr lang="en-US" sz="1200" dirty="0"/>
          </a:p>
        </p:txBody>
      </p:sp>
      <p:sp>
        <p:nvSpPr>
          <p:cNvPr id="16" name="Shape 14"/>
          <p:cNvSpPr/>
          <p:nvPr/>
        </p:nvSpPr>
        <p:spPr>
          <a:xfrm>
            <a:off x="500881" y="2724001"/>
            <a:ext cx="8142238" cy="406450"/>
          </a:xfrm>
          <a:prstGeom prst="rect">
            <a:avLst/>
          </a:prstGeom>
          <a:solidFill>
            <a:srgbClr val="FFFFFF">
              <a:alpha val="4000"/>
            </a:srgbClr>
          </a:solidFill>
          <a:ln/>
        </p:spPr>
        <p:txBody>
          <a:bodyPr/>
          <a:lstStyle/>
          <a:p>
            <a:endParaRPr lang="en-IN"/>
          </a:p>
        </p:txBody>
      </p:sp>
      <p:sp>
        <p:nvSpPr>
          <p:cNvPr id="17" name="Text 15"/>
          <p:cNvSpPr/>
          <p:nvPr/>
        </p:nvSpPr>
        <p:spPr>
          <a:xfrm>
            <a:off x="624929" y="2803178"/>
            <a:ext cx="1785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Appropriate Use</a:t>
            </a:r>
            <a:endParaRPr lang="en-US" sz="1200" dirty="0"/>
          </a:p>
        </p:txBody>
      </p:sp>
      <p:sp>
        <p:nvSpPr>
          <p:cNvPr id="18" name="Text 16"/>
          <p:cNvSpPr/>
          <p:nvPr/>
        </p:nvSpPr>
        <p:spPr>
          <a:xfrm>
            <a:off x="2662833" y="2803178"/>
            <a:ext cx="585631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Using AI when it helps; avoiding AI when it harms or replaces thinking.</a:t>
            </a:r>
            <a:endParaRPr lang="en-US" sz="1200" dirty="0"/>
          </a:p>
        </p:txBody>
      </p:sp>
      <p:sp>
        <p:nvSpPr>
          <p:cNvPr id="19" name="Text 17"/>
          <p:cNvSpPr/>
          <p:nvPr/>
        </p:nvSpPr>
        <p:spPr>
          <a:xfrm>
            <a:off x="496119" y="3274740"/>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sp>
        <p:nvSpPr>
          <p:cNvPr id="20" name="Shape 18"/>
          <p:cNvSpPr/>
          <p:nvPr/>
        </p:nvSpPr>
        <p:spPr>
          <a:xfrm>
            <a:off x="496119" y="3612728"/>
            <a:ext cx="8151763" cy="1072828"/>
          </a:xfrm>
          <a:prstGeom prst="roundRect">
            <a:avLst>
              <a:gd name="adj" fmla="val 1734"/>
            </a:avLst>
          </a:prstGeom>
          <a:solidFill>
            <a:srgbClr val="F2F2F2"/>
          </a:solidFill>
          <a:ln/>
        </p:spPr>
        <p:txBody>
          <a:bodyPr/>
          <a:lstStyle/>
          <a:p>
            <a:endParaRPr lang="en-IN"/>
          </a:p>
        </p:txBody>
      </p:sp>
      <p:pic>
        <p:nvPicPr>
          <p:cNvPr id="21" name="Image 0" descr="preencoded.png"/>
          <p:cNvPicPr>
            <a:picLocks noChangeAspect="1"/>
          </p:cNvPicPr>
          <p:nvPr/>
        </p:nvPicPr>
        <p:blipFill>
          <a:blip r:embed="rId3"/>
          <a:stretch>
            <a:fillRect/>
          </a:stretch>
        </p:blipFill>
        <p:spPr>
          <a:xfrm>
            <a:off x="620092" y="3808214"/>
            <a:ext cx="193774" cy="155004"/>
          </a:xfrm>
          <a:prstGeom prst="rect">
            <a:avLst/>
          </a:prstGeom>
        </p:spPr>
      </p:pic>
      <p:sp>
        <p:nvSpPr>
          <p:cNvPr id="22" name="Text 19"/>
          <p:cNvSpPr/>
          <p:nvPr/>
        </p:nvSpPr>
        <p:spPr>
          <a:xfrm>
            <a:off x="937840" y="3767658"/>
            <a:ext cx="7586067" cy="744289"/>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Generative AI is powerful, but it has limits. Humans must stay in control, verify outputs, and decide when to use AI and when to avoid it. Today, we learn how to give AI instructions that respect those limits and get the best results.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525191"/>
            <a:ext cx="4154537"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The Power of a Good Prompt</a:t>
            </a:r>
            <a:endParaRPr lang="en-US" sz="2400" dirty="0"/>
          </a:p>
        </p:txBody>
      </p:sp>
      <p:sp>
        <p:nvSpPr>
          <p:cNvPr id="4" name="Text 1"/>
          <p:cNvSpPr/>
          <p:nvPr/>
        </p:nvSpPr>
        <p:spPr>
          <a:xfrm>
            <a:off x="496119" y="2098774"/>
            <a:ext cx="47227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Have you ever asked a friend for help, and they did something completely different from what you meant? What went wrong?</a:t>
            </a:r>
            <a:endParaRPr lang="en-US" sz="1200" dirty="0"/>
          </a:p>
        </p:txBody>
      </p:sp>
      <p:sp>
        <p:nvSpPr>
          <p:cNvPr id="5" name="Text 2"/>
          <p:cNvSpPr/>
          <p:nvPr/>
        </p:nvSpPr>
        <p:spPr>
          <a:xfrm>
            <a:off x="496119" y="2734494"/>
            <a:ext cx="4722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6" name="Text 3"/>
          <p:cNvSpPr/>
          <p:nvPr/>
        </p:nvSpPr>
        <p:spPr>
          <a:xfrm>
            <a:off x="496119" y="3122116"/>
            <a:ext cx="47227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If you give AI a </a:t>
            </a:r>
            <a:r>
              <a:rPr lang="en-US" sz="1200" b="1" dirty="0">
                <a:solidFill>
                  <a:srgbClr val="15213F"/>
                </a:solidFill>
                <a:latin typeface="Roboto" pitchFamily="34" charset="0"/>
                <a:ea typeface="Roboto" pitchFamily="34" charset="-122"/>
                <a:cs typeface="Roboto" pitchFamily="34" charset="-120"/>
              </a:rPr>
              <a:t>vague </a:t>
            </a:r>
            <a:r>
              <a:rPr lang="en-US" sz="1200" dirty="0">
                <a:solidFill>
                  <a:srgbClr val="15213F"/>
                </a:solidFill>
                <a:latin typeface="Roboto" pitchFamily="34" charset="0"/>
                <a:ea typeface="Roboto" pitchFamily="34" charset="-122"/>
                <a:cs typeface="Roboto" pitchFamily="34" charset="-120"/>
              </a:rPr>
              <a:t>instruction, it guesses what you want - and sometimes guesses wrong.</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41499"/>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What Is a Prompt?</a:t>
            </a:r>
            <a:endParaRPr lang="en-US" sz="2400" dirty="0"/>
          </a:p>
        </p:txBody>
      </p:sp>
      <p:sp>
        <p:nvSpPr>
          <p:cNvPr id="3" name="Text 1"/>
          <p:cNvSpPr/>
          <p:nvPr/>
        </p:nvSpPr>
        <p:spPr>
          <a:xfrm>
            <a:off x="496119" y="1077069"/>
            <a:ext cx="8151763"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a:t>
            </a:r>
            <a:r>
              <a:rPr lang="en-US" sz="1200" b="1" dirty="0">
                <a:solidFill>
                  <a:srgbClr val="15213F"/>
                </a:solidFill>
                <a:latin typeface="Roboto" pitchFamily="34" charset="0"/>
                <a:ea typeface="Roboto" pitchFamily="34" charset="-122"/>
                <a:cs typeface="Roboto" pitchFamily="34" charset="-120"/>
              </a:rPr>
              <a:t>prompt </a:t>
            </a:r>
            <a:r>
              <a:rPr lang="en-US" sz="1200" dirty="0">
                <a:solidFill>
                  <a:srgbClr val="15213F"/>
                </a:solidFill>
                <a:latin typeface="Roboto" pitchFamily="34" charset="0"/>
                <a:ea typeface="Roboto" pitchFamily="34" charset="-122"/>
                <a:cs typeface="Roboto" pitchFamily="34" charset="-120"/>
              </a:rPr>
              <a:t>is what you type to tell AI what to do - a question, a command, or a request. Think of AI as a very fast, very literal assistant: capable of amazing things, but only as good as the instructions you give it.</a:t>
            </a:r>
            <a:endParaRPr lang="en-US" sz="1200" dirty="0"/>
          </a:p>
        </p:txBody>
      </p:sp>
      <p:sp>
        <p:nvSpPr>
          <p:cNvPr id="4" name="Shape 2"/>
          <p:cNvSpPr/>
          <p:nvPr/>
        </p:nvSpPr>
        <p:spPr>
          <a:xfrm>
            <a:off x="496119" y="1712788"/>
            <a:ext cx="8151763" cy="1637258"/>
          </a:xfrm>
          <a:prstGeom prst="roundRect">
            <a:avLst>
              <a:gd name="adj" fmla="val 1136"/>
            </a:avLst>
          </a:prstGeom>
          <a:solidFill>
            <a:srgbClr val="E9ECF2"/>
          </a:solidFill>
          <a:ln/>
        </p:spPr>
        <p:txBody>
          <a:bodyPr/>
          <a:lstStyle/>
          <a:p>
            <a:endParaRPr lang="en-IN"/>
          </a:p>
        </p:txBody>
      </p:sp>
      <p:sp>
        <p:nvSpPr>
          <p:cNvPr id="5" name="Shape 3"/>
          <p:cNvSpPr/>
          <p:nvPr/>
        </p:nvSpPr>
        <p:spPr>
          <a:xfrm>
            <a:off x="496119" y="1712788"/>
            <a:ext cx="4075881" cy="1637258"/>
          </a:xfrm>
          <a:prstGeom prst="roundRect">
            <a:avLst>
              <a:gd name="adj" fmla="val 1136"/>
            </a:avLst>
          </a:prstGeom>
          <a:solidFill>
            <a:srgbClr val="E9ECF2"/>
          </a:solidFill>
          <a:ln/>
        </p:spPr>
        <p:txBody>
          <a:bodyPr/>
          <a:lstStyle/>
          <a:p>
            <a:endParaRPr lang="en-IN"/>
          </a:p>
        </p:txBody>
      </p:sp>
      <p:sp>
        <p:nvSpPr>
          <p:cNvPr id="6" name="Text 4"/>
          <p:cNvSpPr/>
          <p:nvPr/>
        </p:nvSpPr>
        <p:spPr>
          <a:xfrm>
            <a:off x="620092" y="1836762"/>
            <a:ext cx="382793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Vague Prompt</a:t>
            </a:r>
            <a:endParaRPr lang="en-US" sz="1200" dirty="0"/>
          </a:p>
        </p:txBody>
      </p:sp>
      <p:sp>
        <p:nvSpPr>
          <p:cNvPr id="7" name="Text 5"/>
          <p:cNvSpPr/>
          <p:nvPr/>
        </p:nvSpPr>
        <p:spPr>
          <a:xfrm>
            <a:off x="620092" y="2159273"/>
            <a:ext cx="382793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"Make me something cool about snowman"</a:t>
            </a:r>
            <a:endParaRPr lang="en-US" sz="1200" dirty="0"/>
          </a:p>
        </p:txBody>
      </p:sp>
      <p:sp>
        <p:nvSpPr>
          <p:cNvPr id="8" name="Text 6"/>
          <p:cNvSpPr/>
          <p:nvPr/>
        </p:nvSpPr>
        <p:spPr>
          <a:xfrm>
            <a:off x="620092" y="2481783"/>
            <a:ext cx="382793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 AI might give you a drawing of a snowman wearing sunglasses.</a:t>
            </a:r>
            <a:endParaRPr lang="en-US" sz="1200" dirty="0"/>
          </a:p>
        </p:txBody>
      </p:sp>
      <p:sp>
        <p:nvSpPr>
          <p:cNvPr id="9" name="Shape 7"/>
          <p:cNvSpPr/>
          <p:nvPr/>
        </p:nvSpPr>
        <p:spPr>
          <a:xfrm>
            <a:off x="4572000" y="1712788"/>
            <a:ext cx="4075881" cy="1637258"/>
          </a:xfrm>
          <a:prstGeom prst="rect">
            <a:avLst/>
          </a:prstGeom>
          <a:solidFill>
            <a:srgbClr val="E9ECF2"/>
          </a:solidFill>
          <a:ln/>
        </p:spPr>
        <p:txBody>
          <a:bodyPr/>
          <a:lstStyle/>
          <a:p>
            <a:endParaRPr lang="en-IN"/>
          </a:p>
        </p:txBody>
      </p:sp>
      <p:sp>
        <p:nvSpPr>
          <p:cNvPr id="10" name="Shape 8"/>
          <p:cNvSpPr/>
          <p:nvPr/>
        </p:nvSpPr>
        <p:spPr>
          <a:xfrm>
            <a:off x="4572000" y="1712788"/>
            <a:ext cx="14288" cy="1637258"/>
          </a:xfrm>
          <a:prstGeom prst="roundRect">
            <a:avLst>
              <a:gd name="adj" fmla="val 130228"/>
            </a:avLst>
          </a:prstGeom>
          <a:solidFill>
            <a:srgbClr val="CFD2D8"/>
          </a:solidFill>
          <a:ln/>
        </p:spPr>
        <p:txBody>
          <a:bodyPr/>
          <a:lstStyle/>
          <a:p>
            <a:endParaRPr lang="en-IN"/>
          </a:p>
        </p:txBody>
      </p:sp>
      <p:sp>
        <p:nvSpPr>
          <p:cNvPr id="11" name="Text 9"/>
          <p:cNvSpPr/>
          <p:nvPr/>
        </p:nvSpPr>
        <p:spPr>
          <a:xfrm>
            <a:off x="4695974" y="1836762"/>
            <a:ext cx="382793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Clear Prompt</a:t>
            </a:r>
            <a:endParaRPr lang="en-US" sz="1200" dirty="0"/>
          </a:p>
        </p:txBody>
      </p:sp>
      <p:sp>
        <p:nvSpPr>
          <p:cNvPr id="12" name="Text 10"/>
          <p:cNvSpPr/>
          <p:nvPr/>
        </p:nvSpPr>
        <p:spPr>
          <a:xfrm>
            <a:off x="4695974" y="2159273"/>
            <a:ext cx="382793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"Draw a detailed illustration of a penguin wearing a top hat on a beach at sunset"</a:t>
            </a:r>
            <a:endParaRPr lang="en-US" sz="1200" dirty="0"/>
          </a:p>
        </p:txBody>
      </p:sp>
      <p:sp>
        <p:nvSpPr>
          <p:cNvPr id="13" name="Text 11"/>
          <p:cNvSpPr/>
          <p:nvPr/>
        </p:nvSpPr>
        <p:spPr>
          <a:xfrm>
            <a:off x="4695974" y="2729880"/>
            <a:ext cx="382793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 You'll get something much closer to what you imagined.</a:t>
            </a:r>
            <a:endParaRPr lang="en-US" sz="1200" dirty="0"/>
          </a:p>
        </p:txBody>
      </p:sp>
      <p:sp>
        <p:nvSpPr>
          <p:cNvPr id="14" name="Text 12"/>
          <p:cNvSpPr/>
          <p:nvPr/>
        </p:nvSpPr>
        <p:spPr>
          <a:xfrm>
            <a:off x="496119" y="3489573"/>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18" name="Group 17">
            <a:extLst>
              <a:ext uri="{FF2B5EF4-FFF2-40B4-BE49-F238E27FC236}">
                <a16:creationId xmlns:a16="http://schemas.microsoft.com/office/drawing/2014/main" id="{97A751D5-3707-62FF-3603-87EA2D421120}"/>
              </a:ext>
            </a:extLst>
          </p:cNvPr>
          <p:cNvGrpSpPr/>
          <p:nvPr/>
        </p:nvGrpSpPr>
        <p:grpSpPr>
          <a:xfrm>
            <a:off x="496119" y="3877196"/>
            <a:ext cx="8151763" cy="824731"/>
            <a:chOff x="496119" y="3877196"/>
            <a:chExt cx="8151763" cy="824731"/>
          </a:xfrm>
        </p:grpSpPr>
        <p:sp>
          <p:nvSpPr>
            <p:cNvPr id="15" name="Shape 13"/>
            <p:cNvSpPr/>
            <p:nvPr/>
          </p:nvSpPr>
          <p:spPr>
            <a:xfrm>
              <a:off x="496119" y="3877196"/>
              <a:ext cx="8151763" cy="824731"/>
            </a:xfrm>
            <a:prstGeom prst="roundRect">
              <a:avLst>
                <a:gd name="adj" fmla="val 2256"/>
              </a:avLst>
            </a:prstGeom>
            <a:solidFill>
              <a:srgbClr val="F2F2F2"/>
            </a:solidFill>
            <a:ln/>
          </p:spPr>
          <p:txBody>
            <a:bodyPr/>
            <a:lstStyle/>
            <a:p>
              <a:endParaRPr lang="en-IN"/>
            </a:p>
          </p:txBody>
        </p:sp>
        <p:pic>
          <p:nvPicPr>
            <p:cNvPr id="16" name="Image 0" descr="preencoded.png"/>
            <p:cNvPicPr>
              <a:picLocks noChangeAspect="1"/>
            </p:cNvPicPr>
            <p:nvPr/>
          </p:nvPicPr>
          <p:blipFill>
            <a:blip r:embed="rId3"/>
            <a:stretch>
              <a:fillRect/>
            </a:stretch>
          </p:blipFill>
          <p:spPr>
            <a:xfrm>
              <a:off x="620092" y="4072682"/>
              <a:ext cx="193774" cy="155004"/>
            </a:xfrm>
            <a:prstGeom prst="rect">
              <a:avLst/>
            </a:prstGeom>
          </p:spPr>
        </p:pic>
        <p:sp>
          <p:nvSpPr>
            <p:cNvPr id="17" name="Text 14"/>
            <p:cNvSpPr/>
            <p:nvPr/>
          </p:nvSpPr>
          <p:spPr>
            <a:xfrm>
              <a:off x="937840" y="4032126"/>
              <a:ext cx="7586067" cy="496193"/>
            </a:xfrm>
            <a:prstGeom prst="rect">
              <a:avLst/>
            </a:prstGeom>
            <a:noFill/>
            <a:ln/>
          </p:spPr>
          <p:txBody>
            <a:bodyPr wrap="square" lIns="0" tIns="0" rIns="0" bIns="0" rtlCol="0" anchor="t"/>
            <a:lstStyle/>
            <a:p>
              <a:pPr marL="0" indent="0" algn="l">
                <a:lnSpc>
                  <a:spcPts val="1950"/>
                </a:lnSpc>
                <a:buNone/>
              </a:pPr>
              <a:r>
                <a:rPr lang="en-US" sz="1200" dirty="0">
                  <a:solidFill>
                    <a:srgbClr val="000000"/>
                  </a:solidFill>
                  <a:latin typeface="Roboto" pitchFamily="34" charset="0"/>
                  <a:ea typeface="Roboto" pitchFamily="34" charset="-122"/>
                  <a:cs typeface="Roboto" pitchFamily="34" charset="-120"/>
                </a:rPr>
                <a:t>AI doesn't read your mind. It only has your words. The clearer your words, the better your result. This is true for every AI tool you'll ever use – today, tomorrow, and in the future.</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1" grpId="0" animBg="1"/>
      <p:bldP spid="12" grpId="0" animBg="1"/>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661764"/>
            <a:ext cx="3457203" cy="232544"/>
          </a:xfrm>
          <a:prstGeom prst="rect">
            <a:avLst/>
          </a:prstGeom>
          <a:noFill/>
          <a:ln/>
        </p:spPr>
        <p:txBody>
          <a:bodyPr wrap="none" lIns="0" tIns="0" rIns="0" bIns="0" rtlCol="0" anchor="t"/>
          <a:lstStyle/>
          <a:p>
            <a:pPr marL="0" indent="0" algn="l">
              <a:lnSpc>
                <a:spcPts val="1800"/>
              </a:lnSpc>
              <a:buNone/>
            </a:pPr>
            <a:r>
              <a:rPr lang="en-US" sz="1450" dirty="0">
                <a:solidFill>
                  <a:srgbClr val="3257B8"/>
                </a:solidFill>
                <a:latin typeface="Roboto Slab" pitchFamily="34" charset="0"/>
                <a:ea typeface="Roboto Slab" pitchFamily="34" charset="-122"/>
                <a:cs typeface="Roboto Slab" pitchFamily="34" charset="-120"/>
              </a:rPr>
              <a:t>Think of it like ordering at a restaurant:</a:t>
            </a:r>
            <a:endParaRPr lang="en-US" sz="1450" dirty="0"/>
          </a:p>
        </p:txBody>
      </p:sp>
      <p:grpSp>
        <p:nvGrpSpPr>
          <p:cNvPr id="13" name="Group 12">
            <a:extLst>
              <a:ext uri="{FF2B5EF4-FFF2-40B4-BE49-F238E27FC236}">
                <a16:creationId xmlns:a16="http://schemas.microsoft.com/office/drawing/2014/main" id="{10B48995-868B-31BB-899C-F35E303AFEF1}"/>
              </a:ext>
            </a:extLst>
          </p:cNvPr>
          <p:cNvGrpSpPr/>
          <p:nvPr/>
        </p:nvGrpSpPr>
        <p:grpSpPr>
          <a:xfrm>
            <a:off x="496119" y="1142330"/>
            <a:ext cx="8151762" cy="818555"/>
            <a:chOff x="496119" y="1142330"/>
            <a:chExt cx="8151762" cy="818555"/>
          </a:xfrm>
        </p:grpSpPr>
        <p:sp>
          <p:nvSpPr>
            <p:cNvPr id="3" name="Shape 1"/>
            <p:cNvSpPr/>
            <p:nvPr/>
          </p:nvSpPr>
          <p:spPr>
            <a:xfrm>
              <a:off x="496119" y="1142330"/>
              <a:ext cx="123974" cy="818555"/>
            </a:xfrm>
            <a:prstGeom prst="roundRect">
              <a:avLst>
                <a:gd name="adj" fmla="val 15009"/>
              </a:avLst>
            </a:prstGeom>
            <a:solidFill>
              <a:srgbClr val="E9ECF2"/>
            </a:solidFill>
            <a:ln/>
          </p:spPr>
          <p:txBody>
            <a:bodyPr/>
            <a:lstStyle/>
            <a:p>
              <a:endParaRPr lang="en-IN"/>
            </a:p>
          </p:txBody>
        </p:sp>
        <p:sp>
          <p:nvSpPr>
            <p:cNvPr id="4" name="Text 2"/>
            <p:cNvSpPr/>
            <p:nvPr/>
          </p:nvSpPr>
          <p:spPr>
            <a:xfrm>
              <a:off x="744066" y="1266304"/>
              <a:ext cx="790381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Weak order</a:t>
              </a:r>
              <a:endParaRPr lang="en-US" sz="1200" dirty="0"/>
            </a:p>
          </p:txBody>
        </p:sp>
        <p:sp>
          <p:nvSpPr>
            <p:cNvPr id="5" name="Text 3"/>
            <p:cNvSpPr/>
            <p:nvPr/>
          </p:nvSpPr>
          <p:spPr>
            <a:xfrm>
              <a:off x="744066" y="1588815"/>
              <a:ext cx="7903815"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"Food." → Confusion.</a:t>
              </a:r>
              <a:endParaRPr lang="en-US" sz="1200" dirty="0"/>
            </a:p>
          </p:txBody>
        </p:sp>
      </p:grpSp>
      <p:grpSp>
        <p:nvGrpSpPr>
          <p:cNvPr id="14" name="Group 13">
            <a:extLst>
              <a:ext uri="{FF2B5EF4-FFF2-40B4-BE49-F238E27FC236}">
                <a16:creationId xmlns:a16="http://schemas.microsoft.com/office/drawing/2014/main" id="{C59F83A8-FB07-9246-93CB-AAD6C0E3E8DB}"/>
              </a:ext>
            </a:extLst>
          </p:cNvPr>
          <p:cNvGrpSpPr/>
          <p:nvPr/>
        </p:nvGrpSpPr>
        <p:grpSpPr>
          <a:xfrm>
            <a:off x="682154" y="2084859"/>
            <a:ext cx="7965727" cy="818555"/>
            <a:chOff x="682154" y="2084859"/>
            <a:chExt cx="7965727" cy="818555"/>
          </a:xfrm>
        </p:grpSpPr>
        <p:sp>
          <p:nvSpPr>
            <p:cNvPr id="6" name="Shape 4"/>
            <p:cNvSpPr/>
            <p:nvPr/>
          </p:nvSpPr>
          <p:spPr>
            <a:xfrm>
              <a:off x="682154" y="2084859"/>
              <a:ext cx="123974" cy="818555"/>
            </a:xfrm>
            <a:prstGeom prst="roundRect">
              <a:avLst>
                <a:gd name="adj" fmla="val 15009"/>
              </a:avLst>
            </a:prstGeom>
            <a:solidFill>
              <a:srgbClr val="E9ECF2"/>
            </a:solidFill>
            <a:ln/>
          </p:spPr>
          <p:txBody>
            <a:bodyPr/>
            <a:lstStyle/>
            <a:p>
              <a:endParaRPr lang="en-IN"/>
            </a:p>
          </p:txBody>
        </p:sp>
        <p:sp>
          <p:nvSpPr>
            <p:cNvPr id="7" name="Text 5"/>
            <p:cNvSpPr/>
            <p:nvPr/>
          </p:nvSpPr>
          <p:spPr>
            <a:xfrm>
              <a:off x="930101" y="2208833"/>
              <a:ext cx="771778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Better order</a:t>
              </a:r>
              <a:endParaRPr lang="en-US" sz="1200" dirty="0"/>
            </a:p>
          </p:txBody>
        </p:sp>
        <p:sp>
          <p:nvSpPr>
            <p:cNvPr id="8" name="Text 6"/>
            <p:cNvSpPr/>
            <p:nvPr/>
          </p:nvSpPr>
          <p:spPr>
            <a:xfrm>
              <a:off x="930101" y="2531343"/>
              <a:ext cx="7717780"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cheeseburger." → Still vague.</a:t>
              </a:r>
              <a:endParaRPr lang="en-US" sz="1200" dirty="0"/>
            </a:p>
          </p:txBody>
        </p:sp>
      </p:grpSp>
      <p:grpSp>
        <p:nvGrpSpPr>
          <p:cNvPr id="16" name="Group 15">
            <a:extLst>
              <a:ext uri="{FF2B5EF4-FFF2-40B4-BE49-F238E27FC236}">
                <a16:creationId xmlns:a16="http://schemas.microsoft.com/office/drawing/2014/main" id="{F44DAFA1-6A40-5A86-3F1E-8C84A333655A}"/>
              </a:ext>
            </a:extLst>
          </p:cNvPr>
          <p:cNvGrpSpPr/>
          <p:nvPr/>
        </p:nvGrpSpPr>
        <p:grpSpPr>
          <a:xfrm>
            <a:off x="868189" y="3027387"/>
            <a:ext cx="7779693" cy="1066651"/>
            <a:chOff x="868189" y="3027387"/>
            <a:chExt cx="7779693" cy="1066651"/>
          </a:xfrm>
        </p:grpSpPr>
        <p:grpSp>
          <p:nvGrpSpPr>
            <p:cNvPr id="15" name="Group 14">
              <a:extLst>
                <a:ext uri="{FF2B5EF4-FFF2-40B4-BE49-F238E27FC236}">
                  <a16:creationId xmlns:a16="http://schemas.microsoft.com/office/drawing/2014/main" id="{7B40DC28-12D2-DB0D-1150-71E79E8C69AA}"/>
                </a:ext>
              </a:extLst>
            </p:cNvPr>
            <p:cNvGrpSpPr/>
            <p:nvPr/>
          </p:nvGrpSpPr>
          <p:grpSpPr>
            <a:xfrm>
              <a:off x="868189" y="3027387"/>
              <a:ext cx="7779693" cy="1066651"/>
              <a:chOff x="868189" y="3027387"/>
              <a:chExt cx="7779693" cy="1066651"/>
            </a:xfrm>
          </p:grpSpPr>
          <p:sp>
            <p:nvSpPr>
              <p:cNvPr id="9" name="Shape 7"/>
              <p:cNvSpPr/>
              <p:nvPr/>
            </p:nvSpPr>
            <p:spPr>
              <a:xfrm>
                <a:off x="868189" y="3027387"/>
                <a:ext cx="123974" cy="1066651"/>
              </a:xfrm>
              <a:prstGeom prst="roundRect">
                <a:avLst>
                  <a:gd name="adj" fmla="val 15009"/>
                </a:avLst>
              </a:prstGeom>
              <a:solidFill>
                <a:srgbClr val="E9ECF2"/>
              </a:solidFill>
              <a:ln/>
            </p:spPr>
            <p:txBody>
              <a:bodyPr/>
              <a:lstStyle/>
              <a:p>
                <a:endParaRPr lang="en-IN"/>
              </a:p>
            </p:txBody>
          </p:sp>
          <p:sp>
            <p:nvSpPr>
              <p:cNvPr id="10" name="Text 8"/>
              <p:cNvSpPr/>
              <p:nvPr/>
            </p:nvSpPr>
            <p:spPr>
              <a:xfrm>
                <a:off x="1116137" y="3151361"/>
                <a:ext cx="7531745"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Excellent order</a:t>
                </a:r>
                <a:endParaRPr lang="en-US" sz="1200" dirty="0"/>
              </a:p>
            </p:txBody>
          </p:sp>
        </p:grpSp>
        <p:sp>
          <p:nvSpPr>
            <p:cNvPr id="11" name="Text 9"/>
            <p:cNvSpPr/>
            <p:nvPr/>
          </p:nvSpPr>
          <p:spPr>
            <a:xfrm>
              <a:off x="1116137" y="3473872"/>
              <a:ext cx="7531745"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"I'd like a cheeseburger with extra cheese, lettuce, and tomato on a toasted bun, no pickles, with a side of sweet potato fries."</a:t>
              </a:r>
              <a:endParaRPr lang="en-US" sz="1200" dirty="0"/>
            </a:p>
          </p:txBody>
        </p:sp>
      </p:grpSp>
      <p:sp>
        <p:nvSpPr>
          <p:cNvPr id="12" name="Text 10"/>
          <p:cNvSpPr/>
          <p:nvPr/>
        </p:nvSpPr>
        <p:spPr>
          <a:xfrm>
            <a:off x="496119" y="4233565"/>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clearer your order, the closer the result matches what you wanted.</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1199852"/>
            <a:ext cx="5477545"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Why Prompts Matter - Now and Later</a:t>
            </a:r>
            <a:endParaRPr lang="en-US" sz="2400" dirty="0"/>
          </a:p>
        </p:txBody>
      </p:sp>
      <p:grpSp>
        <p:nvGrpSpPr>
          <p:cNvPr id="41" name="Group 40">
            <a:extLst>
              <a:ext uri="{FF2B5EF4-FFF2-40B4-BE49-F238E27FC236}">
                <a16:creationId xmlns:a16="http://schemas.microsoft.com/office/drawing/2014/main" id="{B9A16CDA-8ECD-4E07-4B14-81B80C668A29}"/>
              </a:ext>
            </a:extLst>
          </p:cNvPr>
          <p:cNvGrpSpPr/>
          <p:nvPr/>
        </p:nvGrpSpPr>
        <p:grpSpPr>
          <a:xfrm>
            <a:off x="496119" y="1835423"/>
            <a:ext cx="2634555" cy="992088"/>
            <a:chOff x="496119" y="1835423"/>
            <a:chExt cx="2634555" cy="992088"/>
          </a:xfrm>
        </p:grpSpPr>
        <p:grpSp>
          <p:nvGrpSpPr>
            <p:cNvPr id="30" name="Group 29">
              <a:extLst>
                <a:ext uri="{FF2B5EF4-FFF2-40B4-BE49-F238E27FC236}">
                  <a16:creationId xmlns:a16="http://schemas.microsoft.com/office/drawing/2014/main" id="{625BA9CA-7355-ABB5-364C-7AFD747A3626}"/>
                </a:ext>
              </a:extLst>
            </p:cNvPr>
            <p:cNvGrpSpPr/>
            <p:nvPr/>
          </p:nvGrpSpPr>
          <p:grpSpPr>
            <a:xfrm>
              <a:off x="496119" y="1835423"/>
              <a:ext cx="2634555" cy="992088"/>
              <a:chOff x="496119" y="1835423"/>
              <a:chExt cx="2634555" cy="992088"/>
            </a:xfrm>
          </p:grpSpPr>
          <p:sp>
            <p:nvSpPr>
              <p:cNvPr id="3" name="Shape 1"/>
              <p:cNvSpPr/>
              <p:nvPr/>
            </p:nvSpPr>
            <p:spPr>
              <a:xfrm>
                <a:off x="496119" y="1835423"/>
                <a:ext cx="2634555" cy="992088"/>
              </a:xfrm>
              <a:prstGeom prst="roundRect">
                <a:avLst>
                  <a:gd name="adj" fmla="val 1876"/>
                </a:avLst>
              </a:prstGeom>
              <a:solidFill>
                <a:srgbClr val="E9ECF2"/>
              </a:solidFill>
              <a:ln/>
            </p:spPr>
            <p:txBody>
              <a:bodyPr/>
              <a:lstStyle/>
              <a:p>
                <a:endParaRPr lang="en-IN" dirty="0"/>
              </a:p>
            </p:txBody>
          </p:sp>
          <p:sp>
            <p:nvSpPr>
              <p:cNvPr id="4" name="Shape 2"/>
              <p:cNvSpPr/>
              <p:nvPr/>
            </p:nvSpPr>
            <p:spPr>
              <a:xfrm>
                <a:off x="620092" y="1959397"/>
                <a:ext cx="372070" cy="372070"/>
              </a:xfrm>
              <a:prstGeom prst="roundRect">
                <a:avLst>
                  <a:gd name="adj" fmla="val 15358477"/>
                </a:avLst>
              </a:prstGeom>
              <a:solidFill>
                <a:srgbClr val="F2F2F2"/>
              </a:solidFill>
              <a:ln/>
            </p:spPr>
            <p:txBody>
              <a:bodyPr/>
              <a:lstStyle/>
              <a:p>
                <a:endParaRPr lang="en-IN" dirty="0"/>
              </a:p>
            </p:txBody>
          </p:sp>
          <p:sp>
            <p:nvSpPr>
              <p:cNvPr id="6" name="Text 3"/>
              <p:cNvSpPr/>
              <p:nvPr/>
            </p:nvSpPr>
            <p:spPr>
              <a:xfrm>
                <a:off x="620092" y="2455441"/>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GIGO Rule</a:t>
                </a:r>
                <a:endParaRPr lang="en-US" sz="1200" dirty="0"/>
              </a:p>
            </p:txBody>
          </p:sp>
        </p:gr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2412" y="2061642"/>
              <a:ext cx="167432" cy="167432"/>
            </a:xfrm>
            <a:prstGeom prst="rect">
              <a:avLst/>
            </a:prstGeom>
          </p:spPr>
        </p:pic>
      </p:grpSp>
      <p:grpSp>
        <p:nvGrpSpPr>
          <p:cNvPr id="42" name="Group 41">
            <a:extLst>
              <a:ext uri="{FF2B5EF4-FFF2-40B4-BE49-F238E27FC236}">
                <a16:creationId xmlns:a16="http://schemas.microsoft.com/office/drawing/2014/main" id="{C12C14AC-BC06-9A1C-6522-1967FA5F1713}"/>
              </a:ext>
            </a:extLst>
          </p:cNvPr>
          <p:cNvGrpSpPr/>
          <p:nvPr/>
        </p:nvGrpSpPr>
        <p:grpSpPr>
          <a:xfrm>
            <a:off x="3254648" y="1835423"/>
            <a:ext cx="2634630" cy="992088"/>
            <a:chOff x="3254648" y="1835423"/>
            <a:chExt cx="2634630" cy="992088"/>
          </a:xfrm>
        </p:grpSpPr>
        <p:grpSp>
          <p:nvGrpSpPr>
            <p:cNvPr id="29" name="Group 28">
              <a:extLst>
                <a:ext uri="{FF2B5EF4-FFF2-40B4-BE49-F238E27FC236}">
                  <a16:creationId xmlns:a16="http://schemas.microsoft.com/office/drawing/2014/main" id="{D0AC94E6-DE89-71D2-1733-E1AC74B259D6}"/>
                </a:ext>
              </a:extLst>
            </p:cNvPr>
            <p:cNvGrpSpPr/>
            <p:nvPr/>
          </p:nvGrpSpPr>
          <p:grpSpPr>
            <a:xfrm>
              <a:off x="3254648" y="1835423"/>
              <a:ext cx="2634630" cy="992088"/>
              <a:chOff x="3254648" y="1835423"/>
              <a:chExt cx="2634630" cy="992088"/>
            </a:xfrm>
          </p:grpSpPr>
          <p:grpSp>
            <p:nvGrpSpPr>
              <p:cNvPr id="28" name="Group 27">
                <a:extLst>
                  <a:ext uri="{FF2B5EF4-FFF2-40B4-BE49-F238E27FC236}">
                    <a16:creationId xmlns:a16="http://schemas.microsoft.com/office/drawing/2014/main" id="{7D1BDD44-78FB-C9AE-0219-CA60DE29A810}"/>
                  </a:ext>
                </a:extLst>
              </p:cNvPr>
              <p:cNvGrpSpPr/>
              <p:nvPr/>
            </p:nvGrpSpPr>
            <p:grpSpPr>
              <a:xfrm>
                <a:off x="3254648" y="1835423"/>
                <a:ext cx="2634630" cy="992088"/>
                <a:chOff x="3254648" y="1835423"/>
                <a:chExt cx="2634630" cy="992088"/>
              </a:xfrm>
            </p:grpSpPr>
            <p:sp>
              <p:nvSpPr>
                <p:cNvPr id="7" name="Shape 4"/>
                <p:cNvSpPr/>
                <p:nvPr/>
              </p:nvSpPr>
              <p:spPr>
                <a:xfrm>
                  <a:off x="3254648" y="1835423"/>
                  <a:ext cx="2634630" cy="992088"/>
                </a:xfrm>
                <a:prstGeom prst="roundRect">
                  <a:avLst>
                    <a:gd name="adj" fmla="val 1876"/>
                  </a:avLst>
                </a:prstGeom>
                <a:solidFill>
                  <a:srgbClr val="E9ECF2"/>
                </a:solidFill>
                <a:ln/>
              </p:spPr>
              <p:txBody>
                <a:bodyPr/>
                <a:lstStyle/>
                <a:p>
                  <a:endParaRPr lang="en-IN"/>
                </a:p>
              </p:txBody>
            </p:sp>
            <p:sp>
              <p:nvSpPr>
                <p:cNvPr id="10" name="Text 6"/>
                <p:cNvSpPr/>
                <p:nvPr/>
              </p:nvSpPr>
              <p:spPr>
                <a:xfrm>
                  <a:off x="3378622" y="2455441"/>
                  <a:ext cx="23866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Like Steering a Car</a:t>
                  </a:r>
                  <a:endParaRPr lang="en-US" sz="1200" dirty="0"/>
                </a:p>
              </p:txBody>
            </p:sp>
          </p:grpSp>
          <p:sp>
            <p:nvSpPr>
              <p:cNvPr id="8" name="Shape 5"/>
              <p:cNvSpPr/>
              <p:nvPr/>
            </p:nvSpPr>
            <p:spPr>
              <a:xfrm>
                <a:off x="3378622" y="1959397"/>
                <a:ext cx="372070" cy="372070"/>
              </a:xfrm>
              <a:prstGeom prst="roundRect">
                <a:avLst>
                  <a:gd name="adj" fmla="val 15358477"/>
                </a:avLst>
              </a:prstGeom>
              <a:solidFill>
                <a:srgbClr val="F2F2F2"/>
              </a:solidFill>
              <a:ln/>
            </p:spPr>
            <p:txBody>
              <a:bodyPr/>
              <a:lstStyle/>
              <a:p>
                <a:endParaRPr lang="en-IN" dirty="0"/>
              </a:p>
            </p:txBody>
          </p:sp>
        </p:gr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480941" y="2061642"/>
              <a:ext cx="167432" cy="167432"/>
            </a:xfrm>
            <a:prstGeom prst="rect">
              <a:avLst/>
            </a:prstGeom>
          </p:spPr>
        </p:pic>
      </p:grpSp>
      <p:grpSp>
        <p:nvGrpSpPr>
          <p:cNvPr id="31" name="Group 30">
            <a:extLst>
              <a:ext uri="{FF2B5EF4-FFF2-40B4-BE49-F238E27FC236}">
                <a16:creationId xmlns:a16="http://schemas.microsoft.com/office/drawing/2014/main" id="{329C2E85-D527-8602-8D7A-8843E15CD028}"/>
              </a:ext>
            </a:extLst>
          </p:cNvPr>
          <p:cNvGrpSpPr/>
          <p:nvPr/>
        </p:nvGrpSpPr>
        <p:grpSpPr>
          <a:xfrm>
            <a:off x="6013252" y="1835423"/>
            <a:ext cx="2634555" cy="992088"/>
            <a:chOff x="6013252" y="1835423"/>
            <a:chExt cx="2634555" cy="992088"/>
          </a:xfrm>
        </p:grpSpPr>
        <p:sp>
          <p:nvSpPr>
            <p:cNvPr id="11" name="Shape 7"/>
            <p:cNvSpPr/>
            <p:nvPr/>
          </p:nvSpPr>
          <p:spPr>
            <a:xfrm>
              <a:off x="6013252" y="1835423"/>
              <a:ext cx="2634555" cy="992088"/>
            </a:xfrm>
            <a:prstGeom prst="roundRect">
              <a:avLst>
                <a:gd name="adj" fmla="val 1876"/>
              </a:avLst>
            </a:prstGeom>
            <a:solidFill>
              <a:srgbClr val="E9ECF2"/>
            </a:solidFill>
            <a:ln/>
          </p:spPr>
          <p:txBody>
            <a:bodyPr/>
            <a:lstStyle/>
            <a:p>
              <a:endParaRPr lang="en-IN"/>
            </a:p>
          </p:txBody>
        </p:sp>
        <p:sp>
          <p:nvSpPr>
            <p:cNvPr id="12" name="Shape 8"/>
            <p:cNvSpPr/>
            <p:nvPr/>
          </p:nvSpPr>
          <p:spPr>
            <a:xfrm>
              <a:off x="6137225" y="1959397"/>
              <a:ext cx="372070" cy="372070"/>
            </a:xfrm>
            <a:prstGeom prst="roundRect">
              <a:avLst>
                <a:gd name="adj" fmla="val 15358477"/>
              </a:avLst>
            </a:prstGeom>
            <a:solidFill>
              <a:srgbClr val="F2F2F2"/>
            </a:solidFill>
            <a:ln/>
          </p:spPr>
          <p:txBody>
            <a:bodyPr/>
            <a:lstStyle/>
            <a:p>
              <a:endParaRPr lang="en-IN"/>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39545" y="2061642"/>
              <a:ext cx="167432" cy="167432"/>
            </a:xfrm>
            <a:prstGeom prst="rect">
              <a:avLst/>
            </a:prstGeom>
          </p:spPr>
        </p:pic>
        <p:sp>
          <p:nvSpPr>
            <p:cNvPr id="14" name="Text 9"/>
            <p:cNvSpPr/>
            <p:nvPr/>
          </p:nvSpPr>
          <p:spPr>
            <a:xfrm>
              <a:off x="6137225" y="2455441"/>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Human‑in‑the‑Loop</a:t>
              </a:r>
              <a:endParaRPr lang="en-US" sz="1200" dirty="0"/>
            </a:p>
          </p:txBody>
        </p:sp>
      </p:grpSp>
      <p:grpSp>
        <p:nvGrpSpPr>
          <p:cNvPr id="35" name="Group 34">
            <a:extLst>
              <a:ext uri="{FF2B5EF4-FFF2-40B4-BE49-F238E27FC236}">
                <a16:creationId xmlns:a16="http://schemas.microsoft.com/office/drawing/2014/main" id="{14024A12-0E5F-6905-EC8F-97D4661A0462}"/>
              </a:ext>
            </a:extLst>
          </p:cNvPr>
          <p:cNvGrpSpPr/>
          <p:nvPr/>
        </p:nvGrpSpPr>
        <p:grpSpPr>
          <a:xfrm>
            <a:off x="496119" y="2951485"/>
            <a:ext cx="2634555" cy="992088"/>
            <a:chOff x="496119" y="2951485"/>
            <a:chExt cx="2634555" cy="992088"/>
          </a:xfrm>
        </p:grpSpPr>
        <p:sp>
          <p:nvSpPr>
            <p:cNvPr id="15" name="Shape 10"/>
            <p:cNvSpPr>
              <a:spLocks/>
            </p:cNvSpPr>
            <p:nvPr/>
          </p:nvSpPr>
          <p:spPr>
            <a:xfrm>
              <a:off x="496119" y="2951485"/>
              <a:ext cx="2634555" cy="992088"/>
            </a:xfrm>
            <a:prstGeom prst="roundRect">
              <a:avLst>
                <a:gd name="adj" fmla="val 1876"/>
              </a:avLst>
            </a:prstGeom>
            <a:solidFill>
              <a:srgbClr val="E9ECF2"/>
            </a:solidFill>
            <a:ln/>
          </p:spPr>
          <p:txBody>
            <a:bodyPr/>
            <a:lstStyle/>
            <a:p>
              <a:endParaRPr lang="en-IN"/>
            </a:p>
          </p:txBody>
        </p:sp>
        <p:sp>
          <p:nvSpPr>
            <p:cNvPr id="16" name="Shape 11"/>
            <p:cNvSpPr/>
            <p:nvPr/>
          </p:nvSpPr>
          <p:spPr>
            <a:xfrm>
              <a:off x="620092" y="3075459"/>
              <a:ext cx="372070" cy="372070"/>
            </a:xfrm>
            <a:prstGeom prst="roundRect">
              <a:avLst>
                <a:gd name="adj" fmla="val 15358477"/>
              </a:avLst>
            </a:prstGeom>
            <a:solidFill>
              <a:srgbClr val="F2F2F2"/>
            </a:solidFill>
            <a:ln/>
          </p:spPr>
          <p:txBody>
            <a:bodyPr/>
            <a:lstStyle/>
            <a:p>
              <a:endParaRPr lang="en-IN" dirty="0"/>
            </a:p>
          </p:txBody>
        </p:sp>
        <p:pic>
          <p:nvPicPr>
            <p:cNvPr id="1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22412" y="3177704"/>
              <a:ext cx="167432" cy="167432"/>
            </a:xfrm>
            <a:prstGeom prst="rect">
              <a:avLst/>
            </a:prstGeom>
          </p:spPr>
        </p:pic>
        <p:sp>
          <p:nvSpPr>
            <p:cNvPr id="18" name="Text 12"/>
            <p:cNvSpPr/>
            <p:nvPr/>
          </p:nvSpPr>
          <p:spPr>
            <a:xfrm>
              <a:off x="620092" y="3571503"/>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 Skill That Transfers</a:t>
              </a:r>
              <a:endParaRPr lang="en-US" sz="1200" dirty="0"/>
            </a:p>
          </p:txBody>
        </p:sp>
      </p:grpSp>
      <p:grpSp>
        <p:nvGrpSpPr>
          <p:cNvPr id="36" name="Group 35">
            <a:extLst>
              <a:ext uri="{FF2B5EF4-FFF2-40B4-BE49-F238E27FC236}">
                <a16:creationId xmlns:a16="http://schemas.microsoft.com/office/drawing/2014/main" id="{D818345A-7F25-0C5C-CFF8-04EBBFB6D6AE}"/>
              </a:ext>
            </a:extLst>
          </p:cNvPr>
          <p:cNvGrpSpPr/>
          <p:nvPr/>
        </p:nvGrpSpPr>
        <p:grpSpPr>
          <a:xfrm>
            <a:off x="3254648" y="2951485"/>
            <a:ext cx="2634630" cy="992088"/>
            <a:chOff x="3254648" y="2951485"/>
            <a:chExt cx="2634630" cy="992088"/>
          </a:xfrm>
        </p:grpSpPr>
        <p:sp>
          <p:nvSpPr>
            <p:cNvPr id="19" name="Shape 13"/>
            <p:cNvSpPr/>
            <p:nvPr/>
          </p:nvSpPr>
          <p:spPr>
            <a:xfrm>
              <a:off x="3254648" y="2951485"/>
              <a:ext cx="2634630" cy="992088"/>
            </a:xfrm>
            <a:prstGeom prst="roundRect">
              <a:avLst>
                <a:gd name="adj" fmla="val 1876"/>
              </a:avLst>
            </a:prstGeom>
            <a:solidFill>
              <a:srgbClr val="E9ECF2"/>
            </a:solidFill>
            <a:ln/>
          </p:spPr>
          <p:txBody>
            <a:bodyPr/>
            <a:lstStyle/>
            <a:p>
              <a:endParaRPr lang="en-IN"/>
            </a:p>
          </p:txBody>
        </p:sp>
        <p:sp>
          <p:nvSpPr>
            <p:cNvPr id="20" name="Shape 14"/>
            <p:cNvSpPr/>
            <p:nvPr/>
          </p:nvSpPr>
          <p:spPr>
            <a:xfrm>
              <a:off x="3378622" y="3075459"/>
              <a:ext cx="372070" cy="372070"/>
            </a:xfrm>
            <a:prstGeom prst="roundRect">
              <a:avLst>
                <a:gd name="adj" fmla="val 15358477"/>
              </a:avLst>
            </a:prstGeom>
            <a:solidFill>
              <a:srgbClr val="F2F2F2"/>
            </a:solidFill>
            <a:ln/>
          </p:spPr>
          <p:txBody>
            <a:bodyPr/>
            <a:lstStyle/>
            <a:p>
              <a:endParaRPr lang="en-IN"/>
            </a:p>
          </p:txBody>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80941" y="3177704"/>
              <a:ext cx="167432" cy="167432"/>
            </a:xfrm>
            <a:prstGeom prst="rect">
              <a:avLst/>
            </a:prstGeom>
          </p:spPr>
        </p:pic>
        <p:sp>
          <p:nvSpPr>
            <p:cNvPr id="22" name="Text 15"/>
            <p:cNvSpPr/>
            <p:nvPr/>
          </p:nvSpPr>
          <p:spPr>
            <a:xfrm>
              <a:off x="3378622" y="3571503"/>
              <a:ext cx="23866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Better Answers</a:t>
              </a:r>
              <a:endParaRPr lang="en-US" sz="1200" dirty="0"/>
            </a:p>
          </p:txBody>
        </p:sp>
      </p:grpSp>
      <p:grpSp>
        <p:nvGrpSpPr>
          <p:cNvPr id="39" name="Group 38">
            <a:extLst>
              <a:ext uri="{FF2B5EF4-FFF2-40B4-BE49-F238E27FC236}">
                <a16:creationId xmlns:a16="http://schemas.microsoft.com/office/drawing/2014/main" id="{2649D4EA-B0D2-4AC1-3B0E-4BD5F5C8C247}"/>
              </a:ext>
            </a:extLst>
          </p:cNvPr>
          <p:cNvGrpSpPr/>
          <p:nvPr/>
        </p:nvGrpSpPr>
        <p:grpSpPr>
          <a:xfrm>
            <a:off x="6013252" y="2951485"/>
            <a:ext cx="2634555" cy="992088"/>
            <a:chOff x="6013252" y="2951485"/>
            <a:chExt cx="2634555" cy="992088"/>
          </a:xfrm>
        </p:grpSpPr>
        <p:sp>
          <p:nvSpPr>
            <p:cNvPr id="23" name="Shape 16"/>
            <p:cNvSpPr/>
            <p:nvPr/>
          </p:nvSpPr>
          <p:spPr>
            <a:xfrm>
              <a:off x="6013252" y="2951485"/>
              <a:ext cx="2634555" cy="992088"/>
            </a:xfrm>
            <a:prstGeom prst="roundRect">
              <a:avLst>
                <a:gd name="adj" fmla="val 1876"/>
              </a:avLst>
            </a:prstGeom>
            <a:solidFill>
              <a:srgbClr val="E9ECF2"/>
            </a:solidFill>
            <a:ln/>
          </p:spPr>
          <p:txBody>
            <a:bodyPr/>
            <a:lstStyle/>
            <a:p>
              <a:endParaRPr lang="en-IN" dirty="0"/>
            </a:p>
          </p:txBody>
        </p:sp>
        <p:grpSp>
          <p:nvGrpSpPr>
            <p:cNvPr id="38" name="Group 37">
              <a:extLst>
                <a:ext uri="{FF2B5EF4-FFF2-40B4-BE49-F238E27FC236}">
                  <a16:creationId xmlns:a16="http://schemas.microsoft.com/office/drawing/2014/main" id="{D597CD38-5A6B-427A-3FD0-DDE3BA9372B0}"/>
                </a:ext>
              </a:extLst>
            </p:cNvPr>
            <p:cNvGrpSpPr/>
            <p:nvPr/>
          </p:nvGrpSpPr>
          <p:grpSpPr>
            <a:xfrm>
              <a:off x="6137225" y="3075459"/>
              <a:ext cx="2386608" cy="744140"/>
              <a:chOff x="6137225" y="3075459"/>
              <a:chExt cx="2386608" cy="744140"/>
            </a:xfrm>
          </p:grpSpPr>
          <p:grpSp>
            <p:nvGrpSpPr>
              <p:cNvPr id="37" name="Group 36">
                <a:extLst>
                  <a:ext uri="{FF2B5EF4-FFF2-40B4-BE49-F238E27FC236}">
                    <a16:creationId xmlns:a16="http://schemas.microsoft.com/office/drawing/2014/main" id="{1F16820F-829D-920F-7969-B032F2E8B558}"/>
                  </a:ext>
                </a:extLst>
              </p:cNvPr>
              <p:cNvGrpSpPr/>
              <p:nvPr/>
            </p:nvGrpSpPr>
            <p:grpSpPr>
              <a:xfrm>
                <a:off x="6137225" y="3075459"/>
                <a:ext cx="2386608" cy="744140"/>
                <a:chOff x="6137225" y="3075459"/>
                <a:chExt cx="2386608" cy="744140"/>
              </a:xfrm>
            </p:grpSpPr>
            <p:sp>
              <p:nvSpPr>
                <p:cNvPr id="24" name="Shape 17"/>
                <p:cNvSpPr/>
                <p:nvPr/>
              </p:nvSpPr>
              <p:spPr>
                <a:xfrm>
                  <a:off x="6137225" y="3075459"/>
                  <a:ext cx="372070" cy="372070"/>
                </a:xfrm>
                <a:prstGeom prst="roundRect">
                  <a:avLst>
                    <a:gd name="adj" fmla="val 15358477"/>
                  </a:avLst>
                </a:prstGeom>
                <a:solidFill>
                  <a:srgbClr val="F2F2F2"/>
                </a:solidFill>
                <a:ln/>
              </p:spPr>
              <p:txBody>
                <a:bodyPr/>
                <a:lstStyle/>
                <a:p>
                  <a:endParaRPr lang="en-IN" dirty="0"/>
                </a:p>
              </p:txBody>
            </p:sp>
            <p:sp>
              <p:nvSpPr>
                <p:cNvPr id="26" name="Text 18"/>
                <p:cNvSpPr/>
                <p:nvPr/>
              </p:nvSpPr>
              <p:spPr>
                <a:xfrm>
                  <a:off x="6137225" y="3571503"/>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Reduces Hallucinations</a:t>
                  </a:r>
                  <a:endParaRPr lang="en-US" sz="1200" dirty="0"/>
                </a:p>
              </p:txBody>
            </p:sp>
          </p:grpSp>
          <p:pic>
            <p:nvPicPr>
              <p:cNvPr id="25"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39545" y="3177704"/>
                <a:ext cx="167432" cy="167432"/>
              </a:xfrm>
              <a:prstGeom prst="rect">
                <a:avLst/>
              </a:prstGeom>
            </p:spPr>
          </p:pic>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938585"/>
            <a:ext cx="4722763" cy="775097"/>
          </a:xfrm>
          <a:prstGeom prst="rect">
            <a:avLst/>
          </a:prstGeom>
          <a:noFill/>
          <a:ln/>
        </p:spPr>
        <p:txBody>
          <a:bodyPr wrap="squar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Key Elements of a Strong Prompt</a:t>
            </a:r>
            <a:endParaRPr lang="en-US" sz="2400" dirty="0"/>
          </a:p>
        </p:txBody>
      </p:sp>
      <p:sp>
        <p:nvSpPr>
          <p:cNvPr id="4" name="Text 1"/>
          <p:cNvSpPr/>
          <p:nvPr/>
        </p:nvSpPr>
        <p:spPr>
          <a:xfrm>
            <a:off x="3925119" y="1899717"/>
            <a:ext cx="4722763"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While there's no single "perfect" way to write a prompt, including certain elements often helps AI give you better answers. Think of these as </a:t>
            </a:r>
            <a:r>
              <a:rPr lang="en-US" sz="1200" b="1" dirty="0">
                <a:solidFill>
                  <a:srgbClr val="15213F"/>
                </a:solidFill>
                <a:latin typeface="Roboto" pitchFamily="34" charset="0"/>
                <a:ea typeface="Roboto" pitchFamily="34" charset="-122"/>
                <a:cs typeface="Roboto" pitchFamily="34" charset="-120"/>
              </a:rPr>
              <a:t>tools you can use when you need them</a:t>
            </a:r>
            <a:r>
              <a:rPr lang="en-US" sz="1200" dirty="0">
                <a:solidFill>
                  <a:srgbClr val="15213F"/>
                </a:solidFill>
                <a:latin typeface="Roboto" pitchFamily="34" charset="0"/>
                <a:ea typeface="Roboto" pitchFamily="34" charset="-122"/>
                <a:cs typeface="Roboto" pitchFamily="34" charset="-120"/>
              </a:rPr>
              <a:t> - not rules you must follow every time.</a:t>
            </a:r>
            <a:endParaRPr lang="en-US" sz="1200" dirty="0"/>
          </a:p>
        </p:txBody>
      </p:sp>
      <p:grpSp>
        <p:nvGrpSpPr>
          <p:cNvPr id="13" name="Group 12">
            <a:extLst>
              <a:ext uri="{FF2B5EF4-FFF2-40B4-BE49-F238E27FC236}">
                <a16:creationId xmlns:a16="http://schemas.microsoft.com/office/drawing/2014/main" id="{E5F5ED98-7CA0-6D71-681C-6F35D05C0B77}"/>
              </a:ext>
            </a:extLst>
          </p:cNvPr>
          <p:cNvGrpSpPr/>
          <p:nvPr/>
        </p:nvGrpSpPr>
        <p:grpSpPr>
          <a:xfrm>
            <a:off x="3925119" y="3031629"/>
            <a:ext cx="2299395" cy="524619"/>
            <a:chOff x="3925119" y="3031629"/>
            <a:chExt cx="2299395" cy="524619"/>
          </a:xfrm>
        </p:grpSpPr>
        <p:sp>
          <p:nvSpPr>
            <p:cNvPr id="5" name="Shape 2"/>
            <p:cNvSpPr/>
            <p:nvPr/>
          </p:nvSpPr>
          <p:spPr>
            <a:xfrm>
              <a:off x="3925119" y="3031629"/>
              <a:ext cx="2299395" cy="524619"/>
            </a:xfrm>
            <a:prstGeom prst="roundRect">
              <a:avLst>
                <a:gd name="adj" fmla="val 3547"/>
              </a:avLst>
            </a:prstGeom>
            <a:solidFill>
              <a:srgbClr val="FBFCFE"/>
            </a:solidFill>
            <a:ln w="14288">
              <a:solidFill>
                <a:srgbClr val="CFD2D8"/>
              </a:solidFill>
              <a:prstDash val="solid"/>
            </a:ln>
          </p:spPr>
          <p:txBody>
            <a:bodyPr/>
            <a:lstStyle/>
            <a:p>
              <a:endParaRPr lang="en-IN"/>
            </a:p>
          </p:txBody>
        </p:sp>
        <p:sp>
          <p:nvSpPr>
            <p:cNvPr id="6" name="Text 3"/>
            <p:cNvSpPr/>
            <p:nvPr/>
          </p:nvSpPr>
          <p:spPr>
            <a:xfrm>
              <a:off x="4063380" y="3169890"/>
              <a:ext cx="202287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Clear Instructions</a:t>
              </a:r>
              <a:endParaRPr lang="en-US" sz="1200" dirty="0"/>
            </a:p>
          </p:txBody>
        </p:sp>
      </p:grpSp>
      <p:grpSp>
        <p:nvGrpSpPr>
          <p:cNvPr id="14" name="Group 13">
            <a:extLst>
              <a:ext uri="{FF2B5EF4-FFF2-40B4-BE49-F238E27FC236}">
                <a16:creationId xmlns:a16="http://schemas.microsoft.com/office/drawing/2014/main" id="{194B1F42-1F2F-EA0B-CC39-8F3E908EA6FA}"/>
              </a:ext>
            </a:extLst>
          </p:cNvPr>
          <p:cNvGrpSpPr/>
          <p:nvPr/>
        </p:nvGrpSpPr>
        <p:grpSpPr>
          <a:xfrm>
            <a:off x="6348487" y="3031629"/>
            <a:ext cx="2299395" cy="524619"/>
            <a:chOff x="6348487" y="3031629"/>
            <a:chExt cx="2299395" cy="524619"/>
          </a:xfrm>
        </p:grpSpPr>
        <p:sp>
          <p:nvSpPr>
            <p:cNvPr id="7" name="Shape 4"/>
            <p:cNvSpPr/>
            <p:nvPr/>
          </p:nvSpPr>
          <p:spPr>
            <a:xfrm>
              <a:off x="6348487" y="3031629"/>
              <a:ext cx="2299395" cy="524619"/>
            </a:xfrm>
            <a:prstGeom prst="roundRect">
              <a:avLst>
                <a:gd name="adj" fmla="val 3547"/>
              </a:avLst>
            </a:prstGeom>
            <a:solidFill>
              <a:srgbClr val="FBFCFE"/>
            </a:solidFill>
            <a:ln w="14288">
              <a:solidFill>
                <a:srgbClr val="CFD2D8"/>
              </a:solidFill>
              <a:prstDash val="solid"/>
            </a:ln>
          </p:spPr>
          <p:txBody>
            <a:bodyPr/>
            <a:lstStyle/>
            <a:p>
              <a:endParaRPr lang="en-IN"/>
            </a:p>
          </p:txBody>
        </p:sp>
        <p:sp>
          <p:nvSpPr>
            <p:cNvPr id="8" name="Text 5"/>
            <p:cNvSpPr/>
            <p:nvPr/>
          </p:nvSpPr>
          <p:spPr>
            <a:xfrm>
              <a:off x="6486748" y="3169890"/>
              <a:ext cx="202287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Context</a:t>
              </a:r>
              <a:endParaRPr lang="en-US" sz="1200" dirty="0"/>
            </a:p>
          </p:txBody>
        </p:sp>
      </p:grpSp>
      <p:grpSp>
        <p:nvGrpSpPr>
          <p:cNvPr id="15" name="Group 14">
            <a:extLst>
              <a:ext uri="{FF2B5EF4-FFF2-40B4-BE49-F238E27FC236}">
                <a16:creationId xmlns:a16="http://schemas.microsoft.com/office/drawing/2014/main" id="{97FE07B1-2C28-AE9C-A26D-D59C2B714F31}"/>
              </a:ext>
            </a:extLst>
          </p:cNvPr>
          <p:cNvGrpSpPr/>
          <p:nvPr/>
        </p:nvGrpSpPr>
        <p:grpSpPr>
          <a:xfrm>
            <a:off x="3925119" y="3680222"/>
            <a:ext cx="2299395" cy="524619"/>
            <a:chOff x="3925119" y="3680222"/>
            <a:chExt cx="2299395" cy="524619"/>
          </a:xfrm>
        </p:grpSpPr>
        <p:sp>
          <p:nvSpPr>
            <p:cNvPr id="9" name="Shape 6"/>
            <p:cNvSpPr/>
            <p:nvPr/>
          </p:nvSpPr>
          <p:spPr>
            <a:xfrm>
              <a:off x="3925119" y="3680222"/>
              <a:ext cx="2299395" cy="524619"/>
            </a:xfrm>
            <a:prstGeom prst="roundRect">
              <a:avLst>
                <a:gd name="adj" fmla="val 3547"/>
              </a:avLst>
            </a:prstGeom>
            <a:solidFill>
              <a:srgbClr val="FBFCFE"/>
            </a:solidFill>
            <a:ln w="14288">
              <a:solidFill>
                <a:srgbClr val="CFD2D8"/>
              </a:solidFill>
              <a:prstDash val="solid"/>
            </a:ln>
          </p:spPr>
          <p:txBody>
            <a:bodyPr/>
            <a:lstStyle/>
            <a:p>
              <a:endParaRPr lang="en-IN"/>
            </a:p>
          </p:txBody>
        </p:sp>
        <p:sp>
          <p:nvSpPr>
            <p:cNvPr id="10" name="Text 7"/>
            <p:cNvSpPr/>
            <p:nvPr/>
          </p:nvSpPr>
          <p:spPr>
            <a:xfrm>
              <a:off x="4063380" y="3818483"/>
              <a:ext cx="202287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Format</a:t>
              </a:r>
              <a:endParaRPr lang="en-US" sz="1200" dirty="0"/>
            </a:p>
          </p:txBody>
        </p:sp>
      </p:grpSp>
      <p:grpSp>
        <p:nvGrpSpPr>
          <p:cNvPr id="16" name="Group 15">
            <a:extLst>
              <a:ext uri="{FF2B5EF4-FFF2-40B4-BE49-F238E27FC236}">
                <a16:creationId xmlns:a16="http://schemas.microsoft.com/office/drawing/2014/main" id="{E7D843F6-5FC5-3583-8144-4085A8D9518F}"/>
              </a:ext>
            </a:extLst>
          </p:cNvPr>
          <p:cNvGrpSpPr/>
          <p:nvPr/>
        </p:nvGrpSpPr>
        <p:grpSpPr>
          <a:xfrm>
            <a:off x="6348487" y="3680222"/>
            <a:ext cx="2299395" cy="524619"/>
            <a:chOff x="6348487" y="3680222"/>
            <a:chExt cx="2299395" cy="524619"/>
          </a:xfrm>
        </p:grpSpPr>
        <p:sp>
          <p:nvSpPr>
            <p:cNvPr id="11" name="Shape 8"/>
            <p:cNvSpPr/>
            <p:nvPr/>
          </p:nvSpPr>
          <p:spPr>
            <a:xfrm>
              <a:off x="6348487" y="3680222"/>
              <a:ext cx="2299395" cy="524619"/>
            </a:xfrm>
            <a:prstGeom prst="roundRect">
              <a:avLst>
                <a:gd name="adj" fmla="val 3547"/>
              </a:avLst>
            </a:prstGeom>
            <a:solidFill>
              <a:srgbClr val="FBFCFE"/>
            </a:solidFill>
            <a:ln w="14288">
              <a:solidFill>
                <a:srgbClr val="CFD2D8"/>
              </a:solidFill>
              <a:prstDash val="solid"/>
            </a:ln>
          </p:spPr>
          <p:txBody>
            <a:bodyPr/>
            <a:lstStyle/>
            <a:p>
              <a:endParaRPr lang="en-IN"/>
            </a:p>
          </p:txBody>
        </p:sp>
        <p:sp>
          <p:nvSpPr>
            <p:cNvPr id="12" name="Text 9"/>
            <p:cNvSpPr/>
            <p:nvPr/>
          </p:nvSpPr>
          <p:spPr>
            <a:xfrm>
              <a:off x="6486748" y="3818483"/>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Constraints</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06247A69-75A0-99DC-F838-0AE52B930BB3}"/>
              </a:ext>
            </a:extLst>
          </p:cNvPr>
          <p:cNvGrpSpPr/>
          <p:nvPr/>
        </p:nvGrpSpPr>
        <p:grpSpPr>
          <a:xfrm>
            <a:off x="496119" y="920981"/>
            <a:ext cx="2634555" cy="847130"/>
            <a:chOff x="496119" y="1945109"/>
            <a:chExt cx="2634555" cy="847130"/>
          </a:xfrm>
        </p:grpSpPr>
        <p:sp>
          <p:nvSpPr>
            <p:cNvPr id="3" name="Shape 1"/>
            <p:cNvSpPr/>
            <p:nvPr/>
          </p:nvSpPr>
          <p:spPr>
            <a:xfrm>
              <a:off x="496119" y="1945109"/>
              <a:ext cx="2634555" cy="847130"/>
            </a:xfrm>
            <a:prstGeom prst="roundRect">
              <a:avLst>
                <a:gd name="adj" fmla="val 2196"/>
              </a:avLst>
            </a:prstGeom>
            <a:solidFill>
              <a:srgbClr val="FBFCFE"/>
            </a:solidFill>
            <a:ln w="14288">
              <a:solidFill>
                <a:srgbClr val="CFD2D8"/>
              </a:solidFill>
              <a:prstDash val="solid"/>
            </a:ln>
          </p:spPr>
          <p:txBody>
            <a:bodyPr/>
            <a:lstStyle/>
            <a:p>
              <a:endParaRPr lang="en-IN"/>
            </a:p>
          </p:txBody>
        </p:sp>
        <p:sp>
          <p:nvSpPr>
            <p:cNvPr id="4" name="Text 2"/>
            <p:cNvSpPr/>
            <p:nvPr/>
          </p:nvSpPr>
          <p:spPr>
            <a:xfrm>
              <a:off x="634380" y="2083371"/>
              <a:ext cx="235803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Weak Prompt</a:t>
              </a:r>
            </a:p>
            <a:p>
              <a:pPr>
                <a:lnSpc>
                  <a:spcPts val="1950"/>
                </a:lnSpc>
              </a:pPr>
              <a:r>
                <a:rPr lang="en-IN" sz="1200" dirty="0"/>
                <a:t>"Tell me about volcanoes"</a:t>
              </a:r>
            </a:p>
            <a:p>
              <a:pPr marL="0" indent="0" algn="l">
                <a:lnSpc>
                  <a:spcPts val="1950"/>
                </a:lnSpc>
                <a:buNone/>
              </a:pPr>
              <a:endParaRPr lang="en-US" sz="1200" dirty="0"/>
            </a:p>
          </p:txBody>
        </p:sp>
      </p:grpSp>
      <p:sp>
        <p:nvSpPr>
          <p:cNvPr id="2" name="Text 0"/>
          <p:cNvSpPr/>
          <p:nvPr/>
        </p:nvSpPr>
        <p:spPr>
          <a:xfrm>
            <a:off x="496044" y="510347"/>
            <a:ext cx="3565699"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Putting the Elements Together</a:t>
            </a:r>
            <a:endParaRPr lang="en-US" sz="1950" dirty="0"/>
          </a:p>
        </p:txBody>
      </p:sp>
      <p:sp>
        <p:nvSpPr>
          <p:cNvPr id="5" name="Text 3"/>
          <p:cNvSpPr/>
          <p:nvPr/>
        </p:nvSpPr>
        <p:spPr>
          <a:xfrm>
            <a:off x="634380" y="2405881"/>
            <a:ext cx="2358033" cy="248096"/>
          </a:xfrm>
          <a:prstGeom prst="rect">
            <a:avLst/>
          </a:prstGeom>
          <a:noFill/>
          <a:ln/>
        </p:spPr>
        <p:txBody>
          <a:bodyPr wrap="none" lIns="0" tIns="0" rIns="0" bIns="0" rtlCol="0" anchor="t"/>
          <a:lstStyle/>
          <a:p>
            <a:pPr marL="0" indent="0" algn="l">
              <a:lnSpc>
                <a:spcPts val="1950"/>
              </a:lnSpc>
              <a:buNone/>
            </a:pPr>
            <a:endParaRPr lang="en-US" sz="1200" dirty="0"/>
          </a:p>
        </p:txBody>
      </p:sp>
      <p:grpSp>
        <p:nvGrpSpPr>
          <p:cNvPr id="14" name="Group 13">
            <a:extLst>
              <a:ext uri="{FF2B5EF4-FFF2-40B4-BE49-F238E27FC236}">
                <a16:creationId xmlns:a16="http://schemas.microsoft.com/office/drawing/2014/main" id="{9E574169-CC26-E8DE-417E-9285CB47AC77}"/>
              </a:ext>
            </a:extLst>
          </p:cNvPr>
          <p:cNvGrpSpPr/>
          <p:nvPr/>
        </p:nvGrpSpPr>
        <p:grpSpPr>
          <a:xfrm>
            <a:off x="3254648" y="951452"/>
            <a:ext cx="2634630" cy="2303813"/>
            <a:chOff x="3254648" y="1514660"/>
            <a:chExt cx="2634630" cy="998005"/>
          </a:xfrm>
        </p:grpSpPr>
        <p:sp>
          <p:nvSpPr>
            <p:cNvPr id="6" name="Shape 4"/>
            <p:cNvSpPr/>
            <p:nvPr/>
          </p:nvSpPr>
          <p:spPr>
            <a:xfrm>
              <a:off x="3254648" y="1514660"/>
              <a:ext cx="2634630" cy="971597"/>
            </a:xfrm>
            <a:prstGeom prst="roundRect">
              <a:avLst>
                <a:gd name="adj" fmla="val 2196"/>
              </a:avLst>
            </a:prstGeom>
            <a:solidFill>
              <a:srgbClr val="FBFCFE"/>
            </a:solidFill>
            <a:ln w="14288">
              <a:solidFill>
                <a:srgbClr val="CFD2D8"/>
              </a:solidFill>
              <a:prstDash val="solid"/>
            </a:ln>
          </p:spPr>
          <p:txBody>
            <a:bodyPr/>
            <a:lstStyle/>
            <a:p>
              <a:endParaRPr lang="en-IN"/>
            </a:p>
          </p:txBody>
        </p:sp>
        <p:sp>
          <p:nvSpPr>
            <p:cNvPr id="7" name="Text 5"/>
            <p:cNvSpPr/>
            <p:nvPr/>
          </p:nvSpPr>
          <p:spPr>
            <a:xfrm>
              <a:off x="3392909" y="1516461"/>
              <a:ext cx="2358107" cy="996204"/>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Stronger Prompt (using elements)</a:t>
              </a:r>
            </a:p>
            <a:p>
              <a:pPr>
                <a:lnSpc>
                  <a:spcPts val="1950"/>
                </a:lnSpc>
              </a:pPr>
              <a:r>
                <a:rPr lang="en-US" sz="1200" b="1" dirty="0"/>
                <a:t>Clear Instructions:</a:t>
              </a:r>
              <a:r>
                <a:rPr lang="en-US" sz="1200" dirty="0"/>
                <a:t> Explain how volcanoes form</a:t>
              </a:r>
              <a:br>
                <a:rPr lang="en-US" sz="1200" dirty="0"/>
              </a:br>
              <a:r>
                <a:rPr lang="en-US" sz="1200" b="1" dirty="0"/>
                <a:t>Context:</a:t>
              </a:r>
              <a:r>
                <a:rPr lang="en-US" sz="1200" dirty="0"/>
                <a:t> for a 5th grader preparing a short presentation</a:t>
              </a:r>
              <a:br>
                <a:rPr lang="en-US" sz="1200" dirty="0"/>
              </a:br>
              <a:r>
                <a:rPr lang="en-US" sz="1200" b="1" dirty="0"/>
                <a:t>Format:</a:t>
              </a:r>
              <a:r>
                <a:rPr lang="en-US" sz="1200" dirty="0"/>
                <a:t> 3 bullet points</a:t>
              </a:r>
              <a:br>
                <a:rPr lang="en-US" sz="1200" dirty="0"/>
              </a:br>
              <a:r>
                <a:rPr lang="en-US" sz="1200" b="1" dirty="0"/>
                <a:t>Constraints:</a:t>
              </a:r>
              <a:r>
                <a:rPr lang="en-US" sz="1200" dirty="0"/>
                <a:t> each bullet under 20 words, no scientific names</a:t>
              </a:r>
            </a:p>
            <a:p>
              <a:pPr marL="0" indent="0" algn="l">
                <a:lnSpc>
                  <a:spcPts val="1950"/>
                </a:lnSpc>
                <a:buNone/>
              </a:pPr>
              <a:endParaRPr lang="en-US" sz="1200" b="1" dirty="0">
                <a:solidFill>
                  <a:srgbClr val="15213F"/>
                </a:solidFill>
                <a:latin typeface="Roboto" pitchFamily="34" charset="0"/>
                <a:ea typeface="Roboto" pitchFamily="34" charset="-122"/>
                <a:cs typeface="Roboto" pitchFamily="34" charset="-120"/>
              </a:endParaRPr>
            </a:p>
            <a:p>
              <a:pPr marL="0" indent="0" algn="l">
                <a:lnSpc>
                  <a:spcPts val="1950"/>
                </a:lnSpc>
                <a:buNone/>
              </a:pPr>
              <a:endParaRPr lang="en-US" sz="1200" dirty="0"/>
            </a:p>
          </p:txBody>
        </p:sp>
      </p:grpSp>
      <p:grpSp>
        <p:nvGrpSpPr>
          <p:cNvPr id="16" name="Group 15">
            <a:extLst>
              <a:ext uri="{FF2B5EF4-FFF2-40B4-BE49-F238E27FC236}">
                <a16:creationId xmlns:a16="http://schemas.microsoft.com/office/drawing/2014/main" id="{427B48FF-0E93-81F0-075C-D8EEEE9522E8}"/>
              </a:ext>
            </a:extLst>
          </p:cNvPr>
          <p:cNvGrpSpPr/>
          <p:nvPr/>
        </p:nvGrpSpPr>
        <p:grpSpPr>
          <a:xfrm>
            <a:off x="496044" y="3919317"/>
            <a:ext cx="8151763" cy="824731"/>
            <a:chOff x="496044" y="3919317"/>
            <a:chExt cx="8151763" cy="824731"/>
          </a:xfrm>
        </p:grpSpPr>
        <p:sp>
          <p:nvSpPr>
            <p:cNvPr id="10" name="Shape 8"/>
            <p:cNvSpPr/>
            <p:nvPr/>
          </p:nvSpPr>
          <p:spPr>
            <a:xfrm>
              <a:off x="496044" y="3919317"/>
              <a:ext cx="8151763" cy="824731"/>
            </a:xfrm>
            <a:prstGeom prst="roundRect">
              <a:avLst>
                <a:gd name="adj" fmla="val 2256"/>
              </a:avLst>
            </a:prstGeom>
            <a:solidFill>
              <a:srgbClr val="F2F2F2"/>
            </a:solidFill>
            <a:ln/>
          </p:spPr>
          <p:txBody>
            <a:bodyPr/>
            <a:lstStyle/>
            <a:p>
              <a:endParaRPr lang="en-IN"/>
            </a:p>
          </p:txBody>
        </p:sp>
        <p:pic>
          <p:nvPicPr>
            <p:cNvPr id="11" name="Image 0" descr="preencoded.png"/>
            <p:cNvPicPr>
              <a:picLocks noChangeAspect="1"/>
            </p:cNvPicPr>
            <p:nvPr/>
          </p:nvPicPr>
          <p:blipFill>
            <a:blip r:embed="rId3"/>
            <a:stretch>
              <a:fillRect/>
            </a:stretch>
          </p:blipFill>
          <p:spPr>
            <a:xfrm>
              <a:off x="620017" y="4114803"/>
              <a:ext cx="193774" cy="155004"/>
            </a:xfrm>
            <a:prstGeom prst="rect">
              <a:avLst/>
            </a:prstGeom>
          </p:spPr>
        </p:pic>
        <p:sp>
          <p:nvSpPr>
            <p:cNvPr id="12" name="Text 9"/>
            <p:cNvSpPr/>
            <p:nvPr/>
          </p:nvSpPr>
          <p:spPr>
            <a:xfrm>
              <a:off x="937765" y="4074247"/>
              <a:ext cx="7586067" cy="496193"/>
            </a:xfrm>
            <a:prstGeom prst="rect">
              <a:avLst/>
            </a:prstGeom>
            <a:noFill/>
            <a:ln/>
          </p:spPr>
          <p:txBody>
            <a:bodyPr wrap="square" lIns="0" tIns="0" rIns="0" bIns="0" rtlCol="0" anchor="t"/>
            <a:lstStyle/>
            <a:p>
              <a:pPr marL="0" indent="0" algn="l">
                <a:lnSpc>
                  <a:spcPts val="1950"/>
                </a:lnSpc>
                <a:buNone/>
              </a:pPr>
              <a:r>
                <a:rPr lang="en-US" sz="1200" b="1" dirty="0">
                  <a:solidFill>
                    <a:srgbClr val="000000"/>
                  </a:solidFill>
                  <a:latin typeface="Roboto" pitchFamily="34" charset="0"/>
                  <a:ea typeface="Roboto" pitchFamily="34" charset="-122"/>
                  <a:cs typeface="Roboto" pitchFamily="34" charset="-120"/>
                </a:rPr>
                <a:t>Pro Tip: Show, don't just tell.</a:t>
              </a:r>
              <a:r>
                <a:rPr lang="en-US" sz="1200" dirty="0">
                  <a:solidFill>
                    <a:srgbClr val="000000"/>
                  </a:solidFill>
                  <a:latin typeface="Roboto" pitchFamily="34" charset="0"/>
                  <a:ea typeface="Roboto" pitchFamily="34" charset="-122"/>
                  <a:cs typeface="Roboto" pitchFamily="34" charset="-120"/>
                </a:rPr>
                <a:t> Adding an </a:t>
              </a:r>
              <a:r>
                <a:rPr lang="en-US" sz="1200" b="1" dirty="0">
                  <a:solidFill>
                    <a:srgbClr val="000000"/>
                  </a:solidFill>
                  <a:latin typeface="Roboto" pitchFamily="34" charset="0"/>
                  <a:ea typeface="Roboto" pitchFamily="34" charset="-122"/>
                  <a:cs typeface="Roboto" pitchFamily="34" charset="-120"/>
                </a:rPr>
                <a:t>example</a:t>
              </a:r>
              <a:r>
                <a:rPr lang="en-US" sz="1200" dirty="0">
                  <a:solidFill>
                    <a:srgbClr val="000000"/>
                  </a:solidFill>
                  <a:latin typeface="Roboto" pitchFamily="34" charset="0"/>
                  <a:ea typeface="Roboto" pitchFamily="34" charset="-122"/>
                  <a:cs typeface="Roboto" pitchFamily="34" charset="-120"/>
                </a:rPr>
                <a:t> of what you want (e.g., "Write a description like this: …") is one of the fastest ways to get perfect results. You can include an example as part of your Format or Constraints.</a:t>
              </a:r>
              <a:endParaRPr lang="en-US" sz="1200" dirty="0"/>
            </a:p>
          </p:txBody>
        </p:sp>
      </p:grpSp>
      <p:grpSp>
        <p:nvGrpSpPr>
          <p:cNvPr id="22" name="Group 21">
            <a:extLst>
              <a:ext uri="{FF2B5EF4-FFF2-40B4-BE49-F238E27FC236}">
                <a16:creationId xmlns:a16="http://schemas.microsoft.com/office/drawing/2014/main" id="{78514C72-2041-D5A4-48D7-16987ECC924C}"/>
              </a:ext>
            </a:extLst>
          </p:cNvPr>
          <p:cNvGrpSpPr/>
          <p:nvPr/>
        </p:nvGrpSpPr>
        <p:grpSpPr>
          <a:xfrm>
            <a:off x="6013177" y="956086"/>
            <a:ext cx="2634630" cy="1756633"/>
            <a:chOff x="6013177" y="956086"/>
            <a:chExt cx="2634630" cy="1756633"/>
          </a:xfrm>
        </p:grpSpPr>
        <p:sp>
          <p:nvSpPr>
            <p:cNvPr id="19" name="Shape 4">
              <a:extLst>
                <a:ext uri="{FF2B5EF4-FFF2-40B4-BE49-F238E27FC236}">
                  <a16:creationId xmlns:a16="http://schemas.microsoft.com/office/drawing/2014/main" id="{5A7A415D-3575-B36B-18B7-093C31963DE6}"/>
                </a:ext>
              </a:extLst>
            </p:cNvPr>
            <p:cNvSpPr/>
            <p:nvPr/>
          </p:nvSpPr>
          <p:spPr>
            <a:xfrm>
              <a:off x="6013177" y="956086"/>
              <a:ext cx="2634630" cy="1756633"/>
            </a:xfrm>
            <a:prstGeom prst="roundRect">
              <a:avLst>
                <a:gd name="adj" fmla="val 2196"/>
              </a:avLst>
            </a:prstGeom>
            <a:solidFill>
              <a:srgbClr val="FBFCFE"/>
            </a:solidFill>
            <a:ln w="14288">
              <a:solidFill>
                <a:srgbClr val="CFD2D8"/>
              </a:solidFill>
              <a:prstDash val="solid"/>
            </a:ln>
          </p:spPr>
          <p:txBody>
            <a:bodyPr/>
            <a:lstStyle/>
            <a:p>
              <a:endParaRPr lang="en-IN"/>
            </a:p>
          </p:txBody>
        </p:sp>
        <p:sp>
          <p:nvSpPr>
            <p:cNvPr id="20" name="Text 5">
              <a:extLst>
                <a:ext uri="{FF2B5EF4-FFF2-40B4-BE49-F238E27FC236}">
                  <a16:creationId xmlns:a16="http://schemas.microsoft.com/office/drawing/2014/main" id="{07F5684A-6090-7211-ADAA-1EB86458A397}"/>
                </a:ext>
              </a:extLst>
            </p:cNvPr>
            <p:cNvSpPr/>
            <p:nvPr/>
          </p:nvSpPr>
          <p:spPr>
            <a:xfrm>
              <a:off x="6151438" y="960631"/>
              <a:ext cx="2358107" cy="1693346"/>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Stronger Prompt (using elements)</a:t>
              </a:r>
            </a:p>
            <a:p>
              <a:pPr>
                <a:lnSpc>
                  <a:spcPts val="1950"/>
                </a:lnSpc>
              </a:pPr>
              <a:r>
                <a:rPr lang="en-US" sz="1200" dirty="0"/>
                <a:t>"Explain how volcanoes form for a 5th grader preparing a short presentation. Use 3 bullet points. Keep each bullet under 20 words. Don't use scientific names."</a:t>
              </a:r>
              <a:endParaRPr lang="en-US" sz="1200" b="1" dirty="0">
                <a:solidFill>
                  <a:srgbClr val="15213F"/>
                </a:solidFill>
                <a:latin typeface="Roboto" pitchFamily="34" charset="0"/>
                <a:ea typeface="Roboto" pitchFamily="34" charset="-122"/>
                <a:cs typeface="Roboto" pitchFamily="34" charset="-120"/>
              </a:endParaRPr>
            </a:p>
            <a:p>
              <a:pPr marL="0" indent="0" algn="l">
                <a:lnSpc>
                  <a:spcPts val="1950"/>
                </a:lnSpc>
                <a:buNone/>
              </a:pP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492472"/>
            <a:ext cx="5181228"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Mini Activity 1 : Spot the Missing Element(s)</a:t>
            </a:r>
            <a:endParaRPr lang="en-US" sz="1950" dirty="0"/>
          </a:p>
        </p:txBody>
      </p:sp>
      <p:sp>
        <p:nvSpPr>
          <p:cNvPr id="3" name="Text 1"/>
          <p:cNvSpPr/>
          <p:nvPr/>
        </p:nvSpPr>
        <p:spPr>
          <a:xfrm>
            <a:off x="496119" y="961281"/>
            <a:ext cx="8151763" cy="357188"/>
          </a:xfrm>
          <a:prstGeom prst="rect">
            <a:avLst/>
          </a:prstGeom>
          <a:noFill/>
          <a:ln/>
        </p:spPr>
        <p:txBody>
          <a:bodyPr wrap="squar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Instructions:</a:t>
            </a:r>
            <a:r>
              <a:rPr lang="en-US" sz="950" dirty="0">
                <a:solidFill>
                  <a:srgbClr val="15213F"/>
                </a:solidFill>
                <a:latin typeface="Roboto" pitchFamily="34" charset="0"/>
                <a:ea typeface="Roboto" pitchFamily="34" charset="-122"/>
                <a:cs typeface="Roboto" pitchFamily="34" charset="-120"/>
              </a:rPr>
              <a:t> Look at each prompt below. Some are missing details that might help. Identify which of the key elements (Clear Instructions, Context, Format, Constraints) is missing, and explain why adding it could make the answer better. Remember: sometimes a short prompt is fine!</a:t>
            </a:r>
            <a:endParaRPr lang="en-US" sz="950" dirty="0"/>
          </a:p>
        </p:txBody>
      </p:sp>
      <p:sp>
        <p:nvSpPr>
          <p:cNvPr id="4" name="Shape 2"/>
          <p:cNvSpPr/>
          <p:nvPr/>
        </p:nvSpPr>
        <p:spPr>
          <a:xfrm>
            <a:off x="496119" y="1407765"/>
            <a:ext cx="8151763" cy="3243263"/>
          </a:xfrm>
          <a:prstGeom prst="roundRect">
            <a:avLst>
              <a:gd name="adj" fmla="val 459"/>
            </a:avLst>
          </a:prstGeom>
          <a:noFill/>
          <a:ln w="4763">
            <a:solidFill>
              <a:srgbClr val="000000">
                <a:alpha val="8000"/>
              </a:srgbClr>
            </a:solidFill>
            <a:prstDash val="solid"/>
          </a:ln>
        </p:spPr>
        <p:txBody>
          <a:bodyPr/>
          <a:lstStyle/>
          <a:p>
            <a:endParaRPr lang="en-IN"/>
          </a:p>
        </p:txBody>
      </p:sp>
      <p:sp>
        <p:nvSpPr>
          <p:cNvPr id="5" name="Shape 3"/>
          <p:cNvSpPr/>
          <p:nvPr/>
        </p:nvSpPr>
        <p:spPr>
          <a:xfrm>
            <a:off x="500881" y="1412528"/>
            <a:ext cx="8142238" cy="283369"/>
          </a:xfrm>
          <a:prstGeom prst="rect">
            <a:avLst/>
          </a:prstGeom>
          <a:solidFill>
            <a:srgbClr val="FFFFFF">
              <a:alpha val="4000"/>
            </a:srgbClr>
          </a:solidFill>
          <a:ln/>
        </p:spPr>
        <p:txBody>
          <a:bodyPr/>
          <a:lstStyle/>
          <a:p>
            <a:endParaRPr lang="en-IN"/>
          </a:p>
        </p:txBody>
      </p:sp>
      <p:sp>
        <p:nvSpPr>
          <p:cNvPr id="6" name="Text 4"/>
          <p:cNvSpPr/>
          <p:nvPr/>
        </p:nvSpPr>
        <p:spPr>
          <a:xfrm>
            <a:off x="600298" y="1464915"/>
            <a:ext cx="206276"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a:t>
            </a:r>
            <a:endParaRPr lang="en-US" sz="950" dirty="0"/>
          </a:p>
        </p:txBody>
      </p:sp>
      <p:sp>
        <p:nvSpPr>
          <p:cNvPr id="7" name="Text 5"/>
          <p:cNvSpPr/>
          <p:nvPr/>
        </p:nvSpPr>
        <p:spPr>
          <a:xfrm>
            <a:off x="1009724" y="1464915"/>
            <a:ext cx="2722290"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Prompt</a:t>
            </a:r>
            <a:endParaRPr lang="en-US" sz="950" dirty="0"/>
          </a:p>
        </p:txBody>
      </p:sp>
      <p:sp>
        <p:nvSpPr>
          <p:cNvPr id="8" name="Text 6"/>
          <p:cNvSpPr/>
          <p:nvPr/>
        </p:nvSpPr>
        <p:spPr>
          <a:xfrm>
            <a:off x="3935164" y="1464915"/>
            <a:ext cx="1480617"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Missing Element(s)</a:t>
            </a:r>
            <a:endParaRPr lang="en-US" sz="950" dirty="0"/>
          </a:p>
        </p:txBody>
      </p:sp>
      <p:sp>
        <p:nvSpPr>
          <p:cNvPr id="9" name="Text 7"/>
          <p:cNvSpPr/>
          <p:nvPr/>
        </p:nvSpPr>
        <p:spPr>
          <a:xfrm>
            <a:off x="5618931" y="1464915"/>
            <a:ext cx="2924994" cy="178594"/>
          </a:xfrm>
          <a:prstGeom prst="rect">
            <a:avLst/>
          </a:prstGeom>
          <a:noFill/>
          <a:ln/>
        </p:spPr>
        <p:txBody>
          <a:bodyPr wrap="none" lIns="0" tIns="0" rIns="0" bIns="0" rtlCol="0" anchor="t"/>
          <a:lstStyle/>
          <a:p>
            <a:pPr marL="0" indent="0" algn="l">
              <a:lnSpc>
                <a:spcPts val="1400"/>
              </a:lnSpc>
              <a:buNone/>
            </a:pPr>
            <a:r>
              <a:rPr lang="en-US" sz="950" b="1" dirty="0">
                <a:solidFill>
                  <a:srgbClr val="15213F"/>
                </a:solidFill>
                <a:latin typeface="Roboto" pitchFamily="34" charset="0"/>
                <a:ea typeface="Roboto" pitchFamily="34" charset="-122"/>
                <a:cs typeface="Roboto" pitchFamily="34" charset="-120"/>
              </a:rPr>
              <a:t>Why Adding It Might Help</a:t>
            </a:r>
            <a:endParaRPr lang="en-US" sz="950" dirty="0"/>
          </a:p>
        </p:txBody>
      </p:sp>
      <p:sp>
        <p:nvSpPr>
          <p:cNvPr id="10" name="Shape 8"/>
          <p:cNvSpPr/>
          <p:nvPr/>
        </p:nvSpPr>
        <p:spPr>
          <a:xfrm>
            <a:off x="500881" y="1695896"/>
            <a:ext cx="8142238" cy="640556"/>
          </a:xfrm>
          <a:prstGeom prst="rect">
            <a:avLst/>
          </a:prstGeom>
          <a:solidFill>
            <a:srgbClr val="000000">
              <a:alpha val="4000"/>
            </a:srgbClr>
          </a:solidFill>
          <a:ln/>
        </p:spPr>
        <p:txBody>
          <a:bodyPr/>
          <a:lstStyle/>
          <a:p>
            <a:endParaRPr lang="en-IN"/>
          </a:p>
        </p:txBody>
      </p:sp>
      <p:sp>
        <p:nvSpPr>
          <p:cNvPr id="11" name="Text 9"/>
          <p:cNvSpPr/>
          <p:nvPr/>
        </p:nvSpPr>
        <p:spPr>
          <a:xfrm>
            <a:off x="600298" y="1748284"/>
            <a:ext cx="206276"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1</a:t>
            </a:r>
            <a:endParaRPr lang="en-US" sz="950" dirty="0"/>
          </a:p>
        </p:txBody>
      </p:sp>
      <p:sp>
        <p:nvSpPr>
          <p:cNvPr id="12" name="Text 10"/>
          <p:cNvSpPr/>
          <p:nvPr/>
        </p:nvSpPr>
        <p:spPr>
          <a:xfrm>
            <a:off x="1009724" y="1748284"/>
            <a:ext cx="2722290"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"Tell me about Mars"</a:t>
            </a:r>
            <a:endParaRPr lang="en-US" sz="950" dirty="0"/>
          </a:p>
        </p:txBody>
      </p:sp>
      <p:sp>
        <p:nvSpPr>
          <p:cNvPr id="13" name="Text 11"/>
          <p:cNvSpPr/>
          <p:nvPr/>
        </p:nvSpPr>
        <p:spPr>
          <a:xfrm>
            <a:off x="3935164" y="1748284"/>
            <a:ext cx="1480617"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Context, Format, Constraints</a:t>
            </a:r>
            <a:endParaRPr lang="en-US" sz="950" dirty="0"/>
          </a:p>
        </p:txBody>
      </p:sp>
      <p:sp>
        <p:nvSpPr>
          <p:cNvPr id="14" name="Text 12"/>
          <p:cNvSpPr/>
          <p:nvPr/>
        </p:nvSpPr>
        <p:spPr>
          <a:xfrm>
            <a:off x="5618931" y="1748284"/>
            <a:ext cx="2924994" cy="535781"/>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Without context, AI doesn't know your age or interest; without format/constraints, answer may be too long or technical.</a:t>
            </a:r>
            <a:endParaRPr lang="en-US" sz="950" dirty="0"/>
          </a:p>
        </p:txBody>
      </p:sp>
      <p:sp>
        <p:nvSpPr>
          <p:cNvPr id="15" name="Shape 13"/>
          <p:cNvSpPr/>
          <p:nvPr/>
        </p:nvSpPr>
        <p:spPr>
          <a:xfrm>
            <a:off x="500881" y="2336453"/>
            <a:ext cx="8142238" cy="461962"/>
          </a:xfrm>
          <a:prstGeom prst="rect">
            <a:avLst/>
          </a:prstGeom>
          <a:solidFill>
            <a:srgbClr val="FFFFFF">
              <a:alpha val="4000"/>
            </a:srgbClr>
          </a:solidFill>
          <a:ln/>
        </p:spPr>
        <p:txBody>
          <a:bodyPr/>
          <a:lstStyle/>
          <a:p>
            <a:endParaRPr lang="en-IN"/>
          </a:p>
        </p:txBody>
      </p:sp>
      <p:sp>
        <p:nvSpPr>
          <p:cNvPr id="16" name="Text 14"/>
          <p:cNvSpPr/>
          <p:nvPr/>
        </p:nvSpPr>
        <p:spPr>
          <a:xfrm>
            <a:off x="600298" y="2388840"/>
            <a:ext cx="206276"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2</a:t>
            </a:r>
            <a:endParaRPr lang="en-US" sz="950" dirty="0"/>
          </a:p>
        </p:txBody>
      </p:sp>
      <p:sp>
        <p:nvSpPr>
          <p:cNvPr id="17" name="Text 15"/>
          <p:cNvSpPr/>
          <p:nvPr/>
        </p:nvSpPr>
        <p:spPr>
          <a:xfrm>
            <a:off x="1009724" y="2388840"/>
            <a:ext cx="2722290"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"Explain how a car engine works"</a:t>
            </a:r>
            <a:endParaRPr lang="en-US" sz="950" dirty="0"/>
          </a:p>
        </p:txBody>
      </p:sp>
      <p:sp>
        <p:nvSpPr>
          <p:cNvPr id="18" name="Text 16"/>
          <p:cNvSpPr/>
          <p:nvPr/>
        </p:nvSpPr>
        <p:spPr>
          <a:xfrm>
            <a:off x="3935164" y="2388840"/>
            <a:ext cx="1480617"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Context, Format, Constraints</a:t>
            </a:r>
            <a:endParaRPr lang="en-US" sz="950" dirty="0"/>
          </a:p>
        </p:txBody>
      </p:sp>
      <p:sp>
        <p:nvSpPr>
          <p:cNvPr id="19" name="Text 17"/>
          <p:cNvSpPr/>
          <p:nvPr/>
        </p:nvSpPr>
        <p:spPr>
          <a:xfrm>
            <a:off x="5618931" y="2388840"/>
            <a:ext cx="2924994"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Has instruction but no audience, no structure, no limits.</a:t>
            </a:r>
            <a:endParaRPr lang="en-US" sz="950" dirty="0"/>
          </a:p>
        </p:txBody>
      </p:sp>
      <p:sp>
        <p:nvSpPr>
          <p:cNvPr id="20" name="Shape 18"/>
          <p:cNvSpPr/>
          <p:nvPr/>
        </p:nvSpPr>
        <p:spPr>
          <a:xfrm>
            <a:off x="500881" y="2798415"/>
            <a:ext cx="8142238" cy="461962"/>
          </a:xfrm>
          <a:prstGeom prst="rect">
            <a:avLst/>
          </a:prstGeom>
          <a:solidFill>
            <a:srgbClr val="000000">
              <a:alpha val="4000"/>
            </a:srgbClr>
          </a:solidFill>
          <a:ln/>
        </p:spPr>
        <p:txBody>
          <a:bodyPr/>
          <a:lstStyle/>
          <a:p>
            <a:endParaRPr lang="en-IN"/>
          </a:p>
        </p:txBody>
      </p:sp>
      <p:sp>
        <p:nvSpPr>
          <p:cNvPr id="21" name="Text 19"/>
          <p:cNvSpPr/>
          <p:nvPr/>
        </p:nvSpPr>
        <p:spPr>
          <a:xfrm>
            <a:off x="600298" y="2850803"/>
            <a:ext cx="206276"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3</a:t>
            </a:r>
            <a:endParaRPr lang="en-US" sz="950" dirty="0"/>
          </a:p>
        </p:txBody>
      </p:sp>
      <p:sp>
        <p:nvSpPr>
          <p:cNvPr id="22" name="Text 20"/>
          <p:cNvSpPr/>
          <p:nvPr/>
        </p:nvSpPr>
        <p:spPr>
          <a:xfrm>
            <a:off x="1009724" y="2850803"/>
            <a:ext cx="2722290"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"Write a story"</a:t>
            </a:r>
            <a:endParaRPr lang="en-US" sz="950" dirty="0"/>
          </a:p>
        </p:txBody>
      </p:sp>
      <p:sp>
        <p:nvSpPr>
          <p:cNvPr id="23" name="Text 21"/>
          <p:cNvSpPr/>
          <p:nvPr/>
        </p:nvSpPr>
        <p:spPr>
          <a:xfrm>
            <a:off x="3935164" y="2850803"/>
            <a:ext cx="1480617"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Context, Format, Constraints</a:t>
            </a:r>
            <a:endParaRPr lang="en-US" sz="950" dirty="0"/>
          </a:p>
        </p:txBody>
      </p:sp>
      <p:sp>
        <p:nvSpPr>
          <p:cNvPr id="24" name="Text 22"/>
          <p:cNvSpPr/>
          <p:nvPr/>
        </p:nvSpPr>
        <p:spPr>
          <a:xfrm>
            <a:off x="5618931" y="2850803"/>
            <a:ext cx="2924994"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Vague – no audience, no structure, no limits.</a:t>
            </a:r>
            <a:endParaRPr lang="en-US" sz="950" dirty="0"/>
          </a:p>
        </p:txBody>
      </p:sp>
      <p:sp>
        <p:nvSpPr>
          <p:cNvPr id="25" name="Shape 23"/>
          <p:cNvSpPr/>
          <p:nvPr/>
        </p:nvSpPr>
        <p:spPr>
          <a:xfrm>
            <a:off x="500881" y="3260378"/>
            <a:ext cx="8142238" cy="461962"/>
          </a:xfrm>
          <a:prstGeom prst="rect">
            <a:avLst/>
          </a:prstGeom>
          <a:solidFill>
            <a:srgbClr val="FFFFFF">
              <a:alpha val="4000"/>
            </a:srgbClr>
          </a:solidFill>
          <a:ln/>
        </p:spPr>
        <p:txBody>
          <a:bodyPr/>
          <a:lstStyle/>
          <a:p>
            <a:endParaRPr lang="en-IN"/>
          </a:p>
        </p:txBody>
      </p:sp>
      <p:sp>
        <p:nvSpPr>
          <p:cNvPr id="26" name="Text 24"/>
          <p:cNvSpPr/>
          <p:nvPr/>
        </p:nvSpPr>
        <p:spPr>
          <a:xfrm>
            <a:off x="600298" y="3312765"/>
            <a:ext cx="206276"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4</a:t>
            </a:r>
            <a:endParaRPr lang="en-US" sz="950" dirty="0"/>
          </a:p>
        </p:txBody>
      </p:sp>
      <p:sp>
        <p:nvSpPr>
          <p:cNvPr id="27" name="Text 25"/>
          <p:cNvSpPr/>
          <p:nvPr/>
        </p:nvSpPr>
        <p:spPr>
          <a:xfrm>
            <a:off x="1009724" y="3312765"/>
            <a:ext cx="2722290"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"Give me 5 ideas for a birthday party in a bulleted list"</a:t>
            </a:r>
            <a:endParaRPr lang="en-US" sz="950" dirty="0"/>
          </a:p>
        </p:txBody>
      </p:sp>
      <p:sp>
        <p:nvSpPr>
          <p:cNvPr id="28" name="Text 26"/>
          <p:cNvSpPr/>
          <p:nvPr/>
        </p:nvSpPr>
        <p:spPr>
          <a:xfrm>
            <a:off x="3935164" y="3312765"/>
            <a:ext cx="1480617"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Context, Constraints</a:t>
            </a:r>
            <a:endParaRPr lang="en-US" sz="950" dirty="0"/>
          </a:p>
        </p:txBody>
      </p:sp>
      <p:sp>
        <p:nvSpPr>
          <p:cNvPr id="29" name="Text 27"/>
          <p:cNvSpPr/>
          <p:nvPr/>
        </p:nvSpPr>
        <p:spPr>
          <a:xfrm>
            <a:off x="5618931" y="3312765"/>
            <a:ext cx="2924994"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Has format (bulleted list) but no context about age or theme, and no constraints like length or style.</a:t>
            </a:r>
            <a:endParaRPr lang="en-US" sz="950" dirty="0"/>
          </a:p>
        </p:txBody>
      </p:sp>
      <p:sp>
        <p:nvSpPr>
          <p:cNvPr id="30" name="Shape 28"/>
          <p:cNvSpPr/>
          <p:nvPr/>
        </p:nvSpPr>
        <p:spPr>
          <a:xfrm>
            <a:off x="500881" y="3722340"/>
            <a:ext cx="8142238" cy="461962"/>
          </a:xfrm>
          <a:prstGeom prst="rect">
            <a:avLst/>
          </a:prstGeom>
          <a:solidFill>
            <a:srgbClr val="000000">
              <a:alpha val="4000"/>
            </a:srgbClr>
          </a:solidFill>
          <a:ln/>
        </p:spPr>
        <p:txBody>
          <a:bodyPr/>
          <a:lstStyle/>
          <a:p>
            <a:endParaRPr lang="en-IN"/>
          </a:p>
        </p:txBody>
      </p:sp>
      <p:sp>
        <p:nvSpPr>
          <p:cNvPr id="31" name="Text 29"/>
          <p:cNvSpPr/>
          <p:nvPr/>
        </p:nvSpPr>
        <p:spPr>
          <a:xfrm>
            <a:off x="600298" y="3774728"/>
            <a:ext cx="206276"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5</a:t>
            </a:r>
            <a:endParaRPr lang="en-US" sz="950" dirty="0"/>
          </a:p>
        </p:txBody>
      </p:sp>
      <p:sp>
        <p:nvSpPr>
          <p:cNvPr id="32" name="Text 30"/>
          <p:cNvSpPr/>
          <p:nvPr/>
        </p:nvSpPr>
        <p:spPr>
          <a:xfrm>
            <a:off x="1009724" y="3774728"/>
            <a:ext cx="2722290"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"Describe how to take care of a pet in simple words, no more than 3 sentences."</a:t>
            </a:r>
            <a:endParaRPr lang="en-US" sz="950" dirty="0"/>
          </a:p>
        </p:txBody>
      </p:sp>
      <p:sp>
        <p:nvSpPr>
          <p:cNvPr id="33" name="Text 31"/>
          <p:cNvSpPr/>
          <p:nvPr/>
        </p:nvSpPr>
        <p:spPr>
          <a:xfrm>
            <a:off x="3935164" y="3774728"/>
            <a:ext cx="1480617"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Instructions, Context</a:t>
            </a:r>
            <a:endParaRPr lang="en-US" sz="950" dirty="0"/>
          </a:p>
        </p:txBody>
      </p:sp>
      <p:sp>
        <p:nvSpPr>
          <p:cNvPr id="34" name="Text 32"/>
          <p:cNvSpPr/>
          <p:nvPr/>
        </p:nvSpPr>
        <p:spPr>
          <a:xfrm>
            <a:off x="5618931" y="3774728"/>
            <a:ext cx="2924994"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Has constraints and format, but no clear instruction (just "describe") and no context about audience.</a:t>
            </a:r>
            <a:endParaRPr lang="en-US" sz="950" dirty="0"/>
          </a:p>
        </p:txBody>
      </p:sp>
      <p:sp>
        <p:nvSpPr>
          <p:cNvPr id="35" name="Shape 33"/>
          <p:cNvSpPr/>
          <p:nvPr/>
        </p:nvSpPr>
        <p:spPr>
          <a:xfrm>
            <a:off x="500881" y="4184303"/>
            <a:ext cx="8142238" cy="461962"/>
          </a:xfrm>
          <a:prstGeom prst="rect">
            <a:avLst/>
          </a:prstGeom>
          <a:solidFill>
            <a:srgbClr val="FFFFFF">
              <a:alpha val="4000"/>
            </a:srgbClr>
          </a:solidFill>
          <a:ln/>
        </p:spPr>
        <p:txBody>
          <a:bodyPr/>
          <a:lstStyle/>
          <a:p>
            <a:endParaRPr lang="en-IN"/>
          </a:p>
        </p:txBody>
      </p:sp>
      <p:sp>
        <p:nvSpPr>
          <p:cNvPr id="36" name="Text 34"/>
          <p:cNvSpPr/>
          <p:nvPr/>
        </p:nvSpPr>
        <p:spPr>
          <a:xfrm>
            <a:off x="600298" y="4236690"/>
            <a:ext cx="206276"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6</a:t>
            </a:r>
            <a:endParaRPr lang="en-US" sz="950" dirty="0"/>
          </a:p>
        </p:txBody>
      </p:sp>
      <p:sp>
        <p:nvSpPr>
          <p:cNvPr id="37" name="Text 35"/>
          <p:cNvSpPr/>
          <p:nvPr/>
        </p:nvSpPr>
        <p:spPr>
          <a:xfrm>
            <a:off x="1009724" y="4236690"/>
            <a:ext cx="2722290"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"Help me plan a surprise party for my best friend"</a:t>
            </a:r>
            <a:endParaRPr lang="en-US" sz="950" dirty="0"/>
          </a:p>
        </p:txBody>
      </p:sp>
      <p:sp>
        <p:nvSpPr>
          <p:cNvPr id="38" name="Text 36"/>
          <p:cNvSpPr/>
          <p:nvPr/>
        </p:nvSpPr>
        <p:spPr>
          <a:xfrm>
            <a:off x="3935164" y="4236690"/>
            <a:ext cx="1480617" cy="178594"/>
          </a:xfrm>
          <a:prstGeom prst="rect">
            <a:avLst/>
          </a:prstGeom>
          <a:noFill/>
          <a:ln/>
        </p:spPr>
        <p:txBody>
          <a:bodyPr wrap="non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Constraints</a:t>
            </a:r>
            <a:endParaRPr lang="en-US" sz="950" dirty="0"/>
          </a:p>
        </p:txBody>
      </p:sp>
      <p:sp>
        <p:nvSpPr>
          <p:cNvPr id="39" name="Text 37"/>
          <p:cNvSpPr/>
          <p:nvPr/>
        </p:nvSpPr>
        <p:spPr>
          <a:xfrm>
            <a:off x="5618931" y="4236690"/>
            <a:ext cx="2924994" cy="357188"/>
          </a:xfrm>
          <a:prstGeom prst="rect">
            <a:avLst/>
          </a:prstGeom>
          <a:noFill/>
          <a:ln/>
        </p:spPr>
        <p:txBody>
          <a:bodyPr wrap="square" lIns="0" tIns="0" rIns="0" bIns="0" rtlCol="0" anchor="t"/>
          <a:lstStyle/>
          <a:p>
            <a:pPr marL="0" indent="0" algn="l">
              <a:lnSpc>
                <a:spcPts val="1400"/>
              </a:lnSpc>
              <a:buNone/>
            </a:pPr>
            <a:r>
              <a:rPr lang="en-US" sz="950" dirty="0">
                <a:solidFill>
                  <a:srgbClr val="15213F"/>
                </a:solidFill>
                <a:latin typeface="Roboto" pitchFamily="34" charset="0"/>
                <a:ea typeface="Roboto" pitchFamily="34" charset="-122"/>
                <a:cs typeface="Roboto" pitchFamily="34" charset="-120"/>
              </a:rPr>
              <a:t>Has instruction, context, and format implied, but no constraints like length or style.</a:t>
            </a:r>
            <a:endParaRPr lang="en-US"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8" grpId="0" animBg="1"/>
      <p:bldP spid="19" grpId="0" animBg="1"/>
      <p:bldP spid="23" grpId="0" animBg="1"/>
      <p:bldP spid="24" grpId="0" animBg="1"/>
      <p:bldP spid="28" grpId="0" animBg="1"/>
      <p:bldP spid="29" grpId="0" animBg="1"/>
      <p:bldP spid="33" grpId="0" animBg="1"/>
      <p:bldP spid="34" grpId="0" animBg="1"/>
      <p:bldP spid="38" grpId="0" animBg="1"/>
      <p:bldP spid="3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594917"/>
            <a:ext cx="4386337"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Common Prompting Mistakes</a:t>
            </a:r>
            <a:endParaRPr lang="en-US" sz="2400" dirty="0"/>
          </a:p>
        </p:txBody>
      </p:sp>
      <p:sp>
        <p:nvSpPr>
          <p:cNvPr id="4" name="Text 1"/>
          <p:cNvSpPr/>
          <p:nvPr/>
        </p:nvSpPr>
        <p:spPr>
          <a:xfrm>
            <a:off x="496119" y="2168500"/>
            <a:ext cx="4722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5" name="Text 2"/>
          <p:cNvSpPr/>
          <p:nvPr/>
        </p:nvSpPr>
        <p:spPr>
          <a:xfrm>
            <a:off x="496119" y="2556123"/>
            <a:ext cx="4722763"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Even experienced users make these mistakes. Knowing them helps you avoid them. Each mistake has a real‑world pattern - the way people actually use AI and an insight that helps you become a better prompt engineer.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1663378"/>
            <a:ext cx="3508400"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Common Prompting Mistakes</a:t>
            </a:r>
            <a:endParaRPr lang="en-US" sz="1950" dirty="0"/>
          </a:p>
        </p:txBody>
      </p:sp>
      <p:grpSp>
        <p:nvGrpSpPr>
          <p:cNvPr id="18" name="Group 17">
            <a:extLst>
              <a:ext uri="{FF2B5EF4-FFF2-40B4-BE49-F238E27FC236}">
                <a16:creationId xmlns:a16="http://schemas.microsoft.com/office/drawing/2014/main" id="{17EFD645-890F-E338-85FE-46C274E809D4}"/>
              </a:ext>
            </a:extLst>
          </p:cNvPr>
          <p:cNvGrpSpPr/>
          <p:nvPr/>
        </p:nvGrpSpPr>
        <p:grpSpPr>
          <a:xfrm>
            <a:off x="496119" y="2221483"/>
            <a:ext cx="2466537" cy="470371"/>
            <a:chOff x="496119" y="2221483"/>
            <a:chExt cx="2466537" cy="470371"/>
          </a:xfrm>
        </p:grpSpPr>
        <p:sp>
          <p:nvSpPr>
            <p:cNvPr id="3" name="Shape 1"/>
            <p:cNvSpPr/>
            <p:nvPr/>
          </p:nvSpPr>
          <p:spPr>
            <a:xfrm>
              <a:off x="496119" y="2221483"/>
              <a:ext cx="2466537" cy="470371"/>
            </a:xfrm>
            <a:prstGeom prst="roundRect">
              <a:avLst>
                <a:gd name="adj" fmla="val 2801"/>
              </a:avLst>
            </a:prstGeom>
            <a:solidFill>
              <a:srgbClr val="FBFCFE"/>
            </a:solidFill>
            <a:ln w="14288">
              <a:solidFill>
                <a:srgbClr val="CFD2D8"/>
              </a:solidFill>
              <a:prstDash val="solid"/>
            </a:ln>
          </p:spPr>
          <p:txBody>
            <a:bodyPr/>
            <a:lstStyle/>
            <a:p>
              <a:endParaRPr lang="en-IN"/>
            </a:p>
          </p:txBody>
        </p:sp>
        <p:sp>
          <p:nvSpPr>
            <p:cNvPr id="4" name="Text 2"/>
            <p:cNvSpPr/>
            <p:nvPr/>
          </p:nvSpPr>
          <p:spPr>
            <a:xfrm>
              <a:off x="625562" y="2342770"/>
              <a:ext cx="2127322" cy="137275"/>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Assuming AI Understands You</a:t>
              </a:r>
              <a:endParaRPr lang="en-US" sz="1200" dirty="0"/>
            </a:p>
          </p:txBody>
        </p:sp>
      </p:grpSp>
      <p:grpSp>
        <p:nvGrpSpPr>
          <p:cNvPr id="19" name="Group 18">
            <a:extLst>
              <a:ext uri="{FF2B5EF4-FFF2-40B4-BE49-F238E27FC236}">
                <a16:creationId xmlns:a16="http://schemas.microsoft.com/office/drawing/2014/main" id="{7DDEED55-567A-0FBA-3730-462C84001DEE}"/>
              </a:ext>
            </a:extLst>
          </p:cNvPr>
          <p:cNvGrpSpPr/>
          <p:nvPr/>
        </p:nvGrpSpPr>
        <p:grpSpPr>
          <a:xfrm>
            <a:off x="3092099" y="2221483"/>
            <a:ext cx="2528413" cy="470371"/>
            <a:chOff x="3092099" y="2221483"/>
            <a:chExt cx="2528413" cy="470371"/>
          </a:xfrm>
        </p:grpSpPr>
        <p:sp>
          <p:nvSpPr>
            <p:cNvPr id="5" name="Shape 3"/>
            <p:cNvSpPr/>
            <p:nvPr/>
          </p:nvSpPr>
          <p:spPr>
            <a:xfrm>
              <a:off x="3092099" y="2221483"/>
              <a:ext cx="2528413" cy="470371"/>
            </a:xfrm>
            <a:prstGeom prst="roundRect">
              <a:avLst>
                <a:gd name="adj" fmla="val 2801"/>
              </a:avLst>
            </a:prstGeom>
            <a:solidFill>
              <a:srgbClr val="FBFCFE"/>
            </a:solidFill>
            <a:ln w="14288">
              <a:solidFill>
                <a:srgbClr val="CFD2D8"/>
              </a:solidFill>
              <a:prstDash val="solid"/>
            </a:ln>
          </p:spPr>
          <p:txBody>
            <a:bodyPr/>
            <a:lstStyle/>
            <a:p>
              <a:endParaRPr lang="en-IN"/>
            </a:p>
          </p:txBody>
        </p:sp>
        <p:sp>
          <p:nvSpPr>
            <p:cNvPr id="6" name="Text 4"/>
            <p:cNvSpPr/>
            <p:nvPr/>
          </p:nvSpPr>
          <p:spPr>
            <a:xfrm>
              <a:off x="3224786" y="2359744"/>
              <a:ext cx="2186839" cy="137275"/>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Giving Incomplete Information</a:t>
              </a:r>
              <a:endParaRPr lang="en-US" sz="1200" dirty="0"/>
            </a:p>
          </p:txBody>
        </p:sp>
      </p:grpSp>
      <p:grpSp>
        <p:nvGrpSpPr>
          <p:cNvPr id="20" name="Group 19">
            <a:extLst>
              <a:ext uri="{FF2B5EF4-FFF2-40B4-BE49-F238E27FC236}">
                <a16:creationId xmlns:a16="http://schemas.microsoft.com/office/drawing/2014/main" id="{85EA0652-72A3-BBF0-EB13-EBB28912FB35}"/>
              </a:ext>
            </a:extLst>
          </p:cNvPr>
          <p:cNvGrpSpPr/>
          <p:nvPr/>
        </p:nvGrpSpPr>
        <p:grpSpPr>
          <a:xfrm>
            <a:off x="5749956" y="2221483"/>
            <a:ext cx="2897852" cy="470371"/>
            <a:chOff x="5749956" y="2221483"/>
            <a:chExt cx="2897852" cy="470371"/>
          </a:xfrm>
        </p:grpSpPr>
        <p:sp>
          <p:nvSpPr>
            <p:cNvPr id="7" name="Shape 5"/>
            <p:cNvSpPr/>
            <p:nvPr/>
          </p:nvSpPr>
          <p:spPr>
            <a:xfrm>
              <a:off x="5749956" y="2221483"/>
              <a:ext cx="2897852" cy="470371"/>
            </a:xfrm>
            <a:prstGeom prst="roundRect">
              <a:avLst>
                <a:gd name="adj" fmla="val 2801"/>
              </a:avLst>
            </a:prstGeom>
            <a:solidFill>
              <a:srgbClr val="FBFCFE"/>
            </a:solidFill>
            <a:ln w="14288">
              <a:solidFill>
                <a:srgbClr val="CFD2D8"/>
              </a:solidFill>
              <a:prstDash val="solid"/>
            </a:ln>
          </p:spPr>
          <p:txBody>
            <a:bodyPr/>
            <a:lstStyle/>
            <a:p>
              <a:endParaRPr lang="en-IN"/>
            </a:p>
          </p:txBody>
        </p:sp>
        <p:sp>
          <p:nvSpPr>
            <p:cNvPr id="8" name="Text 6"/>
            <p:cNvSpPr/>
            <p:nvPr/>
          </p:nvSpPr>
          <p:spPr>
            <a:xfrm>
              <a:off x="5902035" y="2359745"/>
              <a:ext cx="2593694" cy="274550"/>
            </a:xfrm>
            <a:prstGeom prst="rect">
              <a:avLst/>
            </a:prstGeom>
            <a:noFill/>
            <a:ln/>
          </p:spPr>
          <p:txBody>
            <a:bodyPr wrap="squar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Not Checking Output Against Need</a:t>
              </a:r>
              <a:endParaRPr lang="en-US" sz="1200" dirty="0"/>
            </a:p>
          </p:txBody>
        </p:sp>
      </p:grpSp>
      <p:grpSp>
        <p:nvGrpSpPr>
          <p:cNvPr id="16" name="Group 15">
            <a:extLst>
              <a:ext uri="{FF2B5EF4-FFF2-40B4-BE49-F238E27FC236}">
                <a16:creationId xmlns:a16="http://schemas.microsoft.com/office/drawing/2014/main" id="{EDB8DE55-0BD3-551C-0C75-410897608C7A}"/>
              </a:ext>
            </a:extLst>
          </p:cNvPr>
          <p:cNvGrpSpPr/>
          <p:nvPr/>
        </p:nvGrpSpPr>
        <p:grpSpPr>
          <a:xfrm>
            <a:off x="496119" y="3009677"/>
            <a:ext cx="4013820" cy="470371"/>
            <a:chOff x="496119" y="3009677"/>
            <a:chExt cx="4013820" cy="470371"/>
          </a:xfrm>
        </p:grpSpPr>
        <p:sp>
          <p:nvSpPr>
            <p:cNvPr id="9" name="Shape 7"/>
            <p:cNvSpPr/>
            <p:nvPr/>
          </p:nvSpPr>
          <p:spPr>
            <a:xfrm>
              <a:off x="496119" y="3009677"/>
              <a:ext cx="4013820" cy="470371"/>
            </a:xfrm>
            <a:prstGeom prst="roundRect">
              <a:avLst>
                <a:gd name="adj" fmla="val 3956"/>
              </a:avLst>
            </a:prstGeom>
            <a:solidFill>
              <a:srgbClr val="FBFCFE"/>
            </a:solidFill>
            <a:ln w="14288">
              <a:solidFill>
                <a:srgbClr val="CFD2D8"/>
              </a:solidFill>
              <a:prstDash val="solid"/>
            </a:ln>
          </p:spPr>
          <p:txBody>
            <a:bodyPr/>
            <a:lstStyle/>
            <a:p>
              <a:endParaRPr lang="en-IN"/>
            </a:p>
          </p:txBody>
        </p:sp>
        <p:sp>
          <p:nvSpPr>
            <p:cNvPr id="10" name="Text 8"/>
            <p:cNvSpPr/>
            <p:nvPr/>
          </p:nvSpPr>
          <p:spPr>
            <a:xfrm>
              <a:off x="634380" y="3147938"/>
              <a:ext cx="2595414"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Accepting the First Answer Blindly</a:t>
              </a:r>
              <a:endParaRPr lang="en-US" sz="1200" dirty="0"/>
            </a:p>
          </p:txBody>
        </p:sp>
      </p:grpSp>
      <p:grpSp>
        <p:nvGrpSpPr>
          <p:cNvPr id="17" name="Group 16">
            <a:extLst>
              <a:ext uri="{FF2B5EF4-FFF2-40B4-BE49-F238E27FC236}">
                <a16:creationId xmlns:a16="http://schemas.microsoft.com/office/drawing/2014/main" id="{66790D04-4896-E9A0-5CA4-8D3860B22D4A}"/>
              </a:ext>
            </a:extLst>
          </p:cNvPr>
          <p:cNvGrpSpPr/>
          <p:nvPr/>
        </p:nvGrpSpPr>
        <p:grpSpPr>
          <a:xfrm>
            <a:off x="4633913" y="3009677"/>
            <a:ext cx="4013895" cy="470371"/>
            <a:chOff x="4633913" y="3009677"/>
            <a:chExt cx="4013895" cy="470371"/>
          </a:xfrm>
        </p:grpSpPr>
        <p:sp>
          <p:nvSpPr>
            <p:cNvPr id="11" name="Shape 9"/>
            <p:cNvSpPr/>
            <p:nvPr/>
          </p:nvSpPr>
          <p:spPr>
            <a:xfrm>
              <a:off x="4633913" y="3009677"/>
              <a:ext cx="4013895" cy="470371"/>
            </a:xfrm>
            <a:prstGeom prst="roundRect">
              <a:avLst>
                <a:gd name="adj" fmla="val 3956"/>
              </a:avLst>
            </a:prstGeom>
            <a:solidFill>
              <a:srgbClr val="FBFCFE"/>
            </a:solidFill>
            <a:ln w="14288">
              <a:solidFill>
                <a:srgbClr val="CFD2D8"/>
              </a:solidFill>
              <a:prstDash val="solid"/>
            </a:ln>
          </p:spPr>
          <p:txBody>
            <a:bodyPr/>
            <a:lstStyle/>
            <a:p>
              <a:endParaRPr lang="en-IN"/>
            </a:p>
          </p:txBody>
        </p:sp>
        <p:sp>
          <p:nvSpPr>
            <p:cNvPr id="12" name="Text 10"/>
            <p:cNvSpPr/>
            <p:nvPr/>
          </p:nvSpPr>
          <p:spPr>
            <a:xfrm>
              <a:off x="4772174" y="3147938"/>
              <a:ext cx="1759148"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Overloading the Prompt</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96119" y="409575"/>
            <a:ext cx="3686026"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Weak vs. Strong Prompts</a:t>
            </a:r>
            <a:endParaRPr lang="en-US" sz="2400" dirty="0"/>
          </a:p>
        </p:txBody>
      </p:sp>
      <p:sp>
        <p:nvSpPr>
          <p:cNvPr id="3" name="Shape 1"/>
          <p:cNvSpPr/>
          <p:nvPr/>
        </p:nvSpPr>
        <p:spPr>
          <a:xfrm>
            <a:off x="496119" y="1045146"/>
            <a:ext cx="8151763" cy="3688705"/>
          </a:xfrm>
          <a:prstGeom prst="roundRect">
            <a:avLst>
              <a:gd name="adj" fmla="val 504"/>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049908"/>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1129085"/>
            <a:ext cx="371326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Weak Prompt</a:t>
            </a:r>
            <a:endParaRPr lang="en-US" sz="1200" dirty="0"/>
          </a:p>
        </p:txBody>
      </p:sp>
      <p:sp>
        <p:nvSpPr>
          <p:cNvPr id="6" name="Text 4"/>
          <p:cNvSpPr/>
          <p:nvPr/>
        </p:nvSpPr>
        <p:spPr>
          <a:xfrm>
            <a:off x="4590901" y="1129085"/>
            <a:ext cx="392824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Strong Prompt</a:t>
            </a:r>
            <a:endParaRPr lang="en-US" sz="1200" dirty="0"/>
          </a:p>
        </p:txBody>
      </p:sp>
      <p:sp>
        <p:nvSpPr>
          <p:cNvPr id="7" name="Shape 5"/>
          <p:cNvSpPr/>
          <p:nvPr/>
        </p:nvSpPr>
        <p:spPr>
          <a:xfrm>
            <a:off x="500881" y="1456358"/>
            <a:ext cx="8142238" cy="654546"/>
          </a:xfrm>
          <a:prstGeom prst="rect">
            <a:avLst/>
          </a:prstGeom>
          <a:solidFill>
            <a:srgbClr val="000000">
              <a:alpha val="4000"/>
            </a:srgbClr>
          </a:solidFill>
          <a:ln/>
        </p:spPr>
        <p:txBody>
          <a:bodyPr/>
          <a:lstStyle/>
          <a:p>
            <a:endParaRPr lang="en-IN"/>
          </a:p>
        </p:txBody>
      </p:sp>
      <p:sp>
        <p:nvSpPr>
          <p:cNvPr id="8" name="Text 6"/>
          <p:cNvSpPr/>
          <p:nvPr/>
        </p:nvSpPr>
        <p:spPr>
          <a:xfrm>
            <a:off x="624929" y="1535534"/>
            <a:ext cx="371326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"Make this better." </a:t>
            </a:r>
            <a:r>
              <a:rPr lang="en-US" sz="1200" i="1" dirty="0">
                <a:solidFill>
                  <a:srgbClr val="15213F"/>
                </a:solidFill>
                <a:latin typeface="Roboto" pitchFamily="34" charset="0"/>
                <a:ea typeface="Roboto" pitchFamily="34" charset="-122"/>
                <a:cs typeface="Roboto" pitchFamily="34" charset="-120"/>
              </a:rPr>
              <a:t>(assumes AI understands)</a:t>
            </a:r>
            <a:endParaRPr lang="en-US" sz="1200" dirty="0"/>
          </a:p>
        </p:txBody>
      </p:sp>
      <p:sp>
        <p:nvSpPr>
          <p:cNvPr id="9" name="Text 7"/>
          <p:cNvSpPr/>
          <p:nvPr/>
        </p:nvSpPr>
        <p:spPr>
          <a:xfrm>
            <a:off x="4590901" y="1535534"/>
            <a:ext cx="392824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"Rewrite this paragraph to be more formal and professional. Keep it the same length."</a:t>
            </a:r>
            <a:endParaRPr lang="en-US" sz="1200" dirty="0"/>
          </a:p>
        </p:txBody>
      </p:sp>
      <p:sp>
        <p:nvSpPr>
          <p:cNvPr id="10" name="Shape 8"/>
          <p:cNvSpPr/>
          <p:nvPr/>
        </p:nvSpPr>
        <p:spPr>
          <a:xfrm>
            <a:off x="500881" y="2110904"/>
            <a:ext cx="8142238" cy="654546"/>
          </a:xfrm>
          <a:prstGeom prst="rect">
            <a:avLst/>
          </a:prstGeom>
          <a:solidFill>
            <a:srgbClr val="FFFFFF">
              <a:alpha val="4000"/>
            </a:srgbClr>
          </a:solidFill>
          <a:ln/>
        </p:spPr>
        <p:txBody>
          <a:bodyPr/>
          <a:lstStyle/>
          <a:p>
            <a:endParaRPr lang="en-IN"/>
          </a:p>
        </p:txBody>
      </p:sp>
      <p:sp>
        <p:nvSpPr>
          <p:cNvPr id="11" name="Text 9"/>
          <p:cNvSpPr/>
          <p:nvPr/>
        </p:nvSpPr>
        <p:spPr>
          <a:xfrm>
            <a:off x="624929" y="2190080"/>
            <a:ext cx="371326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"Explain photosynthesis" </a:t>
            </a:r>
            <a:r>
              <a:rPr lang="en-US" sz="1200" i="1" dirty="0">
                <a:solidFill>
                  <a:srgbClr val="15213F"/>
                </a:solidFill>
                <a:latin typeface="Roboto" pitchFamily="34" charset="0"/>
                <a:ea typeface="Roboto" pitchFamily="34" charset="-122"/>
                <a:cs typeface="Roboto" pitchFamily="34" charset="-120"/>
              </a:rPr>
              <a:t>(incomplete information)</a:t>
            </a:r>
            <a:endParaRPr lang="en-US" sz="1200" dirty="0"/>
          </a:p>
        </p:txBody>
      </p:sp>
      <p:sp>
        <p:nvSpPr>
          <p:cNvPr id="12" name="Text 10"/>
          <p:cNvSpPr/>
          <p:nvPr/>
        </p:nvSpPr>
        <p:spPr>
          <a:xfrm>
            <a:off x="4590901" y="2190080"/>
            <a:ext cx="392824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"Explain how photosynthesis works to a 5th grader. Use simple words and include an analogy."</a:t>
            </a:r>
            <a:endParaRPr lang="en-US" sz="1200" dirty="0"/>
          </a:p>
        </p:txBody>
      </p:sp>
      <p:sp>
        <p:nvSpPr>
          <p:cNvPr id="13" name="Shape 11"/>
          <p:cNvSpPr/>
          <p:nvPr/>
        </p:nvSpPr>
        <p:spPr>
          <a:xfrm>
            <a:off x="500881" y="2765450"/>
            <a:ext cx="8142238" cy="654546"/>
          </a:xfrm>
          <a:prstGeom prst="rect">
            <a:avLst/>
          </a:prstGeom>
          <a:solidFill>
            <a:srgbClr val="000000">
              <a:alpha val="4000"/>
            </a:srgbClr>
          </a:solidFill>
          <a:ln/>
        </p:spPr>
        <p:txBody>
          <a:bodyPr/>
          <a:lstStyle/>
          <a:p>
            <a:endParaRPr lang="en-IN"/>
          </a:p>
        </p:txBody>
      </p:sp>
      <p:sp>
        <p:nvSpPr>
          <p:cNvPr id="14" name="Text 12"/>
          <p:cNvSpPr/>
          <p:nvPr/>
        </p:nvSpPr>
        <p:spPr>
          <a:xfrm>
            <a:off x="624929" y="2844626"/>
            <a:ext cx="371326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"Tell me about the Eiffel Tower." → No follow‑up. </a:t>
            </a:r>
            <a:r>
              <a:rPr lang="en-US" sz="1200" i="1" dirty="0">
                <a:solidFill>
                  <a:srgbClr val="15213F"/>
                </a:solidFill>
                <a:latin typeface="Roboto" pitchFamily="34" charset="0"/>
                <a:ea typeface="Roboto" pitchFamily="34" charset="-122"/>
                <a:cs typeface="Roboto" pitchFamily="34" charset="-120"/>
              </a:rPr>
              <a:t>(no iteration)</a:t>
            </a:r>
            <a:endParaRPr lang="en-US" sz="1200" dirty="0"/>
          </a:p>
        </p:txBody>
      </p:sp>
      <p:sp>
        <p:nvSpPr>
          <p:cNvPr id="15" name="Text 13"/>
          <p:cNvSpPr/>
          <p:nvPr/>
        </p:nvSpPr>
        <p:spPr>
          <a:xfrm>
            <a:off x="4590901" y="2844626"/>
            <a:ext cx="392824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After first answer: "That's good. Now add three interesting facts that most people don't know."</a:t>
            </a:r>
            <a:endParaRPr lang="en-US" sz="1200" dirty="0"/>
          </a:p>
        </p:txBody>
      </p:sp>
      <p:sp>
        <p:nvSpPr>
          <p:cNvPr id="16" name="Shape 14"/>
          <p:cNvSpPr/>
          <p:nvPr/>
        </p:nvSpPr>
        <p:spPr>
          <a:xfrm>
            <a:off x="500881" y="3419996"/>
            <a:ext cx="8142238" cy="654546"/>
          </a:xfrm>
          <a:prstGeom prst="rect">
            <a:avLst/>
          </a:prstGeom>
          <a:solidFill>
            <a:srgbClr val="FFFFFF">
              <a:alpha val="4000"/>
            </a:srgbClr>
          </a:solidFill>
          <a:ln/>
        </p:spPr>
        <p:txBody>
          <a:bodyPr/>
          <a:lstStyle/>
          <a:p>
            <a:endParaRPr lang="en-IN"/>
          </a:p>
        </p:txBody>
      </p:sp>
      <p:sp>
        <p:nvSpPr>
          <p:cNvPr id="17" name="Text 15"/>
          <p:cNvSpPr/>
          <p:nvPr/>
        </p:nvSpPr>
        <p:spPr>
          <a:xfrm>
            <a:off x="624929" y="3499172"/>
            <a:ext cx="371326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"Write a funny story about a robot, but also make it educational, short, and include a poem." </a:t>
            </a:r>
            <a:r>
              <a:rPr lang="en-US" sz="1200" i="1" dirty="0">
                <a:solidFill>
                  <a:srgbClr val="15213F"/>
                </a:solidFill>
                <a:latin typeface="Roboto" pitchFamily="34" charset="0"/>
                <a:ea typeface="Roboto" pitchFamily="34" charset="-122"/>
                <a:cs typeface="Roboto" pitchFamily="34" charset="-120"/>
              </a:rPr>
              <a:t>(overloading)</a:t>
            </a:r>
            <a:endParaRPr lang="en-US" sz="1200" dirty="0"/>
          </a:p>
        </p:txBody>
      </p:sp>
      <p:sp>
        <p:nvSpPr>
          <p:cNvPr id="18" name="Text 16"/>
          <p:cNvSpPr/>
          <p:nvPr/>
        </p:nvSpPr>
        <p:spPr>
          <a:xfrm>
            <a:off x="4590901" y="3499172"/>
            <a:ext cx="392824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"Write a short, funny story about a robot. After that, I'll ask for an educational explanation separately."</a:t>
            </a:r>
            <a:endParaRPr lang="en-US" sz="1200" dirty="0"/>
          </a:p>
        </p:txBody>
      </p:sp>
      <p:sp>
        <p:nvSpPr>
          <p:cNvPr id="19" name="Shape 17"/>
          <p:cNvSpPr/>
          <p:nvPr/>
        </p:nvSpPr>
        <p:spPr>
          <a:xfrm>
            <a:off x="500881" y="4074542"/>
            <a:ext cx="8142238" cy="654546"/>
          </a:xfrm>
          <a:prstGeom prst="rect">
            <a:avLst/>
          </a:prstGeom>
          <a:solidFill>
            <a:srgbClr val="000000">
              <a:alpha val="4000"/>
            </a:srgbClr>
          </a:solidFill>
          <a:ln/>
        </p:spPr>
        <p:txBody>
          <a:bodyPr/>
          <a:lstStyle/>
          <a:p>
            <a:endParaRPr lang="en-IN"/>
          </a:p>
        </p:txBody>
      </p:sp>
      <p:sp>
        <p:nvSpPr>
          <p:cNvPr id="20" name="Text 18"/>
          <p:cNvSpPr/>
          <p:nvPr/>
        </p:nvSpPr>
        <p:spPr>
          <a:xfrm>
            <a:off x="624929" y="4153719"/>
            <a:ext cx="3713262"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"Give me a study guide for the water cycle." → </a:t>
            </a:r>
            <a:r>
              <a:rPr lang="en-US" sz="1200" i="1" dirty="0">
                <a:solidFill>
                  <a:srgbClr val="15213F"/>
                </a:solidFill>
                <a:latin typeface="Roboto" pitchFamily="34" charset="0"/>
                <a:ea typeface="Roboto" pitchFamily="34" charset="-122"/>
                <a:cs typeface="Roboto" pitchFamily="34" charset="-120"/>
              </a:rPr>
              <a:t>(not checking output)</a:t>
            </a:r>
            <a:endParaRPr lang="en-US" sz="1200" dirty="0"/>
          </a:p>
        </p:txBody>
      </p:sp>
      <p:sp>
        <p:nvSpPr>
          <p:cNvPr id="21" name="Text 19"/>
          <p:cNvSpPr/>
          <p:nvPr/>
        </p:nvSpPr>
        <p:spPr>
          <a:xfrm>
            <a:off x="4590901" y="4153719"/>
            <a:ext cx="3928244"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"Create a study guide for the water cycle. I will then check it against my textbook for accuracy."</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577379"/>
            <a:ext cx="5789861"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Mini Activity 2 : Rewrite Weak Prompts</a:t>
            </a:r>
            <a:endParaRPr lang="en-US" sz="2400" dirty="0"/>
          </a:p>
        </p:txBody>
      </p:sp>
      <p:sp>
        <p:nvSpPr>
          <p:cNvPr id="3" name="Text 1"/>
          <p:cNvSpPr/>
          <p:nvPr/>
        </p:nvSpPr>
        <p:spPr>
          <a:xfrm>
            <a:off x="496119" y="1212949"/>
            <a:ext cx="8151763" cy="744289"/>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Instructions:</a:t>
            </a:r>
            <a:r>
              <a:rPr lang="en-US" sz="1200" dirty="0">
                <a:solidFill>
                  <a:srgbClr val="15213F"/>
                </a:solidFill>
                <a:latin typeface="Roboto" pitchFamily="34" charset="0"/>
                <a:ea typeface="Roboto" pitchFamily="34" charset="-122"/>
                <a:cs typeface="Roboto" pitchFamily="34" charset="-120"/>
              </a:rPr>
              <a:t> For each weak prompt below, try adding helpful elements that make sense. Use some of the key elements we discussed (Clear Instructions, Context, Format, Constraints) if they help. There's no single correct answer - experiment and see what works.</a:t>
            </a:r>
            <a:endParaRPr lang="en-US" sz="1200" dirty="0"/>
          </a:p>
        </p:txBody>
      </p:sp>
      <p:sp>
        <p:nvSpPr>
          <p:cNvPr id="4" name="Shape 2"/>
          <p:cNvSpPr/>
          <p:nvPr/>
        </p:nvSpPr>
        <p:spPr>
          <a:xfrm>
            <a:off x="496119" y="2096765"/>
            <a:ext cx="8151763" cy="2469356"/>
          </a:xfrm>
          <a:prstGeom prst="roundRect">
            <a:avLst>
              <a:gd name="adj" fmla="val 754"/>
            </a:avLst>
          </a:prstGeom>
          <a:noFill/>
          <a:ln w="4763">
            <a:solidFill>
              <a:srgbClr val="000000">
                <a:alpha val="8000"/>
              </a:srgbClr>
            </a:solidFill>
            <a:prstDash val="solid"/>
          </a:ln>
        </p:spPr>
        <p:txBody>
          <a:bodyPr/>
          <a:lstStyle/>
          <a:p>
            <a:endParaRPr lang="en-IN"/>
          </a:p>
        </p:txBody>
      </p:sp>
      <p:sp>
        <p:nvSpPr>
          <p:cNvPr id="5" name="Shape 3"/>
          <p:cNvSpPr/>
          <p:nvPr/>
        </p:nvSpPr>
        <p:spPr>
          <a:xfrm>
            <a:off x="500881" y="2101528"/>
            <a:ext cx="8142238" cy="406450"/>
          </a:xfrm>
          <a:prstGeom prst="rect">
            <a:avLst/>
          </a:prstGeom>
          <a:solidFill>
            <a:srgbClr val="FFFFFF">
              <a:alpha val="4000"/>
            </a:srgbClr>
          </a:solidFill>
          <a:ln/>
        </p:spPr>
        <p:txBody>
          <a:bodyPr/>
          <a:lstStyle/>
          <a:p>
            <a:endParaRPr lang="en-IN"/>
          </a:p>
        </p:txBody>
      </p:sp>
      <p:sp>
        <p:nvSpPr>
          <p:cNvPr id="6" name="Text 4"/>
          <p:cNvSpPr/>
          <p:nvPr/>
        </p:nvSpPr>
        <p:spPr>
          <a:xfrm>
            <a:off x="624929" y="2180704"/>
            <a:ext cx="156716"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t>
            </a:r>
            <a:endParaRPr lang="en-US" sz="1200" dirty="0"/>
          </a:p>
        </p:txBody>
      </p:sp>
      <p:sp>
        <p:nvSpPr>
          <p:cNvPr id="7" name="Text 5"/>
          <p:cNvSpPr/>
          <p:nvPr/>
        </p:nvSpPr>
        <p:spPr>
          <a:xfrm>
            <a:off x="1034355" y="2180704"/>
            <a:ext cx="3411289"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Weak Prompt (with mistakes)</a:t>
            </a:r>
            <a:endParaRPr lang="en-US" sz="1200" dirty="0"/>
          </a:p>
        </p:txBody>
      </p:sp>
      <p:sp>
        <p:nvSpPr>
          <p:cNvPr id="8" name="Text 6"/>
          <p:cNvSpPr/>
          <p:nvPr/>
        </p:nvSpPr>
        <p:spPr>
          <a:xfrm>
            <a:off x="4698355" y="2180704"/>
            <a:ext cx="3820790"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Your Stronger Prompt</a:t>
            </a:r>
            <a:endParaRPr lang="en-US" sz="1200" dirty="0"/>
          </a:p>
        </p:txBody>
      </p:sp>
      <p:sp>
        <p:nvSpPr>
          <p:cNvPr id="9" name="Shape 7"/>
          <p:cNvSpPr/>
          <p:nvPr/>
        </p:nvSpPr>
        <p:spPr>
          <a:xfrm>
            <a:off x="500881" y="2507977"/>
            <a:ext cx="8142238" cy="1150739"/>
          </a:xfrm>
          <a:prstGeom prst="rect">
            <a:avLst/>
          </a:prstGeom>
          <a:solidFill>
            <a:srgbClr val="000000">
              <a:alpha val="4000"/>
            </a:srgbClr>
          </a:solidFill>
          <a:ln/>
        </p:spPr>
        <p:txBody>
          <a:bodyPr/>
          <a:lstStyle/>
          <a:p>
            <a:endParaRPr lang="en-IN"/>
          </a:p>
        </p:txBody>
      </p:sp>
      <p:grpSp>
        <p:nvGrpSpPr>
          <p:cNvPr id="17" name="Group 16">
            <a:extLst>
              <a:ext uri="{FF2B5EF4-FFF2-40B4-BE49-F238E27FC236}">
                <a16:creationId xmlns:a16="http://schemas.microsoft.com/office/drawing/2014/main" id="{297527BE-4303-425F-D797-6B19A257F369}"/>
              </a:ext>
            </a:extLst>
          </p:cNvPr>
          <p:cNvGrpSpPr/>
          <p:nvPr/>
        </p:nvGrpSpPr>
        <p:grpSpPr>
          <a:xfrm>
            <a:off x="624929" y="2587154"/>
            <a:ext cx="3820715" cy="248096"/>
            <a:chOff x="624929" y="2587154"/>
            <a:chExt cx="3820715" cy="248096"/>
          </a:xfrm>
        </p:grpSpPr>
        <p:sp>
          <p:nvSpPr>
            <p:cNvPr id="10" name="Text 8"/>
            <p:cNvSpPr/>
            <p:nvPr/>
          </p:nvSpPr>
          <p:spPr>
            <a:xfrm>
              <a:off x="624929" y="2587154"/>
              <a:ext cx="1567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1</a:t>
              </a:r>
              <a:endParaRPr lang="en-US" sz="1200" dirty="0"/>
            </a:p>
          </p:txBody>
        </p:sp>
        <p:sp>
          <p:nvSpPr>
            <p:cNvPr id="11" name="Text 9"/>
            <p:cNvSpPr/>
            <p:nvPr/>
          </p:nvSpPr>
          <p:spPr>
            <a:xfrm>
              <a:off x="1034355" y="2587154"/>
              <a:ext cx="341128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"Tell me about the solar system"</a:t>
              </a:r>
              <a:endParaRPr lang="en-US" sz="1200" dirty="0"/>
            </a:p>
          </p:txBody>
        </p:sp>
      </p:grpSp>
      <p:sp>
        <p:nvSpPr>
          <p:cNvPr id="12" name="Text 10"/>
          <p:cNvSpPr/>
          <p:nvPr/>
        </p:nvSpPr>
        <p:spPr>
          <a:xfrm>
            <a:off x="4698355" y="2587154"/>
            <a:ext cx="3820790"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Describe the solar system's planets in order from the sun. I'm a 4th grader doing a poster. Use a numbered list with one sentence per planet. Include the planet's distance from the sun and one fun fact.</a:t>
            </a:r>
            <a:endParaRPr lang="en-US" sz="1200" dirty="0"/>
          </a:p>
        </p:txBody>
      </p:sp>
      <p:sp>
        <p:nvSpPr>
          <p:cNvPr id="13" name="Shape 11"/>
          <p:cNvSpPr/>
          <p:nvPr/>
        </p:nvSpPr>
        <p:spPr>
          <a:xfrm>
            <a:off x="500881" y="3658716"/>
            <a:ext cx="8142238" cy="902643"/>
          </a:xfrm>
          <a:prstGeom prst="rect">
            <a:avLst/>
          </a:prstGeom>
          <a:solidFill>
            <a:srgbClr val="FFFFFF">
              <a:alpha val="4000"/>
            </a:srgbClr>
          </a:solidFill>
          <a:ln/>
        </p:spPr>
        <p:txBody>
          <a:bodyPr/>
          <a:lstStyle/>
          <a:p>
            <a:endParaRPr lang="en-IN"/>
          </a:p>
        </p:txBody>
      </p:sp>
      <p:grpSp>
        <p:nvGrpSpPr>
          <p:cNvPr id="18" name="Group 17">
            <a:extLst>
              <a:ext uri="{FF2B5EF4-FFF2-40B4-BE49-F238E27FC236}">
                <a16:creationId xmlns:a16="http://schemas.microsoft.com/office/drawing/2014/main" id="{6F7EE4A8-C72E-A49A-97E5-7DA4E06B1721}"/>
              </a:ext>
            </a:extLst>
          </p:cNvPr>
          <p:cNvGrpSpPr/>
          <p:nvPr/>
        </p:nvGrpSpPr>
        <p:grpSpPr>
          <a:xfrm>
            <a:off x="624929" y="3737893"/>
            <a:ext cx="3820715" cy="248096"/>
            <a:chOff x="624929" y="3737893"/>
            <a:chExt cx="3820715" cy="248096"/>
          </a:xfrm>
        </p:grpSpPr>
        <p:sp>
          <p:nvSpPr>
            <p:cNvPr id="14" name="Text 12"/>
            <p:cNvSpPr/>
            <p:nvPr/>
          </p:nvSpPr>
          <p:spPr>
            <a:xfrm>
              <a:off x="624929" y="3737893"/>
              <a:ext cx="1567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2</a:t>
              </a:r>
              <a:endParaRPr lang="en-US" sz="1200" dirty="0"/>
            </a:p>
          </p:txBody>
        </p:sp>
        <p:sp>
          <p:nvSpPr>
            <p:cNvPr id="15" name="Text 13"/>
            <p:cNvSpPr/>
            <p:nvPr/>
          </p:nvSpPr>
          <p:spPr>
            <a:xfrm>
              <a:off x="1034355" y="3737893"/>
              <a:ext cx="341128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"Write a poem"</a:t>
              </a:r>
              <a:endParaRPr lang="en-US" sz="1200" dirty="0"/>
            </a:p>
          </p:txBody>
        </p:sp>
      </p:grpSp>
      <p:sp>
        <p:nvSpPr>
          <p:cNvPr id="16" name="Text 14"/>
          <p:cNvSpPr/>
          <p:nvPr/>
        </p:nvSpPr>
        <p:spPr>
          <a:xfrm>
            <a:off x="4698355" y="3737893"/>
            <a:ext cx="3820790"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Write a short poem about a rainy day for a school poetry contest. 4 lines with 6-8 words each. Use simple words; mention rain and an umbrella</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840879"/>
            <a:ext cx="8151763" cy="3461742"/>
          </a:xfrm>
          <a:prstGeom prst="roundRect">
            <a:avLst>
              <a:gd name="adj" fmla="val 538"/>
            </a:avLst>
          </a:prstGeom>
          <a:noFill/>
          <a:ln w="4763">
            <a:solidFill>
              <a:srgbClr val="000000">
                <a:alpha val="8000"/>
              </a:srgbClr>
            </a:solidFill>
            <a:prstDash val="solid"/>
          </a:ln>
        </p:spPr>
        <p:txBody>
          <a:bodyPr/>
          <a:lstStyle/>
          <a:p>
            <a:endParaRPr lang="en-IN"/>
          </a:p>
        </p:txBody>
      </p:sp>
      <p:sp>
        <p:nvSpPr>
          <p:cNvPr id="3" name="Shape 1"/>
          <p:cNvSpPr/>
          <p:nvPr/>
        </p:nvSpPr>
        <p:spPr>
          <a:xfrm>
            <a:off x="500881" y="845641"/>
            <a:ext cx="8142238" cy="1150739"/>
          </a:xfrm>
          <a:prstGeom prst="rect">
            <a:avLst/>
          </a:prstGeom>
          <a:solidFill>
            <a:srgbClr val="FFFFFF">
              <a:alpha val="4000"/>
            </a:srgbClr>
          </a:solidFill>
          <a:ln/>
        </p:spPr>
        <p:txBody>
          <a:bodyPr/>
          <a:lstStyle/>
          <a:p>
            <a:endParaRPr lang="en-IN"/>
          </a:p>
        </p:txBody>
      </p:sp>
      <p:grpSp>
        <p:nvGrpSpPr>
          <p:cNvPr id="15" name="Group 14">
            <a:extLst>
              <a:ext uri="{FF2B5EF4-FFF2-40B4-BE49-F238E27FC236}">
                <a16:creationId xmlns:a16="http://schemas.microsoft.com/office/drawing/2014/main" id="{B813FB87-F852-52A0-4A9A-BCAB95640B19}"/>
              </a:ext>
            </a:extLst>
          </p:cNvPr>
          <p:cNvGrpSpPr/>
          <p:nvPr/>
        </p:nvGrpSpPr>
        <p:grpSpPr>
          <a:xfrm>
            <a:off x="624929" y="924818"/>
            <a:ext cx="3820715" cy="248096"/>
            <a:chOff x="624929" y="924818"/>
            <a:chExt cx="3820715" cy="248096"/>
          </a:xfrm>
        </p:grpSpPr>
        <p:sp>
          <p:nvSpPr>
            <p:cNvPr id="4" name="Text 2"/>
            <p:cNvSpPr/>
            <p:nvPr/>
          </p:nvSpPr>
          <p:spPr>
            <a:xfrm>
              <a:off x="624929" y="924818"/>
              <a:ext cx="1567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3</a:t>
              </a:r>
              <a:endParaRPr lang="en-US" sz="1200" dirty="0"/>
            </a:p>
          </p:txBody>
        </p:sp>
        <p:sp>
          <p:nvSpPr>
            <p:cNvPr id="5" name="Text 3"/>
            <p:cNvSpPr/>
            <p:nvPr/>
          </p:nvSpPr>
          <p:spPr>
            <a:xfrm>
              <a:off x="1034355" y="924818"/>
              <a:ext cx="341128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"Give me a recipe"</a:t>
              </a:r>
              <a:endParaRPr lang="en-US" sz="1200" dirty="0"/>
            </a:p>
          </p:txBody>
        </p:sp>
      </p:grpSp>
      <p:sp>
        <p:nvSpPr>
          <p:cNvPr id="6" name="Text 4"/>
          <p:cNvSpPr/>
          <p:nvPr/>
        </p:nvSpPr>
        <p:spPr>
          <a:xfrm>
            <a:off x="4698355" y="924818"/>
            <a:ext cx="3820790"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Give me a simple recipe for chocolate chip cookies. I'm a 5th grader baking for the first time. Numbered steps. Use only ingredients commonly found at home; no nuts.</a:t>
            </a:r>
            <a:endParaRPr lang="en-US" sz="1200" dirty="0"/>
          </a:p>
        </p:txBody>
      </p:sp>
      <p:sp>
        <p:nvSpPr>
          <p:cNvPr id="7" name="Shape 5"/>
          <p:cNvSpPr/>
          <p:nvPr/>
        </p:nvSpPr>
        <p:spPr>
          <a:xfrm>
            <a:off x="500881" y="1996380"/>
            <a:ext cx="8142238" cy="1150739"/>
          </a:xfrm>
          <a:prstGeom prst="rect">
            <a:avLst/>
          </a:prstGeom>
          <a:solidFill>
            <a:srgbClr val="000000">
              <a:alpha val="4000"/>
            </a:srgbClr>
          </a:solidFill>
          <a:ln/>
        </p:spPr>
        <p:txBody>
          <a:bodyPr/>
          <a:lstStyle/>
          <a:p>
            <a:endParaRPr lang="en-IN"/>
          </a:p>
        </p:txBody>
      </p:sp>
      <p:grpSp>
        <p:nvGrpSpPr>
          <p:cNvPr id="16" name="Group 15">
            <a:extLst>
              <a:ext uri="{FF2B5EF4-FFF2-40B4-BE49-F238E27FC236}">
                <a16:creationId xmlns:a16="http://schemas.microsoft.com/office/drawing/2014/main" id="{0F47C38D-9A1A-F851-4544-FE8A957D72B4}"/>
              </a:ext>
            </a:extLst>
          </p:cNvPr>
          <p:cNvGrpSpPr/>
          <p:nvPr/>
        </p:nvGrpSpPr>
        <p:grpSpPr>
          <a:xfrm>
            <a:off x="624929" y="2075557"/>
            <a:ext cx="3820715" cy="248096"/>
            <a:chOff x="624929" y="2075557"/>
            <a:chExt cx="3820715" cy="248096"/>
          </a:xfrm>
        </p:grpSpPr>
        <p:sp>
          <p:nvSpPr>
            <p:cNvPr id="8" name="Text 6"/>
            <p:cNvSpPr/>
            <p:nvPr/>
          </p:nvSpPr>
          <p:spPr>
            <a:xfrm>
              <a:off x="624929" y="2075557"/>
              <a:ext cx="1567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4</a:t>
              </a:r>
              <a:endParaRPr lang="en-US" sz="1200" dirty="0"/>
            </a:p>
          </p:txBody>
        </p:sp>
        <p:sp>
          <p:nvSpPr>
            <p:cNvPr id="9" name="Text 7"/>
            <p:cNvSpPr/>
            <p:nvPr/>
          </p:nvSpPr>
          <p:spPr>
            <a:xfrm>
              <a:off x="1034355" y="2075557"/>
              <a:ext cx="341128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"Explain how a battery powers a flashlight"</a:t>
              </a:r>
              <a:endParaRPr lang="en-US" sz="1200" dirty="0"/>
            </a:p>
          </p:txBody>
        </p:sp>
      </p:grpSp>
      <p:sp>
        <p:nvSpPr>
          <p:cNvPr id="10" name="Text 8"/>
          <p:cNvSpPr/>
          <p:nvPr/>
        </p:nvSpPr>
        <p:spPr>
          <a:xfrm>
            <a:off x="4698355" y="2075557"/>
            <a:ext cx="3820790"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Explain how a battery powers a flashlight. I'm an 8th grader studying circuits. Use a diagram described in words. Keep it under 100 words; include the terms "circuit" and "electrons."</a:t>
            </a:r>
            <a:endParaRPr lang="en-US" sz="1200" dirty="0"/>
          </a:p>
        </p:txBody>
      </p:sp>
      <p:sp>
        <p:nvSpPr>
          <p:cNvPr id="11" name="Shape 9"/>
          <p:cNvSpPr/>
          <p:nvPr/>
        </p:nvSpPr>
        <p:spPr>
          <a:xfrm>
            <a:off x="500881" y="3147120"/>
            <a:ext cx="8142238" cy="1150739"/>
          </a:xfrm>
          <a:prstGeom prst="rect">
            <a:avLst/>
          </a:prstGeom>
          <a:solidFill>
            <a:srgbClr val="FFFFFF">
              <a:alpha val="4000"/>
            </a:srgbClr>
          </a:solidFill>
          <a:ln/>
        </p:spPr>
        <p:txBody>
          <a:bodyPr/>
          <a:lstStyle/>
          <a:p>
            <a:endParaRPr lang="en-IN"/>
          </a:p>
        </p:txBody>
      </p:sp>
      <p:grpSp>
        <p:nvGrpSpPr>
          <p:cNvPr id="17" name="Group 16">
            <a:extLst>
              <a:ext uri="{FF2B5EF4-FFF2-40B4-BE49-F238E27FC236}">
                <a16:creationId xmlns:a16="http://schemas.microsoft.com/office/drawing/2014/main" id="{68763F0D-2AFC-0625-C3BE-7B089F1C3BF7}"/>
              </a:ext>
            </a:extLst>
          </p:cNvPr>
          <p:cNvGrpSpPr/>
          <p:nvPr/>
        </p:nvGrpSpPr>
        <p:grpSpPr>
          <a:xfrm>
            <a:off x="624929" y="3226296"/>
            <a:ext cx="3820715" cy="248096"/>
            <a:chOff x="624929" y="3226296"/>
            <a:chExt cx="3820715" cy="248096"/>
          </a:xfrm>
        </p:grpSpPr>
        <p:sp>
          <p:nvSpPr>
            <p:cNvPr id="12" name="Text 10"/>
            <p:cNvSpPr/>
            <p:nvPr/>
          </p:nvSpPr>
          <p:spPr>
            <a:xfrm>
              <a:off x="624929" y="3226296"/>
              <a:ext cx="1567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5</a:t>
              </a:r>
              <a:endParaRPr lang="en-US" sz="1200" dirty="0"/>
            </a:p>
          </p:txBody>
        </p:sp>
        <p:sp>
          <p:nvSpPr>
            <p:cNvPr id="13" name="Text 11"/>
            <p:cNvSpPr/>
            <p:nvPr/>
          </p:nvSpPr>
          <p:spPr>
            <a:xfrm>
              <a:off x="1034355" y="3226296"/>
              <a:ext cx="341128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"Draw a superhero"</a:t>
              </a:r>
              <a:endParaRPr lang="en-US" sz="1200" dirty="0"/>
            </a:p>
          </p:txBody>
        </p:sp>
      </p:grpSp>
      <p:sp>
        <p:nvSpPr>
          <p:cNvPr id="14" name="Text 12"/>
          <p:cNvSpPr/>
          <p:nvPr/>
        </p:nvSpPr>
        <p:spPr>
          <a:xfrm>
            <a:off x="4698355" y="3226296"/>
            <a:ext cx="3820790"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Draw a cartoon superhero who controls plants. For a comic book aimed at kids ages 8–10. Describe the character's appearance, costume, and powers. Make the character friendly, not scary.</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96119" y="840879"/>
            <a:ext cx="8151763" cy="3461742"/>
          </a:xfrm>
          <a:prstGeom prst="roundRect">
            <a:avLst>
              <a:gd name="adj" fmla="val 538"/>
            </a:avLst>
          </a:prstGeom>
          <a:noFill/>
          <a:ln w="4763">
            <a:solidFill>
              <a:srgbClr val="000000">
                <a:alpha val="8000"/>
              </a:srgbClr>
            </a:solidFill>
            <a:prstDash val="solid"/>
          </a:ln>
        </p:spPr>
        <p:txBody>
          <a:bodyPr/>
          <a:lstStyle/>
          <a:p>
            <a:endParaRPr lang="en-IN"/>
          </a:p>
        </p:txBody>
      </p:sp>
      <p:grpSp>
        <p:nvGrpSpPr>
          <p:cNvPr id="15" name="Group 14">
            <a:extLst>
              <a:ext uri="{FF2B5EF4-FFF2-40B4-BE49-F238E27FC236}">
                <a16:creationId xmlns:a16="http://schemas.microsoft.com/office/drawing/2014/main" id="{9D258320-8A4F-D36E-8E54-3A556372DBEB}"/>
              </a:ext>
            </a:extLst>
          </p:cNvPr>
          <p:cNvGrpSpPr/>
          <p:nvPr/>
        </p:nvGrpSpPr>
        <p:grpSpPr>
          <a:xfrm>
            <a:off x="500881" y="845641"/>
            <a:ext cx="8142238" cy="1150739"/>
            <a:chOff x="500881" y="845641"/>
            <a:chExt cx="8142238" cy="1150739"/>
          </a:xfrm>
        </p:grpSpPr>
        <p:sp>
          <p:nvSpPr>
            <p:cNvPr id="3" name="Shape 1"/>
            <p:cNvSpPr/>
            <p:nvPr/>
          </p:nvSpPr>
          <p:spPr>
            <a:xfrm>
              <a:off x="500881" y="845641"/>
              <a:ext cx="8142238" cy="1150739"/>
            </a:xfrm>
            <a:prstGeom prst="rect">
              <a:avLst/>
            </a:prstGeom>
            <a:solidFill>
              <a:srgbClr val="FFFFFF">
                <a:alpha val="4000"/>
              </a:srgbClr>
            </a:solidFill>
            <a:ln/>
          </p:spPr>
          <p:txBody>
            <a:bodyPr/>
            <a:lstStyle/>
            <a:p>
              <a:endParaRPr lang="en-IN"/>
            </a:p>
          </p:txBody>
        </p:sp>
        <p:sp>
          <p:nvSpPr>
            <p:cNvPr id="4" name="Text 2"/>
            <p:cNvSpPr/>
            <p:nvPr/>
          </p:nvSpPr>
          <p:spPr>
            <a:xfrm>
              <a:off x="624929" y="924818"/>
              <a:ext cx="1567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6</a:t>
              </a:r>
              <a:endParaRPr lang="en-US" sz="1200" dirty="0"/>
            </a:p>
          </p:txBody>
        </p:sp>
        <p:sp>
          <p:nvSpPr>
            <p:cNvPr id="5" name="Text 3"/>
            <p:cNvSpPr/>
            <p:nvPr/>
          </p:nvSpPr>
          <p:spPr>
            <a:xfrm>
              <a:off x="1034355" y="924818"/>
              <a:ext cx="341128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"What's the weather?"</a:t>
              </a:r>
              <a:endParaRPr lang="en-US" sz="1200" dirty="0"/>
            </a:p>
          </p:txBody>
        </p:sp>
      </p:grpSp>
      <p:sp>
        <p:nvSpPr>
          <p:cNvPr id="6" name="Text 4"/>
          <p:cNvSpPr/>
          <p:nvPr/>
        </p:nvSpPr>
        <p:spPr>
          <a:xfrm>
            <a:off x="4698355" y="924818"/>
            <a:ext cx="3820790"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Tell me today's weather forecast. I'm planning a picnic outdoors. Short summary with temperature, chance of rain, and wind speed. Only include information relevant to outdoor activities.</a:t>
            </a:r>
            <a:endParaRPr lang="en-US" sz="1200" dirty="0"/>
          </a:p>
        </p:txBody>
      </p:sp>
      <p:sp>
        <p:nvSpPr>
          <p:cNvPr id="7" name="Shape 5"/>
          <p:cNvSpPr/>
          <p:nvPr/>
        </p:nvSpPr>
        <p:spPr>
          <a:xfrm>
            <a:off x="500881" y="1996380"/>
            <a:ext cx="8142238" cy="1150739"/>
          </a:xfrm>
          <a:prstGeom prst="rect">
            <a:avLst/>
          </a:prstGeom>
          <a:solidFill>
            <a:srgbClr val="000000">
              <a:alpha val="4000"/>
            </a:srgbClr>
          </a:solidFill>
          <a:ln/>
        </p:spPr>
        <p:txBody>
          <a:bodyPr/>
          <a:lstStyle/>
          <a:p>
            <a:endParaRPr lang="en-IN"/>
          </a:p>
        </p:txBody>
      </p:sp>
      <p:grpSp>
        <p:nvGrpSpPr>
          <p:cNvPr id="16" name="Group 15">
            <a:extLst>
              <a:ext uri="{FF2B5EF4-FFF2-40B4-BE49-F238E27FC236}">
                <a16:creationId xmlns:a16="http://schemas.microsoft.com/office/drawing/2014/main" id="{FB991E5F-9E84-DAA9-71B2-ED8400CDAD4A}"/>
              </a:ext>
            </a:extLst>
          </p:cNvPr>
          <p:cNvGrpSpPr/>
          <p:nvPr/>
        </p:nvGrpSpPr>
        <p:grpSpPr>
          <a:xfrm>
            <a:off x="624929" y="2075557"/>
            <a:ext cx="3820715" cy="248096"/>
            <a:chOff x="624929" y="2075557"/>
            <a:chExt cx="3820715" cy="248096"/>
          </a:xfrm>
        </p:grpSpPr>
        <p:sp>
          <p:nvSpPr>
            <p:cNvPr id="8" name="Text 6"/>
            <p:cNvSpPr/>
            <p:nvPr/>
          </p:nvSpPr>
          <p:spPr>
            <a:xfrm>
              <a:off x="624929" y="2075557"/>
              <a:ext cx="1567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7</a:t>
              </a:r>
              <a:endParaRPr lang="en-US" sz="1200" dirty="0"/>
            </a:p>
          </p:txBody>
        </p:sp>
        <p:sp>
          <p:nvSpPr>
            <p:cNvPr id="9" name="Text 7"/>
            <p:cNvSpPr/>
            <p:nvPr/>
          </p:nvSpPr>
          <p:spPr>
            <a:xfrm>
              <a:off x="1034355" y="2075557"/>
              <a:ext cx="3411289"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"Help me plan a surprise party"</a:t>
              </a:r>
              <a:endParaRPr lang="en-US" sz="1200" dirty="0"/>
            </a:p>
          </p:txBody>
        </p:sp>
      </p:grpSp>
      <p:sp>
        <p:nvSpPr>
          <p:cNvPr id="10" name="Text 8"/>
          <p:cNvSpPr/>
          <p:nvPr/>
        </p:nvSpPr>
        <p:spPr>
          <a:xfrm>
            <a:off x="4698355" y="2075557"/>
            <a:ext cx="3820790"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Help me brainstorm ideas for a surprise party. For my best friend's 12th birthday. They love dogs and video games. Bulleted list of 5 party ideas. Budget under $100; keep it a secret until the day.</a:t>
            </a:r>
            <a:endParaRPr lang="en-US" sz="1200" dirty="0"/>
          </a:p>
        </p:txBody>
      </p:sp>
      <p:sp>
        <p:nvSpPr>
          <p:cNvPr id="11" name="Shape 9"/>
          <p:cNvSpPr/>
          <p:nvPr/>
        </p:nvSpPr>
        <p:spPr>
          <a:xfrm>
            <a:off x="500881" y="3147120"/>
            <a:ext cx="8142238" cy="1150739"/>
          </a:xfrm>
          <a:prstGeom prst="rect">
            <a:avLst/>
          </a:prstGeom>
          <a:solidFill>
            <a:srgbClr val="FFFFFF">
              <a:alpha val="4000"/>
            </a:srgbClr>
          </a:solidFill>
          <a:ln/>
        </p:spPr>
        <p:txBody>
          <a:bodyPr/>
          <a:lstStyle/>
          <a:p>
            <a:endParaRPr lang="en-IN"/>
          </a:p>
        </p:txBody>
      </p:sp>
      <p:grpSp>
        <p:nvGrpSpPr>
          <p:cNvPr id="17" name="Group 16">
            <a:extLst>
              <a:ext uri="{FF2B5EF4-FFF2-40B4-BE49-F238E27FC236}">
                <a16:creationId xmlns:a16="http://schemas.microsoft.com/office/drawing/2014/main" id="{712D07A3-83DB-F580-177D-3A4979F4F42F}"/>
              </a:ext>
            </a:extLst>
          </p:cNvPr>
          <p:cNvGrpSpPr/>
          <p:nvPr/>
        </p:nvGrpSpPr>
        <p:grpSpPr>
          <a:xfrm>
            <a:off x="624929" y="3226296"/>
            <a:ext cx="3820715" cy="496193"/>
            <a:chOff x="624929" y="3226296"/>
            <a:chExt cx="3820715" cy="496193"/>
          </a:xfrm>
        </p:grpSpPr>
        <p:sp>
          <p:nvSpPr>
            <p:cNvPr id="12" name="Text 10"/>
            <p:cNvSpPr/>
            <p:nvPr/>
          </p:nvSpPr>
          <p:spPr>
            <a:xfrm>
              <a:off x="624929" y="3226296"/>
              <a:ext cx="156716"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8</a:t>
              </a:r>
              <a:endParaRPr lang="en-US" sz="1200" dirty="0"/>
            </a:p>
          </p:txBody>
        </p:sp>
        <p:sp>
          <p:nvSpPr>
            <p:cNvPr id="13" name="Text 11"/>
            <p:cNvSpPr/>
            <p:nvPr/>
          </p:nvSpPr>
          <p:spPr>
            <a:xfrm>
              <a:off x="1034355" y="3226296"/>
              <a:ext cx="3411289"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"Give me ideas for a comic strip about a penguin who learns to fly"</a:t>
              </a:r>
              <a:endParaRPr lang="en-US" sz="1200" dirty="0"/>
            </a:p>
          </p:txBody>
        </p:sp>
      </p:grpSp>
      <p:sp>
        <p:nvSpPr>
          <p:cNvPr id="14" name="Text 12"/>
          <p:cNvSpPr/>
          <p:nvPr/>
        </p:nvSpPr>
        <p:spPr>
          <a:xfrm>
            <a:off x="4698355" y="3226296"/>
            <a:ext cx="3820790" cy="992386"/>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Help me brainstorm ideas for a comic strip about a penguin who learns to fly. I'm creating it for fun, for kids ages 7-10. A list of 5 plot ideas, each with 2 sentences. Keep it funny and positive. No sad endings.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96119" y="540544"/>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Iterative Prompting</a:t>
            </a:r>
            <a:endParaRPr lang="en-US" sz="2400" dirty="0"/>
          </a:p>
        </p:txBody>
      </p:sp>
      <p:sp>
        <p:nvSpPr>
          <p:cNvPr id="3" name="Text 1"/>
          <p:cNvSpPr/>
          <p:nvPr/>
        </p:nvSpPr>
        <p:spPr>
          <a:xfrm>
            <a:off x="496119" y="1114127"/>
            <a:ext cx="8151763"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Iterative prompting</a:t>
            </a:r>
            <a:r>
              <a:rPr lang="en-US" sz="1200" dirty="0">
                <a:solidFill>
                  <a:srgbClr val="15213F"/>
                </a:solidFill>
                <a:latin typeface="Roboto" pitchFamily="34" charset="0"/>
                <a:ea typeface="Roboto" pitchFamily="34" charset="-122"/>
                <a:cs typeface="Roboto" pitchFamily="34" charset="-120"/>
              </a:rPr>
              <a:t> is a technique where AI interactions are refined through multiple rounds of feedback rather than a single attempt.</a:t>
            </a:r>
            <a:endParaRPr lang="en-US" sz="1200" dirty="0"/>
          </a:p>
        </p:txBody>
      </p:sp>
      <p:sp>
        <p:nvSpPr>
          <p:cNvPr id="4" name="Text 2"/>
          <p:cNvSpPr/>
          <p:nvPr/>
        </p:nvSpPr>
        <p:spPr>
          <a:xfrm>
            <a:off x="1408807" y="2319635"/>
            <a:ext cx="1550566" cy="193849"/>
          </a:xfrm>
          <a:prstGeom prst="rect">
            <a:avLst/>
          </a:prstGeom>
          <a:noFill/>
          <a:ln/>
        </p:spPr>
        <p:txBody>
          <a:bodyPr wrap="none" lIns="0" tIns="0" rIns="0" bIns="0" rtlCol="0" anchor="t"/>
          <a:lstStyle/>
          <a:p>
            <a:pPr marL="0" indent="0" algn="r">
              <a:lnSpc>
                <a:spcPts val="1500"/>
              </a:lnSpc>
              <a:buNone/>
            </a:pPr>
            <a:r>
              <a:rPr lang="en-US" sz="1200" b="1" dirty="0">
                <a:solidFill>
                  <a:srgbClr val="15213F"/>
                </a:solidFill>
                <a:latin typeface="Roboto Slab" pitchFamily="34" charset="0"/>
                <a:ea typeface="Roboto Slab" pitchFamily="34" charset="-122"/>
                <a:cs typeface="Roboto Slab" pitchFamily="34" charset="-120"/>
              </a:rPr>
              <a:t>Write Your Prompt</a:t>
            </a:r>
            <a:endParaRPr lang="en-US" sz="1200" dirty="0"/>
          </a:p>
        </p:txBody>
      </p:sp>
      <p:pic>
        <p:nvPicPr>
          <p:cNvPr id="5" name="Image 0" descr="preencoded.png"/>
          <p:cNvPicPr>
            <a:picLocks noChangeAspect="1"/>
          </p:cNvPicPr>
          <p:nvPr/>
        </p:nvPicPr>
        <p:blipFill>
          <a:blip r:embed="rId3"/>
          <a:stretch>
            <a:fillRect/>
          </a:stretch>
        </p:blipFill>
        <p:spPr>
          <a:xfrm>
            <a:off x="3145408" y="1749847"/>
            <a:ext cx="2853110" cy="2853110"/>
          </a:xfrm>
          <a:prstGeom prst="rect">
            <a:avLst/>
          </a:prstGeom>
        </p:spPr>
      </p:pic>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4915" y="2266541"/>
            <a:ext cx="185589" cy="185589"/>
          </a:xfrm>
          <a:prstGeom prst="rect">
            <a:avLst/>
          </a:prstGeom>
        </p:spPr>
      </p:pic>
      <p:sp>
        <p:nvSpPr>
          <p:cNvPr id="7" name="Text 3"/>
          <p:cNvSpPr/>
          <p:nvPr/>
        </p:nvSpPr>
        <p:spPr>
          <a:xfrm>
            <a:off x="6184553" y="2319635"/>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Get AI Response</a:t>
            </a:r>
            <a:endParaRPr lang="en-US" sz="1200" dirty="0"/>
          </a:p>
        </p:txBody>
      </p:sp>
      <p:pic>
        <p:nvPicPr>
          <p:cNvPr id="8" name="Image 2" descr="preencoded.png"/>
          <p:cNvPicPr>
            <a:picLocks noChangeAspect="1"/>
          </p:cNvPicPr>
          <p:nvPr/>
        </p:nvPicPr>
        <p:blipFill>
          <a:blip r:embed="rId5"/>
          <a:stretch>
            <a:fillRect/>
          </a:stretch>
        </p:blipFill>
        <p:spPr>
          <a:xfrm>
            <a:off x="3145408" y="1749847"/>
            <a:ext cx="2853110" cy="2853110"/>
          </a:xfrm>
          <a:prstGeom prst="rect">
            <a:avLst/>
          </a:prstGeom>
        </p:spPr>
      </p:pic>
      <p:pic>
        <p:nvPicPr>
          <p:cNvPr id="9"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96086" y="2509354"/>
            <a:ext cx="185589" cy="185589"/>
          </a:xfrm>
          <a:prstGeom prst="rect">
            <a:avLst/>
          </a:prstGeom>
        </p:spPr>
      </p:pic>
      <p:sp>
        <p:nvSpPr>
          <p:cNvPr id="10" name="Text 4"/>
          <p:cNvSpPr/>
          <p:nvPr/>
        </p:nvSpPr>
        <p:spPr>
          <a:xfrm>
            <a:off x="6184553" y="3839245"/>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Evaluate the Output</a:t>
            </a:r>
            <a:endParaRPr lang="en-US" sz="1200" dirty="0"/>
          </a:p>
        </p:txBody>
      </p:sp>
      <p:pic>
        <p:nvPicPr>
          <p:cNvPr id="11" name="Image 4" descr="preencoded.png"/>
          <p:cNvPicPr>
            <a:picLocks noChangeAspect="1"/>
          </p:cNvPicPr>
          <p:nvPr/>
        </p:nvPicPr>
        <p:blipFill>
          <a:blip r:embed="rId7"/>
          <a:stretch>
            <a:fillRect/>
          </a:stretch>
        </p:blipFill>
        <p:spPr>
          <a:xfrm>
            <a:off x="3145408" y="1749847"/>
            <a:ext cx="2853110" cy="2853110"/>
          </a:xfrm>
          <a:prstGeom prst="rect">
            <a:avLst/>
          </a:prstGeom>
        </p:spPr>
      </p:pic>
      <p:pic>
        <p:nvPicPr>
          <p:cNvPr id="12"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53273" y="3900525"/>
            <a:ext cx="185589" cy="185589"/>
          </a:xfrm>
          <a:prstGeom prst="rect">
            <a:avLst/>
          </a:prstGeom>
        </p:spPr>
      </p:pic>
      <p:sp>
        <p:nvSpPr>
          <p:cNvPr id="13" name="Text 5"/>
          <p:cNvSpPr/>
          <p:nvPr/>
        </p:nvSpPr>
        <p:spPr>
          <a:xfrm>
            <a:off x="1408807" y="3839245"/>
            <a:ext cx="1550566" cy="193849"/>
          </a:xfrm>
          <a:prstGeom prst="rect">
            <a:avLst/>
          </a:prstGeom>
          <a:noFill/>
          <a:ln/>
        </p:spPr>
        <p:txBody>
          <a:bodyPr wrap="none" lIns="0" tIns="0" rIns="0" bIns="0" rtlCol="0" anchor="t"/>
          <a:lstStyle/>
          <a:p>
            <a:pPr marL="0" indent="0" algn="r">
              <a:lnSpc>
                <a:spcPts val="1500"/>
              </a:lnSpc>
              <a:buNone/>
            </a:pPr>
            <a:r>
              <a:rPr lang="en-US" sz="1200" b="1" dirty="0">
                <a:solidFill>
                  <a:srgbClr val="15213F"/>
                </a:solidFill>
                <a:latin typeface="Roboto Slab" pitchFamily="34" charset="0"/>
                <a:ea typeface="Roboto Slab" pitchFamily="34" charset="-122"/>
                <a:cs typeface="Roboto Slab" pitchFamily="34" charset="-120"/>
              </a:rPr>
              <a:t>Refine and Repeat</a:t>
            </a:r>
            <a:endParaRPr lang="en-US" sz="1200" dirty="0"/>
          </a:p>
        </p:txBody>
      </p:sp>
      <p:pic>
        <p:nvPicPr>
          <p:cNvPr id="14" name="Image 6" descr="preencoded.png"/>
          <p:cNvPicPr>
            <a:picLocks noChangeAspect="1"/>
          </p:cNvPicPr>
          <p:nvPr/>
        </p:nvPicPr>
        <p:blipFill>
          <a:blip r:embed="rId9"/>
          <a:stretch>
            <a:fillRect/>
          </a:stretch>
        </p:blipFill>
        <p:spPr>
          <a:xfrm>
            <a:off x="3145408" y="1749847"/>
            <a:ext cx="2853110" cy="2853110"/>
          </a:xfrm>
          <a:prstGeom prst="rect">
            <a:avLst/>
          </a:prstGeom>
        </p:spPr>
      </p:pic>
      <p:pic>
        <p:nvPicPr>
          <p:cNvPr id="1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662102" y="3657712"/>
            <a:ext cx="185589" cy="18558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96119" y="922065"/>
            <a:ext cx="4285506"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Iterative Prompting in Action</a:t>
            </a:r>
            <a:endParaRPr lang="en-US" sz="2400" dirty="0"/>
          </a:p>
        </p:txBody>
      </p:sp>
      <p:sp>
        <p:nvSpPr>
          <p:cNvPr id="3" name="Text 1"/>
          <p:cNvSpPr/>
          <p:nvPr/>
        </p:nvSpPr>
        <p:spPr>
          <a:xfrm>
            <a:off x="496119" y="1557635"/>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Example: Building a story about a lost cat through three iterations.</a:t>
            </a:r>
            <a:endParaRPr lang="en-US" sz="1200" dirty="0"/>
          </a:p>
        </p:txBody>
      </p:sp>
      <p:sp>
        <p:nvSpPr>
          <p:cNvPr id="4" name="Shape 2"/>
          <p:cNvSpPr/>
          <p:nvPr/>
        </p:nvSpPr>
        <p:spPr>
          <a:xfrm>
            <a:off x="496119" y="2038276"/>
            <a:ext cx="8151763" cy="14288"/>
          </a:xfrm>
          <a:prstGeom prst="roundRect">
            <a:avLst>
              <a:gd name="adj" fmla="val 130228"/>
            </a:avLst>
          </a:prstGeom>
          <a:solidFill>
            <a:srgbClr val="CFD2D8"/>
          </a:solidFill>
          <a:ln/>
        </p:spPr>
        <p:txBody>
          <a:bodyPr/>
          <a:lstStyle/>
          <a:p>
            <a:endParaRPr lang="en-IN"/>
          </a:p>
        </p:txBody>
      </p:sp>
      <p:grpSp>
        <p:nvGrpSpPr>
          <p:cNvPr id="21" name="Group 20">
            <a:extLst>
              <a:ext uri="{FF2B5EF4-FFF2-40B4-BE49-F238E27FC236}">
                <a16:creationId xmlns:a16="http://schemas.microsoft.com/office/drawing/2014/main" id="{0FD26EB6-60E7-9E66-771D-7EB435DFB9AA}"/>
              </a:ext>
            </a:extLst>
          </p:cNvPr>
          <p:cNvGrpSpPr/>
          <p:nvPr/>
        </p:nvGrpSpPr>
        <p:grpSpPr>
          <a:xfrm>
            <a:off x="496119" y="1991767"/>
            <a:ext cx="2613868" cy="1237208"/>
            <a:chOff x="496119" y="1991767"/>
            <a:chExt cx="2613868" cy="1237208"/>
          </a:xfrm>
        </p:grpSpPr>
        <p:sp>
          <p:nvSpPr>
            <p:cNvPr id="5" name="Shape 3"/>
            <p:cNvSpPr/>
            <p:nvPr/>
          </p:nvSpPr>
          <p:spPr>
            <a:xfrm>
              <a:off x="1795909" y="2038276"/>
              <a:ext cx="14288" cy="372070"/>
            </a:xfrm>
            <a:prstGeom prst="roundRect">
              <a:avLst>
                <a:gd name="adj" fmla="val 130228"/>
              </a:avLst>
            </a:prstGeom>
            <a:solidFill>
              <a:srgbClr val="CFD2D8"/>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1756544" y="1991767"/>
              <a:ext cx="93018" cy="93018"/>
            </a:xfrm>
            <a:prstGeom prst="rect">
              <a:avLst/>
            </a:prstGeom>
          </p:spPr>
        </p:pic>
        <p:grpSp>
          <p:nvGrpSpPr>
            <p:cNvPr id="20" name="Group 19">
              <a:extLst>
                <a:ext uri="{FF2B5EF4-FFF2-40B4-BE49-F238E27FC236}">
                  <a16:creationId xmlns:a16="http://schemas.microsoft.com/office/drawing/2014/main" id="{9DF7F9E4-C312-214D-3C24-2DD89E92C884}"/>
                </a:ext>
              </a:extLst>
            </p:cNvPr>
            <p:cNvGrpSpPr/>
            <p:nvPr/>
          </p:nvGrpSpPr>
          <p:grpSpPr>
            <a:xfrm>
              <a:off x="496119" y="2410420"/>
              <a:ext cx="2613868" cy="818555"/>
              <a:chOff x="496119" y="2410420"/>
              <a:chExt cx="2613868" cy="818555"/>
            </a:xfrm>
          </p:grpSpPr>
          <p:sp>
            <p:nvSpPr>
              <p:cNvPr id="7" name="Shape 4"/>
              <p:cNvSpPr/>
              <p:nvPr/>
            </p:nvSpPr>
            <p:spPr>
              <a:xfrm>
                <a:off x="496119" y="2410420"/>
                <a:ext cx="2613868" cy="818555"/>
              </a:xfrm>
              <a:prstGeom prst="roundRect">
                <a:avLst>
                  <a:gd name="adj" fmla="val 2273"/>
                </a:avLst>
              </a:prstGeom>
              <a:solidFill>
                <a:srgbClr val="E9ECF2"/>
              </a:solidFill>
              <a:ln/>
            </p:spPr>
            <p:txBody>
              <a:bodyPr/>
              <a:lstStyle/>
              <a:p>
                <a:endParaRPr lang="en-IN"/>
              </a:p>
            </p:txBody>
          </p:sp>
          <p:sp>
            <p:nvSpPr>
              <p:cNvPr id="8" name="Text 5"/>
              <p:cNvSpPr/>
              <p:nvPr/>
            </p:nvSpPr>
            <p:spPr>
              <a:xfrm>
                <a:off x="620092" y="2534394"/>
                <a:ext cx="2365921" cy="248096"/>
              </a:xfrm>
              <a:prstGeom prst="rect">
                <a:avLst/>
              </a:prstGeom>
              <a:noFill/>
              <a:ln/>
            </p:spPr>
            <p:txBody>
              <a:bodyPr wrap="none" lIns="0" tIns="0" rIns="0" bIns="0" rtlCol="0" anchor="t"/>
              <a:lstStyle/>
              <a:p>
                <a:pPr marL="0" indent="0" algn="ctr">
                  <a:lnSpc>
                    <a:spcPts val="1950"/>
                  </a:lnSpc>
                  <a:buNone/>
                </a:pPr>
                <a:r>
                  <a:rPr lang="en-US" sz="1200" b="1" dirty="0">
                    <a:solidFill>
                      <a:srgbClr val="15213F"/>
                    </a:solidFill>
                    <a:latin typeface="Roboto" pitchFamily="34" charset="0"/>
                    <a:ea typeface="Roboto" pitchFamily="34" charset="-122"/>
                    <a:cs typeface="Roboto" pitchFamily="34" charset="-120"/>
                  </a:rPr>
                  <a:t>Prompt 1</a:t>
                </a:r>
                <a:endParaRPr lang="en-US" sz="1200" dirty="0"/>
              </a:p>
            </p:txBody>
          </p:sp>
          <p:sp>
            <p:nvSpPr>
              <p:cNvPr id="9" name="Text 6"/>
              <p:cNvSpPr/>
              <p:nvPr/>
            </p:nvSpPr>
            <p:spPr>
              <a:xfrm>
                <a:off x="620092" y="2856905"/>
                <a:ext cx="2365921" cy="248096"/>
              </a:xfrm>
              <a:prstGeom prst="rect">
                <a:avLst/>
              </a:prstGeom>
              <a:noFill/>
              <a:ln/>
            </p:spPr>
            <p:txBody>
              <a:bodyPr wrap="none" lIns="0" tIns="0" rIns="0" bIns="0" rtlCol="0" anchor="t"/>
              <a:lstStyle/>
              <a:p>
                <a:pPr marL="0" indent="0" algn="ctr">
                  <a:lnSpc>
                    <a:spcPts val="1950"/>
                  </a:lnSpc>
                  <a:buNone/>
                </a:pPr>
                <a:r>
                  <a:rPr lang="en-US" sz="1200" dirty="0">
                    <a:solidFill>
                      <a:srgbClr val="15213F"/>
                    </a:solidFill>
                    <a:latin typeface="Roboto" pitchFamily="34" charset="0"/>
                    <a:ea typeface="Roboto" pitchFamily="34" charset="-122"/>
                    <a:cs typeface="Roboto" pitchFamily="34" charset="-120"/>
                  </a:rPr>
                  <a:t>"Write a story about a lost cat."</a:t>
                </a:r>
                <a:endParaRPr lang="en-US" sz="1200" dirty="0"/>
              </a:p>
            </p:txBody>
          </p:sp>
        </p:grpSp>
      </p:grpSp>
      <p:grpSp>
        <p:nvGrpSpPr>
          <p:cNvPr id="22" name="Group 21">
            <a:extLst>
              <a:ext uri="{FF2B5EF4-FFF2-40B4-BE49-F238E27FC236}">
                <a16:creationId xmlns:a16="http://schemas.microsoft.com/office/drawing/2014/main" id="{B7AD4778-3563-8B5B-DCE0-D679264F7D33}"/>
              </a:ext>
            </a:extLst>
          </p:cNvPr>
          <p:cNvGrpSpPr/>
          <p:nvPr/>
        </p:nvGrpSpPr>
        <p:grpSpPr>
          <a:xfrm>
            <a:off x="3264991" y="1991767"/>
            <a:ext cx="2613943" cy="1733401"/>
            <a:chOff x="3264991" y="1991767"/>
            <a:chExt cx="2613943" cy="1733401"/>
          </a:xfrm>
        </p:grpSpPr>
        <p:sp>
          <p:nvSpPr>
            <p:cNvPr id="10" name="Shape 7"/>
            <p:cNvSpPr/>
            <p:nvPr/>
          </p:nvSpPr>
          <p:spPr>
            <a:xfrm>
              <a:off x="4564782" y="2038276"/>
              <a:ext cx="14288" cy="372070"/>
            </a:xfrm>
            <a:prstGeom prst="roundRect">
              <a:avLst>
                <a:gd name="adj" fmla="val 130228"/>
              </a:avLst>
            </a:prstGeom>
            <a:solidFill>
              <a:srgbClr val="CFD2D8"/>
            </a:solidFill>
            <a:ln/>
          </p:spPr>
          <p:txBody>
            <a:bodyPr/>
            <a:lstStyle/>
            <a:p>
              <a:endParaRPr lang="en-IN"/>
            </a:p>
          </p:txBody>
        </p:sp>
        <p:pic>
          <p:nvPicPr>
            <p:cNvPr id="11" name="Image 1" descr="preencoded.png"/>
            <p:cNvPicPr>
              <a:picLocks noChangeAspect="1"/>
            </p:cNvPicPr>
            <p:nvPr/>
          </p:nvPicPr>
          <p:blipFill>
            <a:blip r:embed="rId3"/>
            <a:stretch>
              <a:fillRect/>
            </a:stretch>
          </p:blipFill>
          <p:spPr>
            <a:xfrm>
              <a:off x="4525417" y="1991767"/>
              <a:ext cx="93018" cy="93018"/>
            </a:xfrm>
            <a:prstGeom prst="rect">
              <a:avLst/>
            </a:prstGeom>
          </p:spPr>
        </p:pic>
        <p:sp>
          <p:nvSpPr>
            <p:cNvPr id="12" name="Shape 8"/>
            <p:cNvSpPr/>
            <p:nvPr/>
          </p:nvSpPr>
          <p:spPr>
            <a:xfrm>
              <a:off x="3264991" y="2410420"/>
              <a:ext cx="2613943" cy="1314748"/>
            </a:xfrm>
            <a:prstGeom prst="roundRect">
              <a:avLst>
                <a:gd name="adj" fmla="val 1415"/>
              </a:avLst>
            </a:prstGeom>
            <a:solidFill>
              <a:srgbClr val="E9ECF2"/>
            </a:solidFill>
            <a:ln/>
          </p:spPr>
          <p:txBody>
            <a:bodyPr/>
            <a:lstStyle/>
            <a:p>
              <a:endParaRPr lang="en-IN"/>
            </a:p>
          </p:txBody>
        </p:sp>
        <p:sp>
          <p:nvSpPr>
            <p:cNvPr id="13" name="Text 9"/>
            <p:cNvSpPr/>
            <p:nvPr/>
          </p:nvSpPr>
          <p:spPr>
            <a:xfrm>
              <a:off x="3388965" y="2534394"/>
              <a:ext cx="2365995" cy="248096"/>
            </a:xfrm>
            <a:prstGeom prst="rect">
              <a:avLst/>
            </a:prstGeom>
            <a:noFill/>
            <a:ln/>
          </p:spPr>
          <p:txBody>
            <a:bodyPr wrap="none" lIns="0" tIns="0" rIns="0" bIns="0" rtlCol="0" anchor="t"/>
            <a:lstStyle/>
            <a:p>
              <a:pPr marL="0" indent="0" algn="ctr">
                <a:lnSpc>
                  <a:spcPts val="1950"/>
                </a:lnSpc>
                <a:buNone/>
              </a:pPr>
              <a:r>
                <a:rPr lang="en-US" sz="1200" b="1" dirty="0">
                  <a:solidFill>
                    <a:srgbClr val="15213F"/>
                  </a:solidFill>
                  <a:latin typeface="Roboto" pitchFamily="34" charset="0"/>
                  <a:ea typeface="Roboto" pitchFamily="34" charset="-122"/>
                  <a:cs typeface="Roboto" pitchFamily="34" charset="-120"/>
                </a:rPr>
                <a:t>Prompt 2</a:t>
              </a:r>
              <a:endParaRPr lang="en-US" sz="1200" dirty="0"/>
            </a:p>
          </p:txBody>
        </p:sp>
        <p:sp>
          <p:nvSpPr>
            <p:cNvPr id="14" name="Text 10"/>
            <p:cNvSpPr/>
            <p:nvPr/>
          </p:nvSpPr>
          <p:spPr>
            <a:xfrm>
              <a:off x="3388965" y="2856905"/>
              <a:ext cx="2365995" cy="744289"/>
            </a:xfrm>
            <a:prstGeom prst="rect">
              <a:avLst/>
            </a:prstGeom>
            <a:noFill/>
            <a:ln/>
          </p:spPr>
          <p:txBody>
            <a:bodyPr wrap="square" lIns="0" tIns="0" rIns="0" bIns="0" rtlCol="0" anchor="t"/>
            <a:lstStyle/>
            <a:p>
              <a:pPr marL="0" indent="0" algn="ctr">
                <a:lnSpc>
                  <a:spcPts val="1950"/>
                </a:lnSpc>
                <a:buNone/>
              </a:pPr>
              <a:r>
                <a:rPr lang="en-US" sz="1200" dirty="0">
                  <a:solidFill>
                    <a:srgbClr val="15213F"/>
                  </a:solidFill>
                  <a:latin typeface="Roboto" pitchFamily="34" charset="0"/>
                  <a:ea typeface="Roboto" pitchFamily="34" charset="-122"/>
                  <a:cs typeface="Roboto" pitchFamily="34" charset="-120"/>
                </a:rPr>
                <a:t>"Write a longer story about a lost cat. Make it adventurous and include a friendly dog who helps."</a:t>
              </a:r>
              <a:endParaRPr lang="en-US" sz="1200" dirty="0"/>
            </a:p>
          </p:txBody>
        </p:sp>
      </p:grpSp>
      <p:grpSp>
        <p:nvGrpSpPr>
          <p:cNvPr id="24" name="Group 23">
            <a:extLst>
              <a:ext uri="{FF2B5EF4-FFF2-40B4-BE49-F238E27FC236}">
                <a16:creationId xmlns:a16="http://schemas.microsoft.com/office/drawing/2014/main" id="{749B814D-32AF-2406-6EAF-EDC2269B6740}"/>
              </a:ext>
            </a:extLst>
          </p:cNvPr>
          <p:cNvGrpSpPr/>
          <p:nvPr/>
        </p:nvGrpSpPr>
        <p:grpSpPr>
          <a:xfrm>
            <a:off x="6033939" y="1991767"/>
            <a:ext cx="2613943" cy="2229594"/>
            <a:chOff x="6033939" y="1991767"/>
            <a:chExt cx="2613943" cy="2229594"/>
          </a:xfrm>
        </p:grpSpPr>
        <p:sp>
          <p:nvSpPr>
            <p:cNvPr id="15" name="Shape 11"/>
            <p:cNvSpPr/>
            <p:nvPr/>
          </p:nvSpPr>
          <p:spPr>
            <a:xfrm>
              <a:off x="7333729" y="2038276"/>
              <a:ext cx="14288" cy="372070"/>
            </a:xfrm>
            <a:prstGeom prst="roundRect">
              <a:avLst>
                <a:gd name="adj" fmla="val 130228"/>
              </a:avLst>
            </a:prstGeom>
            <a:solidFill>
              <a:srgbClr val="CFD2D8"/>
            </a:solidFill>
            <a:ln/>
          </p:spPr>
          <p:txBody>
            <a:bodyPr/>
            <a:lstStyle/>
            <a:p>
              <a:endParaRPr lang="en-IN"/>
            </a:p>
          </p:txBody>
        </p:sp>
        <p:pic>
          <p:nvPicPr>
            <p:cNvPr id="16" name="Image 2" descr="preencoded.png"/>
            <p:cNvPicPr>
              <a:picLocks noChangeAspect="1"/>
            </p:cNvPicPr>
            <p:nvPr/>
          </p:nvPicPr>
          <p:blipFill>
            <a:blip r:embed="rId3"/>
            <a:stretch>
              <a:fillRect/>
            </a:stretch>
          </p:blipFill>
          <p:spPr>
            <a:xfrm>
              <a:off x="7294364" y="1991767"/>
              <a:ext cx="93018" cy="93018"/>
            </a:xfrm>
            <a:prstGeom prst="rect">
              <a:avLst/>
            </a:prstGeom>
          </p:spPr>
        </p:pic>
        <p:sp>
          <p:nvSpPr>
            <p:cNvPr id="17" name="Shape 12"/>
            <p:cNvSpPr/>
            <p:nvPr/>
          </p:nvSpPr>
          <p:spPr>
            <a:xfrm>
              <a:off x="6033939" y="2410420"/>
              <a:ext cx="2613943" cy="1810941"/>
            </a:xfrm>
            <a:prstGeom prst="roundRect">
              <a:avLst>
                <a:gd name="adj" fmla="val 1027"/>
              </a:avLst>
            </a:prstGeom>
            <a:solidFill>
              <a:srgbClr val="E9ECF2"/>
            </a:solidFill>
            <a:ln/>
          </p:spPr>
          <p:txBody>
            <a:bodyPr/>
            <a:lstStyle/>
            <a:p>
              <a:endParaRPr lang="en-IN"/>
            </a:p>
          </p:txBody>
        </p:sp>
        <p:sp>
          <p:nvSpPr>
            <p:cNvPr id="18" name="Text 13"/>
            <p:cNvSpPr/>
            <p:nvPr/>
          </p:nvSpPr>
          <p:spPr>
            <a:xfrm>
              <a:off x="6157913" y="2534394"/>
              <a:ext cx="2365995" cy="248096"/>
            </a:xfrm>
            <a:prstGeom prst="rect">
              <a:avLst/>
            </a:prstGeom>
            <a:noFill/>
            <a:ln/>
          </p:spPr>
          <p:txBody>
            <a:bodyPr wrap="none" lIns="0" tIns="0" rIns="0" bIns="0" rtlCol="0" anchor="t"/>
            <a:lstStyle/>
            <a:p>
              <a:pPr marL="0" indent="0" algn="ctr">
                <a:lnSpc>
                  <a:spcPts val="1950"/>
                </a:lnSpc>
                <a:buNone/>
              </a:pPr>
              <a:r>
                <a:rPr lang="en-US" sz="1200" b="1" dirty="0">
                  <a:solidFill>
                    <a:srgbClr val="15213F"/>
                  </a:solidFill>
                  <a:latin typeface="Roboto" pitchFamily="34" charset="0"/>
                  <a:ea typeface="Roboto" pitchFamily="34" charset="-122"/>
                  <a:cs typeface="Roboto" pitchFamily="34" charset="-120"/>
                </a:rPr>
                <a:t>Prompt 3</a:t>
              </a:r>
              <a:endParaRPr lang="en-US" sz="1200" dirty="0"/>
            </a:p>
          </p:txBody>
        </p:sp>
        <p:sp>
          <p:nvSpPr>
            <p:cNvPr id="19" name="Text 14"/>
            <p:cNvSpPr/>
            <p:nvPr/>
          </p:nvSpPr>
          <p:spPr>
            <a:xfrm>
              <a:off x="6157913" y="2856905"/>
              <a:ext cx="2365995" cy="1240482"/>
            </a:xfrm>
            <a:prstGeom prst="rect">
              <a:avLst/>
            </a:prstGeom>
            <a:noFill/>
            <a:ln/>
          </p:spPr>
          <p:txBody>
            <a:bodyPr wrap="square" lIns="0" tIns="0" rIns="0" bIns="0" rtlCol="0" anchor="t"/>
            <a:lstStyle/>
            <a:p>
              <a:pPr marL="0" indent="0" algn="ctr">
                <a:lnSpc>
                  <a:spcPts val="1950"/>
                </a:lnSpc>
                <a:buNone/>
              </a:pPr>
              <a:r>
                <a:rPr lang="en-US" sz="1200" dirty="0">
                  <a:solidFill>
                    <a:srgbClr val="15213F"/>
                  </a:solidFill>
                  <a:latin typeface="Roboto" pitchFamily="34" charset="0"/>
                  <a:ea typeface="Roboto" pitchFamily="34" charset="-122"/>
                  <a:cs typeface="Roboto" pitchFamily="34" charset="-120"/>
                </a:rPr>
                <a:t>"Write a 3‑paragraph story about a lost cat named Whiskers who gets help from a friendly dog in a busy city park. Make it exciting and end with them becoming friends."</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96119" y="1071190"/>
            <a:ext cx="3516809"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The Prompt Framework</a:t>
            </a:r>
            <a:endParaRPr lang="en-US" sz="2400" dirty="0"/>
          </a:p>
        </p:txBody>
      </p:sp>
      <p:sp>
        <p:nvSpPr>
          <p:cNvPr id="3" name="Shape 1"/>
          <p:cNvSpPr/>
          <p:nvPr/>
        </p:nvSpPr>
        <p:spPr>
          <a:xfrm>
            <a:off x="496119" y="1706761"/>
            <a:ext cx="8151763" cy="573435"/>
          </a:xfrm>
          <a:prstGeom prst="roundRect">
            <a:avLst>
              <a:gd name="adj" fmla="val 3245"/>
            </a:avLst>
          </a:prstGeom>
          <a:solidFill>
            <a:srgbClr val="F2F2F2"/>
          </a:solidFill>
          <a:ln/>
        </p:spPr>
        <p:txBody>
          <a:bodyPr/>
          <a:lstStyle/>
          <a:p>
            <a:endParaRPr lang="en-IN"/>
          </a:p>
        </p:txBody>
      </p:sp>
      <p:sp>
        <p:nvSpPr>
          <p:cNvPr id="4" name="Text 2"/>
          <p:cNvSpPr/>
          <p:nvPr/>
        </p:nvSpPr>
        <p:spPr>
          <a:xfrm>
            <a:off x="620092" y="1861691"/>
            <a:ext cx="4688607" cy="232544"/>
          </a:xfrm>
          <a:prstGeom prst="rect">
            <a:avLst/>
          </a:prstGeom>
          <a:noFill/>
          <a:ln/>
        </p:spPr>
        <p:txBody>
          <a:bodyPr wrap="none" lIns="0" tIns="0" rIns="0" bIns="0" rtlCol="0" anchor="t"/>
          <a:lstStyle/>
          <a:p>
            <a:pPr marL="0" indent="0" algn="l">
              <a:lnSpc>
                <a:spcPts val="1800"/>
              </a:lnSpc>
              <a:buNone/>
            </a:pPr>
            <a:r>
              <a:rPr lang="en-US" sz="1450" dirty="0">
                <a:solidFill>
                  <a:srgbClr val="000000"/>
                </a:solidFill>
                <a:latin typeface="Roboto Slab" pitchFamily="34" charset="0"/>
                <a:ea typeface="Roboto Slab" pitchFamily="34" charset="-122"/>
                <a:cs typeface="Roboto Slab" pitchFamily="34" charset="-120"/>
              </a:rPr>
              <a:t>[Action] + [Topic] + [Context] + [Format] + [Constraints]</a:t>
            </a:r>
            <a:endParaRPr lang="en-US" sz="1450" dirty="0"/>
          </a:p>
        </p:txBody>
      </p:sp>
      <p:grpSp>
        <p:nvGrpSpPr>
          <p:cNvPr id="20" name="Group 19">
            <a:extLst>
              <a:ext uri="{FF2B5EF4-FFF2-40B4-BE49-F238E27FC236}">
                <a16:creationId xmlns:a16="http://schemas.microsoft.com/office/drawing/2014/main" id="{CF7D46F8-44F4-634B-1F37-4895EC7416E8}"/>
              </a:ext>
            </a:extLst>
          </p:cNvPr>
          <p:cNvGrpSpPr/>
          <p:nvPr/>
        </p:nvGrpSpPr>
        <p:grpSpPr>
          <a:xfrm>
            <a:off x="496119" y="2419722"/>
            <a:ext cx="2634555" cy="764307"/>
            <a:chOff x="496119" y="2419722"/>
            <a:chExt cx="2634555" cy="764307"/>
          </a:xfrm>
        </p:grpSpPr>
        <p:sp>
          <p:nvSpPr>
            <p:cNvPr id="5" name="Shape 3"/>
            <p:cNvSpPr/>
            <p:nvPr/>
          </p:nvSpPr>
          <p:spPr>
            <a:xfrm>
              <a:off x="496119" y="2419722"/>
              <a:ext cx="2634555" cy="764307"/>
            </a:xfrm>
            <a:prstGeom prst="roundRect">
              <a:avLst>
                <a:gd name="adj" fmla="val 2434"/>
              </a:avLst>
            </a:prstGeom>
            <a:solidFill>
              <a:srgbClr val="E9ECF2"/>
            </a:solidFill>
            <a:ln/>
          </p:spPr>
          <p:txBody>
            <a:bodyPr/>
            <a:lstStyle/>
            <a:p>
              <a:endParaRPr lang="en-IN"/>
            </a:p>
          </p:txBody>
        </p:sp>
        <p:sp>
          <p:nvSpPr>
            <p:cNvPr id="6" name="Text 4"/>
            <p:cNvSpPr/>
            <p:nvPr/>
          </p:nvSpPr>
          <p:spPr>
            <a:xfrm>
              <a:off x="620092" y="2543696"/>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Action</a:t>
              </a:r>
              <a:endParaRPr lang="en-US" sz="1200" dirty="0"/>
            </a:p>
          </p:txBody>
        </p:sp>
      </p:grpSp>
      <p:sp>
        <p:nvSpPr>
          <p:cNvPr id="7" name="Text 5"/>
          <p:cNvSpPr/>
          <p:nvPr/>
        </p:nvSpPr>
        <p:spPr>
          <a:xfrm>
            <a:off x="620092" y="2811959"/>
            <a:ext cx="2386608"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What should the AI do? </a:t>
            </a:r>
            <a:endParaRPr lang="en-US" sz="1200" dirty="0"/>
          </a:p>
        </p:txBody>
      </p:sp>
      <p:grpSp>
        <p:nvGrpSpPr>
          <p:cNvPr id="21" name="Group 20">
            <a:extLst>
              <a:ext uri="{FF2B5EF4-FFF2-40B4-BE49-F238E27FC236}">
                <a16:creationId xmlns:a16="http://schemas.microsoft.com/office/drawing/2014/main" id="{080645C9-8BD4-5D2B-E3FD-1B707BF16F25}"/>
              </a:ext>
            </a:extLst>
          </p:cNvPr>
          <p:cNvGrpSpPr/>
          <p:nvPr/>
        </p:nvGrpSpPr>
        <p:grpSpPr>
          <a:xfrm>
            <a:off x="3254648" y="2419722"/>
            <a:ext cx="2634630" cy="764307"/>
            <a:chOff x="3254648" y="2419722"/>
            <a:chExt cx="2634630" cy="764307"/>
          </a:xfrm>
        </p:grpSpPr>
        <p:sp>
          <p:nvSpPr>
            <p:cNvPr id="8" name="Shape 6"/>
            <p:cNvSpPr/>
            <p:nvPr/>
          </p:nvSpPr>
          <p:spPr>
            <a:xfrm>
              <a:off x="3254648" y="2419722"/>
              <a:ext cx="2634630" cy="764307"/>
            </a:xfrm>
            <a:prstGeom prst="roundRect">
              <a:avLst>
                <a:gd name="adj" fmla="val 2434"/>
              </a:avLst>
            </a:prstGeom>
            <a:solidFill>
              <a:srgbClr val="E9ECF2"/>
            </a:solidFill>
            <a:ln/>
          </p:spPr>
          <p:txBody>
            <a:bodyPr/>
            <a:lstStyle/>
            <a:p>
              <a:endParaRPr lang="en-IN"/>
            </a:p>
          </p:txBody>
        </p:sp>
        <p:sp>
          <p:nvSpPr>
            <p:cNvPr id="9" name="Text 7"/>
            <p:cNvSpPr/>
            <p:nvPr/>
          </p:nvSpPr>
          <p:spPr>
            <a:xfrm>
              <a:off x="3378622" y="2543696"/>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Topic</a:t>
              </a:r>
              <a:endParaRPr lang="en-US" sz="1200" dirty="0"/>
            </a:p>
          </p:txBody>
        </p:sp>
      </p:grpSp>
      <p:sp>
        <p:nvSpPr>
          <p:cNvPr id="10" name="Text 8"/>
          <p:cNvSpPr/>
          <p:nvPr/>
        </p:nvSpPr>
        <p:spPr>
          <a:xfrm>
            <a:off x="3378622" y="2811959"/>
            <a:ext cx="238668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What is it about? </a:t>
            </a:r>
            <a:endParaRPr lang="en-US" sz="1200" dirty="0"/>
          </a:p>
        </p:txBody>
      </p:sp>
      <p:grpSp>
        <p:nvGrpSpPr>
          <p:cNvPr id="22" name="Group 21">
            <a:extLst>
              <a:ext uri="{FF2B5EF4-FFF2-40B4-BE49-F238E27FC236}">
                <a16:creationId xmlns:a16="http://schemas.microsoft.com/office/drawing/2014/main" id="{39221816-687D-9F58-EA7F-6A3C42D6C1D2}"/>
              </a:ext>
            </a:extLst>
          </p:cNvPr>
          <p:cNvGrpSpPr/>
          <p:nvPr/>
        </p:nvGrpSpPr>
        <p:grpSpPr>
          <a:xfrm>
            <a:off x="6013252" y="2419722"/>
            <a:ext cx="2634555" cy="764307"/>
            <a:chOff x="6013252" y="2419722"/>
            <a:chExt cx="2634555" cy="764307"/>
          </a:xfrm>
        </p:grpSpPr>
        <p:sp>
          <p:nvSpPr>
            <p:cNvPr id="11" name="Shape 9"/>
            <p:cNvSpPr/>
            <p:nvPr/>
          </p:nvSpPr>
          <p:spPr>
            <a:xfrm>
              <a:off x="6013252" y="2419722"/>
              <a:ext cx="2634555" cy="764307"/>
            </a:xfrm>
            <a:prstGeom prst="roundRect">
              <a:avLst>
                <a:gd name="adj" fmla="val 2434"/>
              </a:avLst>
            </a:prstGeom>
            <a:solidFill>
              <a:srgbClr val="E9ECF2"/>
            </a:solidFill>
            <a:ln/>
          </p:spPr>
          <p:txBody>
            <a:bodyPr/>
            <a:lstStyle/>
            <a:p>
              <a:endParaRPr lang="en-IN"/>
            </a:p>
          </p:txBody>
        </p:sp>
        <p:sp>
          <p:nvSpPr>
            <p:cNvPr id="12" name="Text 10"/>
            <p:cNvSpPr/>
            <p:nvPr/>
          </p:nvSpPr>
          <p:spPr>
            <a:xfrm>
              <a:off x="6137225" y="2543696"/>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Context</a:t>
              </a:r>
              <a:endParaRPr lang="en-US" sz="1200" dirty="0"/>
            </a:p>
          </p:txBody>
        </p:sp>
      </p:grpSp>
      <p:sp>
        <p:nvSpPr>
          <p:cNvPr id="13" name="Text 11"/>
          <p:cNvSpPr/>
          <p:nvPr/>
        </p:nvSpPr>
        <p:spPr>
          <a:xfrm>
            <a:off x="6137225" y="2811959"/>
            <a:ext cx="2386608"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Who is it for? Why? </a:t>
            </a:r>
            <a:endParaRPr lang="en-US" sz="1200" dirty="0"/>
          </a:p>
        </p:txBody>
      </p:sp>
      <p:grpSp>
        <p:nvGrpSpPr>
          <p:cNvPr id="23" name="Group 22">
            <a:extLst>
              <a:ext uri="{FF2B5EF4-FFF2-40B4-BE49-F238E27FC236}">
                <a16:creationId xmlns:a16="http://schemas.microsoft.com/office/drawing/2014/main" id="{12BB052C-2C5D-CF5D-80A9-35839DF1206E}"/>
              </a:ext>
            </a:extLst>
          </p:cNvPr>
          <p:cNvGrpSpPr/>
          <p:nvPr/>
        </p:nvGrpSpPr>
        <p:grpSpPr>
          <a:xfrm>
            <a:off x="496119" y="3308003"/>
            <a:ext cx="4013820" cy="764307"/>
            <a:chOff x="496119" y="3308003"/>
            <a:chExt cx="4013820" cy="764307"/>
          </a:xfrm>
        </p:grpSpPr>
        <p:sp>
          <p:nvSpPr>
            <p:cNvPr id="14" name="Shape 12"/>
            <p:cNvSpPr/>
            <p:nvPr/>
          </p:nvSpPr>
          <p:spPr>
            <a:xfrm>
              <a:off x="496119" y="3308003"/>
              <a:ext cx="4013820" cy="764307"/>
            </a:xfrm>
            <a:prstGeom prst="roundRect">
              <a:avLst>
                <a:gd name="adj" fmla="val 2434"/>
              </a:avLst>
            </a:prstGeom>
            <a:solidFill>
              <a:srgbClr val="E9ECF2"/>
            </a:solidFill>
            <a:ln/>
          </p:spPr>
          <p:txBody>
            <a:bodyPr/>
            <a:lstStyle/>
            <a:p>
              <a:endParaRPr lang="en-IN"/>
            </a:p>
          </p:txBody>
        </p:sp>
        <p:sp>
          <p:nvSpPr>
            <p:cNvPr id="15" name="Text 13"/>
            <p:cNvSpPr/>
            <p:nvPr/>
          </p:nvSpPr>
          <p:spPr>
            <a:xfrm>
              <a:off x="620092" y="3431977"/>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Format</a:t>
              </a:r>
              <a:endParaRPr lang="en-US" sz="1200" dirty="0"/>
            </a:p>
          </p:txBody>
        </p:sp>
      </p:grpSp>
      <p:sp>
        <p:nvSpPr>
          <p:cNvPr id="16" name="Text 14"/>
          <p:cNvSpPr/>
          <p:nvPr/>
        </p:nvSpPr>
        <p:spPr>
          <a:xfrm>
            <a:off x="620092" y="3700239"/>
            <a:ext cx="376587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should it look? </a:t>
            </a:r>
            <a:endParaRPr lang="en-US" sz="1200" dirty="0"/>
          </a:p>
        </p:txBody>
      </p:sp>
      <p:grpSp>
        <p:nvGrpSpPr>
          <p:cNvPr id="24" name="Group 23">
            <a:extLst>
              <a:ext uri="{FF2B5EF4-FFF2-40B4-BE49-F238E27FC236}">
                <a16:creationId xmlns:a16="http://schemas.microsoft.com/office/drawing/2014/main" id="{2305DE1B-D444-0C90-9F11-E6E4A8D1889E}"/>
              </a:ext>
            </a:extLst>
          </p:cNvPr>
          <p:cNvGrpSpPr/>
          <p:nvPr/>
        </p:nvGrpSpPr>
        <p:grpSpPr>
          <a:xfrm>
            <a:off x="4633913" y="3308003"/>
            <a:ext cx="4013895" cy="764307"/>
            <a:chOff x="4633913" y="3308003"/>
            <a:chExt cx="4013895" cy="764307"/>
          </a:xfrm>
        </p:grpSpPr>
        <p:sp>
          <p:nvSpPr>
            <p:cNvPr id="17" name="Shape 15"/>
            <p:cNvSpPr/>
            <p:nvPr/>
          </p:nvSpPr>
          <p:spPr>
            <a:xfrm>
              <a:off x="4633913" y="3308003"/>
              <a:ext cx="4013895" cy="764307"/>
            </a:xfrm>
            <a:prstGeom prst="roundRect">
              <a:avLst>
                <a:gd name="adj" fmla="val 2434"/>
              </a:avLst>
            </a:prstGeom>
            <a:solidFill>
              <a:srgbClr val="E9ECF2"/>
            </a:solidFill>
            <a:ln/>
          </p:spPr>
          <p:txBody>
            <a:bodyPr/>
            <a:lstStyle/>
            <a:p>
              <a:endParaRPr lang="en-IN"/>
            </a:p>
          </p:txBody>
        </p:sp>
        <p:sp>
          <p:nvSpPr>
            <p:cNvPr id="18" name="Text 16"/>
            <p:cNvSpPr/>
            <p:nvPr/>
          </p:nvSpPr>
          <p:spPr>
            <a:xfrm>
              <a:off x="4757886" y="3431977"/>
              <a:ext cx="1550566"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Constraints</a:t>
              </a:r>
              <a:endParaRPr lang="en-US" sz="1200" dirty="0"/>
            </a:p>
          </p:txBody>
        </p:sp>
      </p:grpSp>
      <p:sp>
        <p:nvSpPr>
          <p:cNvPr id="19" name="Text 17"/>
          <p:cNvSpPr/>
          <p:nvPr/>
        </p:nvSpPr>
        <p:spPr>
          <a:xfrm>
            <a:off x="4757886" y="3700239"/>
            <a:ext cx="3765947"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Any limits? </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3" grpId="0" animBg="1"/>
      <p:bldP spid="16" grpId="0" animBg="1"/>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96119" y="747861"/>
            <a:ext cx="4061743"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The Prompt Framework - Example</a:t>
            </a:r>
            <a:endParaRPr lang="en-US" sz="1950" dirty="0"/>
          </a:p>
        </p:txBody>
      </p:sp>
      <p:grpSp>
        <p:nvGrpSpPr>
          <p:cNvPr id="26" name="Group 25">
            <a:extLst>
              <a:ext uri="{FF2B5EF4-FFF2-40B4-BE49-F238E27FC236}">
                <a16:creationId xmlns:a16="http://schemas.microsoft.com/office/drawing/2014/main" id="{A24AEDB0-369D-FA07-8AFB-81AF1E579669}"/>
              </a:ext>
            </a:extLst>
          </p:cNvPr>
          <p:cNvGrpSpPr/>
          <p:nvPr/>
        </p:nvGrpSpPr>
        <p:grpSpPr>
          <a:xfrm>
            <a:off x="496119" y="1305967"/>
            <a:ext cx="2496294" cy="1095226"/>
            <a:chOff x="496119" y="1305967"/>
            <a:chExt cx="2496294" cy="1095226"/>
          </a:xfrm>
        </p:grpSpPr>
        <p:sp>
          <p:nvSpPr>
            <p:cNvPr id="3" name="Shape 1"/>
            <p:cNvSpPr/>
            <p:nvPr/>
          </p:nvSpPr>
          <p:spPr>
            <a:xfrm>
              <a:off x="496119" y="1305967"/>
              <a:ext cx="869385" cy="1095226"/>
            </a:xfrm>
            <a:prstGeom prst="roundRect">
              <a:avLst>
                <a:gd name="adj" fmla="val 1699"/>
              </a:avLst>
            </a:prstGeom>
            <a:solidFill>
              <a:srgbClr val="FBFCFE"/>
            </a:solidFill>
            <a:ln w="14288">
              <a:solidFill>
                <a:srgbClr val="CFD2D8"/>
              </a:solidFill>
              <a:prstDash val="solid"/>
            </a:ln>
          </p:spPr>
          <p:txBody>
            <a:bodyPr/>
            <a:lstStyle/>
            <a:p>
              <a:endParaRPr lang="en-IN" dirty="0"/>
            </a:p>
          </p:txBody>
        </p:sp>
        <p:sp>
          <p:nvSpPr>
            <p:cNvPr id="4" name="Text 2"/>
            <p:cNvSpPr/>
            <p:nvPr/>
          </p:nvSpPr>
          <p:spPr>
            <a:xfrm>
              <a:off x="634380" y="1444228"/>
              <a:ext cx="685499"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Action</a:t>
              </a:r>
              <a:endParaRPr lang="en-US" sz="1200" dirty="0"/>
            </a:p>
          </p:txBody>
        </p:sp>
        <p:sp>
          <p:nvSpPr>
            <p:cNvPr id="5" name="Text 3"/>
            <p:cNvSpPr/>
            <p:nvPr/>
          </p:nvSpPr>
          <p:spPr>
            <a:xfrm>
              <a:off x="634380" y="1766739"/>
              <a:ext cx="235803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Explain</a:t>
              </a:r>
              <a:endParaRPr lang="en-US" sz="1200" dirty="0"/>
            </a:p>
          </p:txBody>
        </p:sp>
      </p:grpSp>
      <p:grpSp>
        <p:nvGrpSpPr>
          <p:cNvPr id="27" name="Group 26">
            <a:extLst>
              <a:ext uri="{FF2B5EF4-FFF2-40B4-BE49-F238E27FC236}">
                <a16:creationId xmlns:a16="http://schemas.microsoft.com/office/drawing/2014/main" id="{6655E70A-5541-CE92-E4A5-D8300403DBA8}"/>
              </a:ext>
            </a:extLst>
          </p:cNvPr>
          <p:cNvGrpSpPr/>
          <p:nvPr/>
        </p:nvGrpSpPr>
        <p:grpSpPr>
          <a:xfrm>
            <a:off x="1503765" y="1305967"/>
            <a:ext cx="2479411" cy="1095226"/>
            <a:chOff x="1503765" y="1305967"/>
            <a:chExt cx="2479411" cy="1095226"/>
          </a:xfrm>
        </p:grpSpPr>
        <p:sp>
          <p:nvSpPr>
            <p:cNvPr id="6" name="Shape 4"/>
            <p:cNvSpPr/>
            <p:nvPr/>
          </p:nvSpPr>
          <p:spPr>
            <a:xfrm>
              <a:off x="1503765" y="1305967"/>
              <a:ext cx="2462455" cy="1095226"/>
            </a:xfrm>
            <a:prstGeom prst="roundRect">
              <a:avLst>
                <a:gd name="adj" fmla="val 1699"/>
              </a:avLst>
            </a:prstGeom>
            <a:solidFill>
              <a:srgbClr val="FBFCFE"/>
            </a:solidFill>
            <a:ln w="14288">
              <a:solidFill>
                <a:srgbClr val="CFD2D8"/>
              </a:solidFill>
              <a:prstDash val="solid"/>
            </a:ln>
          </p:spPr>
          <p:txBody>
            <a:bodyPr/>
            <a:lstStyle/>
            <a:p>
              <a:endParaRPr lang="en-IN"/>
            </a:p>
          </p:txBody>
        </p:sp>
        <p:sp>
          <p:nvSpPr>
            <p:cNvPr id="7" name="Text 5"/>
            <p:cNvSpPr/>
            <p:nvPr/>
          </p:nvSpPr>
          <p:spPr>
            <a:xfrm>
              <a:off x="1621538" y="1444228"/>
              <a:ext cx="220400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Topic</a:t>
              </a:r>
              <a:endParaRPr lang="en-US" sz="1200" dirty="0"/>
            </a:p>
          </p:txBody>
        </p:sp>
        <p:sp>
          <p:nvSpPr>
            <p:cNvPr id="8" name="Text 6"/>
            <p:cNvSpPr/>
            <p:nvPr/>
          </p:nvSpPr>
          <p:spPr>
            <a:xfrm>
              <a:off x="1625069" y="1766739"/>
              <a:ext cx="2358107"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how to care for a pet hamster</a:t>
              </a:r>
              <a:endParaRPr lang="en-US" sz="1200" dirty="0"/>
            </a:p>
          </p:txBody>
        </p:sp>
      </p:grpSp>
      <p:grpSp>
        <p:nvGrpSpPr>
          <p:cNvPr id="28" name="Group 27">
            <a:extLst>
              <a:ext uri="{FF2B5EF4-FFF2-40B4-BE49-F238E27FC236}">
                <a16:creationId xmlns:a16="http://schemas.microsoft.com/office/drawing/2014/main" id="{5AAD0766-9893-F2E4-F245-04287F8A921D}"/>
              </a:ext>
            </a:extLst>
          </p:cNvPr>
          <p:cNvGrpSpPr/>
          <p:nvPr/>
        </p:nvGrpSpPr>
        <p:grpSpPr>
          <a:xfrm>
            <a:off x="4104480" y="1305967"/>
            <a:ext cx="4524119" cy="1095226"/>
            <a:chOff x="4104480" y="1305967"/>
            <a:chExt cx="4524119" cy="1095226"/>
          </a:xfrm>
        </p:grpSpPr>
        <p:sp>
          <p:nvSpPr>
            <p:cNvPr id="9" name="Shape 7"/>
            <p:cNvSpPr/>
            <p:nvPr/>
          </p:nvSpPr>
          <p:spPr>
            <a:xfrm>
              <a:off x="4104480" y="1305967"/>
              <a:ext cx="4524119" cy="1095226"/>
            </a:xfrm>
            <a:prstGeom prst="roundRect">
              <a:avLst>
                <a:gd name="adj" fmla="val 1699"/>
              </a:avLst>
            </a:prstGeom>
            <a:solidFill>
              <a:srgbClr val="FBFCFE"/>
            </a:solidFill>
            <a:ln w="14288">
              <a:solidFill>
                <a:srgbClr val="CFD2D8"/>
              </a:solidFill>
              <a:prstDash val="solid"/>
            </a:ln>
          </p:spPr>
          <p:txBody>
            <a:bodyPr/>
            <a:lstStyle/>
            <a:p>
              <a:endParaRPr lang="en-IN"/>
            </a:p>
          </p:txBody>
        </p:sp>
        <p:sp>
          <p:nvSpPr>
            <p:cNvPr id="10" name="Text 8"/>
            <p:cNvSpPr/>
            <p:nvPr/>
          </p:nvSpPr>
          <p:spPr>
            <a:xfrm>
              <a:off x="4224938" y="1435768"/>
              <a:ext cx="60002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Context</a:t>
              </a:r>
              <a:endParaRPr lang="en-US" sz="1200" dirty="0"/>
            </a:p>
          </p:txBody>
        </p:sp>
        <p:sp>
          <p:nvSpPr>
            <p:cNvPr id="11" name="Text 9"/>
            <p:cNvSpPr/>
            <p:nvPr/>
          </p:nvSpPr>
          <p:spPr>
            <a:xfrm>
              <a:off x="4206241" y="1766739"/>
              <a:ext cx="4303306" cy="496193"/>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I'm a 5th grader who has never owned a pet before</a:t>
              </a:r>
              <a:endParaRPr lang="en-US" sz="1200" dirty="0"/>
            </a:p>
          </p:txBody>
        </p:sp>
      </p:grpSp>
      <p:grpSp>
        <p:nvGrpSpPr>
          <p:cNvPr id="29" name="Group 28">
            <a:extLst>
              <a:ext uri="{FF2B5EF4-FFF2-40B4-BE49-F238E27FC236}">
                <a16:creationId xmlns:a16="http://schemas.microsoft.com/office/drawing/2014/main" id="{12785E42-B2AC-2B47-E8FC-6F591F2148E1}"/>
              </a:ext>
            </a:extLst>
          </p:cNvPr>
          <p:cNvGrpSpPr/>
          <p:nvPr/>
        </p:nvGrpSpPr>
        <p:grpSpPr>
          <a:xfrm>
            <a:off x="496119" y="2525167"/>
            <a:ext cx="4013820" cy="847130"/>
            <a:chOff x="496119" y="2525167"/>
            <a:chExt cx="4013820" cy="847130"/>
          </a:xfrm>
        </p:grpSpPr>
        <p:sp>
          <p:nvSpPr>
            <p:cNvPr id="12" name="Shape 10"/>
            <p:cNvSpPr/>
            <p:nvPr/>
          </p:nvSpPr>
          <p:spPr>
            <a:xfrm>
              <a:off x="496119" y="2525167"/>
              <a:ext cx="4013820" cy="847130"/>
            </a:xfrm>
            <a:prstGeom prst="roundRect">
              <a:avLst>
                <a:gd name="adj" fmla="val 2196"/>
              </a:avLst>
            </a:prstGeom>
            <a:solidFill>
              <a:srgbClr val="FBFCFE"/>
            </a:solidFill>
            <a:ln w="14288">
              <a:solidFill>
                <a:srgbClr val="CFD2D8"/>
              </a:solidFill>
              <a:prstDash val="solid"/>
            </a:ln>
          </p:spPr>
          <p:txBody>
            <a:bodyPr/>
            <a:lstStyle/>
            <a:p>
              <a:endParaRPr lang="en-IN"/>
            </a:p>
          </p:txBody>
        </p:sp>
        <p:sp>
          <p:nvSpPr>
            <p:cNvPr id="13" name="Text 11"/>
            <p:cNvSpPr/>
            <p:nvPr/>
          </p:nvSpPr>
          <p:spPr>
            <a:xfrm>
              <a:off x="634380" y="2663428"/>
              <a:ext cx="3737297"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Format</a:t>
              </a:r>
              <a:endParaRPr lang="en-US" sz="1200" dirty="0"/>
            </a:p>
          </p:txBody>
        </p:sp>
        <p:sp>
          <p:nvSpPr>
            <p:cNvPr id="14" name="Text 12"/>
            <p:cNvSpPr/>
            <p:nvPr/>
          </p:nvSpPr>
          <p:spPr>
            <a:xfrm>
              <a:off x="634380" y="2985939"/>
              <a:ext cx="3737297"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 checklist of daily, weekly, and monthly tasks</a:t>
              </a:r>
              <a:endParaRPr lang="en-US" sz="1200" dirty="0"/>
            </a:p>
          </p:txBody>
        </p:sp>
      </p:grpSp>
      <p:grpSp>
        <p:nvGrpSpPr>
          <p:cNvPr id="30" name="Group 29">
            <a:extLst>
              <a:ext uri="{FF2B5EF4-FFF2-40B4-BE49-F238E27FC236}">
                <a16:creationId xmlns:a16="http://schemas.microsoft.com/office/drawing/2014/main" id="{D947BEEE-D7DD-3D2C-1B2D-4509D930D47D}"/>
              </a:ext>
            </a:extLst>
          </p:cNvPr>
          <p:cNvGrpSpPr/>
          <p:nvPr/>
        </p:nvGrpSpPr>
        <p:grpSpPr>
          <a:xfrm>
            <a:off x="4633913" y="2525167"/>
            <a:ext cx="4013895" cy="847130"/>
            <a:chOff x="4633913" y="2525167"/>
            <a:chExt cx="4013895" cy="847130"/>
          </a:xfrm>
        </p:grpSpPr>
        <p:sp>
          <p:nvSpPr>
            <p:cNvPr id="15" name="Shape 13"/>
            <p:cNvSpPr/>
            <p:nvPr/>
          </p:nvSpPr>
          <p:spPr>
            <a:xfrm>
              <a:off x="4633913" y="2525167"/>
              <a:ext cx="4013895" cy="847130"/>
            </a:xfrm>
            <a:prstGeom prst="roundRect">
              <a:avLst>
                <a:gd name="adj" fmla="val 2196"/>
              </a:avLst>
            </a:prstGeom>
            <a:solidFill>
              <a:srgbClr val="FBFCFE"/>
            </a:solidFill>
            <a:ln w="14288">
              <a:solidFill>
                <a:srgbClr val="CFD2D8"/>
              </a:solidFill>
              <a:prstDash val="solid"/>
            </a:ln>
          </p:spPr>
          <p:txBody>
            <a:bodyPr/>
            <a:lstStyle/>
            <a:p>
              <a:endParaRPr lang="en-IN"/>
            </a:p>
          </p:txBody>
        </p:sp>
        <p:sp>
          <p:nvSpPr>
            <p:cNvPr id="16" name="Text 14"/>
            <p:cNvSpPr/>
            <p:nvPr/>
          </p:nvSpPr>
          <p:spPr>
            <a:xfrm>
              <a:off x="4772174" y="2663428"/>
              <a:ext cx="373737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Constraints</a:t>
              </a:r>
              <a:endParaRPr lang="en-US" sz="1200" dirty="0"/>
            </a:p>
          </p:txBody>
        </p:sp>
        <p:sp>
          <p:nvSpPr>
            <p:cNvPr id="17" name="Text 15"/>
            <p:cNvSpPr/>
            <p:nvPr/>
          </p:nvSpPr>
          <p:spPr>
            <a:xfrm>
              <a:off x="4772174" y="2985939"/>
              <a:ext cx="3737372"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Keep it simple; no more than 10 items</a:t>
              </a:r>
              <a:endParaRPr lang="en-US" sz="1200" dirty="0"/>
            </a:p>
          </p:txBody>
        </p:sp>
      </p:grpSp>
      <p:sp>
        <p:nvSpPr>
          <p:cNvPr id="18" name="Text 16"/>
          <p:cNvSpPr/>
          <p:nvPr/>
        </p:nvSpPr>
        <p:spPr>
          <a:xfrm>
            <a:off x="496119" y="3511823"/>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19" name="Text 17"/>
          <p:cNvSpPr/>
          <p:nvPr/>
        </p:nvSpPr>
        <p:spPr>
          <a:xfrm>
            <a:off x="496119" y="3899446"/>
            <a:ext cx="8151763" cy="496193"/>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Final prompt:</a:t>
            </a:r>
            <a:r>
              <a:rPr lang="en-US" sz="1200" dirty="0">
                <a:solidFill>
                  <a:srgbClr val="15213F"/>
                </a:solidFill>
                <a:latin typeface="Roboto" pitchFamily="34" charset="0"/>
                <a:ea typeface="Roboto" pitchFamily="34" charset="-122"/>
                <a:cs typeface="Roboto" pitchFamily="34" charset="-120"/>
              </a:rPr>
              <a:t> "Explain how to care for a pet hamster. I'm a 5th grader who has never owned a pet before. Give me a checklist of daily, weekly, and monthly tasks. Keep it simple and no more than 10 items."</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96119" y="1068586"/>
            <a:ext cx="6132909"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How the Framework Helps Avoid Common Mistakes</a:t>
            </a:r>
            <a:endParaRPr lang="en-US" sz="1950" dirty="0"/>
          </a:p>
        </p:txBody>
      </p:sp>
      <p:sp>
        <p:nvSpPr>
          <p:cNvPr id="3" name="Shape 1"/>
          <p:cNvSpPr/>
          <p:nvPr/>
        </p:nvSpPr>
        <p:spPr>
          <a:xfrm>
            <a:off x="496119" y="1626691"/>
            <a:ext cx="8151763" cy="2448223"/>
          </a:xfrm>
          <a:prstGeom prst="roundRect">
            <a:avLst>
              <a:gd name="adj" fmla="val 760"/>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631454"/>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1710630"/>
            <a:ext cx="3006551"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Common Mistake</a:t>
            </a:r>
            <a:endParaRPr lang="en-US" sz="1200" dirty="0"/>
          </a:p>
        </p:txBody>
      </p:sp>
      <p:sp>
        <p:nvSpPr>
          <p:cNvPr id="6" name="Text 4"/>
          <p:cNvSpPr/>
          <p:nvPr/>
        </p:nvSpPr>
        <p:spPr>
          <a:xfrm>
            <a:off x="3884191" y="1710630"/>
            <a:ext cx="463495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How the Framework Helps</a:t>
            </a:r>
            <a:endParaRPr lang="en-US" sz="1200" dirty="0"/>
          </a:p>
        </p:txBody>
      </p:sp>
      <p:sp>
        <p:nvSpPr>
          <p:cNvPr id="7" name="Shape 5"/>
          <p:cNvSpPr/>
          <p:nvPr/>
        </p:nvSpPr>
        <p:spPr>
          <a:xfrm>
            <a:off x="500881" y="2037904"/>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929" y="2117080"/>
            <a:ext cx="300655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Assuming AI understands you</a:t>
            </a:r>
            <a:endParaRPr lang="en-US" sz="1200" dirty="0"/>
          </a:p>
        </p:txBody>
      </p:sp>
      <p:sp>
        <p:nvSpPr>
          <p:cNvPr id="9" name="Text 7"/>
          <p:cNvSpPr/>
          <p:nvPr/>
        </p:nvSpPr>
        <p:spPr>
          <a:xfrm>
            <a:off x="3884191" y="2117080"/>
            <a:ext cx="463495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specify the action clearly.</a:t>
            </a:r>
            <a:endParaRPr lang="en-US" sz="1200" dirty="0"/>
          </a:p>
        </p:txBody>
      </p:sp>
      <p:sp>
        <p:nvSpPr>
          <p:cNvPr id="10" name="Shape 8"/>
          <p:cNvSpPr/>
          <p:nvPr/>
        </p:nvSpPr>
        <p:spPr>
          <a:xfrm>
            <a:off x="500881" y="2444353"/>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929" y="2523530"/>
            <a:ext cx="300655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Giving incomplete info</a:t>
            </a:r>
            <a:endParaRPr lang="en-US" sz="1200" dirty="0"/>
          </a:p>
        </p:txBody>
      </p:sp>
      <p:sp>
        <p:nvSpPr>
          <p:cNvPr id="12" name="Text 10"/>
          <p:cNvSpPr/>
          <p:nvPr/>
        </p:nvSpPr>
        <p:spPr>
          <a:xfrm>
            <a:off x="3884191" y="2523530"/>
            <a:ext cx="463495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 provide context.</a:t>
            </a:r>
            <a:endParaRPr lang="en-US" sz="1200" dirty="0"/>
          </a:p>
        </p:txBody>
      </p:sp>
      <p:sp>
        <p:nvSpPr>
          <p:cNvPr id="13" name="Shape 11"/>
          <p:cNvSpPr/>
          <p:nvPr/>
        </p:nvSpPr>
        <p:spPr>
          <a:xfrm>
            <a:off x="500881" y="2850803"/>
            <a:ext cx="8142238" cy="406450"/>
          </a:xfrm>
          <a:prstGeom prst="rect">
            <a:avLst/>
          </a:prstGeom>
          <a:solidFill>
            <a:srgbClr val="000000">
              <a:alpha val="4000"/>
            </a:srgbClr>
          </a:solidFill>
          <a:ln/>
        </p:spPr>
        <p:txBody>
          <a:bodyPr/>
          <a:lstStyle/>
          <a:p>
            <a:endParaRPr lang="en-IN"/>
          </a:p>
        </p:txBody>
      </p:sp>
      <p:sp>
        <p:nvSpPr>
          <p:cNvPr id="14" name="Text 12"/>
          <p:cNvSpPr/>
          <p:nvPr/>
        </p:nvSpPr>
        <p:spPr>
          <a:xfrm>
            <a:off x="624929" y="2929979"/>
            <a:ext cx="300655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Accepting first answer blindly</a:t>
            </a:r>
            <a:endParaRPr lang="en-US" sz="1200" dirty="0"/>
          </a:p>
        </p:txBody>
      </p:sp>
      <p:sp>
        <p:nvSpPr>
          <p:cNvPr id="15" name="Text 13"/>
          <p:cNvSpPr/>
          <p:nvPr/>
        </p:nvSpPr>
        <p:spPr>
          <a:xfrm>
            <a:off x="3884191" y="2929979"/>
            <a:ext cx="463495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You'll iterate, not accept blindly.</a:t>
            </a:r>
            <a:endParaRPr lang="en-US" sz="1200" dirty="0"/>
          </a:p>
        </p:txBody>
      </p:sp>
      <p:sp>
        <p:nvSpPr>
          <p:cNvPr id="16" name="Shape 14"/>
          <p:cNvSpPr/>
          <p:nvPr/>
        </p:nvSpPr>
        <p:spPr>
          <a:xfrm>
            <a:off x="500881" y="3257252"/>
            <a:ext cx="8142238" cy="406450"/>
          </a:xfrm>
          <a:prstGeom prst="rect">
            <a:avLst/>
          </a:prstGeom>
          <a:solidFill>
            <a:srgbClr val="FFFFFF">
              <a:alpha val="4000"/>
            </a:srgbClr>
          </a:solidFill>
          <a:ln/>
        </p:spPr>
        <p:txBody>
          <a:bodyPr/>
          <a:lstStyle/>
          <a:p>
            <a:endParaRPr lang="en-IN"/>
          </a:p>
        </p:txBody>
      </p:sp>
      <p:sp>
        <p:nvSpPr>
          <p:cNvPr id="17" name="Text 15"/>
          <p:cNvSpPr/>
          <p:nvPr/>
        </p:nvSpPr>
        <p:spPr>
          <a:xfrm>
            <a:off x="624929" y="3336429"/>
            <a:ext cx="300655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Overloading the prompt</a:t>
            </a:r>
            <a:endParaRPr lang="en-US" sz="1200" dirty="0"/>
          </a:p>
        </p:txBody>
      </p:sp>
      <p:sp>
        <p:nvSpPr>
          <p:cNvPr id="18" name="Text 16"/>
          <p:cNvSpPr/>
          <p:nvPr/>
        </p:nvSpPr>
        <p:spPr>
          <a:xfrm>
            <a:off x="3884191" y="3336429"/>
            <a:ext cx="463495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framework keeps it clear and structured.</a:t>
            </a:r>
            <a:endParaRPr lang="en-US" sz="1200" dirty="0"/>
          </a:p>
        </p:txBody>
      </p:sp>
      <p:sp>
        <p:nvSpPr>
          <p:cNvPr id="19" name="Shape 17"/>
          <p:cNvSpPr/>
          <p:nvPr/>
        </p:nvSpPr>
        <p:spPr>
          <a:xfrm>
            <a:off x="500881" y="3663702"/>
            <a:ext cx="8142238" cy="406450"/>
          </a:xfrm>
          <a:prstGeom prst="rect">
            <a:avLst/>
          </a:prstGeom>
          <a:solidFill>
            <a:srgbClr val="000000">
              <a:alpha val="4000"/>
            </a:srgbClr>
          </a:solidFill>
          <a:ln/>
        </p:spPr>
        <p:txBody>
          <a:bodyPr/>
          <a:lstStyle/>
          <a:p>
            <a:endParaRPr lang="en-IN"/>
          </a:p>
        </p:txBody>
      </p:sp>
      <p:sp>
        <p:nvSpPr>
          <p:cNvPr id="20" name="Text 18"/>
          <p:cNvSpPr/>
          <p:nvPr/>
        </p:nvSpPr>
        <p:spPr>
          <a:xfrm>
            <a:off x="624929" y="3742879"/>
            <a:ext cx="3006551"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Not checking output</a:t>
            </a:r>
            <a:endParaRPr lang="en-US" sz="1200" dirty="0"/>
          </a:p>
        </p:txBody>
      </p:sp>
      <p:sp>
        <p:nvSpPr>
          <p:cNvPr id="21" name="Text 19"/>
          <p:cNvSpPr/>
          <p:nvPr/>
        </p:nvSpPr>
        <p:spPr>
          <a:xfrm>
            <a:off x="3884191" y="3742879"/>
            <a:ext cx="4634954"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You'll evaluate against your goal.</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2" grpId="0" animBg="1"/>
      <p:bldP spid="14" grpId="0" animBg="1"/>
      <p:bldP spid="15" grpId="0" animBg="1"/>
      <p:bldP spid="17" grpId="0" animBg="1"/>
      <p:bldP spid="18" grpId="0" animBg="1"/>
      <p:bldP spid="20" grpId="0" animBg="1"/>
      <p:bldP spid="2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306637"/>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Hands‑On Activity: </a:t>
            </a:r>
            <a:endParaRPr lang="en-US" sz="2400" dirty="0"/>
          </a:p>
        </p:txBody>
      </p:sp>
      <p:sp>
        <p:nvSpPr>
          <p:cNvPr id="4" name="Text 1"/>
          <p:cNvSpPr/>
          <p:nvPr/>
        </p:nvSpPr>
        <p:spPr>
          <a:xfrm>
            <a:off x="3925119" y="1743745"/>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Prompt Playground </a:t>
            </a:r>
            <a:endParaRPr lang="en-US" sz="2400" dirty="0"/>
          </a:p>
        </p:txBody>
      </p:sp>
      <p:sp>
        <p:nvSpPr>
          <p:cNvPr id="5" name="Text 2"/>
          <p:cNvSpPr/>
          <p:nvPr/>
        </p:nvSpPr>
        <p:spPr>
          <a:xfrm>
            <a:off x="3925119" y="2317328"/>
            <a:ext cx="4722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6" name="Text 3"/>
          <p:cNvSpPr/>
          <p:nvPr/>
        </p:nvSpPr>
        <p:spPr>
          <a:xfrm>
            <a:off x="3925119" y="2704951"/>
            <a:ext cx="4722763" cy="744289"/>
          </a:xfrm>
          <a:prstGeom prst="rect">
            <a:avLst/>
          </a:prstGeom>
          <a:noFill/>
          <a:ln/>
        </p:spPr>
        <p:txBody>
          <a:bodyPr wrap="squar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Goal:</a:t>
            </a:r>
            <a:r>
              <a:rPr lang="en-US" sz="1200" dirty="0">
                <a:solidFill>
                  <a:srgbClr val="15213F"/>
                </a:solidFill>
                <a:latin typeface="Roboto" pitchFamily="34" charset="0"/>
                <a:ea typeface="Roboto" pitchFamily="34" charset="-122"/>
                <a:cs typeface="Roboto" pitchFamily="34" charset="-120"/>
              </a:rPr>
              <a:t> Play with prompts! Experiment with different elements, see how changes affect the AI's output, and start building your Prompt Library. There's no right or wrong - just explore.</a:t>
            </a:r>
            <a:endParaRPr lang="en-US" sz="1200" dirty="0"/>
          </a:p>
        </p:txBody>
      </p:sp>
      <p:sp>
        <p:nvSpPr>
          <p:cNvPr id="7" name="Text 4"/>
          <p:cNvSpPr/>
          <p:nvPr/>
        </p:nvSpPr>
        <p:spPr>
          <a:xfrm>
            <a:off x="3925119" y="3588767"/>
            <a:ext cx="472276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Setup:</a:t>
            </a:r>
            <a:r>
              <a:rPr lang="en-US" sz="1200" dirty="0">
                <a:solidFill>
                  <a:srgbClr val="15213F"/>
                </a:solidFill>
                <a:latin typeface="Roboto" pitchFamily="34" charset="0"/>
                <a:ea typeface="Roboto" pitchFamily="34" charset="-122"/>
                <a:cs typeface="Roboto" pitchFamily="34" charset="-120"/>
              </a:rPr>
              <a:t> Use ChatGPT or Gemini.</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96119" y="873175"/>
            <a:ext cx="3837384"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Prompt Playground: Three Tasks</a:t>
            </a:r>
            <a:endParaRPr lang="en-US" sz="1950" dirty="0"/>
          </a:p>
        </p:txBody>
      </p:sp>
      <p:sp>
        <p:nvSpPr>
          <p:cNvPr id="3" name="Text 1"/>
          <p:cNvSpPr/>
          <p:nvPr/>
        </p:nvSpPr>
        <p:spPr>
          <a:xfrm>
            <a:off x="496119" y="1431280"/>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grpSp>
        <p:nvGrpSpPr>
          <p:cNvPr id="13" name="Group 12">
            <a:extLst>
              <a:ext uri="{FF2B5EF4-FFF2-40B4-BE49-F238E27FC236}">
                <a16:creationId xmlns:a16="http://schemas.microsoft.com/office/drawing/2014/main" id="{636EB62D-A62E-8FEB-3984-36F496BEB9FA}"/>
              </a:ext>
            </a:extLst>
          </p:cNvPr>
          <p:cNvGrpSpPr/>
          <p:nvPr/>
        </p:nvGrpSpPr>
        <p:grpSpPr>
          <a:xfrm>
            <a:off x="496119" y="1769269"/>
            <a:ext cx="2634555" cy="2500982"/>
            <a:chOff x="496119" y="1769269"/>
            <a:chExt cx="2634555" cy="2500982"/>
          </a:xfrm>
        </p:grpSpPr>
        <p:sp>
          <p:nvSpPr>
            <p:cNvPr id="4" name="Shape 2"/>
            <p:cNvSpPr/>
            <p:nvPr/>
          </p:nvSpPr>
          <p:spPr>
            <a:xfrm>
              <a:off x="496119" y="1769269"/>
              <a:ext cx="2634555" cy="2500982"/>
            </a:xfrm>
            <a:prstGeom prst="roundRect">
              <a:avLst>
                <a:gd name="adj" fmla="val 744"/>
              </a:avLst>
            </a:prstGeom>
            <a:solidFill>
              <a:srgbClr val="E9ECF2"/>
            </a:solidFill>
            <a:ln/>
          </p:spPr>
          <p:txBody>
            <a:bodyPr/>
            <a:lstStyle/>
            <a:p>
              <a:endParaRPr lang="en-IN"/>
            </a:p>
          </p:txBody>
        </p:sp>
        <p:sp>
          <p:nvSpPr>
            <p:cNvPr id="5" name="Text 3"/>
            <p:cNvSpPr/>
            <p:nvPr/>
          </p:nvSpPr>
          <p:spPr>
            <a:xfrm>
              <a:off x="620092" y="1893243"/>
              <a:ext cx="1595140" cy="193849"/>
            </a:xfrm>
            <a:prstGeom prst="rect">
              <a:avLst/>
            </a:prstGeom>
            <a:noFill/>
            <a:ln/>
          </p:spPr>
          <p:txBody>
            <a:bodyPr wrap="none" lIns="0" tIns="0" rIns="0" bIns="0" rtlCol="0" anchor="t"/>
            <a:lstStyle/>
            <a:p>
              <a:pPr marL="0" indent="0" algn="l">
                <a:lnSpc>
                  <a:spcPts val="1500"/>
                </a:lnSpc>
                <a:buNone/>
              </a:pPr>
              <a:r>
                <a:rPr lang="en-US" sz="1200" b="1" dirty="0">
                  <a:solidFill>
                    <a:srgbClr val="15213F"/>
                  </a:solidFill>
                  <a:latin typeface="Roboto Slab" pitchFamily="34" charset="0"/>
                  <a:ea typeface="Roboto Slab" pitchFamily="34" charset="-122"/>
                  <a:cs typeface="Roboto Slab" pitchFamily="34" charset="-120"/>
                </a:rPr>
                <a:t>Task 1: Curiosity Play</a:t>
              </a:r>
              <a:endParaRPr lang="en-US" sz="1200" dirty="0"/>
            </a:p>
          </p:txBody>
        </p:sp>
        <p:sp>
          <p:nvSpPr>
            <p:cNvPr id="6" name="Text 4"/>
            <p:cNvSpPr/>
            <p:nvPr/>
          </p:nvSpPr>
          <p:spPr>
            <a:xfrm>
              <a:off x="620092" y="2161505"/>
              <a:ext cx="2386608" cy="1984772"/>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Choose something you're curious about (e.g., How do birds know where to fly in winter?). Start with a simple prompt, then add one helpful element at a time. Write down how each change improves the answer or if it doesn't, that's okay too!</a:t>
              </a:r>
              <a:endParaRPr lang="en-US" sz="1200" dirty="0"/>
            </a:p>
          </p:txBody>
        </p:sp>
      </p:grpSp>
      <p:grpSp>
        <p:nvGrpSpPr>
          <p:cNvPr id="14" name="Group 13">
            <a:extLst>
              <a:ext uri="{FF2B5EF4-FFF2-40B4-BE49-F238E27FC236}">
                <a16:creationId xmlns:a16="http://schemas.microsoft.com/office/drawing/2014/main" id="{AE0B1AC5-1D00-C26E-CCEF-606CE8698FDC}"/>
              </a:ext>
            </a:extLst>
          </p:cNvPr>
          <p:cNvGrpSpPr/>
          <p:nvPr/>
        </p:nvGrpSpPr>
        <p:grpSpPr>
          <a:xfrm>
            <a:off x="3254648" y="1769269"/>
            <a:ext cx="2634630" cy="2500982"/>
            <a:chOff x="3254648" y="1769269"/>
            <a:chExt cx="2634630" cy="2500982"/>
          </a:xfrm>
        </p:grpSpPr>
        <p:sp>
          <p:nvSpPr>
            <p:cNvPr id="7" name="Shape 5"/>
            <p:cNvSpPr/>
            <p:nvPr/>
          </p:nvSpPr>
          <p:spPr>
            <a:xfrm>
              <a:off x="3254648" y="1769269"/>
              <a:ext cx="2634630" cy="2500982"/>
            </a:xfrm>
            <a:prstGeom prst="roundRect">
              <a:avLst>
                <a:gd name="adj" fmla="val 744"/>
              </a:avLst>
            </a:prstGeom>
            <a:solidFill>
              <a:srgbClr val="E9ECF2"/>
            </a:solidFill>
            <a:ln/>
          </p:spPr>
          <p:txBody>
            <a:bodyPr/>
            <a:lstStyle/>
            <a:p>
              <a:endParaRPr lang="en-IN"/>
            </a:p>
          </p:txBody>
        </p:sp>
        <p:sp>
          <p:nvSpPr>
            <p:cNvPr id="8" name="Text 6"/>
            <p:cNvSpPr/>
            <p:nvPr/>
          </p:nvSpPr>
          <p:spPr>
            <a:xfrm>
              <a:off x="3378622" y="1893243"/>
              <a:ext cx="2386682"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Task 2: Creative Play</a:t>
              </a:r>
              <a:endParaRPr lang="en-US" sz="1200" dirty="0"/>
            </a:p>
          </p:txBody>
        </p:sp>
        <p:sp>
          <p:nvSpPr>
            <p:cNvPr id="9" name="Text 7"/>
            <p:cNvSpPr/>
            <p:nvPr/>
          </p:nvSpPr>
          <p:spPr>
            <a:xfrm>
              <a:off x="3378622" y="2215753"/>
              <a:ext cx="2386682" cy="1736675"/>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Ask AI to help you create something fun - a character, a short story, a game idea. Try at least two different formats (e.g., bulleted list vs. dialogue). Compare the results. Which one worked better for your goal?</a:t>
              </a:r>
              <a:endParaRPr lang="en-US" sz="1200" dirty="0"/>
            </a:p>
          </p:txBody>
        </p:sp>
      </p:grpSp>
      <p:grpSp>
        <p:nvGrpSpPr>
          <p:cNvPr id="15" name="Group 14">
            <a:extLst>
              <a:ext uri="{FF2B5EF4-FFF2-40B4-BE49-F238E27FC236}">
                <a16:creationId xmlns:a16="http://schemas.microsoft.com/office/drawing/2014/main" id="{65D9A95C-6C89-2B77-2585-FC4BEDB0D266}"/>
              </a:ext>
            </a:extLst>
          </p:cNvPr>
          <p:cNvGrpSpPr/>
          <p:nvPr/>
        </p:nvGrpSpPr>
        <p:grpSpPr>
          <a:xfrm>
            <a:off x="6013252" y="1769269"/>
            <a:ext cx="2634555" cy="2500982"/>
            <a:chOff x="6013252" y="1769269"/>
            <a:chExt cx="2634555" cy="2500982"/>
          </a:xfrm>
        </p:grpSpPr>
        <p:sp>
          <p:nvSpPr>
            <p:cNvPr id="10" name="Shape 8"/>
            <p:cNvSpPr/>
            <p:nvPr/>
          </p:nvSpPr>
          <p:spPr>
            <a:xfrm>
              <a:off x="6013252" y="1769269"/>
              <a:ext cx="2634555" cy="2500982"/>
            </a:xfrm>
            <a:prstGeom prst="roundRect">
              <a:avLst>
                <a:gd name="adj" fmla="val 744"/>
              </a:avLst>
            </a:prstGeom>
            <a:solidFill>
              <a:srgbClr val="E9ECF2"/>
            </a:solidFill>
            <a:ln/>
          </p:spPr>
          <p:txBody>
            <a:bodyPr/>
            <a:lstStyle/>
            <a:p>
              <a:endParaRPr lang="en-IN"/>
            </a:p>
          </p:txBody>
        </p:sp>
        <p:sp>
          <p:nvSpPr>
            <p:cNvPr id="11" name="Text 9"/>
            <p:cNvSpPr/>
            <p:nvPr/>
          </p:nvSpPr>
          <p:spPr>
            <a:xfrm>
              <a:off x="6137225" y="1893243"/>
              <a:ext cx="238660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Task 3: Real‑Life Play</a:t>
              </a:r>
              <a:endParaRPr lang="en-US" sz="1200" dirty="0"/>
            </a:p>
          </p:txBody>
        </p:sp>
        <p:sp>
          <p:nvSpPr>
            <p:cNvPr id="12" name="Text 10"/>
            <p:cNvSpPr/>
            <p:nvPr/>
          </p:nvSpPr>
          <p:spPr>
            <a:xfrm>
              <a:off x="6137225" y="2215753"/>
              <a:ext cx="2386608" cy="148857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Use the framework (Action + Topic + Context + Format + Constraints) if it helps. Solve a real problem (e.g., plan a weekend, write a kind message, learn a skill). Run it, then refine once.</a:t>
              </a:r>
              <a:endParaRPr lang="en-US" sz="12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96119" y="1436266"/>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Summary</a:t>
            </a:r>
            <a:endParaRPr lang="en-US" sz="2400" dirty="0"/>
          </a:p>
        </p:txBody>
      </p:sp>
      <p:sp>
        <p:nvSpPr>
          <p:cNvPr id="3" name="Shape 1"/>
          <p:cNvSpPr/>
          <p:nvPr/>
        </p:nvSpPr>
        <p:spPr>
          <a:xfrm>
            <a:off x="496119" y="2071836"/>
            <a:ext cx="8151763" cy="1635323"/>
          </a:xfrm>
          <a:prstGeom prst="roundRect">
            <a:avLst>
              <a:gd name="adj" fmla="val 1138"/>
            </a:avLst>
          </a:prstGeom>
          <a:noFill/>
          <a:ln w="4763">
            <a:solidFill>
              <a:srgbClr val="000000">
                <a:alpha val="8000"/>
              </a:srgbClr>
            </a:solidFill>
            <a:prstDash val="solid"/>
          </a:ln>
        </p:spPr>
        <p:txBody>
          <a:bodyPr/>
          <a:lstStyle/>
          <a:p>
            <a:endParaRPr lang="en-IN"/>
          </a:p>
        </p:txBody>
      </p:sp>
      <p:sp>
        <p:nvSpPr>
          <p:cNvPr id="4" name="Shape 2"/>
          <p:cNvSpPr/>
          <p:nvPr/>
        </p:nvSpPr>
        <p:spPr>
          <a:xfrm>
            <a:off x="500881" y="2076599"/>
            <a:ext cx="8142238" cy="406450"/>
          </a:xfrm>
          <a:prstGeom prst="rect">
            <a:avLst/>
          </a:prstGeom>
          <a:solidFill>
            <a:srgbClr val="FFFFFF">
              <a:alpha val="4000"/>
            </a:srgbClr>
          </a:solidFill>
          <a:ln/>
        </p:spPr>
        <p:txBody>
          <a:bodyPr/>
          <a:lstStyle/>
          <a:p>
            <a:endParaRPr lang="en-IN"/>
          </a:p>
        </p:txBody>
      </p:sp>
      <p:sp>
        <p:nvSpPr>
          <p:cNvPr id="5" name="Text 3"/>
          <p:cNvSpPr/>
          <p:nvPr/>
        </p:nvSpPr>
        <p:spPr>
          <a:xfrm>
            <a:off x="624929" y="2155775"/>
            <a:ext cx="219231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Key Term</a:t>
            </a:r>
            <a:endParaRPr lang="en-US" sz="1200" dirty="0"/>
          </a:p>
        </p:txBody>
      </p:sp>
      <p:sp>
        <p:nvSpPr>
          <p:cNvPr id="6" name="Text 4"/>
          <p:cNvSpPr/>
          <p:nvPr/>
        </p:nvSpPr>
        <p:spPr>
          <a:xfrm>
            <a:off x="3069952" y="2155775"/>
            <a:ext cx="5449193"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What It Means</a:t>
            </a:r>
            <a:endParaRPr lang="en-US" sz="1200" dirty="0"/>
          </a:p>
        </p:txBody>
      </p:sp>
      <p:sp>
        <p:nvSpPr>
          <p:cNvPr id="7" name="Shape 5"/>
          <p:cNvSpPr/>
          <p:nvPr/>
        </p:nvSpPr>
        <p:spPr>
          <a:xfrm>
            <a:off x="500881" y="2483048"/>
            <a:ext cx="8142238" cy="406450"/>
          </a:xfrm>
          <a:prstGeom prst="rect">
            <a:avLst/>
          </a:prstGeom>
          <a:solidFill>
            <a:srgbClr val="000000">
              <a:alpha val="4000"/>
            </a:srgbClr>
          </a:solidFill>
          <a:ln/>
        </p:spPr>
        <p:txBody>
          <a:bodyPr/>
          <a:lstStyle/>
          <a:p>
            <a:endParaRPr lang="en-IN"/>
          </a:p>
        </p:txBody>
      </p:sp>
      <p:sp>
        <p:nvSpPr>
          <p:cNvPr id="8" name="Text 6"/>
          <p:cNvSpPr/>
          <p:nvPr/>
        </p:nvSpPr>
        <p:spPr>
          <a:xfrm>
            <a:off x="624929" y="2562225"/>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Prompt</a:t>
            </a:r>
            <a:endParaRPr lang="en-US" sz="1200" dirty="0"/>
          </a:p>
        </p:txBody>
      </p:sp>
      <p:sp>
        <p:nvSpPr>
          <p:cNvPr id="9" name="Text 7"/>
          <p:cNvSpPr/>
          <p:nvPr/>
        </p:nvSpPr>
        <p:spPr>
          <a:xfrm>
            <a:off x="3069952" y="2562225"/>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Your instruction to AI</a:t>
            </a:r>
            <a:endParaRPr lang="en-US" sz="1200" dirty="0"/>
          </a:p>
        </p:txBody>
      </p:sp>
      <p:sp>
        <p:nvSpPr>
          <p:cNvPr id="10" name="Shape 8"/>
          <p:cNvSpPr/>
          <p:nvPr/>
        </p:nvSpPr>
        <p:spPr>
          <a:xfrm>
            <a:off x="500881" y="2889498"/>
            <a:ext cx="8142238" cy="406450"/>
          </a:xfrm>
          <a:prstGeom prst="rect">
            <a:avLst/>
          </a:prstGeom>
          <a:solidFill>
            <a:srgbClr val="FFFFFF">
              <a:alpha val="4000"/>
            </a:srgbClr>
          </a:solidFill>
          <a:ln/>
        </p:spPr>
        <p:txBody>
          <a:bodyPr/>
          <a:lstStyle/>
          <a:p>
            <a:endParaRPr lang="en-IN"/>
          </a:p>
        </p:txBody>
      </p:sp>
      <p:sp>
        <p:nvSpPr>
          <p:cNvPr id="11" name="Text 9"/>
          <p:cNvSpPr/>
          <p:nvPr/>
        </p:nvSpPr>
        <p:spPr>
          <a:xfrm>
            <a:off x="624929" y="2968675"/>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Iterative</a:t>
            </a:r>
            <a:endParaRPr lang="en-US" sz="1200" dirty="0"/>
          </a:p>
        </p:txBody>
      </p:sp>
      <p:sp>
        <p:nvSpPr>
          <p:cNvPr id="12" name="Text 10"/>
          <p:cNvSpPr/>
          <p:nvPr/>
        </p:nvSpPr>
        <p:spPr>
          <a:xfrm>
            <a:off x="3069952" y="2968675"/>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Improving through repeated attempts</a:t>
            </a:r>
            <a:endParaRPr lang="en-US" sz="1200" dirty="0"/>
          </a:p>
        </p:txBody>
      </p:sp>
      <p:sp>
        <p:nvSpPr>
          <p:cNvPr id="13" name="Shape 11"/>
          <p:cNvSpPr/>
          <p:nvPr/>
        </p:nvSpPr>
        <p:spPr>
          <a:xfrm>
            <a:off x="500881" y="3295948"/>
            <a:ext cx="8142238" cy="406450"/>
          </a:xfrm>
          <a:prstGeom prst="rect">
            <a:avLst/>
          </a:prstGeom>
          <a:solidFill>
            <a:srgbClr val="000000">
              <a:alpha val="4000"/>
            </a:srgbClr>
          </a:solidFill>
          <a:ln/>
        </p:spPr>
        <p:txBody>
          <a:bodyPr/>
          <a:lstStyle/>
          <a:p>
            <a:endParaRPr lang="en-IN"/>
          </a:p>
        </p:txBody>
      </p:sp>
      <p:sp>
        <p:nvSpPr>
          <p:cNvPr id="14" name="Text 12"/>
          <p:cNvSpPr/>
          <p:nvPr/>
        </p:nvSpPr>
        <p:spPr>
          <a:xfrm>
            <a:off x="624929" y="3375124"/>
            <a:ext cx="219231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Constraints</a:t>
            </a:r>
            <a:endParaRPr lang="en-US" sz="1200" dirty="0"/>
          </a:p>
        </p:txBody>
      </p:sp>
      <p:sp>
        <p:nvSpPr>
          <p:cNvPr id="15" name="Text 13"/>
          <p:cNvSpPr/>
          <p:nvPr/>
        </p:nvSpPr>
        <p:spPr>
          <a:xfrm>
            <a:off x="3069952" y="3375124"/>
            <a:ext cx="544919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Limits you give to AI (length, style, what to avoid)</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4"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96119" y="669429"/>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Summary</a:t>
            </a:r>
            <a:endParaRPr lang="en-US" sz="2400" dirty="0"/>
          </a:p>
        </p:txBody>
      </p:sp>
      <p:sp>
        <p:nvSpPr>
          <p:cNvPr id="3" name="Shape 1"/>
          <p:cNvSpPr/>
          <p:nvPr/>
        </p:nvSpPr>
        <p:spPr>
          <a:xfrm>
            <a:off x="406822" y="1243013"/>
            <a:ext cx="4103191" cy="2176835"/>
          </a:xfrm>
          <a:prstGeom prst="roundRect">
            <a:avLst>
              <a:gd name="adj" fmla="val 855"/>
            </a:avLst>
          </a:prstGeom>
          <a:solidFill>
            <a:srgbClr val="F2F2F2"/>
          </a:solidFill>
          <a:ln/>
        </p:spPr>
        <p:txBody>
          <a:bodyPr/>
          <a:lstStyle/>
          <a:p>
            <a:endParaRPr lang="en-IN"/>
          </a:p>
        </p:txBody>
      </p:sp>
      <p:sp>
        <p:nvSpPr>
          <p:cNvPr id="4" name="Text 2"/>
          <p:cNvSpPr/>
          <p:nvPr/>
        </p:nvSpPr>
        <p:spPr>
          <a:xfrm>
            <a:off x="530796" y="1354634"/>
            <a:ext cx="3855244"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Helpful Elements to Consider</a:t>
            </a:r>
            <a:endParaRPr lang="en-US" sz="1200" dirty="0"/>
          </a:p>
        </p:txBody>
      </p:sp>
      <p:sp>
        <p:nvSpPr>
          <p:cNvPr id="5" name="Text 3"/>
          <p:cNvSpPr/>
          <p:nvPr/>
        </p:nvSpPr>
        <p:spPr>
          <a:xfrm>
            <a:off x="530796" y="1714351"/>
            <a:ext cx="3855244" cy="1662113"/>
          </a:xfrm>
          <a:prstGeom prst="rect">
            <a:avLst/>
          </a:prstGeom>
          <a:noFill/>
          <a:ln/>
        </p:spPr>
        <p:txBody>
          <a:bodyPr wrap="square" lIns="0" tIns="0" rIns="0" bIns="0" rtlCol="0" anchor="t"/>
          <a:lstStyle/>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Clear Instructions - tell AI exactly what to do (include action and topic)</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Context - who you are, what you need</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Format - how you want the answer</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Constraints - limits (length, style, what to avoid)</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Optional Example - show the AI what you want</a:t>
            </a:r>
            <a:endParaRPr lang="en-US" sz="950" dirty="0"/>
          </a:p>
        </p:txBody>
      </p:sp>
      <p:sp>
        <p:nvSpPr>
          <p:cNvPr id="6" name="Text 4"/>
          <p:cNvSpPr/>
          <p:nvPr/>
        </p:nvSpPr>
        <p:spPr>
          <a:xfrm>
            <a:off x="4728046" y="1354634"/>
            <a:ext cx="3924598" cy="248096"/>
          </a:xfrm>
          <a:prstGeom prst="rect">
            <a:avLst/>
          </a:prstGeom>
          <a:noFill/>
          <a:ln/>
        </p:spPr>
        <p:txBody>
          <a:bodyPr wrap="none" lIns="0" tIns="0" rIns="0" bIns="0" rtlCol="0" anchor="t"/>
          <a:lstStyle/>
          <a:p>
            <a:pPr marL="0" indent="0" algn="l">
              <a:lnSpc>
                <a:spcPts val="1950"/>
              </a:lnSpc>
              <a:buNone/>
            </a:pPr>
            <a:r>
              <a:rPr lang="en-US" sz="1200" b="1" dirty="0">
                <a:solidFill>
                  <a:srgbClr val="15213F"/>
                </a:solidFill>
                <a:latin typeface="Roboto" pitchFamily="34" charset="0"/>
                <a:ea typeface="Roboto" pitchFamily="34" charset="-122"/>
                <a:cs typeface="Roboto" pitchFamily="34" charset="-120"/>
              </a:rPr>
              <a:t>Common Mistakes to Avoid</a:t>
            </a:r>
            <a:endParaRPr lang="en-US" sz="1200" dirty="0"/>
          </a:p>
        </p:txBody>
      </p:sp>
      <p:sp>
        <p:nvSpPr>
          <p:cNvPr id="7" name="Text 5"/>
          <p:cNvSpPr/>
          <p:nvPr/>
        </p:nvSpPr>
        <p:spPr>
          <a:xfrm>
            <a:off x="4728046" y="1714351"/>
            <a:ext cx="3924598" cy="1414016"/>
          </a:xfrm>
          <a:prstGeom prst="rect">
            <a:avLst/>
          </a:prstGeom>
          <a:noFill/>
          <a:ln/>
        </p:spPr>
        <p:txBody>
          <a:bodyPr wrap="square" lIns="0" tIns="0" rIns="0" bIns="0" rtlCol="0" anchor="t"/>
          <a:lstStyle/>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Assuming AI understands you</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Giving incomplete information</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Accepting the first answer blindly</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Overloading the prompt</a:t>
            </a:r>
            <a:endParaRPr lang="en-US" sz="950" dirty="0"/>
          </a:p>
          <a:p>
            <a:pPr marL="342900" indent="-342900" algn="l">
              <a:lnSpc>
                <a:spcPts val="1550"/>
              </a:lnSpc>
              <a:buSzPct val="100000"/>
              <a:buChar char="•"/>
            </a:pPr>
            <a:r>
              <a:rPr lang="en-US" sz="950" dirty="0">
                <a:solidFill>
                  <a:srgbClr val="15213F"/>
                </a:solidFill>
                <a:latin typeface="Roboto" pitchFamily="34" charset="0"/>
                <a:ea typeface="Roboto" pitchFamily="34" charset="-122"/>
                <a:cs typeface="Roboto" pitchFamily="34" charset="-120"/>
              </a:rPr>
              <a:t>Not checking output against need</a:t>
            </a:r>
            <a:endParaRPr lang="en-US" sz="950" dirty="0"/>
          </a:p>
        </p:txBody>
      </p:sp>
      <p:sp>
        <p:nvSpPr>
          <p:cNvPr id="8" name="Text 6"/>
          <p:cNvSpPr/>
          <p:nvPr/>
        </p:nvSpPr>
        <p:spPr>
          <a:xfrm>
            <a:off x="496119" y="3559373"/>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sp>
        <p:nvSpPr>
          <p:cNvPr id="9" name="Shape 7"/>
          <p:cNvSpPr/>
          <p:nvPr/>
        </p:nvSpPr>
        <p:spPr>
          <a:xfrm>
            <a:off x="496119" y="3897362"/>
            <a:ext cx="8151763" cy="576635"/>
          </a:xfrm>
          <a:prstGeom prst="roundRect">
            <a:avLst>
              <a:gd name="adj" fmla="val 3227"/>
            </a:avLst>
          </a:prstGeom>
          <a:solidFill>
            <a:srgbClr val="F2F2F2"/>
          </a:solidFill>
          <a:ln/>
        </p:spPr>
        <p:txBody>
          <a:bodyPr/>
          <a:lstStyle/>
          <a:p>
            <a:endParaRPr lang="en-IN"/>
          </a:p>
        </p:txBody>
      </p:sp>
      <p:pic>
        <p:nvPicPr>
          <p:cNvPr id="10" name="Image 0" descr="preencoded.png"/>
          <p:cNvPicPr>
            <a:picLocks noChangeAspect="1"/>
          </p:cNvPicPr>
          <p:nvPr/>
        </p:nvPicPr>
        <p:blipFill>
          <a:blip r:embed="rId3"/>
          <a:stretch>
            <a:fillRect/>
          </a:stretch>
        </p:blipFill>
        <p:spPr>
          <a:xfrm>
            <a:off x="620092" y="4092848"/>
            <a:ext cx="193774" cy="155004"/>
          </a:xfrm>
          <a:prstGeom prst="rect">
            <a:avLst/>
          </a:prstGeom>
        </p:spPr>
      </p:pic>
      <p:sp>
        <p:nvSpPr>
          <p:cNvPr id="11" name="Text 8"/>
          <p:cNvSpPr/>
          <p:nvPr/>
        </p:nvSpPr>
        <p:spPr>
          <a:xfrm>
            <a:off x="937840" y="4052292"/>
            <a:ext cx="7586067" cy="248096"/>
          </a:xfrm>
          <a:prstGeom prst="rect">
            <a:avLst/>
          </a:prstGeom>
          <a:noFill/>
          <a:ln/>
        </p:spPr>
        <p:txBody>
          <a:bodyPr wrap="none" lIns="0" tIns="0" rIns="0" bIns="0" rtlCol="0" anchor="t"/>
          <a:lstStyle/>
          <a:p>
            <a:pPr marL="0" indent="0" algn="l">
              <a:lnSpc>
                <a:spcPts val="1950"/>
              </a:lnSpc>
              <a:buNone/>
            </a:pPr>
            <a:r>
              <a:rPr lang="en-US" sz="1200" b="1" dirty="0">
                <a:solidFill>
                  <a:srgbClr val="000000"/>
                </a:solidFill>
                <a:latin typeface="Roboto" pitchFamily="34" charset="0"/>
                <a:ea typeface="Roboto" pitchFamily="34" charset="-122"/>
                <a:cs typeface="Roboto" pitchFamily="34" charset="-120"/>
              </a:rPr>
              <a:t>The Prompt Framework </a:t>
            </a:r>
            <a:r>
              <a:rPr lang="en-US" sz="1200" dirty="0">
                <a:solidFill>
                  <a:srgbClr val="000000"/>
                </a:solidFill>
                <a:latin typeface="Roboto" pitchFamily="34" charset="0"/>
                <a:ea typeface="Roboto" pitchFamily="34" charset="-122"/>
                <a:cs typeface="Roboto" pitchFamily="34" charset="-120"/>
              </a:rPr>
              <a:t>: Action + Topic + Context + Format + Constraints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96119" y="1881783"/>
            <a:ext cx="7187357"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There's no single "perfect" way to write a prompt.</a:t>
            </a:r>
            <a:endParaRPr lang="en-US" sz="2400" dirty="0"/>
          </a:p>
        </p:txBody>
      </p:sp>
      <p:sp>
        <p:nvSpPr>
          <p:cNvPr id="3" name="Text 1"/>
          <p:cNvSpPr/>
          <p:nvPr/>
        </p:nvSpPr>
        <p:spPr>
          <a:xfrm>
            <a:off x="496119" y="2517353"/>
            <a:ext cx="8151763" cy="744289"/>
          </a:xfrm>
          <a:prstGeom prst="rect">
            <a:avLst/>
          </a:prstGeom>
          <a:noFill/>
          <a:ln/>
        </p:spPr>
        <p:txBody>
          <a:bodyPr wrap="squar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The best prompt is the one that helps you get what you need. Use helpful elements when they make sense, iterate when you're not satisfied, and always stay in control of the final output. This skill will serve you in every AI interaction - in this course, in school, and in the future.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88379" y="378396"/>
            <a:ext cx="2900065" cy="362471"/>
          </a:xfrm>
          <a:prstGeom prst="rect">
            <a:avLst/>
          </a:prstGeom>
          <a:noFill/>
          <a:ln/>
        </p:spPr>
        <p:txBody>
          <a:bodyPr wrap="none" lIns="0" tIns="0" rIns="0" bIns="0" rtlCol="0" anchor="t"/>
          <a:lstStyle/>
          <a:p>
            <a:pPr marL="0" indent="0" algn="l">
              <a:lnSpc>
                <a:spcPts val="2850"/>
              </a:lnSpc>
              <a:buNone/>
            </a:pPr>
            <a:r>
              <a:rPr lang="en-US" sz="2250" dirty="0">
                <a:solidFill>
                  <a:srgbClr val="3257B8"/>
                </a:solidFill>
                <a:latin typeface="Roboto Slab" pitchFamily="34" charset="0"/>
                <a:ea typeface="Roboto Slab" pitchFamily="34" charset="-122"/>
                <a:cs typeface="Roboto Slab" pitchFamily="34" charset="-120"/>
              </a:rPr>
              <a:t>Homework : </a:t>
            </a:r>
            <a:endParaRPr lang="en-US" sz="2250" dirty="0"/>
          </a:p>
        </p:txBody>
      </p:sp>
      <p:sp>
        <p:nvSpPr>
          <p:cNvPr id="4" name="Text 1"/>
          <p:cNvSpPr/>
          <p:nvPr/>
        </p:nvSpPr>
        <p:spPr>
          <a:xfrm>
            <a:off x="488379" y="784250"/>
            <a:ext cx="2900065" cy="362471"/>
          </a:xfrm>
          <a:prstGeom prst="rect">
            <a:avLst/>
          </a:prstGeom>
          <a:noFill/>
          <a:ln/>
        </p:spPr>
        <p:txBody>
          <a:bodyPr wrap="none" lIns="0" tIns="0" rIns="0" bIns="0" rtlCol="0" anchor="t"/>
          <a:lstStyle/>
          <a:p>
            <a:pPr marL="0" indent="0" algn="l">
              <a:lnSpc>
                <a:spcPts val="2850"/>
              </a:lnSpc>
              <a:buNone/>
            </a:pPr>
            <a:r>
              <a:rPr lang="en-US" sz="2250" dirty="0">
                <a:solidFill>
                  <a:srgbClr val="3257B8"/>
                </a:solidFill>
                <a:latin typeface="Roboto Slab" pitchFamily="34" charset="0"/>
                <a:ea typeface="Roboto Slab" pitchFamily="34" charset="-122"/>
                <a:cs typeface="Roboto Slab" pitchFamily="34" charset="-120"/>
              </a:rPr>
              <a:t>My Prompt Library </a:t>
            </a:r>
            <a:endParaRPr lang="en-US" sz="2250" dirty="0"/>
          </a:p>
        </p:txBody>
      </p:sp>
      <p:sp>
        <p:nvSpPr>
          <p:cNvPr id="5" name="Text 2"/>
          <p:cNvSpPr/>
          <p:nvPr/>
        </p:nvSpPr>
        <p:spPr>
          <a:xfrm>
            <a:off x="488379" y="1309390"/>
            <a:ext cx="4738241" cy="1122536"/>
          </a:xfrm>
          <a:prstGeom prst="rect">
            <a:avLst/>
          </a:prstGeom>
          <a:noFill/>
          <a:ln/>
        </p:spPr>
        <p:txBody>
          <a:bodyPr wrap="square" lIns="0" tIns="0" rIns="0" bIns="0" rtlCol="0" anchor="t"/>
          <a:lstStyle/>
          <a:p>
            <a:pPr marL="0" indent="0" algn="l">
              <a:lnSpc>
                <a:spcPts val="1750"/>
              </a:lnSpc>
              <a:buNone/>
            </a:pPr>
            <a:r>
              <a:rPr lang="en-US" sz="1100" dirty="0">
                <a:solidFill>
                  <a:srgbClr val="15213F"/>
                </a:solidFill>
                <a:latin typeface="Roboto" pitchFamily="34" charset="0"/>
                <a:ea typeface="Roboto" pitchFamily="34" charset="-122"/>
                <a:cs typeface="Roboto" pitchFamily="34" charset="-120"/>
              </a:rPr>
              <a:t>Your Prompt Library will be a </a:t>
            </a:r>
            <a:r>
              <a:rPr lang="en-US" sz="1100" b="1" dirty="0">
                <a:solidFill>
                  <a:srgbClr val="15213F"/>
                </a:solidFill>
                <a:latin typeface="Roboto" pitchFamily="34" charset="0"/>
                <a:ea typeface="Roboto" pitchFamily="34" charset="-122"/>
                <a:cs typeface="Roboto" pitchFamily="34" charset="-120"/>
              </a:rPr>
              <a:t>living document</a:t>
            </a:r>
            <a:r>
              <a:rPr lang="en-US" sz="1100" dirty="0">
                <a:solidFill>
                  <a:srgbClr val="15213F"/>
                </a:solidFill>
                <a:latin typeface="Roboto" pitchFamily="34" charset="0"/>
                <a:ea typeface="Roboto" pitchFamily="34" charset="-122"/>
                <a:cs typeface="Roboto" pitchFamily="34" charset="-120"/>
              </a:rPr>
              <a:t> you keep throughout the course and beyond. It's where you'll save your best prompts, track what worked, and quickly find the perfect instruction for any task. This structure is designed to grow with you as AI evolves. You decide what to include - some entries might be simple, others more detailed.</a:t>
            </a:r>
            <a:endParaRPr lang="en-US" sz="1100" dirty="0"/>
          </a:p>
        </p:txBody>
      </p:sp>
      <p:sp>
        <p:nvSpPr>
          <p:cNvPr id="6" name="Text 3"/>
          <p:cNvSpPr/>
          <p:nvPr/>
        </p:nvSpPr>
        <p:spPr>
          <a:xfrm>
            <a:off x="488379" y="2553965"/>
            <a:ext cx="4738241" cy="673522"/>
          </a:xfrm>
          <a:prstGeom prst="rect">
            <a:avLst/>
          </a:prstGeom>
          <a:noFill/>
          <a:ln/>
        </p:spPr>
        <p:txBody>
          <a:bodyPr wrap="square" lIns="0" tIns="0" rIns="0" bIns="0" rtlCol="0" anchor="t"/>
          <a:lstStyle/>
          <a:p>
            <a:pPr marL="0" indent="0" algn="l">
              <a:lnSpc>
                <a:spcPts val="1750"/>
              </a:lnSpc>
              <a:buNone/>
            </a:pPr>
            <a:r>
              <a:rPr lang="en-US" sz="1100" dirty="0">
                <a:solidFill>
                  <a:srgbClr val="15213F"/>
                </a:solidFill>
                <a:latin typeface="Roboto" pitchFamily="34" charset="0"/>
                <a:ea typeface="Roboto" pitchFamily="34" charset="-122"/>
                <a:cs typeface="Roboto" pitchFamily="34" charset="-120"/>
              </a:rPr>
              <a:t>Create a document titled: </a:t>
            </a:r>
            <a:r>
              <a:rPr lang="en-US" sz="1100" b="1" dirty="0">
                <a:solidFill>
                  <a:srgbClr val="15213F"/>
                </a:solidFill>
                <a:latin typeface="Roboto" pitchFamily="34" charset="0"/>
                <a:ea typeface="Roboto" pitchFamily="34" charset="-122"/>
                <a:cs typeface="Roboto" pitchFamily="34" charset="-120"/>
              </a:rPr>
              <a:t>"My Prompt Library"</a:t>
            </a:r>
            <a:r>
              <a:rPr lang="en-US" sz="1100" dirty="0">
                <a:solidFill>
                  <a:srgbClr val="15213F"/>
                </a:solidFill>
                <a:latin typeface="Roboto" pitchFamily="34" charset="0"/>
                <a:ea typeface="Roboto" pitchFamily="34" charset="-122"/>
                <a:cs typeface="Roboto" pitchFamily="34" charset="-120"/>
              </a:rPr>
              <a:t>. Use the following structure for each entry. For this first assignment, add at least two entries from today's activity.</a:t>
            </a:r>
            <a:endParaRPr lang="en-US" sz="1100" dirty="0"/>
          </a:p>
        </p:txBody>
      </p:sp>
      <p:sp>
        <p:nvSpPr>
          <p:cNvPr id="7" name="Shape 4"/>
          <p:cNvSpPr/>
          <p:nvPr/>
        </p:nvSpPr>
        <p:spPr>
          <a:xfrm>
            <a:off x="488379" y="3349526"/>
            <a:ext cx="4738241" cy="1415504"/>
          </a:xfrm>
          <a:prstGeom prst="roundRect">
            <a:avLst>
              <a:gd name="adj" fmla="val 1229"/>
            </a:avLst>
          </a:prstGeom>
          <a:solidFill>
            <a:srgbClr val="F2F2F2"/>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604317" y="3521943"/>
            <a:ext cx="181198" cy="144959"/>
          </a:xfrm>
          <a:prstGeom prst="rect">
            <a:avLst/>
          </a:prstGeom>
        </p:spPr>
      </p:pic>
      <p:sp>
        <p:nvSpPr>
          <p:cNvPr id="9" name="Text 5"/>
          <p:cNvSpPr/>
          <p:nvPr/>
        </p:nvSpPr>
        <p:spPr>
          <a:xfrm>
            <a:off x="901452" y="3486894"/>
            <a:ext cx="4209231" cy="1122536"/>
          </a:xfrm>
          <a:prstGeom prst="rect">
            <a:avLst/>
          </a:prstGeom>
          <a:noFill/>
          <a:ln/>
        </p:spPr>
        <p:txBody>
          <a:bodyPr wrap="square" lIns="0" tIns="0" rIns="0" bIns="0" rtlCol="0" anchor="t"/>
          <a:lstStyle/>
          <a:p>
            <a:pPr marL="0" indent="0" algn="l">
              <a:lnSpc>
                <a:spcPts val="1750"/>
              </a:lnSpc>
              <a:buNone/>
            </a:pPr>
            <a:r>
              <a:rPr lang="en-US" sz="1100" b="1" dirty="0">
                <a:solidFill>
                  <a:srgbClr val="000000"/>
                </a:solidFill>
                <a:latin typeface="Roboto" pitchFamily="34" charset="0"/>
                <a:ea typeface="Roboto" pitchFamily="34" charset="-122"/>
                <a:cs typeface="Roboto" pitchFamily="34" charset="-120"/>
              </a:rPr>
              <a:t>Assignment:</a:t>
            </a:r>
            <a:r>
              <a:rPr lang="en-US" sz="1100" dirty="0">
                <a:solidFill>
                  <a:srgbClr val="000000"/>
                </a:solidFill>
                <a:latin typeface="Roboto" pitchFamily="34" charset="0"/>
                <a:ea typeface="Roboto" pitchFamily="34" charset="-122"/>
                <a:cs typeface="Roboto" pitchFamily="34" charset="-120"/>
              </a:rPr>
              <a:t> Add at least two entries from today's activities. Keep your library organized in a way that works for you. As you add more prompts in future sessions, you'll build a powerful reference that will save you time and help you become a confident prompt engineer.</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96119" y="396999"/>
            <a:ext cx="4323531" cy="294531"/>
          </a:xfrm>
          <a:prstGeom prst="rect">
            <a:avLst/>
          </a:prstGeom>
          <a:noFill/>
          <a:ln/>
        </p:spPr>
        <p:txBody>
          <a:bodyPr wrap="none" lIns="0" tIns="0" rIns="0" bIns="0" rtlCol="0" anchor="t"/>
          <a:lstStyle/>
          <a:p>
            <a:pPr marL="0" indent="0" algn="l">
              <a:lnSpc>
                <a:spcPts val="2300"/>
              </a:lnSpc>
              <a:buNone/>
            </a:pPr>
            <a:r>
              <a:rPr lang="en-US" sz="1850" dirty="0">
                <a:solidFill>
                  <a:srgbClr val="3257B8"/>
                </a:solidFill>
                <a:latin typeface="Roboto Slab" pitchFamily="34" charset="0"/>
                <a:ea typeface="Roboto Slab" pitchFamily="34" charset="-122"/>
                <a:cs typeface="Roboto Slab" pitchFamily="34" charset="-120"/>
              </a:rPr>
              <a:t>Prompt Library Entry Format (Flexible)</a:t>
            </a:r>
            <a:endParaRPr lang="en-US" sz="1850" dirty="0"/>
          </a:p>
        </p:txBody>
      </p:sp>
      <p:sp>
        <p:nvSpPr>
          <p:cNvPr id="3" name="Shape 1"/>
          <p:cNvSpPr/>
          <p:nvPr/>
        </p:nvSpPr>
        <p:spPr>
          <a:xfrm>
            <a:off x="496119" y="915367"/>
            <a:ext cx="8151763" cy="3831134"/>
          </a:xfrm>
          <a:prstGeom prst="roundRect">
            <a:avLst>
              <a:gd name="adj" fmla="val 461"/>
            </a:avLst>
          </a:prstGeom>
          <a:noFill/>
          <a:ln w="4763">
            <a:solidFill>
              <a:srgbClr val="000000">
                <a:alpha val="8000"/>
              </a:srgbClr>
            </a:solidFill>
            <a:prstDash val="solid"/>
          </a:ln>
        </p:spPr>
        <p:txBody>
          <a:bodyPr/>
          <a:lstStyle/>
          <a:p>
            <a:endParaRPr lang="en-IN"/>
          </a:p>
        </p:txBody>
      </p:sp>
      <p:sp>
        <p:nvSpPr>
          <p:cNvPr id="4" name="Shape 2"/>
          <p:cNvSpPr/>
          <p:nvPr/>
        </p:nvSpPr>
        <p:spPr>
          <a:xfrm>
            <a:off x="500881" y="920130"/>
            <a:ext cx="8142238" cy="373559"/>
          </a:xfrm>
          <a:prstGeom prst="rect">
            <a:avLst/>
          </a:prstGeom>
          <a:solidFill>
            <a:srgbClr val="FFFFFF">
              <a:alpha val="4000"/>
            </a:srgbClr>
          </a:solidFill>
          <a:ln/>
        </p:spPr>
        <p:txBody>
          <a:bodyPr/>
          <a:lstStyle/>
          <a:p>
            <a:endParaRPr lang="en-IN"/>
          </a:p>
        </p:txBody>
      </p:sp>
      <p:sp>
        <p:nvSpPr>
          <p:cNvPr id="5" name="Text 3"/>
          <p:cNvSpPr/>
          <p:nvPr/>
        </p:nvSpPr>
        <p:spPr>
          <a:xfrm>
            <a:off x="618753" y="992014"/>
            <a:ext cx="2204665"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Field</a:t>
            </a:r>
            <a:endParaRPr lang="en-US" sz="1150" dirty="0"/>
          </a:p>
        </p:txBody>
      </p:sp>
      <p:sp>
        <p:nvSpPr>
          <p:cNvPr id="6" name="Text 4"/>
          <p:cNvSpPr/>
          <p:nvPr/>
        </p:nvSpPr>
        <p:spPr>
          <a:xfrm>
            <a:off x="3063776" y="992014"/>
            <a:ext cx="5461546" cy="229791"/>
          </a:xfrm>
          <a:prstGeom prst="rect">
            <a:avLst/>
          </a:prstGeom>
          <a:noFill/>
          <a:ln/>
        </p:spPr>
        <p:txBody>
          <a:bodyPr wrap="none" lIns="0" tIns="0" rIns="0" bIns="0" rtlCol="0" anchor="t"/>
          <a:lstStyle/>
          <a:p>
            <a:pPr marL="0" indent="0" algn="l">
              <a:lnSpc>
                <a:spcPts val="1800"/>
              </a:lnSpc>
              <a:buNone/>
            </a:pPr>
            <a:r>
              <a:rPr lang="en-US" sz="1150" b="1" dirty="0">
                <a:solidFill>
                  <a:srgbClr val="15213F"/>
                </a:solidFill>
                <a:latin typeface="Roboto" pitchFamily="34" charset="0"/>
                <a:ea typeface="Roboto" pitchFamily="34" charset="-122"/>
                <a:cs typeface="Roboto" pitchFamily="34" charset="-120"/>
              </a:rPr>
              <a:t>What to Write (optional fields are marked)</a:t>
            </a:r>
            <a:endParaRPr lang="en-US" sz="1150" dirty="0"/>
          </a:p>
        </p:txBody>
      </p:sp>
      <p:sp>
        <p:nvSpPr>
          <p:cNvPr id="7" name="Shape 5"/>
          <p:cNvSpPr/>
          <p:nvPr/>
        </p:nvSpPr>
        <p:spPr>
          <a:xfrm>
            <a:off x="500881" y="1293688"/>
            <a:ext cx="8142238" cy="373559"/>
          </a:xfrm>
          <a:prstGeom prst="rect">
            <a:avLst/>
          </a:prstGeom>
          <a:solidFill>
            <a:srgbClr val="000000">
              <a:alpha val="4000"/>
            </a:srgbClr>
          </a:solidFill>
          <a:ln/>
        </p:spPr>
        <p:txBody>
          <a:bodyPr/>
          <a:lstStyle/>
          <a:p>
            <a:endParaRPr lang="en-IN"/>
          </a:p>
        </p:txBody>
      </p:sp>
      <p:sp>
        <p:nvSpPr>
          <p:cNvPr id="8" name="Text 6"/>
          <p:cNvSpPr/>
          <p:nvPr/>
        </p:nvSpPr>
        <p:spPr>
          <a:xfrm>
            <a:off x="618753" y="1365572"/>
            <a:ext cx="220466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Date</a:t>
            </a:r>
            <a:endParaRPr lang="en-US" sz="1150" dirty="0"/>
          </a:p>
        </p:txBody>
      </p:sp>
      <p:sp>
        <p:nvSpPr>
          <p:cNvPr id="9" name="Text 7"/>
          <p:cNvSpPr/>
          <p:nvPr/>
        </p:nvSpPr>
        <p:spPr>
          <a:xfrm>
            <a:off x="3063776" y="1365572"/>
            <a:ext cx="546154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When you used this prompt</a:t>
            </a:r>
            <a:endParaRPr lang="en-US" sz="1150" dirty="0"/>
          </a:p>
        </p:txBody>
      </p:sp>
      <p:sp>
        <p:nvSpPr>
          <p:cNvPr id="10" name="Shape 8"/>
          <p:cNvSpPr/>
          <p:nvPr/>
        </p:nvSpPr>
        <p:spPr>
          <a:xfrm>
            <a:off x="500881" y="1667247"/>
            <a:ext cx="8142238" cy="603349"/>
          </a:xfrm>
          <a:prstGeom prst="rect">
            <a:avLst/>
          </a:prstGeom>
          <a:solidFill>
            <a:srgbClr val="FFFFFF">
              <a:alpha val="4000"/>
            </a:srgbClr>
          </a:solidFill>
          <a:ln/>
        </p:spPr>
        <p:txBody>
          <a:bodyPr/>
          <a:lstStyle/>
          <a:p>
            <a:endParaRPr lang="en-IN"/>
          </a:p>
        </p:txBody>
      </p:sp>
      <p:sp>
        <p:nvSpPr>
          <p:cNvPr id="11" name="Text 9"/>
          <p:cNvSpPr/>
          <p:nvPr/>
        </p:nvSpPr>
        <p:spPr>
          <a:xfrm>
            <a:off x="618753" y="1739131"/>
            <a:ext cx="220466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Goal</a:t>
            </a:r>
            <a:endParaRPr lang="en-US" sz="1150" dirty="0"/>
          </a:p>
        </p:txBody>
      </p:sp>
      <p:sp>
        <p:nvSpPr>
          <p:cNvPr id="12" name="Text 10"/>
          <p:cNvSpPr/>
          <p:nvPr/>
        </p:nvSpPr>
        <p:spPr>
          <a:xfrm>
            <a:off x="3063776" y="1739131"/>
            <a:ext cx="5461546"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What you wanted to achieve (e.g., "Plan a weekend trip," "Explain how a battery works")</a:t>
            </a:r>
            <a:endParaRPr lang="en-US" sz="1150" dirty="0"/>
          </a:p>
        </p:txBody>
      </p:sp>
      <p:sp>
        <p:nvSpPr>
          <p:cNvPr id="13" name="Shape 11"/>
          <p:cNvSpPr/>
          <p:nvPr/>
        </p:nvSpPr>
        <p:spPr>
          <a:xfrm>
            <a:off x="500881" y="2270596"/>
            <a:ext cx="8142238" cy="373559"/>
          </a:xfrm>
          <a:prstGeom prst="rect">
            <a:avLst/>
          </a:prstGeom>
          <a:solidFill>
            <a:srgbClr val="000000">
              <a:alpha val="4000"/>
            </a:srgbClr>
          </a:solidFill>
          <a:ln/>
        </p:spPr>
        <p:txBody>
          <a:bodyPr/>
          <a:lstStyle/>
          <a:p>
            <a:endParaRPr lang="en-IN"/>
          </a:p>
        </p:txBody>
      </p:sp>
      <p:sp>
        <p:nvSpPr>
          <p:cNvPr id="14" name="Text 12"/>
          <p:cNvSpPr/>
          <p:nvPr/>
        </p:nvSpPr>
        <p:spPr>
          <a:xfrm>
            <a:off x="618753" y="2342480"/>
            <a:ext cx="220466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AI Tool</a:t>
            </a:r>
            <a:endParaRPr lang="en-US" sz="1150" dirty="0"/>
          </a:p>
        </p:txBody>
      </p:sp>
      <p:sp>
        <p:nvSpPr>
          <p:cNvPr id="15" name="Text 13"/>
          <p:cNvSpPr/>
          <p:nvPr/>
        </p:nvSpPr>
        <p:spPr>
          <a:xfrm>
            <a:off x="3063776" y="2342480"/>
            <a:ext cx="546154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Which tool you used (ChatGPT, Gemini, etc.)</a:t>
            </a:r>
            <a:endParaRPr lang="en-US" sz="1150" dirty="0"/>
          </a:p>
        </p:txBody>
      </p:sp>
      <p:sp>
        <p:nvSpPr>
          <p:cNvPr id="16" name="Shape 14"/>
          <p:cNvSpPr/>
          <p:nvPr/>
        </p:nvSpPr>
        <p:spPr>
          <a:xfrm>
            <a:off x="500881" y="2644155"/>
            <a:ext cx="8142238" cy="373559"/>
          </a:xfrm>
          <a:prstGeom prst="rect">
            <a:avLst/>
          </a:prstGeom>
          <a:solidFill>
            <a:srgbClr val="FFFFFF">
              <a:alpha val="4000"/>
            </a:srgbClr>
          </a:solidFill>
          <a:ln/>
        </p:spPr>
        <p:txBody>
          <a:bodyPr/>
          <a:lstStyle/>
          <a:p>
            <a:endParaRPr lang="en-IN"/>
          </a:p>
        </p:txBody>
      </p:sp>
      <p:sp>
        <p:nvSpPr>
          <p:cNvPr id="17" name="Text 15"/>
          <p:cNvSpPr/>
          <p:nvPr/>
        </p:nvSpPr>
        <p:spPr>
          <a:xfrm>
            <a:off x="618753" y="2716039"/>
            <a:ext cx="220466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Final Prompt</a:t>
            </a:r>
            <a:endParaRPr lang="en-US" sz="1150" dirty="0"/>
          </a:p>
        </p:txBody>
      </p:sp>
      <p:sp>
        <p:nvSpPr>
          <p:cNvPr id="18" name="Text 16"/>
          <p:cNvSpPr/>
          <p:nvPr/>
        </p:nvSpPr>
        <p:spPr>
          <a:xfrm>
            <a:off x="3063776" y="2716039"/>
            <a:ext cx="546154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The exact prompt you used (the best version)</a:t>
            </a:r>
            <a:endParaRPr lang="en-US" sz="1150" dirty="0"/>
          </a:p>
        </p:txBody>
      </p:sp>
      <p:sp>
        <p:nvSpPr>
          <p:cNvPr id="19" name="Shape 17"/>
          <p:cNvSpPr/>
          <p:nvPr/>
        </p:nvSpPr>
        <p:spPr>
          <a:xfrm>
            <a:off x="500881" y="3017713"/>
            <a:ext cx="8142238" cy="603349"/>
          </a:xfrm>
          <a:prstGeom prst="rect">
            <a:avLst/>
          </a:prstGeom>
          <a:solidFill>
            <a:srgbClr val="000000">
              <a:alpha val="4000"/>
            </a:srgbClr>
          </a:solidFill>
          <a:ln/>
        </p:spPr>
        <p:txBody>
          <a:bodyPr/>
          <a:lstStyle/>
          <a:p>
            <a:endParaRPr lang="en-IN"/>
          </a:p>
        </p:txBody>
      </p:sp>
      <p:sp>
        <p:nvSpPr>
          <p:cNvPr id="20" name="Text 18"/>
          <p:cNvSpPr/>
          <p:nvPr/>
        </p:nvSpPr>
        <p:spPr>
          <a:xfrm>
            <a:off x="618753" y="3089597"/>
            <a:ext cx="220466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Elements Used</a:t>
            </a:r>
            <a:endParaRPr lang="en-US" sz="1150" dirty="0"/>
          </a:p>
        </p:txBody>
      </p:sp>
      <p:sp>
        <p:nvSpPr>
          <p:cNvPr id="21" name="Text 19"/>
          <p:cNvSpPr/>
          <p:nvPr/>
        </p:nvSpPr>
        <p:spPr>
          <a:xfrm>
            <a:off x="3063776" y="3089597"/>
            <a:ext cx="5461546" cy="459581"/>
          </a:xfrm>
          <a:prstGeom prst="rect">
            <a:avLst/>
          </a:prstGeom>
          <a:noFill/>
          <a:ln/>
        </p:spPr>
        <p:txBody>
          <a:bodyPr wrap="squar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Optional: Which helpful elements you included (Clear Instructions, Context, Format, Constraints, Example)</a:t>
            </a:r>
            <a:endParaRPr lang="en-US" sz="1150" dirty="0"/>
          </a:p>
        </p:txBody>
      </p:sp>
      <p:sp>
        <p:nvSpPr>
          <p:cNvPr id="22" name="Shape 20"/>
          <p:cNvSpPr/>
          <p:nvPr/>
        </p:nvSpPr>
        <p:spPr>
          <a:xfrm>
            <a:off x="500881" y="3621063"/>
            <a:ext cx="8142238" cy="373559"/>
          </a:xfrm>
          <a:prstGeom prst="rect">
            <a:avLst/>
          </a:prstGeom>
          <a:solidFill>
            <a:srgbClr val="FFFFFF">
              <a:alpha val="4000"/>
            </a:srgbClr>
          </a:solidFill>
          <a:ln/>
        </p:spPr>
        <p:txBody>
          <a:bodyPr/>
          <a:lstStyle/>
          <a:p>
            <a:endParaRPr lang="en-IN"/>
          </a:p>
        </p:txBody>
      </p:sp>
      <p:sp>
        <p:nvSpPr>
          <p:cNvPr id="23" name="Text 21"/>
          <p:cNvSpPr/>
          <p:nvPr/>
        </p:nvSpPr>
        <p:spPr>
          <a:xfrm>
            <a:off x="618753" y="3692947"/>
            <a:ext cx="220466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What Worked</a:t>
            </a:r>
            <a:endParaRPr lang="en-US" sz="1150" dirty="0"/>
          </a:p>
        </p:txBody>
      </p:sp>
      <p:sp>
        <p:nvSpPr>
          <p:cNvPr id="24" name="Text 22"/>
          <p:cNvSpPr/>
          <p:nvPr/>
        </p:nvSpPr>
        <p:spPr>
          <a:xfrm>
            <a:off x="3063776" y="3692947"/>
            <a:ext cx="546154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Optional: Why this prompt gave you a good result</a:t>
            </a:r>
            <a:endParaRPr lang="en-US" sz="1150" dirty="0"/>
          </a:p>
        </p:txBody>
      </p:sp>
      <p:sp>
        <p:nvSpPr>
          <p:cNvPr id="25" name="Shape 23"/>
          <p:cNvSpPr/>
          <p:nvPr/>
        </p:nvSpPr>
        <p:spPr>
          <a:xfrm>
            <a:off x="500881" y="3994621"/>
            <a:ext cx="8142238" cy="373559"/>
          </a:xfrm>
          <a:prstGeom prst="rect">
            <a:avLst/>
          </a:prstGeom>
          <a:solidFill>
            <a:srgbClr val="000000">
              <a:alpha val="4000"/>
            </a:srgbClr>
          </a:solidFill>
          <a:ln/>
        </p:spPr>
        <p:txBody>
          <a:bodyPr/>
          <a:lstStyle/>
          <a:p>
            <a:endParaRPr lang="en-IN"/>
          </a:p>
        </p:txBody>
      </p:sp>
      <p:sp>
        <p:nvSpPr>
          <p:cNvPr id="26" name="Text 24"/>
          <p:cNvSpPr/>
          <p:nvPr/>
        </p:nvSpPr>
        <p:spPr>
          <a:xfrm>
            <a:off x="618753" y="4066505"/>
            <a:ext cx="220466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What I'd Change Next Time</a:t>
            </a:r>
            <a:endParaRPr lang="en-US" sz="1150" dirty="0"/>
          </a:p>
        </p:txBody>
      </p:sp>
      <p:sp>
        <p:nvSpPr>
          <p:cNvPr id="27" name="Text 25"/>
          <p:cNvSpPr/>
          <p:nvPr/>
        </p:nvSpPr>
        <p:spPr>
          <a:xfrm>
            <a:off x="3063776" y="4066505"/>
            <a:ext cx="546154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Optional: What you learned for future prompts</a:t>
            </a:r>
            <a:endParaRPr lang="en-US" sz="1150" dirty="0"/>
          </a:p>
        </p:txBody>
      </p:sp>
      <p:sp>
        <p:nvSpPr>
          <p:cNvPr id="28" name="Shape 26"/>
          <p:cNvSpPr/>
          <p:nvPr/>
        </p:nvSpPr>
        <p:spPr>
          <a:xfrm>
            <a:off x="500881" y="4368180"/>
            <a:ext cx="8142238" cy="373559"/>
          </a:xfrm>
          <a:prstGeom prst="rect">
            <a:avLst/>
          </a:prstGeom>
          <a:solidFill>
            <a:srgbClr val="FFFFFF">
              <a:alpha val="4000"/>
            </a:srgbClr>
          </a:solidFill>
          <a:ln/>
        </p:spPr>
        <p:txBody>
          <a:bodyPr/>
          <a:lstStyle/>
          <a:p>
            <a:endParaRPr lang="en-IN"/>
          </a:p>
        </p:txBody>
      </p:sp>
      <p:sp>
        <p:nvSpPr>
          <p:cNvPr id="29" name="Text 27"/>
          <p:cNvSpPr/>
          <p:nvPr/>
        </p:nvSpPr>
        <p:spPr>
          <a:xfrm>
            <a:off x="618753" y="4440064"/>
            <a:ext cx="2204665"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AI's Response</a:t>
            </a:r>
            <a:endParaRPr lang="en-US" sz="1150" dirty="0"/>
          </a:p>
        </p:txBody>
      </p:sp>
      <p:sp>
        <p:nvSpPr>
          <p:cNvPr id="30" name="Text 28"/>
          <p:cNvSpPr/>
          <p:nvPr/>
        </p:nvSpPr>
        <p:spPr>
          <a:xfrm>
            <a:off x="3063776" y="4440064"/>
            <a:ext cx="5461546" cy="229791"/>
          </a:xfrm>
          <a:prstGeom prst="rect">
            <a:avLst/>
          </a:prstGeom>
          <a:noFill/>
          <a:ln/>
        </p:spPr>
        <p:txBody>
          <a:bodyPr wrap="none" lIns="0" tIns="0" rIns="0" bIns="0" rtlCol="0" anchor="t"/>
          <a:lstStyle/>
          <a:p>
            <a:pPr marL="0" indent="0" algn="l">
              <a:lnSpc>
                <a:spcPts val="1800"/>
              </a:lnSpc>
              <a:buNone/>
            </a:pPr>
            <a:r>
              <a:rPr lang="en-US" sz="1150" dirty="0">
                <a:solidFill>
                  <a:srgbClr val="15213F"/>
                </a:solidFill>
                <a:latin typeface="Roboto" pitchFamily="34" charset="0"/>
                <a:ea typeface="Roboto" pitchFamily="34" charset="-122"/>
                <a:cs typeface="Roboto" pitchFamily="34" charset="-120"/>
              </a:rPr>
              <a:t>Optional: Copy the response (or a summary)</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96119" y="575146"/>
            <a:ext cx="3276972" cy="279127"/>
          </a:xfrm>
          <a:prstGeom prst="rect">
            <a:avLst/>
          </a:prstGeom>
          <a:noFill/>
          <a:ln/>
        </p:spPr>
        <p:txBody>
          <a:bodyPr wrap="none" lIns="0" tIns="0" rIns="0" bIns="0" rtlCol="0" anchor="t"/>
          <a:lstStyle/>
          <a:p>
            <a:pPr marL="0" indent="0" algn="l">
              <a:lnSpc>
                <a:spcPts val="2150"/>
              </a:lnSpc>
              <a:buNone/>
            </a:pPr>
            <a:r>
              <a:rPr lang="en-US" sz="1750" dirty="0">
                <a:solidFill>
                  <a:srgbClr val="3257B8"/>
                </a:solidFill>
                <a:latin typeface="Roboto Slab" pitchFamily="34" charset="0"/>
                <a:ea typeface="Roboto Slab" pitchFamily="34" charset="-122"/>
                <a:cs typeface="Roboto Slab" pitchFamily="34" charset="-120"/>
              </a:rPr>
              <a:t>Prompt Library: Example Entry</a:t>
            </a:r>
            <a:endParaRPr lang="en-US" sz="1750" dirty="0"/>
          </a:p>
        </p:txBody>
      </p:sp>
      <p:sp>
        <p:nvSpPr>
          <p:cNvPr id="3" name="Shape 1"/>
          <p:cNvSpPr/>
          <p:nvPr/>
        </p:nvSpPr>
        <p:spPr>
          <a:xfrm>
            <a:off x="496119" y="1055191"/>
            <a:ext cx="8151763" cy="3513088"/>
          </a:xfrm>
          <a:prstGeom prst="roundRect">
            <a:avLst>
              <a:gd name="adj" fmla="val 477"/>
            </a:avLst>
          </a:prstGeom>
          <a:noFill/>
          <a:ln w="4763">
            <a:solidFill>
              <a:srgbClr val="000000">
                <a:alpha val="8000"/>
              </a:srgbClr>
            </a:solidFill>
            <a:prstDash val="solid"/>
          </a:ln>
        </p:spPr>
        <p:txBody>
          <a:bodyPr/>
          <a:lstStyle/>
          <a:p>
            <a:endParaRPr lang="en-IN"/>
          </a:p>
        </p:txBody>
      </p:sp>
      <p:sp>
        <p:nvSpPr>
          <p:cNvPr id="4" name="Shape 2"/>
          <p:cNvSpPr/>
          <p:nvPr/>
        </p:nvSpPr>
        <p:spPr>
          <a:xfrm>
            <a:off x="500881" y="1059954"/>
            <a:ext cx="8142238" cy="342156"/>
          </a:xfrm>
          <a:prstGeom prst="rect">
            <a:avLst/>
          </a:prstGeom>
          <a:solidFill>
            <a:srgbClr val="FFFFFF">
              <a:alpha val="4000"/>
            </a:srgbClr>
          </a:solidFill>
          <a:ln/>
        </p:spPr>
        <p:txBody>
          <a:bodyPr/>
          <a:lstStyle/>
          <a:p>
            <a:endParaRPr lang="en-IN"/>
          </a:p>
        </p:txBody>
      </p:sp>
      <p:sp>
        <p:nvSpPr>
          <p:cNvPr id="5" name="Text 3"/>
          <p:cNvSpPr/>
          <p:nvPr/>
        </p:nvSpPr>
        <p:spPr>
          <a:xfrm>
            <a:off x="612577" y="1124992"/>
            <a:ext cx="2217018"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Field</a:t>
            </a:r>
            <a:endParaRPr lang="en-US" sz="1050" dirty="0"/>
          </a:p>
        </p:txBody>
      </p:sp>
      <p:sp>
        <p:nvSpPr>
          <p:cNvPr id="6" name="Text 4"/>
          <p:cNvSpPr/>
          <p:nvPr/>
        </p:nvSpPr>
        <p:spPr>
          <a:xfrm>
            <a:off x="3057599" y="1124992"/>
            <a:ext cx="5473898" cy="212080"/>
          </a:xfrm>
          <a:prstGeom prst="rect">
            <a:avLst/>
          </a:prstGeom>
          <a:noFill/>
          <a:ln/>
        </p:spPr>
        <p:txBody>
          <a:bodyPr wrap="none" lIns="0" tIns="0" rIns="0" bIns="0" rtlCol="0" anchor="t"/>
          <a:lstStyle/>
          <a:p>
            <a:pPr marL="0" indent="0" algn="l">
              <a:lnSpc>
                <a:spcPts val="1650"/>
              </a:lnSpc>
              <a:buNone/>
            </a:pPr>
            <a:r>
              <a:rPr lang="en-US" sz="1050" b="1" dirty="0">
                <a:solidFill>
                  <a:srgbClr val="15213F"/>
                </a:solidFill>
                <a:latin typeface="Roboto" pitchFamily="34" charset="0"/>
                <a:ea typeface="Roboto" pitchFamily="34" charset="-122"/>
                <a:cs typeface="Roboto" pitchFamily="34" charset="-120"/>
              </a:rPr>
              <a:t>Example</a:t>
            </a:r>
            <a:endParaRPr lang="en-US" sz="1050" dirty="0"/>
          </a:p>
        </p:txBody>
      </p:sp>
      <p:sp>
        <p:nvSpPr>
          <p:cNvPr id="7" name="Shape 5"/>
          <p:cNvSpPr/>
          <p:nvPr/>
        </p:nvSpPr>
        <p:spPr>
          <a:xfrm>
            <a:off x="500881" y="1402110"/>
            <a:ext cx="8142238" cy="342156"/>
          </a:xfrm>
          <a:prstGeom prst="rect">
            <a:avLst/>
          </a:prstGeom>
          <a:solidFill>
            <a:srgbClr val="000000">
              <a:alpha val="4000"/>
            </a:srgbClr>
          </a:solidFill>
          <a:ln/>
        </p:spPr>
        <p:txBody>
          <a:bodyPr/>
          <a:lstStyle/>
          <a:p>
            <a:endParaRPr lang="en-IN"/>
          </a:p>
        </p:txBody>
      </p:sp>
      <p:sp>
        <p:nvSpPr>
          <p:cNvPr id="8" name="Text 6"/>
          <p:cNvSpPr/>
          <p:nvPr/>
        </p:nvSpPr>
        <p:spPr>
          <a:xfrm>
            <a:off x="612577" y="1467148"/>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Date</a:t>
            </a:r>
            <a:endParaRPr lang="en-US" sz="1050" dirty="0"/>
          </a:p>
        </p:txBody>
      </p:sp>
      <p:sp>
        <p:nvSpPr>
          <p:cNvPr id="9" name="Text 7"/>
          <p:cNvSpPr/>
          <p:nvPr/>
        </p:nvSpPr>
        <p:spPr>
          <a:xfrm>
            <a:off x="3057599" y="1467148"/>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March 26, 2026</a:t>
            </a:r>
            <a:endParaRPr lang="en-US" sz="1050" dirty="0"/>
          </a:p>
        </p:txBody>
      </p:sp>
      <p:sp>
        <p:nvSpPr>
          <p:cNvPr id="10" name="Shape 8"/>
          <p:cNvSpPr/>
          <p:nvPr/>
        </p:nvSpPr>
        <p:spPr>
          <a:xfrm>
            <a:off x="500881" y="1744266"/>
            <a:ext cx="8142238" cy="342156"/>
          </a:xfrm>
          <a:prstGeom prst="rect">
            <a:avLst/>
          </a:prstGeom>
          <a:solidFill>
            <a:srgbClr val="FFFFFF">
              <a:alpha val="4000"/>
            </a:srgbClr>
          </a:solidFill>
          <a:ln/>
        </p:spPr>
        <p:txBody>
          <a:bodyPr/>
          <a:lstStyle/>
          <a:p>
            <a:endParaRPr lang="en-IN"/>
          </a:p>
        </p:txBody>
      </p:sp>
      <p:sp>
        <p:nvSpPr>
          <p:cNvPr id="11" name="Text 9"/>
          <p:cNvSpPr/>
          <p:nvPr/>
        </p:nvSpPr>
        <p:spPr>
          <a:xfrm>
            <a:off x="612577" y="1809304"/>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Goal</a:t>
            </a:r>
            <a:endParaRPr lang="en-US" sz="1050" dirty="0"/>
          </a:p>
        </p:txBody>
      </p:sp>
      <p:sp>
        <p:nvSpPr>
          <p:cNvPr id="12" name="Text 10"/>
          <p:cNvSpPr/>
          <p:nvPr/>
        </p:nvSpPr>
        <p:spPr>
          <a:xfrm>
            <a:off x="3057599" y="1809304"/>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Get simple ideas for a poster about the water cycle</a:t>
            </a:r>
            <a:endParaRPr lang="en-US" sz="1050" dirty="0"/>
          </a:p>
        </p:txBody>
      </p:sp>
      <p:sp>
        <p:nvSpPr>
          <p:cNvPr id="13" name="Shape 11"/>
          <p:cNvSpPr/>
          <p:nvPr/>
        </p:nvSpPr>
        <p:spPr>
          <a:xfrm>
            <a:off x="500881" y="2086421"/>
            <a:ext cx="8142238" cy="342156"/>
          </a:xfrm>
          <a:prstGeom prst="rect">
            <a:avLst/>
          </a:prstGeom>
          <a:solidFill>
            <a:srgbClr val="000000">
              <a:alpha val="4000"/>
            </a:srgbClr>
          </a:solidFill>
          <a:ln/>
        </p:spPr>
        <p:txBody>
          <a:bodyPr/>
          <a:lstStyle/>
          <a:p>
            <a:endParaRPr lang="en-IN"/>
          </a:p>
        </p:txBody>
      </p:sp>
      <p:sp>
        <p:nvSpPr>
          <p:cNvPr id="14" name="Text 12"/>
          <p:cNvSpPr/>
          <p:nvPr/>
        </p:nvSpPr>
        <p:spPr>
          <a:xfrm>
            <a:off x="612577" y="2151459"/>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AI Tool</a:t>
            </a:r>
            <a:endParaRPr lang="en-US" sz="1050" dirty="0"/>
          </a:p>
        </p:txBody>
      </p:sp>
      <p:sp>
        <p:nvSpPr>
          <p:cNvPr id="15" name="Text 13"/>
          <p:cNvSpPr/>
          <p:nvPr/>
        </p:nvSpPr>
        <p:spPr>
          <a:xfrm>
            <a:off x="3057599" y="2151459"/>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ChatGPT</a:t>
            </a:r>
            <a:endParaRPr lang="en-US" sz="1050" dirty="0"/>
          </a:p>
        </p:txBody>
      </p:sp>
      <p:sp>
        <p:nvSpPr>
          <p:cNvPr id="16" name="Shape 14"/>
          <p:cNvSpPr/>
          <p:nvPr/>
        </p:nvSpPr>
        <p:spPr>
          <a:xfrm>
            <a:off x="500881" y="2428577"/>
            <a:ext cx="8142238" cy="554236"/>
          </a:xfrm>
          <a:prstGeom prst="rect">
            <a:avLst/>
          </a:prstGeom>
          <a:solidFill>
            <a:srgbClr val="FFFFFF">
              <a:alpha val="4000"/>
            </a:srgbClr>
          </a:solidFill>
          <a:ln/>
        </p:spPr>
        <p:txBody>
          <a:bodyPr/>
          <a:lstStyle/>
          <a:p>
            <a:endParaRPr lang="en-IN"/>
          </a:p>
        </p:txBody>
      </p:sp>
      <p:sp>
        <p:nvSpPr>
          <p:cNvPr id="17" name="Text 15"/>
          <p:cNvSpPr/>
          <p:nvPr/>
        </p:nvSpPr>
        <p:spPr>
          <a:xfrm>
            <a:off x="612577" y="2493615"/>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Final Prompt</a:t>
            </a:r>
            <a:endParaRPr lang="en-US" sz="1050" dirty="0"/>
          </a:p>
        </p:txBody>
      </p:sp>
      <p:sp>
        <p:nvSpPr>
          <p:cNvPr id="18" name="Text 16"/>
          <p:cNvSpPr/>
          <p:nvPr/>
        </p:nvSpPr>
        <p:spPr>
          <a:xfrm>
            <a:off x="3057599" y="2493615"/>
            <a:ext cx="5473898" cy="424160"/>
          </a:xfrm>
          <a:prstGeom prst="rect">
            <a:avLst/>
          </a:prstGeom>
          <a:noFill/>
          <a:ln/>
        </p:spPr>
        <p:txBody>
          <a:bodyPr wrap="squar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Give me ideas for a water cycle poster for 6th graders. Include 3 main stages with simple diagrams described in words. Use bullet points.</a:t>
            </a:r>
            <a:endParaRPr lang="en-US" sz="1050" dirty="0"/>
          </a:p>
        </p:txBody>
      </p:sp>
      <p:sp>
        <p:nvSpPr>
          <p:cNvPr id="19" name="Shape 17"/>
          <p:cNvSpPr/>
          <p:nvPr/>
        </p:nvSpPr>
        <p:spPr>
          <a:xfrm>
            <a:off x="500881" y="2982813"/>
            <a:ext cx="8142238" cy="554236"/>
          </a:xfrm>
          <a:prstGeom prst="rect">
            <a:avLst/>
          </a:prstGeom>
          <a:solidFill>
            <a:srgbClr val="000000">
              <a:alpha val="4000"/>
            </a:srgbClr>
          </a:solidFill>
          <a:ln/>
        </p:spPr>
        <p:txBody>
          <a:bodyPr/>
          <a:lstStyle/>
          <a:p>
            <a:endParaRPr lang="en-IN"/>
          </a:p>
        </p:txBody>
      </p:sp>
      <p:sp>
        <p:nvSpPr>
          <p:cNvPr id="20" name="Text 18"/>
          <p:cNvSpPr/>
          <p:nvPr/>
        </p:nvSpPr>
        <p:spPr>
          <a:xfrm>
            <a:off x="612577" y="3047851"/>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Elements Used</a:t>
            </a:r>
            <a:endParaRPr lang="en-US" sz="1050" dirty="0"/>
          </a:p>
        </p:txBody>
      </p:sp>
      <p:sp>
        <p:nvSpPr>
          <p:cNvPr id="21" name="Text 19"/>
          <p:cNvSpPr/>
          <p:nvPr/>
        </p:nvSpPr>
        <p:spPr>
          <a:xfrm>
            <a:off x="3057599" y="3047851"/>
            <a:ext cx="5473898" cy="424160"/>
          </a:xfrm>
          <a:prstGeom prst="rect">
            <a:avLst/>
          </a:prstGeom>
          <a:noFill/>
          <a:ln/>
        </p:spPr>
        <p:txBody>
          <a:bodyPr wrap="squar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Clear Instructions (give ideas), Context (6th graders), Format (bullet points), Constraints (3 stages, simple diagrams)</a:t>
            </a:r>
            <a:endParaRPr lang="en-US" sz="1050" dirty="0"/>
          </a:p>
        </p:txBody>
      </p:sp>
      <p:sp>
        <p:nvSpPr>
          <p:cNvPr id="22" name="Shape 20"/>
          <p:cNvSpPr/>
          <p:nvPr/>
        </p:nvSpPr>
        <p:spPr>
          <a:xfrm>
            <a:off x="500881" y="3537049"/>
            <a:ext cx="8142238" cy="342156"/>
          </a:xfrm>
          <a:prstGeom prst="rect">
            <a:avLst/>
          </a:prstGeom>
          <a:solidFill>
            <a:srgbClr val="FFFFFF">
              <a:alpha val="4000"/>
            </a:srgbClr>
          </a:solidFill>
          <a:ln/>
        </p:spPr>
        <p:txBody>
          <a:bodyPr/>
          <a:lstStyle/>
          <a:p>
            <a:endParaRPr lang="en-IN"/>
          </a:p>
        </p:txBody>
      </p:sp>
      <p:sp>
        <p:nvSpPr>
          <p:cNvPr id="23" name="Text 21"/>
          <p:cNvSpPr/>
          <p:nvPr/>
        </p:nvSpPr>
        <p:spPr>
          <a:xfrm>
            <a:off x="612577" y="3602087"/>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What Worked</a:t>
            </a:r>
            <a:endParaRPr lang="en-US" sz="1050" dirty="0"/>
          </a:p>
        </p:txBody>
      </p:sp>
      <p:sp>
        <p:nvSpPr>
          <p:cNvPr id="24" name="Text 22"/>
          <p:cNvSpPr/>
          <p:nvPr/>
        </p:nvSpPr>
        <p:spPr>
          <a:xfrm>
            <a:off x="3057599" y="3602087"/>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Being specific about the grade level made the language perfect for my audience.</a:t>
            </a:r>
            <a:endParaRPr lang="en-US" sz="1050" dirty="0"/>
          </a:p>
        </p:txBody>
      </p:sp>
      <p:sp>
        <p:nvSpPr>
          <p:cNvPr id="25" name="Shape 23"/>
          <p:cNvSpPr/>
          <p:nvPr/>
        </p:nvSpPr>
        <p:spPr>
          <a:xfrm>
            <a:off x="500881" y="3879205"/>
            <a:ext cx="8142238" cy="342156"/>
          </a:xfrm>
          <a:prstGeom prst="rect">
            <a:avLst/>
          </a:prstGeom>
          <a:solidFill>
            <a:srgbClr val="000000">
              <a:alpha val="4000"/>
            </a:srgbClr>
          </a:solidFill>
          <a:ln/>
        </p:spPr>
        <p:txBody>
          <a:bodyPr/>
          <a:lstStyle/>
          <a:p>
            <a:endParaRPr lang="en-IN"/>
          </a:p>
        </p:txBody>
      </p:sp>
      <p:sp>
        <p:nvSpPr>
          <p:cNvPr id="26" name="Text 24"/>
          <p:cNvSpPr/>
          <p:nvPr/>
        </p:nvSpPr>
        <p:spPr>
          <a:xfrm>
            <a:off x="612577" y="3944243"/>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What I'd Change Next Time</a:t>
            </a:r>
            <a:endParaRPr lang="en-US" sz="1050" dirty="0"/>
          </a:p>
        </p:txBody>
      </p:sp>
      <p:sp>
        <p:nvSpPr>
          <p:cNvPr id="27" name="Text 25"/>
          <p:cNvSpPr/>
          <p:nvPr/>
        </p:nvSpPr>
        <p:spPr>
          <a:xfrm>
            <a:off x="3057599" y="3944243"/>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I could ask for real‑world examples of each stage to make the poster more engaging.</a:t>
            </a:r>
            <a:endParaRPr lang="en-US" sz="1050" dirty="0"/>
          </a:p>
        </p:txBody>
      </p:sp>
      <p:sp>
        <p:nvSpPr>
          <p:cNvPr id="28" name="Shape 26"/>
          <p:cNvSpPr/>
          <p:nvPr/>
        </p:nvSpPr>
        <p:spPr>
          <a:xfrm>
            <a:off x="500881" y="4221361"/>
            <a:ext cx="8142238" cy="342156"/>
          </a:xfrm>
          <a:prstGeom prst="rect">
            <a:avLst/>
          </a:prstGeom>
          <a:solidFill>
            <a:srgbClr val="FFFFFF">
              <a:alpha val="4000"/>
            </a:srgbClr>
          </a:solidFill>
          <a:ln/>
        </p:spPr>
        <p:txBody>
          <a:bodyPr/>
          <a:lstStyle/>
          <a:p>
            <a:endParaRPr lang="en-IN"/>
          </a:p>
        </p:txBody>
      </p:sp>
      <p:sp>
        <p:nvSpPr>
          <p:cNvPr id="29" name="Text 27"/>
          <p:cNvSpPr/>
          <p:nvPr/>
        </p:nvSpPr>
        <p:spPr>
          <a:xfrm>
            <a:off x="612577" y="4286399"/>
            <a:ext cx="221701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AI's Response</a:t>
            </a:r>
            <a:endParaRPr lang="en-US" sz="1050" dirty="0"/>
          </a:p>
        </p:txBody>
      </p:sp>
      <p:sp>
        <p:nvSpPr>
          <p:cNvPr id="30" name="Text 28"/>
          <p:cNvSpPr/>
          <p:nvPr/>
        </p:nvSpPr>
        <p:spPr>
          <a:xfrm>
            <a:off x="3057599" y="4286399"/>
            <a:ext cx="5473898" cy="212080"/>
          </a:xfrm>
          <a:prstGeom prst="rect">
            <a:avLst/>
          </a:prstGeom>
          <a:noFill/>
          <a:ln/>
        </p:spPr>
        <p:txBody>
          <a:bodyPr wrap="none" lIns="0" tIns="0" rIns="0" bIns="0" rtlCol="0" anchor="t"/>
          <a:lstStyle/>
          <a:p>
            <a:pPr marL="0" indent="0" algn="l">
              <a:lnSpc>
                <a:spcPts val="1650"/>
              </a:lnSpc>
              <a:buNone/>
            </a:pPr>
            <a:r>
              <a:rPr lang="en-US" sz="1050" dirty="0">
                <a:solidFill>
                  <a:srgbClr val="15213F"/>
                </a:solidFill>
                <a:latin typeface="Roboto" pitchFamily="34" charset="0"/>
                <a:ea typeface="Roboto" pitchFamily="34" charset="-122"/>
                <a:cs typeface="Roboto" pitchFamily="34" charset="-120"/>
              </a:rPr>
              <a:t>• Evaporation: Show the sun heating a puddle, with arrows pointing upward…</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96119" y="749350"/>
            <a:ext cx="3170858" cy="387548"/>
          </a:xfrm>
          <a:prstGeom prst="rect">
            <a:avLst/>
          </a:prstGeom>
          <a:noFill/>
          <a:ln/>
        </p:spPr>
        <p:txBody>
          <a:bodyPr wrap="none" lIns="0" tIns="0" rIns="0" bIns="0" rtlCol="0" anchor="t"/>
          <a:lstStyle/>
          <a:p>
            <a:pPr marL="0" indent="0" algn="l">
              <a:lnSpc>
                <a:spcPts val="3050"/>
              </a:lnSpc>
              <a:buNone/>
            </a:pPr>
            <a:r>
              <a:rPr lang="en-US" sz="2400" dirty="0">
                <a:solidFill>
                  <a:srgbClr val="3257B8"/>
                </a:solidFill>
                <a:latin typeface="Roboto Slab" pitchFamily="34" charset="0"/>
                <a:ea typeface="Roboto Slab" pitchFamily="34" charset="-122"/>
                <a:cs typeface="Roboto Slab" pitchFamily="34" charset="-120"/>
              </a:rPr>
              <a:t>Next Session Preview</a:t>
            </a:r>
            <a:endParaRPr lang="en-US" sz="2400" dirty="0"/>
          </a:p>
        </p:txBody>
      </p:sp>
      <p:sp>
        <p:nvSpPr>
          <p:cNvPr id="3" name="Text 1"/>
          <p:cNvSpPr/>
          <p:nvPr/>
        </p:nvSpPr>
        <p:spPr>
          <a:xfrm>
            <a:off x="496119" y="1186458"/>
            <a:ext cx="5225355" cy="310083"/>
          </a:xfrm>
          <a:prstGeom prst="rect">
            <a:avLst/>
          </a:prstGeom>
          <a:noFill/>
          <a:ln/>
        </p:spPr>
        <p:txBody>
          <a:bodyPr wrap="none" lIns="0" tIns="0" rIns="0" bIns="0" rtlCol="0" anchor="t"/>
          <a:lstStyle/>
          <a:p>
            <a:pPr marL="0" indent="0" algn="l">
              <a:lnSpc>
                <a:spcPts val="2400"/>
              </a:lnSpc>
              <a:buNone/>
            </a:pPr>
            <a:r>
              <a:rPr lang="en-US" sz="1950" dirty="0">
                <a:solidFill>
                  <a:srgbClr val="3257B8"/>
                </a:solidFill>
                <a:latin typeface="Roboto Slab" pitchFamily="34" charset="0"/>
                <a:ea typeface="Roboto Slab" pitchFamily="34" charset="-122"/>
                <a:cs typeface="Roboto Slab" pitchFamily="34" charset="-120"/>
              </a:rPr>
              <a:t>Session 12: Advanced Prompting Techniques</a:t>
            </a:r>
            <a:endParaRPr lang="en-US" sz="1950" dirty="0"/>
          </a:p>
        </p:txBody>
      </p:sp>
      <p:sp>
        <p:nvSpPr>
          <p:cNvPr id="4" name="Text 2"/>
          <p:cNvSpPr/>
          <p:nvPr/>
        </p:nvSpPr>
        <p:spPr>
          <a:xfrm>
            <a:off x="496119" y="1682576"/>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Now that you've mastered the basics and learned to avoid common mistakes, we'll level up:</a:t>
            </a:r>
            <a:endParaRPr lang="en-US" sz="1200" dirty="0"/>
          </a:p>
        </p:txBody>
      </p:sp>
      <p:sp>
        <p:nvSpPr>
          <p:cNvPr id="5" name="Text 3"/>
          <p:cNvSpPr/>
          <p:nvPr/>
        </p:nvSpPr>
        <p:spPr>
          <a:xfrm>
            <a:off x="496119" y="2070199"/>
            <a:ext cx="8151763" cy="248096"/>
          </a:xfrm>
          <a:prstGeom prst="rect">
            <a:avLst/>
          </a:prstGeom>
          <a:noFill/>
          <a:ln/>
        </p:spPr>
        <p:txBody>
          <a:bodyPr wrap="none" lIns="0" tIns="0" rIns="0" bIns="0" rtlCol="0" anchor="t"/>
          <a:lstStyle/>
          <a:p>
            <a:pPr marL="0" indent="0" algn="l">
              <a:lnSpc>
                <a:spcPts val="1950"/>
              </a:lnSpc>
              <a:buNone/>
            </a:pPr>
            <a:endParaRPr lang="en-US" sz="1200" dirty="0"/>
          </a:p>
        </p:txBody>
      </p:sp>
      <p:sp>
        <p:nvSpPr>
          <p:cNvPr id="6" name="Shape 4"/>
          <p:cNvSpPr/>
          <p:nvPr/>
        </p:nvSpPr>
        <p:spPr>
          <a:xfrm>
            <a:off x="496119" y="2457822"/>
            <a:ext cx="2634555" cy="1210717"/>
          </a:xfrm>
          <a:prstGeom prst="roundRect">
            <a:avLst>
              <a:gd name="adj" fmla="val 1537"/>
            </a:avLst>
          </a:prstGeom>
          <a:solidFill>
            <a:srgbClr val="E9ECF2"/>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620092" y="2581796"/>
            <a:ext cx="372070" cy="372070"/>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2412" y="2684041"/>
            <a:ext cx="167432" cy="167432"/>
          </a:xfrm>
          <a:prstGeom prst="rect">
            <a:avLst/>
          </a:prstGeom>
        </p:spPr>
      </p:pic>
      <p:sp>
        <p:nvSpPr>
          <p:cNvPr id="9" name="Text 5"/>
          <p:cNvSpPr/>
          <p:nvPr/>
        </p:nvSpPr>
        <p:spPr>
          <a:xfrm>
            <a:off x="620092" y="3077840"/>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Few‑shot prompting</a:t>
            </a:r>
            <a:endParaRPr lang="en-US" sz="1200" dirty="0"/>
          </a:p>
        </p:txBody>
      </p:sp>
      <p:sp>
        <p:nvSpPr>
          <p:cNvPr id="10" name="Text 6"/>
          <p:cNvSpPr/>
          <p:nvPr/>
        </p:nvSpPr>
        <p:spPr>
          <a:xfrm>
            <a:off x="620092" y="3346103"/>
            <a:ext cx="2386608" cy="198462"/>
          </a:xfrm>
          <a:prstGeom prst="rect">
            <a:avLst/>
          </a:prstGeom>
          <a:noFill/>
          <a:ln/>
        </p:spPr>
        <p:txBody>
          <a:bodyPr wrap="none" lIns="0" tIns="0" rIns="0" bIns="0" rtlCol="0" anchor="t"/>
          <a:lstStyle/>
          <a:p>
            <a:pPr marL="0" indent="0" algn="l">
              <a:lnSpc>
                <a:spcPts val="1550"/>
              </a:lnSpc>
              <a:buNone/>
            </a:pPr>
            <a:r>
              <a:rPr lang="en-US" sz="950" dirty="0">
                <a:solidFill>
                  <a:srgbClr val="15213F"/>
                </a:solidFill>
                <a:latin typeface="Roboto" pitchFamily="34" charset="0"/>
                <a:ea typeface="Roboto" pitchFamily="34" charset="-122"/>
                <a:cs typeface="Roboto" pitchFamily="34" charset="-120"/>
              </a:rPr>
              <a:t>Teaching AI by giving examples.</a:t>
            </a:r>
            <a:endParaRPr lang="en-US" sz="950" dirty="0"/>
          </a:p>
        </p:txBody>
      </p:sp>
      <p:sp>
        <p:nvSpPr>
          <p:cNvPr id="11" name="Shape 7"/>
          <p:cNvSpPr/>
          <p:nvPr/>
        </p:nvSpPr>
        <p:spPr>
          <a:xfrm>
            <a:off x="3254648" y="2457822"/>
            <a:ext cx="2634630" cy="1210717"/>
          </a:xfrm>
          <a:prstGeom prst="roundRect">
            <a:avLst>
              <a:gd name="adj" fmla="val 1537"/>
            </a:avLst>
          </a:prstGeom>
          <a:solidFill>
            <a:srgbClr val="E9ECF2"/>
          </a:solidFill>
          <a:ln/>
        </p:spPr>
        <p:txBody>
          <a:bodyPr/>
          <a:lstStyle/>
          <a:p>
            <a:endParaRPr lang="en-IN"/>
          </a:p>
        </p:txBody>
      </p:sp>
      <p:pic>
        <p:nvPicPr>
          <p:cNvPr id="12" name="Image 2" descr="preencoded.png"/>
          <p:cNvPicPr>
            <a:picLocks noChangeAspect="1"/>
          </p:cNvPicPr>
          <p:nvPr/>
        </p:nvPicPr>
        <p:blipFill>
          <a:blip r:embed="rId5"/>
          <a:stretch>
            <a:fillRect/>
          </a:stretch>
        </p:blipFill>
        <p:spPr>
          <a:xfrm>
            <a:off x="3378622" y="2581796"/>
            <a:ext cx="372070" cy="372070"/>
          </a:xfrm>
          <a:prstGeom prst="rect">
            <a:avLst/>
          </a:prstGeom>
        </p:spPr>
      </p:pic>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480941" y="2684041"/>
            <a:ext cx="167432" cy="167432"/>
          </a:xfrm>
          <a:prstGeom prst="rect">
            <a:avLst/>
          </a:prstGeom>
        </p:spPr>
      </p:pic>
      <p:sp>
        <p:nvSpPr>
          <p:cNvPr id="14" name="Text 8"/>
          <p:cNvSpPr/>
          <p:nvPr/>
        </p:nvSpPr>
        <p:spPr>
          <a:xfrm>
            <a:off x="3378622" y="3077840"/>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Chain‑of‑thought</a:t>
            </a:r>
            <a:endParaRPr lang="en-US" sz="1200" dirty="0"/>
          </a:p>
        </p:txBody>
      </p:sp>
      <p:sp>
        <p:nvSpPr>
          <p:cNvPr id="15" name="Text 9"/>
          <p:cNvSpPr/>
          <p:nvPr/>
        </p:nvSpPr>
        <p:spPr>
          <a:xfrm>
            <a:off x="3378622" y="3346103"/>
            <a:ext cx="2386682" cy="198462"/>
          </a:xfrm>
          <a:prstGeom prst="rect">
            <a:avLst/>
          </a:prstGeom>
          <a:noFill/>
          <a:ln/>
        </p:spPr>
        <p:txBody>
          <a:bodyPr wrap="none" lIns="0" tIns="0" rIns="0" bIns="0" rtlCol="0" anchor="t"/>
          <a:lstStyle/>
          <a:p>
            <a:pPr marL="0" indent="0" algn="l">
              <a:lnSpc>
                <a:spcPts val="1550"/>
              </a:lnSpc>
              <a:buNone/>
            </a:pPr>
            <a:r>
              <a:rPr lang="en-US" sz="950" dirty="0">
                <a:solidFill>
                  <a:srgbClr val="15213F"/>
                </a:solidFill>
                <a:latin typeface="Roboto" pitchFamily="34" charset="0"/>
                <a:ea typeface="Roboto" pitchFamily="34" charset="-122"/>
                <a:cs typeface="Roboto" pitchFamily="34" charset="-120"/>
              </a:rPr>
              <a:t>Asking AI to explain its reasoning.</a:t>
            </a:r>
            <a:endParaRPr lang="en-US" sz="950" dirty="0"/>
          </a:p>
        </p:txBody>
      </p:sp>
      <p:sp>
        <p:nvSpPr>
          <p:cNvPr id="16" name="Shape 10"/>
          <p:cNvSpPr/>
          <p:nvPr/>
        </p:nvSpPr>
        <p:spPr>
          <a:xfrm>
            <a:off x="6013252" y="2457822"/>
            <a:ext cx="2634555" cy="1210717"/>
          </a:xfrm>
          <a:prstGeom prst="roundRect">
            <a:avLst>
              <a:gd name="adj" fmla="val 1537"/>
            </a:avLst>
          </a:prstGeom>
          <a:solidFill>
            <a:srgbClr val="E9ECF2"/>
          </a:solidFill>
          <a:ln/>
        </p:spPr>
        <p:txBody>
          <a:bodyPr/>
          <a:lstStyle/>
          <a:p>
            <a:endParaRPr lang="en-IN"/>
          </a:p>
        </p:txBody>
      </p:sp>
      <p:pic>
        <p:nvPicPr>
          <p:cNvPr id="17" name="Image 4" descr="preencoded.png"/>
          <p:cNvPicPr>
            <a:picLocks noChangeAspect="1"/>
          </p:cNvPicPr>
          <p:nvPr/>
        </p:nvPicPr>
        <p:blipFill>
          <a:blip r:embed="rId7"/>
          <a:stretch>
            <a:fillRect/>
          </a:stretch>
        </p:blipFill>
        <p:spPr>
          <a:xfrm>
            <a:off x="6137225" y="2581796"/>
            <a:ext cx="372070" cy="372070"/>
          </a:xfrm>
          <a:prstGeom prst="rect">
            <a:avLst/>
          </a:prstGeom>
        </p:spPr>
      </p:pic>
      <p:pic>
        <p:nvPicPr>
          <p:cNvPr id="18"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39545" y="2684041"/>
            <a:ext cx="167432" cy="167432"/>
          </a:xfrm>
          <a:prstGeom prst="rect">
            <a:avLst/>
          </a:prstGeom>
        </p:spPr>
      </p:pic>
      <p:sp>
        <p:nvSpPr>
          <p:cNvPr id="19" name="Text 11"/>
          <p:cNvSpPr/>
          <p:nvPr/>
        </p:nvSpPr>
        <p:spPr>
          <a:xfrm>
            <a:off x="6137225" y="3077840"/>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5213F"/>
                </a:solidFill>
                <a:latin typeface="Roboto Slab" pitchFamily="34" charset="0"/>
                <a:ea typeface="Roboto Slab" pitchFamily="34" charset="-122"/>
                <a:cs typeface="Roboto Slab" pitchFamily="34" charset="-120"/>
              </a:rPr>
              <a:t>Role‑playing</a:t>
            </a:r>
            <a:endParaRPr lang="en-US" sz="1200" dirty="0"/>
          </a:p>
        </p:txBody>
      </p:sp>
      <p:sp>
        <p:nvSpPr>
          <p:cNvPr id="20" name="Text 12"/>
          <p:cNvSpPr/>
          <p:nvPr/>
        </p:nvSpPr>
        <p:spPr>
          <a:xfrm>
            <a:off x="6137225" y="3346103"/>
            <a:ext cx="2386608" cy="198462"/>
          </a:xfrm>
          <a:prstGeom prst="rect">
            <a:avLst/>
          </a:prstGeom>
          <a:noFill/>
          <a:ln/>
        </p:spPr>
        <p:txBody>
          <a:bodyPr wrap="none" lIns="0" tIns="0" rIns="0" bIns="0" rtlCol="0" anchor="t"/>
          <a:lstStyle/>
          <a:p>
            <a:pPr marL="0" indent="0" algn="l">
              <a:lnSpc>
                <a:spcPts val="1550"/>
              </a:lnSpc>
              <a:buNone/>
            </a:pPr>
            <a:r>
              <a:rPr lang="en-US" sz="950" dirty="0">
                <a:solidFill>
                  <a:srgbClr val="15213F"/>
                </a:solidFill>
                <a:latin typeface="Roboto" pitchFamily="34" charset="0"/>
                <a:ea typeface="Roboto" pitchFamily="34" charset="-122"/>
                <a:cs typeface="Roboto" pitchFamily="34" charset="-120"/>
              </a:rPr>
              <a:t>Asking AI to act as a specific persona.</a:t>
            </a:r>
            <a:endParaRPr lang="en-US" sz="950" dirty="0"/>
          </a:p>
        </p:txBody>
      </p:sp>
      <p:sp>
        <p:nvSpPr>
          <p:cNvPr id="21" name="Text 13"/>
          <p:cNvSpPr/>
          <p:nvPr/>
        </p:nvSpPr>
        <p:spPr>
          <a:xfrm>
            <a:off x="496119" y="3808065"/>
            <a:ext cx="8151763" cy="198462"/>
          </a:xfrm>
          <a:prstGeom prst="rect">
            <a:avLst/>
          </a:prstGeom>
          <a:noFill/>
          <a:ln/>
        </p:spPr>
        <p:txBody>
          <a:bodyPr wrap="none" lIns="0" tIns="0" rIns="0" bIns="0" rtlCol="0" anchor="t"/>
          <a:lstStyle/>
          <a:p>
            <a:pPr marL="0" indent="0" algn="l">
              <a:lnSpc>
                <a:spcPts val="1550"/>
              </a:lnSpc>
              <a:buNone/>
            </a:pPr>
            <a:endParaRPr lang="en-US" sz="950" dirty="0"/>
          </a:p>
        </p:txBody>
      </p:sp>
      <p:sp>
        <p:nvSpPr>
          <p:cNvPr id="22" name="Text 14"/>
          <p:cNvSpPr/>
          <p:nvPr/>
        </p:nvSpPr>
        <p:spPr>
          <a:xfrm>
            <a:off x="496119" y="4146054"/>
            <a:ext cx="8151763" cy="248096"/>
          </a:xfrm>
          <a:prstGeom prst="rect">
            <a:avLst/>
          </a:prstGeom>
          <a:noFill/>
          <a:ln/>
        </p:spPr>
        <p:txBody>
          <a:bodyPr wrap="none" lIns="0" tIns="0" rIns="0" bIns="0" rtlCol="0" anchor="t"/>
          <a:lstStyle/>
          <a:p>
            <a:pPr marL="0" indent="0" algn="l">
              <a:lnSpc>
                <a:spcPts val="1950"/>
              </a:lnSpc>
              <a:buNone/>
            </a:pPr>
            <a:r>
              <a:rPr lang="en-US" sz="1200" dirty="0">
                <a:solidFill>
                  <a:srgbClr val="15213F"/>
                </a:solidFill>
                <a:latin typeface="Roboto" pitchFamily="34" charset="0"/>
                <a:ea typeface="Roboto" pitchFamily="34" charset="-122"/>
                <a:cs typeface="Roboto" pitchFamily="34" charset="-120"/>
              </a:rPr>
              <a:t>Your Prompt Portfolio will grow with even more powerful examples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文档" ma:contentTypeID="0x010100D1C97E870F6D7542BABA8D0CA62BEE9C" ma:contentTypeVersion="4" ma:contentTypeDescription="新建文档。" ma:contentTypeScope="" ma:versionID="2a884758a1a96afdab5f030d69ab96dc">
  <xsd:schema xmlns:xsd="http://www.w3.org/2001/XMLSchema" xmlns:xs="http://www.w3.org/2001/XMLSchema" xmlns:p="http://schemas.microsoft.com/office/2006/metadata/properties" xmlns:ns3="e0221f9d-b794-42ac-8043-be0753f8addc" targetNamespace="http://schemas.microsoft.com/office/2006/metadata/properties" ma:root="true" ma:fieldsID="c6778a65063483b2d790b89d984a301d" ns3:_="">
    <xsd:import namespace="e0221f9d-b794-42ac-8043-be0753f8add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221f9d-b794-42ac-8043-be0753f8add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内容类型"/>
        <xsd:element ref="dc:title" minOccurs="0" maxOccurs="1" ma:index="4" ma:displayName="标题"/>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5631535-A7BB-45A5-AD0B-ACB4AC76CE1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0221f9d-b794-42ac-8043-be0753f8ad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BEE1F65-AFF7-4FB5-9F3A-5E590AA88B54}">
  <ds:schemaRefs>
    <ds:schemaRef ds:uri="http://schemas.microsoft.com/sharepoint/v3/contenttype/forms"/>
  </ds:schemaRefs>
</ds:datastoreItem>
</file>

<file path=customXml/itemProps3.xml><?xml version="1.0" encoding="utf-8"?>
<ds:datastoreItem xmlns:ds="http://schemas.openxmlformats.org/officeDocument/2006/customXml" ds:itemID="{73DDC6CF-B22B-423C-90EB-8C8DEEB62FEC}">
  <ds:schemaRefs>
    <ds:schemaRef ds:uri="http://purl.org/dc/elements/1.1/"/>
    <ds:schemaRef ds:uri="http://purl.org/dc/dcmitype/"/>
    <ds:schemaRef ds:uri="http://purl.org/dc/terms/"/>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e0221f9d-b794-42ac-8043-be0753f8addc"/>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115</TotalTime>
  <Words>2951</Words>
  <Application>Microsoft Office PowerPoint</Application>
  <PresentationFormat>On-screen Show (16:9)</PresentationFormat>
  <Paragraphs>323</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Roboto</vt:lpstr>
      <vt:lpstr>Roboto Slab Light</vt:lpstr>
      <vt:lpstr>Roboto Slab</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sneha arya</dc:creator>
  <cp:lastModifiedBy>Office</cp:lastModifiedBy>
  <cp:revision>3</cp:revision>
  <dcterms:created xsi:type="dcterms:W3CDTF">2026-05-09T08:04:29Z</dcterms:created>
  <dcterms:modified xsi:type="dcterms:W3CDTF">2026-05-09T09:59:59Z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0x010100D1C97E870F6D7542BABA8D0CA62BEE9C</vt:lpwstr>
  </property>
</Properties>
</file>