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6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embeddedFontLst>
    <p:embeddedFont>
      <p:font typeface="Roboto" panose="02000000000000000000" pitchFamily="2" charset="0"/>
      <p:regular r:id="rId33"/>
      <p:bold r:id="rId34"/>
    </p:embeddedFont>
    <p:embeddedFont>
      <p:font typeface="Roboto Slab" pitchFamily="2" charset="0"/>
      <p:regular r:id="rId35"/>
      <p:bold r:id="rId36"/>
    </p:embeddedFont>
    <p:embeddedFont>
      <p:font typeface="Roboto Slab Bold" pitchFamily="2" charset="0"/>
      <p:bold r:id="rId37"/>
    </p:embeddedFont>
    <p:embeddedFont>
      <p:font typeface="Roboto Slab Light" pitchFamily="2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344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svg"/><Relationship Id="rId9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4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svg"/><Relationship Id="rId11" Type="http://schemas.openxmlformats.org/officeDocument/2006/relationships/image" Target="../media/image23.png"/><Relationship Id="rId5" Type="http://schemas.openxmlformats.org/officeDocument/2006/relationships/image" Target="../media/image26.png"/><Relationship Id="rId10" Type="http://schemas.openxmlformats.org/officeDocument/2006/relationships/image" Target="../media/image29.svg"/><Relationship Id="rId4" Type="http://schemas.openxmlformats.org/officeDocument/2006/relationships/image" Target="../media/image25.pn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2.svg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377976"/>
            <a:ext cx="422389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23 : Research &amp; Build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1026"/>
            <a:ext cx="373767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Recap : Last Session (S22)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816596"/>
            <a:ext cx="8151763" cy="112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Picked your domain</a:t>
            </a:r>
            <a:endParaRPr lang="en-US" sz="12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Sharpened your research question</a:t>
            </a:r>
            <a:endParaRPr lang="en-US" sz="12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 candidate sources</a:t>
            </a:r>
            <a:endParaRPr lang="en-US" sz="12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Committed to a hands-on exploration 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3078659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homework, you drafted your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Related Work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Introduction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sections.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3466281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Today is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&amp; Build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 actual investigation happens here. You move from preparation into the real work of your paper.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79488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Today's Two Thread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96119" y="1953071"/>
            <a:ext cx="4722763" cy="1810941"/>
          </a:xfrm>
          <a:prstGeom prst="roundRect">
            <a:avLst>
              <a:gd name="adj" fmla="val 102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30E24CC-5FF4-5EF3-65E9-CA783B1CD92E}"/>
              </a:ext>
            </a:extLst>
          </p:cNvPr>
          <p:cNvGrpSpPr/>
          <p:nvPr/>
        </p:nvGrpSpPr>
        <p:grpSpPr>
          <a:xfrm>
            <a:off x="496119" y="1953071"/>
            <a:ext cx="2361381" cy="1810941"/>
            <a:chOff x="496119" y="1953071"/>
            <a:chExt cx="2361381" cy="1810941"/>
          </a:xfrm>
        </p:grpSpPr>
        <p:sp>
          <p:nvSpPr>
            <p:cNvPr id="5" name="Shape 2"/>
            <p:cNvSpPr/>
            <p:nvPr/>
          </p:nvSpPr>
          <p:spPr>
            <a:xfrm>
              <a:off x="496119" y="1953071"/>
              <a:ext cx="2361381" cy="1810941"/>
            </a:xfrm>
            <a:prstGeom prst="roundRect">
              <a:avLst>
                <a:gd name="adj" fmla="val 1027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3"/>
            <p:cNvSpPr/>
            <p:nvPr/>
          </p:nvSpPr>
          <p:spPr>
            <a:xfrm>
              <a:off x="620092" y="2077045"/>
              <a:ext cx="2113434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📚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Literature Thread</a:t>
              </a:r>
              <a:endParaRPr lang="en-US" sz="1200" dirty="0"/>
            </a:p>
          </p:txBody>
        </p:sp>
      </p:grpSp>
      <p:sp>
        <p:nvSpPr>
          <p:cNvPr id="7" name="Text 4"/>
          <p:cNvSpPr/>
          <p:nvPr/>
        </p:nvSpPr>
        <p:spPr>
          <a:xfrm>
            <a:off x="620092" y="2399556"/>
            <a:ext cx="2113434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 your sources deeply. Pull out specific findings. Build the foundation for your Results section.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57500" y="1953071"/>
            <a:ext cx="14288" cy="1810941"/>
          </a:xfrm>
          <a:prstGeom prst="roundRect">
            <a:avLst>
              <a:gd name="adj" fmla="val 130228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667822A-1D38-F472-AA84-43500359096F}"/>
              </a:ext>
            </a:extLst>
          </p:cNvPr>
          <p:cNvGrpSpPr/>
          <p:nvPr/>
        </p:nvGrpSpPr>
        <p:grpSpPr>
          <a:xfrm>
            <a:off x="2857500" y="1953071"/>
            <a:ext cx="2361381" cy="1810941"/>
            <a:chOff x="2857500" y="1953071"/>
            <a:chExt cx="2361381" cy="1810941"/>
          </a:xfrm>
        </p:grpSpPr>
        <p:sp>
          <p:nvSpPr>
            <p:cNvPr id="8" name="Shape 5"/>
            <p:cNvSpPr/>
            <p:nvPr/>
          </p:nvSpPr>
          <p:spPr>
            <a:xfrm>
              <a:off x="2857500" y="1953071"/>
              <a:ext cx="2361381" cy="1810941"/>
            </a:xfrm>
            <a:prstGeom prst="rect">
              <a:avLst/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7"/>
            <p:cNvSpPr/>
            <p:nvPr/>
          </p:nvSpPr>
          <p:spPr>
            <a:xfrm>
              <a:off x="2981474" y="2077045"/>
              <a:ext cx="2113434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🔬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Hands-On Thread</a:t>
              </a:r>
              <a:endParaRPr lang="en-US" sz="1200" dirty="0"/>
            </a:p>
          </p:txBody>
        </p:sp>
      </p:grpSp>
      <p:sp>
        <p:nvSpPr>
          <p:cNvPr id="11" name="Text 8"/>
          <p:cNvSpPr/>
          <p:nvPr/>
        </p:nvSpPr>
        <p:spPr>
          <a:xfrm>
            <a:off x="2981474" y="2399556"/>
            <a:ext cx="2113434" cy="124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 tool to gain firsthand experience with how AI works in your domain. Observe what it does, where it struggles, what surprises you.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99430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Today's Goals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35001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the end of this session, you'll have made real, measurable progress across every major section of your paper.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82262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19077"/>
            <a:ext cx="2634555" cy="14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109639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Sources Read Deeply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6119" y="2432149"/>
            <a:ext cx="2634555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Specific findings extracted from each source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54648" y="182262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8" y="2019077"/>
            <a:ext cx="2634630" cy="142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54648" y="2109639"/>
            <a:ext cx="263463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Exploration Completed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254648" y="2432149"/>
            <a:ext cx="263463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tool experience documented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013252" y="182262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52" y="2031429"/>
            <a:ext cx="2634555" cy="142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13252" y="2109639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Methodology Drafted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013252" y="2432149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investigation process written up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96119" y="314533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329360"/>
            <a:ext cx="2634555" cy="142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6119" y="3432349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 Started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96119" y="3754859"/>
            <a:ext cx="2634555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threads beginning to come together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3254648" y="314533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9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8" y="3341787"/>
            <a:ext cx="2634630" cy="142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254648" y="3432349"/>
            <a:ext cx="263463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Related Work Refined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254648" y="3754859"/>
            <a:ext cx="263463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Sharpened based on deeper reading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013252" y="314533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9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52" y="3341787"/>
            <a:ext cx="2634555" cy="1428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013252" y="3432349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Testing Plan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013252" y="3754859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3-5 testers identified for homework</a:t>
            </a:r>
            <a:endParaRPr lang="en-US" sz="12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676E833-2A22-CE74-0B08-249786AD9D57}"/>
              </a:ext>
            </a:extLst>
          </p:cNvPr>
          <p:cNvCxnSpPr>
            <a:cxnSpLocks/>
          </p:cNvCxnSpPr>
          <p:nvPr/>
        </p:nvCxnSpPr>
        <p:spPr>
          <a:xfrm>
            <a:off x="489085" y="2026221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DA9D9FD-0388-CA76-1C54-3093242D6E26}"/>
              </a:ext>
            </a:extLst>
          </p:cNvPr>
          <p:cNvCxnSpPr/>
          <p:nvPr/>
        </p:nvCxnSpPr>
        <p:spPr>
          <a:xfrm>
            <a:off x="3236575" y="2024395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D6A79CC-E840-3AF3-CCA9-13BC359DAD27}"/>
              </a:ext>
            </a:extLst>
          </p:cNvPr>
          <p:cNvCxnSpPr/>
          <p:nvPr/>
        </p:nvCxnSpPr>
        <p:spPr>
          <a:xfrm>
            <a:off x="5984848" y="2028563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57BBCBC-80C8-5C98-0F6C-A58695CD2596}"/>
              </a:ext>
            </a:extLst>
          </p:cNvPr>
          <p:cNvCxnSpPr/>
          <p:nvPr/>
        </p:nvCxnSpPr>
        <p:spPr>
          <a:xfrm>
            <a:off x="482442" y="3348477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BCB12A7-4421-A331-A8B8-BA65964A160C}"/>
              </a:ext>
            </a:extLst>
          </p:cNvPr>
          <p:cNvCxnSpPr/>
          <p:nvPr/>
        </p:nvCxnSpPr>
        <p:spPr>
          <a:xfrm>
            <a:off x="3225865" y="3348821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33E49AB-45B8-9CEC-E464-1291B65BC141}"/>
              </a:ext>
            </a:extLst>
          </p:cNvPr>
          <p:cNvCxnSpPr/>
          <p:nvPr/>
        </p:nvCxnSpPr>
        <p:spPr>
          <a:xfrm>
            <a:off x="5977808" y="3350927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17624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Homework Review</a:t>
            </a:r>
            <a:endParaRPr lang="en-US" sz="24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38717E-9391-248A-8507-4191B1513A1E}"/>
              </a:ext>
            </a:extLst>
          </p:cNvPr>
          <p:cNvGrpSpPr/>
          <p:nvPr/>
        </p:nvGrpSpPr>
        <p:grpSpPr>
          <a:xfrm>
            <a:off x="3925119" y="1091208"/>
            <a:ext cx="4722763" cy="1066651"/>
            <a:chOff x="3925119" y="1091208"/>
            <a:chExt cx="4722763" cy="106665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30077DD-F2FA-D7A6-31F1-929DDA54234F}"/>
                </a:ext>
              </a:extLst>
            </p:cNvPr>
            <p:cNvGrpSpPr/>
            <p:nvPr/>
          </p:nvGrpSpPr>
          <p:grpSpPr>
            <a:xfrm>
              <a:off x="3925119" y="1091208"/>
              <a:ext cx="4722763" cy="1066651"/>
              <a:chOff x="3925119" y="1091208"/>
              <a:chExt cx="4722763" cy="1066651"/>
            </a:xfrm>
          </p:grpSpPr>
          <p:sp>
            <p:nvSpPr>
              <p:cNvPr id="4" name="Shape 1"/>
              <p:cNvSpPr/>
              <p:nvPr/>
            </p:nvSpPr>
            <p:spPr>
              <a:xfrm>
                <a:off x="3925119" y="1091208"/>
                <a:ext cx="4722763" cy="1066651"/>
              </a:xfrm>
              <a:prstGeom prst="roundRect">
                <a:avLst>
                  <a:gd name="adj" fmla="val 1744"/>
                </a:avLst>
              </a:prstGeom>
              <a:solidFill>
                <a:srgbClr val="E9ECF2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" name="Text 2"/>
              <p:cNvSpPr/>
              <p:nvPr/>
            </p:nvSpPr>
            <p:spPr>
              <a:xfrm>
                <a:off x="4049092" y="1215182"/>
                <a:ext cx="4474815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What Your Mentor Will Read</a:t>
                </a:r>
                <a:endParaRPr lang="en-US" sz="1200" dirty="0"/>
              </a:p>
            </p:txBody>
          </p:sp>
        </p:grpSp>
        <p:sp>
          <p:nvSpPr>
            <p:cNvPr id="6" name="Text 3"/>
            <p:cNvSpPr/>
            <p:nvPr/>
          </p:nvSpPr>
          <p:spPr>
            <a:xfrm>
              <a:off x="4049092" y="1537692"/>
              <a:ext cx="4474815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Your mentor will read your 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Related Work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and 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Introduction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drafts from S22 homework. Expect specific, targeted feedback.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C5CED58-0F6E-99BB-A76F-F39D74D2DFF8}"/>
              </a:ext>
            </a:extLst>
          </p:cNvPr>
          <p:cNvGrpSpPr/>
          <p:nvPr/>
        </p:nvGrpSpPr>
        <p:grpSpPr>
          <a:xfrm>
            <a:off x="3925119" y="2281833"/>
            <a:ext cx="4722763" cy="1277540"/>
            <a:chOff x="3925119" y="2281833"/>
            <a:chExt cx="4722763" cy="1277540"/>
          </a:xfrm>
        </p:grpSpPr>
        <p:sp>
          <p:nvSpPr>
            <p:cNvPr id="7" name="Shape 4"/>
            <p:cNvSpPr/>
            <p:nvPr/>
          </p:nvSpPr>
          <p:spPr>
            <a:xfrm>
              <a:off x="3925119" y="2281833"/>
              <a:ext cx="4722763" cy="1277540"/>
            </a:xfrm>
            <a:prstGeom prst="roundRect">
              <a:avLst>
                <a:gd name="adj" fmla="val 132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5"/>
            <p:cNvSpPr/>
            <p:nvPr/>
          </p:nvSpPr>
          <p:spPr>
            <a:xfrm>
              <a:off x="4049092" y="2405807"/>
              <a:ext cx="447481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They'll Flag</a:t>
              </a:r>
              <a:endParaRPr lang="en-US" sz="12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4049092" y="2728317"/>
              <a:ext cx="4474815" cy="831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 algn="l">
                <a:lnSpc>
                  <a:spcPts val="155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Sentences that sound generated rather than written by you</a:t>
              </a:r>
              <a:endParaRPr lang="en-US" sz="1200" dirty="0"/>
            </a:p>
            <a:p>
              <a:pPr marL="171450" indent="-171450" algn="l">
                <a:lnSpc>
                  <a:spcPts val="155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Claims without citations</a:t>
              </a:r>
              <a:endParaRPr lang="en-US" sz="1200" dirty="0"/>
            </a:p>
            <a:p>
              <a:pPr marL="171450" indent="-171450" algn="l">
                <a:lnSpc>
                  <a:spcPts val="155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Generic phrasing where specific would be stronger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D83B40-0A5C-2DE9-1443-07D91054246B}"/>
              </a:ext>
            </a:extLst>
          </p:cNvPr>
          <p:cNvGrpSpPr/>
          <p:nvPr/>
        </p:nvGrpSpPr>
        <p:grpSpPr>
          <a:xfrm>
            <a:off x="3925119" y="3807321"/>
            <a:ext cx="4722763" cy="818555"/>
            <a:chOff x="3925119" y="3807321"/>
            <a:chExt cx="4722763" cy="818555"/>
          </a:xfrm>
        </p:grpSpPr>
        <p:sp>
          <p:nvSpPr>
            <p:cNvPr id="10" name="Shape 7"/>
            <p:cNvSpPr/>
            <p:nvPr/>
          </p:nvSpPr>
          <p:spPr>
            <a:xfrm>
              <a:off x="3925119" y="3807321"/>
              <a:ext cx="4722763" cy="818555"/>
            </a:xfrm>
            <a:prstGeom prst="roundRect">
              <a:avLst>
                <a:gd name="adj" fmla="val 227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8"/>
            <p:cNvSpPr/>
            <p:nvPr/>
          </p:nvSpPr>
          <p:spPr>
            <a:xfrm>
              <a:off x="4049092" y="3931295"/>
              <a:ext cx="447481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Your Job Right Now</a:t>
              </a:r>
              <a:endParaRPr lang="en-US" sz="12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4049092" y="4253805"/>
              <a:ext cx="447481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Take notes on every piece of feedback.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1459"/>
            <a:ext cx="3493740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Deep Literature Read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1017538"/>
            <a:ext cx="815176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S22 you confirmed your sources existed and were credible. For each source, extract the following: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96119" y="1373237"/>
            <a:ext cx="815176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6DE34D7-23F6-1E4E-9741-967E655724C0}"/>
              </a:ext>
            </a:extLst>
          </p:cNvPr>
          <p:cNvGrpSpPr/>
          <p:nvPr/>
        </p:nvGrpSpPr>
        <p:grpSpPr>
          <a:xfrm>
            <a:off x="496119" y="1728936"/>
            <a:ext cx="4005932" cy="294605"/>
            <a:chOff x="496119" y="1728936"/>
            <a:chExt cx="4005932" cy="294605"/>
          </a:xfrm>
        </p:grpSpPr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119" y="1728936"/>
              <a:ext cx="294605" cy="294605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930622" y="1728936"/>
              <a:ext cx="3571429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Main Finding</a:t>
              </a:r>
              <a:endParaRPr lang="en-US" sz="1150" dirty="0"/>
            </a:p>
          </p:txBody>
        </p:sp>
      </p:grpSp>
      <p:sp>
        <p:nvSpPr>
          <p:cNvPr id="7" name="Text 4"/>
          <p:cNvSpPr/>
          <p:nvPr/>
        </p:nvSpPr>
        <p:spPr>
          <a:xfrm>
            <a:off x="930622" y="2025848"/>
            <a:ext cx="3571429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source's main finding or argument about AI in your domain</a:t>
            </a:r>
            <a:endParaRPr lang="en-US" sz="11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B0D4021-2806-38AD-45D1-2ED3DB880590}"/>
              </a:ext>
            </a:extLst>
          </p:cNvPr>
          <p:cNvGrpSpPr/>
          <p:nvPr/>
        </p:nvGrpSpPr>
        <p:grpSpPr>
          <a:xfrm>
            <a:off x="4641949" y="1728936"/>
            <a:ext cx="4005933" cy="294605"/>
            <a:chOff x="4641949" y="1728936"/>
            <a:chExt cx="4005933" cy="294605"/>
          </a:xfrm>
        </p:grpSpPr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41949" y="1728936"/>
              <a:ext cx="294605" cy="294605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5076453" y="1728936"/>
              <a:ext cx="3571429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Specific Facts</a:t>
              </a:r>
              <a:endParaRPr lang="en-US" sz="1150" dirty="0"/>
            </a:p>
          </p:txBody>
        </p:sp>
      </p:grpSp>
      <p:sp>
        <p:nvSpPr>
          <p:cNvPr id="10" name="Text 6"/>
          <p:cNvSpPr/>
          <p:nvPr/>
        </p:nvSpPr>
        <p:spPr>
          <a:xfrm>
            <a:off x="5076453" y="2025848"/>
            <a:ext cx="3571429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Statistics, examples, or cases you can cite directly in your paper</a:t>
            </a:r>
            <a:endParaRPr lang="en-US" sz="115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CD2EEC-5801-0A9B-4B44-A700349A1FD7}"/>
              </a:ext>
            </a:extLst>
          </p:cNvPr>
          <p:cNvGrpSpPr/>
          <p:nvPr/>
        </p:nvGrpSpPr>
        <p:grpSpPr>
          <a:xfrm>
            <a:off x="496119" y="2709267"/>
            <a:ext cx="4005932" cy="294605"/>
            <a:chOff x="496119" y="2709267"/>
            <a:chExt cx="4005932" cy="294605"/>
          </a:xfrm>
        </p:grpSpPr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6119" y="2709267"/>
              <a:ext cx="294605" cy="294605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930622" y="2709267"/>
              <a:ext cx="3571429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Direct Quotations</a:t>
              </a:r>
              <a:endParaRPr lang="en-US" sz="1150" dirty="0"/>
            </a:p>
          </p:txBody>
        </p:sp>
      </p:grpSp>
      <p:sp>
        <p:nvSpPr>
          <p:cNvPr id="13" name="Text 8"/>
          <p:cNvSpPr/>
          <p:nvPr/>
        </p:nvSpPr>
        <p:spPr>
          <a:xfrm>
            <a:off x="930622" y="3006179"/>
            <a:ext cx="3571429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 - under 15 words each - only when the exact wording matters</a:t>
            </a:r>
            <a:endParaRPr lang="en-US" sz="115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E8AD9E2-F957-7239-6387-59EFE8AAB3A7}"/>
              </a:ext>
            </a:extLst>
          </p:cNvPr>
          <p:cNvGrpSpPr/>
          <p:nvPr/>
        </p:nvGrpSpPr>
        <p:grpSpPr>
          <a:xfrm>
            <a:off x="4641949" y="2709267"/>
            <a:ext cx="4005933" cy="294605"/>
            <a:chOff x="4641949" y="2709267"/>
            <a:chExt cx="4005933" cy="294605"/>
          </a:xfrm>
        </p:grpSpPr>
        <p:pic>
          <p:nvPicPr>
            <p:cNvPr id="14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41949" y="2709267"/>
              <a:ext cx="294605" cy="294605"/>
            </a:xfrm>
            <a:prstGeom prst="rect">
              <a:avLst/>
            </a:prstGeom>
          </p:spPr>
        </p:pic>
        <p:sp>
          <p:nvSpPr>
            <p:cNvPr id="15" name="Text 9"/>
            <p:cNvSpPr/>
            <p:nvPr/>
          </p:nvSpPr>
          <p:spPr>
            <a:xfrm>
              <a:off x="5076453" y="2709267"/>
              <a:ext cx="3571429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Source Relationships</a:t>
              </a:r>
              <a:endParaRPr lang="en-US" sz="1150" dirty="0"/>
            </a:p>
          </p:txBody>
        </p:sp>
      </p:grpSp>
      <p:sp>
        <p:nvSpPr>
          <p:cNvPr id="16" name="Text 10"/>
          <p:cNvSpPr/>
          <p:nvPr/>
        </p:nvSpPr>
        <p:spPr>
          <a:xfrm>
            <a:off x="5076453" y="3006179"/>
            <a:ext cx="3571429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this source fits with others - does it agree, contradict, or extend?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496119" y="3591669"/>
            <a:ext cx="8151763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9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57E6473-1C6D-DA10-D4F2-7CE50CAB02B2}"/>
              </a:ext>
            </a:extLst>
          </p:cNvPr>
          <p:cNvGrpSpPr/>
          <p:nvPr/>
        </p:nvGrpSpPr>
        <p:grpSpPr>
          <a:xfrm>
            <a:off x="496119" y="3901455"/>
            <a:ext cx="8151763" cy="760512"/>
            <a:chOff x="496119" y="3901455"/>
            <a:chExt cx="8151763" cy="760512"/>
          </a:xfrm>
        </p:grpSpPr>
        <p:sp>
          <p:nvSpPr>
            <p:cNvPr id="18" name="Shape 12"/>
            <p:cNvSpPr/>
            <p:nvPr/>
          </p:nvSpPr>
          <p:spPr>
            <a:xfrm>
              <a:off x="496119" y="3901455"/>
              <a:ext cx="8151763" cy="760512"/>
            </a:xfrm>
            <a:prstGeom prst="roundRect">
              <a:avLst>
                <a:gd name="adj" fmla="val 2324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9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3916" y="4075807"/>
              <a:ext cx="184100" cy="147265"/>
            </a:xfrm>
            <a:prstGeom prst="rect">
              <a:avLst/>
            </a:prstGeom>
          </p:spPr>
        </p:pic>
        <p:sp>
          <p:nvSpPr>
            <p:cNvPr id="20" name="Text 13"/>
            <p:cNvSpPr/>
            <p:nvPr/>
          </p:nvSpPr>
          <p:spPr>
            <a:xfrm>
              <a:off x="915814" y="4042767"/>
              <a:ext cx="7614270" cy="459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Use </a:t>
              </a:r>
              <a:r>
                <a:rPr lang="en-US" sz="115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NotebookLM</a:t>
              </a:r>
              <a:r>
                <a:rPr lang="en-US" sz="115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as your primary tool - it's grounded in source material and less likely to fabricate content than general AI models.</a:t>
              </a:r>
              <a:endParaRPr lang="en-US" sz="11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0" grpId="0" animBg="1"/>
      <p:bldP spid="13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11957"/>
            <a:ext cx="464098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Reading One Source -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47527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each of your 5–8 sources, work through these steps in order. Don't skip ahead.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231603"/>
            <a:ext cx="2634555" cy="14288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8" y="2231603"/>
            <a:ext cx="2634630" cy="14288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52" y="2231603"/>
            <a:ext cx="2634555" cy="14288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971279"/>
            <a:ext cx="4013820" cy="14288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913" y="2971279"/>
            <a:ext cx="4013895" cy="14288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35924B89-1AF7-EF25-01F0-CA669D255577}"/>
              </a:ext>
            </a:extLst>
          </p:cNvPr>
          <p:cNvGrpSpPr/>
          <p:nvPr/>
        </p:nvGrpSpPr>
        <p:grpSpPr>
          <a:xfrm>
            <a:off x="496119" y="3530129"/>
            <a:ext cx="8151763" cy="576635"/>
            <a:chOff x="496119" y="3530129"/>
            <a:chExt cx="8151763" cy="57663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B9F6427-A56F-A1AF-0895-07C52895DF46}"/>
                </a:ext>
              </a:extLst>
            </p:cNvPr>
            <p:cNvGrpSpPr/>
            <p:nvPr/>
          </p:nvGrpSpPr>
          <p:grpSpPr>
            <a:xfrm>
              <a:off x="496119" y="3530129"/>
              <a:ext cx="8151763" cy="576635"/>
              <a:chOff x="496119" y="3530129"/>
              <a:chExt cx="8151763" cy="576635"/>
            </a:xfrm>
          </p:grpSpPr>
          <p:sp>
            <p:nvSpPr>
              <p:cNvPr id="19" name="Shape 12"/>
              <p:cNvSpPr/>
              <p:nvPr/>
            </p:nvSpPr>
            <p:spPr>
              <a:xfrm>
                <a:off x="496119" y="3530129"/>
                <a:ext cx="8151763" cy="576635"/>
              </a:xfrm>
              <a:prstGeom prst="roundRect">
                <a:avLst>
                  <a:gd name="adj" fmla="val 3227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 13"/>
              <p:cNvSpPr/>
              <p:nvPr/>
            </p:nvSpPr>
            <p:spPr>
              <a:xfrm>
                <a:off x="937840" y="3709839"/>
                <a:ext cx="7586067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dirty="0">
                    <a:solidFill>
                      <a:srgbClr val="000000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Don't skim. Don't trust a summary. Get into the actual content.</a:t>
                </a:r>
                <a:endParaRPr lang="en-US" sz="1200" dirty="0"/>
              </a:p>
            </p:txBody>
          </p:sp>
        </p:grpSp>
        <p:pic>
          <p:nvPicPr>
            <p:cNvPr id="20" name="Image 5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092" y="3725614"/>
              <a:ext cx="193774" cy="155004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92D50A8-25D5-ECA4-F0E9-B928C15DBCF8}"/>
              </a:ext>
            </a:extLst>
          </p:cNvPr>
          <p:cNvGrpSpPr/>
          <p:nvPr/>
        </p:nvGrpSpPr>
        <p:grpSpPr>
          <a:xfrm>
            <a:off x="496119" y="2035150"/>
            <a:ext cx="2634555" cy="535111"/>
            <a:chOff x="496119" y="2035150"/>
            <a:chExt cx="2634555" cy="535111"/>
          </a:xfrm>
        </p:grpSpPr>
        <p:sp>
          <p:nvSpPr>
            <p:cNvPr id="4" name="Text 2"/>
            <p:cNvSpPr/>
            <p:nvPr/>
          </p:nvSpPr>
          <p:spPr>
            <a:xfrm>
              <a:off x="496119" y="2035150"/>
              <a:ext cx="248022" cy="1550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950" dirty="0">
                  <a:solidFill>
                    <a:srgbClr val="15213F"/>
                  </a:solidFill>
                  <a:latin typeface="Roboto Slab Light" pitchFamily="34" charset="0"/>
                  <a:ea typeface="Roboto Slab Light" pitchFamily="34" charset="-122"/>
                  <a:cs typeface="Roboto Slab Light" pitchFamily="34" charset="-120"/>
                </a:rPr>
                <a:t>01</a:t>
              </a:r>
              <a:endParaRPr lang="en-US" sz="9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496119" y="2322165"/>
              <a:ext cx="263455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Upload to NotebookLM</a:t>
              </a:r>
              <a:endParaRPr lang="en-US" sz="1200" dirty="0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E434538-EC4E-FB71-9A86-6DE63CAC3A8B}"/>
                </a:ext>
              </a:extLst>
            </p:cNvPr>
            <p:cNvCxnSpPr>
              <a:stCxn id="5" idx="1"/>
              <a:endCxn id="5" idx="3"/>
            </p:cNvCxnSpPr>
            <p:nvPr/>
          </p:nvCxnSpPr>
          <p:spPr>
            <a:xfrm>
              <a:off x="496119" y="2238747"/>
              <a:ext cx="263455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A7C029-1D8D-336B-DA4F-4CDF71373EBF}"/>
              </a:ext>
            </a:extLst>
          </p:cNvPr>
          <p:cNvGrpSpPr/>
          <p:nvPr/>
        </p:nvGrpSpPr>
        <p:grpSpPr>
          <a:xfrm>
            <a:off x="3244011" y="2035150"/>
            <a:ext cx="2645267" cy="535111"/>
            <a:chOff x="3244011" y="2035150"/>
            <a:chExt cx="2645267" cy="535111"/>
          </a:xfrm>
        </p:grpSpPr>
        <p:sp>
          <p:nvSpPr>
            <p:cNvPr id="7" name="Text 4"/>
            <p:cNvSpPr/>
            <p:nvPr/>
          </p:nvSpPr>
          <p:spPr>
            <a:xfrm>
              <a:off x="3254648" y="2035150"/>
              <a:ext cx="248022" cy="1550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950" dirty="0">
                  <a:solidFill>
                    <a:srgbClr val="15213F"/>
                  </a:solidFill>
                  <a:latin typeface="Roboto Slab Light" pitchFamily="34" charset="0"/>
                  <a:ea typeface="Roboto Slab Light" pitchFamily="34" charset="-122"/>
                  <a:cs typeface="Roboto Slab Light" pitchFamily="34" charset="-120"/>
                </a:rPr>
                <a:t>02</a:t>
              </a:r>
              <a:endParaRPr lang="en-US" sz="95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3254648" y="2322165"/>
              <a:ext cx="2634630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Ask for the Main Finding</a:t>
              </a:r>
              <a:endParaRPr lang="en-US" sz="1200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1492FE6-C7BC-B3BE-64DF-0A032A9BDD75}"/>
                </a:ext>
              </a:extLst>
            </p:cNvPr>
            <p:cNvCxnSpPr/>
            <p:nvPr/>
          </p:nvCxnSpPr>
          <p:spPr>
            <a:xfrm>
              <a:off x="3244011" y="2238857"/>
              <a:ext cx="263455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70FA1F3-EDFF-CCAC-4700-421FD9EDB8B3}"/>
              </a:ext>
            </a:extLst>
          </p:cNvPr>
          <p:cNvGrpSpPr/>
          <p:nvPr/>
        </p:nvGrpSpPr>
        <p:grpSpPr>
          <a:xfrm>
            <a:off x="5990204" y="2035150"/>
            <a:ext cx="2657603" cy="535111"/>
            <a:chOff x="5990204" y="2035150"/>
            <a:chExt cx="2657603" cy="535111"/>
          </a:xfrm>
        </p:grpSpPr>
        <p:sp>
          <p:nvSpPr>
            <p:cNvPr id="10" name="Text 6"/>
            <p:cNvSpPr/>
            <p:nvPr/>
          </p:nvSpPr>
          <p:spPr>
            <a:xfrm>
              <a:off x="6013252" y="2035150"/>
              <a:ext cx="248022" cy="1550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950" dirty="0">
                  <a:solidFill>
                    <a:srgbClr val="15213F"/>
                  </a:solidFill>
                  <a:latin typeface="Roboto Slab Light" pitchFamily="34" charset="0"/>
                  <a:ea typeface="Roboto Slab Light" pitchFamily="34" charset="-122"/>
                  <a:cs typeface="Roboto Slab Light" pitchFamily="34" charset="-120"/>
                </a:rPr>
                <a:t>03</a:t>
              </a:r>
              <a:endParaRPr lang="en-US" sz="95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6013252" y="2322165"/>
              <a:ext cx="263455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Ask for Specific Examples</a:t>
              </a:r>
              <a:endParaRPr lang="en-US" sz="1200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C4EA83B-F487-2987-E89F-6F59D7B582D7}"/>
                </a:ext>
              </a:extLst>
            </p:cNvPr>
            <p:cNvCxnSpPr/>
            <p:nvPr/>
          </p:nvCxnSpPr>
          <p:spPr>
            <a:xfrm>
              <a:off x="5990204" y="2238637"/>
              <a:ext cx="263455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ACB3834-48F2-814B-D035-832A010AB6D7}"/>
              </a:ext>
            </a:extLst>
          </p:cNvPr>
          <p:cNvGrpSpPr/>
          <p:nvPr/>
        </p:nvGrpSpPr>
        <p:grpSpPr>
          <a:xfrm>
            <a:off x="496119" y="2787253"/>
            <a:ext cx="4013820" cy="535111"/>
            <a:chOff x="496119" y="2787253"/>
            <a:chExt cx="4013820" cy="535111"/>
          </a:xfrm>
        </p:grpSpPr>
        <p:sp>
          <p:nvSpPr>
            <p:cNvPr id="13" name="Text 8"/>
            <p:cNvSpPr/>
            <p:nvPr/>
          </p:nvSpPr>
          <p:spPr>
            <a:xfrm>
              <a:off x="496119" y="2787253"/>
              <a:ext cx="248022" cy="1550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950" dirty="0">
                  <a:solidFill>
                    <a:srgbClr val="15213F"/>
                  </a:solidFill>
                  <a:latin typeface="Roboto Slab Light" pitchFamily="34" charset="0"/>
                  <a:ea typeface="Roboto Slab Light" pitchFamily="34" charset="-122"/>
                  <a:cs typeface="Roboto Slab Light" pitchFamily="34" charset="-120"/>
                </a:rPr>
                <a:t>04</a:t>
              </a:r>
              <a:endParaRPr lang="en-US" sz="950" dirty="0"/>
            </a:p>
          </p:txBody>
        </p:sp>
        <p:sp>
          <p:nvSpPr>
            <p:cNvPr id="15" name="Text 9"/>
            <p:cNvSpPr/>
            <p:nvPr/>
          </p:nvSpPr>
          <p:spPr>
            <a:xfrm>
              <a:off x="496119" y="3074268"/>
              <a:ext cx="4013820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Ask for Limitations</a:t>
              </a:r>
              <a:endParaRPr lang="en-US" sz="1200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D8CA36E-7DB0-6EB0-CFA0-B20099F3FC9F}"/>
                </a:ext>
              </a:extLst>
            </p:cNvPr>
            <p:cNvCxnSpPr>
              <a:stCxn id="14" idx="1"/>
              <a:endCxn id="14" idx="3"/>
            </p:cNvCxnSpPr>
            <p:nvPr/>
          </p:nvCxnSpPr>
          <p:spPr>
            <a:xfrm>
              <a:off x="496119" y="2978423"/>
              <a:ext cx="401382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6B1D71A-9C6A-15C8-B085-AF3ADA8C11E7}"/>
              </a:ext>
            </a:extLst>
          </p:cNvPr>
          <p:cNvGrpSpPr/>
          <p:nvPr/>
        </p:nvGrpSpPr>
        <p:grpSpPr>
          <a:xfrm>
            <a:off x="4617848" y="2787253"/>
            <a:ext cx="4029960" cy="535111"/>
            <a:chOff x="4617848" y="2787253"/>
            <a:chExt cx="4029960" cy="535111"/>
          </a:xfrm>
        </p:grpSpPr>
        <p:sp>
          <p:nvSpPr>
            <p:cNvPr id="16" name="Text 10"/>
            <p:cNvSpPr/>
            <p:nvPr/>
          </p:nvSpPr>
          <p:spPr>
            <a:xfrm>
              <a:off x="4633913" y="2787253"/>
              <a:ext cx="248022" cy="1550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950" dirty="0">
                  <a:solidFill>
                    <a:srgbClr val="15213F"/>
                  </a:solidFill>
                  <a:latin typeface="Roboto Slab Light" pitchFamily="34" charset="0"/>
                  <a:ea typeface="Roboto Slab Light" pitchFamily="34" charset="-122"/>
                  <a:cs typeface="Roboto Slab Light" pitchFamily="34" charset="-120"/>
                </a:rPr>
                <a:t>05</a:t>
              </a:r>
              <a:endParaRPr lang="en-US" sz="950" dirty="0"/>
            </a:p>
          </p:txBody>
        </p:sp>
        <p:sp>
          <p:nvSpPr>
            <p:cNvPr id="18" name="Text 11"/>
            <p:cNvSpPr/>
            <p:nvPr/>
          </p:nvSpPr>
          <p:spPr>
            <a:xfrm>
              <a:off x="4633913" y="3074268"/>
              <a:ext cx="401389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Save to Notes</a:t>
              </a:r>
              <a:endParaRPr lang="en-US" sz="1200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3D9A86-EE31-CF52-0422-CD485F940C29}"/>
                </a:ext>
              </a:extLst>
            </p:cNvPr>
            <p:cNvCxnSpPr/>
            <p:nvPr/>
          </p:nvCxnSpPr>
          <p:spPr>
            <a:xfrm>
              <a:off x="4617848" y="2977427"/>
              <a:ext cx="401382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7379" y="373112"/>
            <a:ext cx="3731196" cy="343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Synthesizing Across Sources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3917379" y="862533"/>
            <a:ext cx="4738241" cy="621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Once you've read each source, look for patterns. This is what synthesis means - your Related Work isn't a list of source summaries, it's a synthesis of what the field collectively knows.</a:t>
            </a:r>
            <a:endParaRPr lang="en-US" sz="105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D34AC4-0BC5-9F51-344F-1F9AE0A5670C}"/>
              </a:ext>
            </a:extLst>
          </p:cNvPr>
          <p:cNvGrpSpPr/>
          <p:nvPr/>
        </p:nvGrpSpPr>
        <p:grpSpPr>
          <a:xfrm>
            <a:off x="3917379" y="1593726"/>
            <a:ext cx="4738241" cy="721147"/>
            <a:chOff x="3917379" y="1593726"/>
            <a:chExt cx="4738241" cy="721147"/>
          </a:xfrm>
        </p:grpSpPr>
        <p:sp>
          <p:nvSpPr>
            <p:cNvPr id="5" name="Shape 2"/>
            <p:cNvSpPr/>
            <p:nvPr/>
          </p:nvSpPr>
          <p:spPr>
            <a:xfrm>
              <a:off x="3917379" y="1593726"/>
              <a:ext cx="4738241" cy="721147"/>
            </a:xfrm>
            <a:prstGeom prst="roundRect">
              <a:avLst>
                <a:gd name="adj" fmla="val 2286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3"/>
            <p:cNvSpPr/>
            <p:nvPr/>
          </p:nvSpPr>
          <p:spPr>
            <a:xfrm>
              <a:off x="4041502" y="1717849"/>
              <a:ext cx="4489996" cy="20724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0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Where Do They Agree?</a:t>
              </a:r>
              <a:endParaRPr lang="en-US" sz="1050" dirty="0"/>
            </a:p>
          </p:txBody>
        </p:sp>
      </p:grpSp>
      <p:sp>
        <p:nvSpPr>
          <p:cNvPr id="7" name="Text 4"/>
          <p:cNvSpPr/>
          <p:nvPr/>
        </p:nvSpPr>
        <p:spPr>
          <a:xfrm>
            <a:off x="4041502" y="1983507"/>
            <a:ext cx="4489996" cy="20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do your sources collectively confirm about AI in your domain?</a:t>
            </a:r>
            <a:endParaRPr lang="en-US" sz="105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A44805-E895-145D-BBA7-6A3C3F809487}"/>
              </a:ext>
            </a:extLst>
          </p:cNvPr>
          <p:cNvGrpSpPr/>
          <p:nvPr/>
        </p:nvGrpSpPr>
        <p:grpSpPr>
          <a:xfrm>
            <a:off x="3917379" y="2412206"/>
            <a:ext cx="4738241" cy="721147"/>
            <a:chOff x="3917379" y="2412206"/>
            <a:chExt cx="4738241" cy="721147"/>
          </a:xfrm>
        </p:grpSpPr>
        <p:sp>
          <p:nvSpPr>
            <p:cNvPr id="8" name="Shape 5"/>
            <p:cNvSpPr/>
            <p:nvPr/>
          </p:nvSpPr>
          <p:spPr>
            <a:xfrm>
              <a:off x="3917379" y="2412206"/>
              <a:ext cx="4738241" cy="721147"/>
            </a:xfrm>
            <a:prstGeom prst="roundRect">
              <a:avLst>
                <a:gd name="adj" fmla="val 2286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6"/>
            <p:cNvSpPr/>
            <p:nvPr/>
          </p:nvSpPr>
          <p:spPr>
            <a:xfrm>
              <a:off x="4041502" y="2536329"/>
              <a:ext cx="4489996" cy="20724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0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Where Do They Disagree?</a:t>
              </a:r>
              <a:endParaRPr lang="en-US" sz="1050" dirty="0"/>
            </a:p>
          </p:txBody>
        </p:sp>
      </p:grpSp>
      <p:sp>
        <p:nvSpPr>
          <p:cNvPr id="10" name="Text 7"/>
          <p:cNvSpPr/>
          <p:nvPr/>
        </p:nvSpPr>
        <p:spPr>
          <a:xfrm>
            <a:off x="4041502" y="2801987"/>
            <a:ext cx="4489996" cy="20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tensions or contradictions exist between sources?</a:t>
            </a:r>
            <a:endParaRPr lang="en-US" sz="10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6CAC356-00D2-5B00-9481-B46E7E802526}"/>
              </a:ext>
            </a:extLst>
          </p:cNvPr>
          <p:cNvGrpSpPr/>
          <p:nvPr/>
        </p:nvGrpSpPr>
        <p:grpSpPr>
          <a:xfrm>
            <a:off x="3917379" y="3230687"/>
            <a:ext cx="4738241" cy="721147"/>
            <a:chOff x="3917379" y="3230687"/>
            <a:chExt cx="4738241" cy="721147"/>
          </a:xfrm>
        </p:grpSpPr>
        <p:sp>
          <p:nvSpPr>
            <p:cNvPr id="11" name="Shape 8"/>
            <p:cNvSpPr/>
            <p:nvPr/>
          </p:nvSpPr>
          <p:spPr>
            <a:xfrm>
              <a:off x="3917379" y="3230687"/>
              <a:ext cx="4738241" cy="721147"/>
            </a:xfrm>
            <a:prstGeom prst="roundRect">
              <a:avLst>
                <a:gd name="adj" fmla="val 2286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9"/>
            <p:cNvSpPr/>
            <p:nvPr/>
          </p:nvSpPr>
          <p:spPr>
            <a:xfrm>
              <a:off x="4041502" y="3354809"/>
              <a:ext cx="4489996" cy="20724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0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Does Source A Say That Source B Doesn't?</a:t>
              </a:r>
              <a:endParaRPr lang="en-US" sz="1050" dirty="0"/>
            </a:p>
          </p:txBody>
        </p:sp>
      </p:grpSp>
      <p:sp>
        <p:nvSpPr>
          <p:cNvPr id="13" name="Text 10"/>
          <p:cNvSpPr/>
          <p:nvPr/>
        </p:nvSpPr>
        <p:spPr>
          <a:xfrm>
            <a:off x="4041502" y="3620467"/>
            <a:ext cx="4489996" cy="20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Unique contributions from individual sources that fill gaps</a:t>
            </a:r>
            <a:endParaRPr lang="en-US" sz="10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77D499A-43FD-7CC0-079E-910900119963}"/>
              </a:ext>
            </a:extLst>
          </p:cNvPr>
          <p:cNvGrpSpPr/>
          <p:nvPr/>
        </p:nvGrpSpPr>
        <p:grpSpPr>
          <a:xfrm>
            <a:off x="3917379" y="4049167"/>
            <a:ext cx="4738241" cy="721147"/>
            <a:chOff x="3917379" y="4049167"/>
            <a:chExt cx="4738241" cy="721147"/>
          </a:xfrm>
        </p:grpSpPr>
        <p:sp>
          <p:nvSpPr>
            <p:cNvPr id="14" name="Shape 11"/>
            <p:cNvSpPr/>
            <p:nvPr/>
          </p:nvSpPr>
          <p:spPr>
            <a:xfrm>
              <a:off x="3917379" y="4049167"/>
              <a:ext cx="4738241" cy="721147"/>
            </a:xfrm>
            <a:prstGeom prst="roundRect">
              <a:avLst>
                <a:gd name="adj" fmla="val 2286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2"/>
            <p:cNvSpPr/>
            <p:nvPr/>
          </p:nvSpPr>
          <p:spPr>
            <a:xfrm>
              <a:off x="4041502" y="4173289"/>
              <a:ext cx="4489996" cy="20724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0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Repeated Examples?</a:t>
              </a:r>
              <a:endParaRPr lang="en-US" sz="1050" dirty="0"/>
            </a:p>
          </p:txBody>
        </p:sp>
      </p:grpSp>
      <p:sp>
        <p:nvSpPr>
          <p:cNvPr id="16" name="Text 13"/>
          <p:cNvSpPr/>
          <p:nvPr/>
        </p:nvSpPr>
        <p:spPr>
          <a:xfrm>
            <a:off x="4041502" y="4438948"/>
            <a:ext cx="4489996" cy="20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do you see the same finding cited in multiple places?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3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73386"/>
            <a:ext cx="333114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Pattern to Watch For</a:t>
            </a:r>
            <a:endParaRPr lang="en-US" sz="2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3DB26E-E267-7ED0-F328-0BC6976D3DFE}"/>
              </a:ext>
            </a:extLst>
          </p:cNvPr>
          <p:cNvGrpSpPr/>
          <p:nvPr/>
        </p:nvGrpSpPr>
        <p:grpSpPr>
          <a:xfrm>
            <a:off x="496119" y="2008956"/>
            <a:ext cx="4013895" cy="818555"/>
            <a:chOff x="496119" y="2008956"/>
            <a:chExt cx="4013895" cy="818555"/>
          </a:xfrm>
        </p:grpSpPr>
        <p:sp>
          <p:nvSpPr>
            <p:cNvPr id="3" name="Shape 1"/>
            <p:cNvSpPr/>
            <p:nvPr/>
          </p:nvSpPr>
          <p:spPr>
            <a:xfrm>
              <a:off x="496119" y="2008956"/>
              <a:ext cx="4013895" cy="818555"/>
            </a:xfrm>
            <a:prstGeom prst="roundRect">
              <a:avLst>
                <a:gd name="adj" fmla="val 227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20092" y="2132930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AI Does</a:t>
              </a:r>
              <a:endParaRPr lang="en-US" sz="1200" dirty="0"/>
            </a:p>
          </p:txBody>
        </p:sp>
      </p:grpSp>
      <p:sp>
        <p:nvSpPr>
          <p:cNvPr id="5" name="Text 3"/>
          <p:cNvSpPr/>
          <p:nvPr/>
        </p:nvSpPr>
        <p:spPr>
          <a:xfrm>
            <a:off x="620092" y="2455441"/>
            <a:ext cx="376594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Sources that describe what AI does in this domain</a:t>
            </a:r>
            <a:endParaRPr lang="en-US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295CE15-4504-F0A2-6809-05843A3AD2DA}"/>
              </a:ext>
            </a:extLst>
          </p:cNvPr>
          <p:cNvGrpSpPr/>
          <p:nvPr/>
        </p:nvGrpSpPr>
        <p:grpSpPr>
          <a:xfrm>
            <a:off x="4633987" y="2008956"/>
            <a:ext cx="4013895" cy="818555"/>
            <a:chOff x="4633987" y="2008956"/>
            <a:chExt cx="4013895" cy="818555"/>
          </a:xfrm>
        </p:grpSpPr>
        <p:sp>
          <p:nvSpPr>
            <p:cNvPr id="6" name="Shape 4"/>
            <p:cNvSpPr/>
            <p:nvPr/>
          </p:nvSpPr>
          <p:spPr>
            <a:xfrm>
              <a:off x="4633987" y="2008956"/>
              <a:ext cx="4013895" cy="818555"/>
            </a:xfrm>
            <a:prstGeom prst="roundRect">
              <a:avLst>
                <a:gd name="adj" fmla="val 227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4757961" y="2132930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How Well It Works</a:t>
              </a:r>
              <a:endParaRPr lang="en-US" sz="120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4757961" y="2455441"/>
            <a:ext cx="376594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Sources that report on effectiveness and performance</a:t>
            </a:r>
            <a:endParaRPr lang="en-US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B292F57-08CB-9ED1-3260-AAF3132758FB}"/>
              </a:ext>
            </a:extLst>
          </p:cNvPr>
          <p:cNvGrpSpPr/>
          <p:nvPr/>
        </p:nvGrpSpPr>
        <p:grpSpPr>
          <a:xfrm>
            <a:off x="496119" y="2951485"/>
            <a:ext cx="4013895" cy="818555"/>
            <a:chOff x="496119" y="2951485"/>
            <a:chExt cx="4013895" cy="818555"/>
          </a:xfrm>
        </p:grpSpPr>
        <p:sp>
          <p:nvSpPr>
            <p:cNvPr id="9" name="Shape 7"/>
            <p:cNvSpPr/>
            <p:nvPr/>
          </p:nvSpPr>
          <p:spPr>
            <a:xfrm>
              <a:off x="496119" y="2951485"/>
              <a:ext cx="4013895" cy="818555"/>
            </a:xfrm>
            <a:prstGeom prst="roundRect">
              <a:avLst>
                <a:gd name="adj" fmla="val 227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620092" y="3075459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Concerns</a:t>
              </a:r>
              <a:endParaRPr lang="en-US" sz="12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620092" y="3397969"/>
            <a:ext cx="376594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Sources that raise issues about bias, safety, or ethics</a:t>
            </a:r>
            <a:endParaRPr lang="en-US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A373B2-5E31-138C-3157-CBE84F556C0B}"/>
              </a:ext>
            </a:extLst>
          </p:cNvPr>
          <p:cNvGrpSpPr/>
          <p:nvPr/>
        </p:nvGrpSpPr>
        <p:grpSpPr>
          <a:xfrm>
            <a:off x="4633987" y="2951485"/>
            <a:ext cx="4013895" cy="818555"/>
            <a:chOff x="4633987" y="2951485"/>
            <a:chExt cx="4013895" cy="818555"/>
          </a:xfrm>
        </p:grpSpPr>
        <p:sp>
          <p:nvSpPr>
            <p:cNvPr id="12" name="Shape 10"/>
            <p:cNvSpPr/>
            <p:nvPr/>
          </p:nvSpPr>
          <p:spPr>
            <a:xfrm>
              <a:off x="4633987" y="2951485"/>
              <a:ext cx="4013895" cy="818555"/>
            </a:xfrm>
            <a:prstGeom prst="roundRect">
              <a:avLst>
                <a:gd name="adj" fmla="val 227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1"/>
            <p:cNvSpPr/>
            <p:nvPr/>
          </p:nvSpPr>
          <p:spPr>
            <a:xfrm>
              <a:off x="4757961" y="3075459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Policy &amp; Regulation</a:t>
              </a:r>
              <a:endParaRPr lang="en-US" sz="12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4757961" y="3397969"/>
            <a:ext cx="376594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Sources that discuss governance and oversight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99530"/>
            <a:ext cx="391313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Hands-On Exploration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573113"/>
            <a:ext cx="4722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Now you do your hands-on exploration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06822" y="1960736"/>
            <a:ext cx="2338388" cy="2183160"/>
          </a:xfrm>
          <a:prstGeom prst="roundRect">
            <a:avLst>
              <a:gd name="adj" fmla="val 85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30796" y="2072357"/>
            <a:ext cx="209044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This 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796" y="2432075"/>
            <a:ext cx="2090440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learning activity. Its purpose is to give you firsthand experience with how AI works in your domain.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0796" y="3536082"/>
            <a:ext cx="209044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observations become part of your paper.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963242" y="2072357"/>
            <a:ext cx="226032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the Paper's Contribution Is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963242" y="2432075"/>
            <a:ext cx="2260327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investigation of how AI is being applied in your domain. The exploration </a:t>
            </a:r>
            <a:r>
              <a:rPr lang="en-US" sz="12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investigation.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963242" y="3536082"/>
            <a:ext cx="2260327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exploration is evidence. The investigation is the argument.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3634"/>
            <a:ext cx="385941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Setting Up the Exploration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39205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you start, write down what you're about to do. This becomes the basis for your Methodology section.</a:t>
            </a:r>
            <a:endParaRPr lang="en-US" sz="12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7089E4-7AE7-E373-C312-849EE6C07D96}"/>
              </a:ext>
            </a:extLst>
          </p:cNvPr>
          <p:cNvGrpSpPr/>
          <p:nvPr/>
        </p:nvGrpSpPr>
        <p:grpSpPr>
          <a:xfrm>
            <a:off x="496119" y="1526828"/>
            <a:ext cx="1944960" cy="1810792"/>
            <a:chOff x="496119" y="1526828"/>
            <a:chExt cx="1944960" cy="1810792"/>
          </a:xfrm>
        </p:grpSpPr>
        <p:sp>
          <p:nvSpPr>
            <p:cNvPr id="4" name="Shape 2"/>
            <p:cNvSpPr/>
            <p:nvPr/>
          </p:nvSpPr>
          <p:spPr>
            <a:xfrm>
              <a:off x="496119" y="1526828"/>
              <a:ext cx="1944960" cy="1810792"/>
            </a:xfrm>
            <a:prstGeom prst="roundRect">
              <a:avLst>
                <a:gd name="adj" fmla="val 102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1650802"/>
              <a:ext cx="372070" cy="372070"/>
            </a:xfrm>
            <a:prstGeom prst="rect">
              <a:avLst/>
            </a:prstGeom>
          </p:spPr>
        </p:pic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412" y="1753046"/>
              <a:ext cx="167432" cy="167432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620092" y="2146846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Which Tool</a:t>
              </a:r>
              <a:endParaRPr lang="en-US" sz="1200" dirty="0"/>
            </a:p>
          </p:txBody>
        </p:sp>
      </p:grpSp>
      <p:sp>
        <p:nvSpPr>
          <p:cNvPr id="8" name="Text 4"/>
          <p:cNvSpPr/>
          <p:nvPr/>
        </p:nvSpPr>
        <p:spPr>
          <a:xfrm>
            <a:off x="620092" y="2469356"/>
            <a:ext cx="169701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 the specific tool you're using</a:t>
            </a:r>
            <a:endParaRPr lang="en-US" sz="12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2174EEB-FE88-ED96-65A6-22A941C76D2E}"/>
              </a:ext>
            </a:extLst>
          </p:cNvPr>
          <p:cNvGrpSpPr/>
          <p:nvPr/>
        </p:nvGrpSpPr>
        <p:grpSpPr>
          <a:xfrm>
            <a:off x="2565053" y="1526828"/>
            <a:ext cx="1944960" cy="1810792"/>
            <a:chOff x="2565053" y="1526828"/>
            <a:chExt cx="1944960" cy="1810792"/>
          </a:xfrm>
        </p:grpSpPr>
        <p:sp>
          <p:nvSpPr>
            <p:cNvPr id="9" name="Shape 5"/>
            <p:cNvSpPr/>
            <p:nvPr/>
          </p:nvSpPr>
          <p:spPr>
            <a:xfrm>
              <a:off x="2565053" y="1526828"/>
              <a:ext cx="1944960" cy="1810792"/>
            </a:xfrm>
            <a:prstGeom prst="roundRect">
              <a:avLst>
                <a:gd name="adj" fmla="val 102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89027" y="1650802"/>
              <a:ext cx="372070" cy="372070"/>
            </a:xfrm>
            <a:prstGeom prst="rect">
              <a:avLst/>
            </a:prstGeom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E502C0A-6F2C-CA52-AB97-97082EFC13B0}"/>
                </a:ext>
              </a:extLst>
            </p:cNvPr>
            <p:cNvGrpSpPr/>
            <p:nvPr/>
          </p:nvGrpSpPr>
          <p:grpSpPr>
            <a:xfrm>
              <a:off x="2689027" y="1753046"/>
              <a:ext cx="1697013" cy="641896"/>
              <a:chOff x="2689027" y="1753046"/>
              <a:chExt cx="1697013" cy="641896"/>
            </a:xfrm>
          </p:grpSpPr>
          <p:sp>
            <p:nvSpPr>
              <p:cNvPr id="12" name="Text 6"/>
              <p:cNvSpPr/>
              <p:nvPr/>
            </p:nvSpPr>
            <p:spPr>
              <a:xfrm>
                <a:off x="2689027" y="2146846"/>
                <a:ext cx="1697013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What You'll Try</a:t>
                </a:r>
                <a:endParaRPr lang="en-US" sz="1200" dirty="0"/>
              </a:p>
            </p:txBody>
          </p:sp>
          <p:pic>
            <p:nvPicPr>
              <p:cNvPr id="11" name="Image 3" descr="preencoded.png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791346" y="1753046"/>
                <a:ext cx="167432" cy="167432"/>
              </a:xfrm>
              <a:prstGeom prst="rect">
                <a:avLst/>
              </a:prstGeom>
            </p:spPr>
          </p:pic>
        </p:grpSp>
      </p:grpSp>
      <p:sp>
        <p:nvSpPr>
          <p:cNvPr id="13" name="Text 7"/>
          <p:cNvSpPr/>
          <p:nvPr/>
        </p:nvSpPr>
        <p:spPr>
          <a:xfrm>
            <a:off x="2689027" y="2469356"/>
            <a:ext cx="169701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you're going to create or attempt</a:t>
            </a:r>
            <a:endParaRPr lang="en-US" sz="12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F9EBA59-6717-D777-A478-4C1630708FF4}"/>
              </a:ext>
            </a:extLst>
          </p:cNvPr>
          <p:cNvGrpSpPr/>
          <p:nvPr/>
        </p:nvGrpSpPr>
        <p:grpSpPr>
          <a:xfrm>
            <a:off x="4633987" y="1526828"/>
            <a:ext cx="1944960" cy="1810792"/>
            <a:chOff x="4633987" y="1526828"/>
            <a:chExt cx="1944960" cy="1810792"/>
          </a:xfrm>
        </p:grpSpPr>
        <p:sp>
          <p:nvSpPr>
            <p:cNvPr id="14" name="Shape 8"/>
            <p:cNvSpPr/>
            <p:nvPr/>
          </p:nvSpPr>
          <p:spPr>
            <a:xfrm>
              <a:off x="4633987" y="1526828"/>
              <a:ext cx="1944960" cy="1810792"/>
            </a:xfrm>
            <a:prstGeom prst="roundRect">
              <a:avLst>
                <a:gd name="adj" fmla="val 102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5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57961" y="1650802"/>
              <a:ext cx="372070" cy="372070"/>
            </a:xfrm>
            <a:prstGeom prst="rect">
              <a:avLst/>
            </a:prstGeom>
          </p:spPr>
        </p:pic>
        <p:pic>
          <p:nvPicPr>
            <p:cNvPr id="16" name="Image 5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60280" y="1753046"/>
              <a:ext cx="167432" cy="167432"/>
            </a:xfrm>
            <a:prstGeom prst="rect">
              <a:avLst/>
            </a:prstGeom>
          </p:spPr>
        </p:pic>
        <p:sp>
          <p:nvSpPr>
            <p:cNvPr id="17" name="Text 9"/>
            <p:cNvSpPr/>
            <p:nvPr/>
          </p:nvSpPr>
          <p:spPr>
            <a:xfrm>
              <a:off x="4757961" y="2146846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You Expect</a:t>
              </a:r>
              <a:endParaRPr lang="en-US" sz="1200" dirty="0"/>
            </a:p>
          </p:txBody>
        </p:sp>
      </p:grpSp>
      <p:sp>
        <p:nvSpPr>
          <p:cNvPr id="18" name="Text 10"/>
          <p:cNvSpPr/>
          <p:nvPr/>
        </p:nvSpPr>
        <p:spPr>
          <a:xfrm>
            <a:off x="4757961" y="2469356"/>
            <a:ext cx="169701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 predict will happen before you start</a:t>
            </a:r>
            <a:endParaRPr lang="en-US" sz="12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29214" y="1753046"/>
            <a:ext cx="167432" cy="16743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D248CFC3-B394-998A-FE65-6DA1A67CB5B1}"/>
              </a:ext>
            </a:extLst>
          </p:cNvPr>
          <p:cNvGrpSpPr/>
          <p:nvPr/>
        </p:nvGrpSpPr>
        <p:grpSpPr>
          <a:xfrm>
            <a:off x="6702921" y="1526828"/>
            <a:ext cx="1944960" cy="1810792"/>
            <a:chOff x="6702921" y="1526828"/>
            <a:chExt cx="1944960" cy="1810792"/>
          </a:xfrm>
        </p:grpSpPr>
        <p:sp>
          <p:nvSpPr>
            <p:cNvPr id="19" name="Shape 11"/>
            <p:cNvSpPr/>
            <p:nvPr/>
          </p:nvSpPr>
          <p:spPr>
            <a:xfrm>
              <a:off x="6702921" y="1526828"/>
              <a:ext cx="1944960" cy="1810792"/>
            </a:xfrm>
            <a:prstGeom prst="roundRect">
              <a:avLst>
                <a:gd name="adj" fmla="val 102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20" name="Image 6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826895" y="1650802"/>
              <a:ext cx="372070" cy="372070"/>
            </a:xfrm>
            <a:prstGeom prst="rect">
              <a:avLst/>
            </a:prstGeom>
          </p:spPr>
        </p:pic>
        <p:sp>
          <p:nvSpPr>
            <p:cNvPr id="22" name="Text 12"/>
            <p:cNvSpPr/>
            <p:nvPr/>
          </p:nvSpPr>
          <p:spPr>
            <a:xfrm>
              <a:off x="6826895" y="2146846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You're Watching</a:t>
              </a:r>
              <a:endParaRPr lang="en-US" sz="1200" dirty="0"/>
            </a:p>
          </p:txBody>
        </p:sp>
      </p:grpSp>
      <p:sp>
        <p:nvSpPr>
          <p:cNvPr id="23" name="Text 13"/>
          <p:cNvSpPr/>
          <p:nvPr/>
        </p:nvSpPr>
        <p:spPr>
          <a:xfrm>
            <a:off x="6826895" y="2469356"/>
            <a:ext cx="169701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you're paying attention to during the exploration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496119" y="3477146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443539A-01EC-ABA3-2D95-5E6D4245517E}"/>
              </a:ext>
            </a:extLst>
          </p:cNvPr>
          <p:cNvGrpSpPr/>
          <p:nvPr/>
        </p:nvGrpSpPr>
        <p:grpSpPr>
          <a:xfrm>
            <a:off x="496119" y="3815136"/>
            <a:ext cx="8151763" cy="496194"/>
            <a:chOff x="496119" y="3815136"/>
            <a:chExt cx="8151763" cy="496194"/>
          </a:xfrm>
        </p:grpSpPr>
        <p:sp>
          <p:nvSpPr>
            <p:cNvPr id="25" name="Shape 15"/>
            <p:cNvSpPr/>
            <p:nvPr/>
          </p:nvSpPr>
          <p:spPr>
            <a:xfrm>
              <a:off x="496119" y="3815136"/>
              <a:ext cx="8151763" cy="496194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26" name="Image 8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0092" y="4010620"/>
              <a:ext cx="193774" cy="155004"/>
            </a:xfrm>
            <a:prstGeom prst="rect">
              <a:avLst/>
            </a:prstGeom>
          </p:spPr>
        </p:pic>
        <p:sp>
          <p:nvSpPr>
            <p:cNvPr id="27" name="Text 16"/>
            <p:cNvSpPr/>
            <p:nvPr/>
          </p:nvSpPr>
          <p:spPr>
            <a:xfrm>
              <a:off x="937840" y="3970065"/>
              <a:ext cx="7586067" cy="3412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Documenting before you start is what separates a research exploration from playing around.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3" grpId="0" animBg="1"/>
      <p:bldP spid="18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0247"/>
            <a:ext cx="497197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While You Explore - Pay Attention</a:t>
            </a:r>
            <a:endParaRPr lang="en-US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8ABEE97-31EA-2364-2046-4BB642057B5B}"/>
              </a:ext>
            </a:extLst>
          </p:cNvPr>
          <p:cNvGrpSpPr/>
          <p:nvPr/>
        </p:nvGrpSpPr>
        <p:grpSpPr>
          <a:xfrm>
            <a:off x="496119" y="1775817"/>
            <a:ext cx="2634555" cy="524619"/>
            <a:chOff x="496119" y="1775817"/>
            <a:chExt cx="2634555" cy="524619"/>
          </a:xfrm>
        </p:grpSpPr>
        <p:sp>
          <p:nvSpPr>
            <p:cNvPr id="3" name="Shape 1"/>
            <p:cNvSpPr/>
            <p:nvPr/>
          </p:nvSpPr>
          <p:spPr>
            <a:xfrm>
              <a:off x="496119" y="1775817"/>
              <a:ext cx="2634555" cy="524619"/>
            </a:xfrm>
            <a:prstGeom prst="roundRect">
              <a:avLst>
                <a:gd name="adj" fmla="val 3547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34380" y="1914079"/>
              <a:ext cx="235803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does the tool do well?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9A64053-E7D2-188D-9840-2E209D753CB3}"/>
              </a:ext>
            </a:extLst>
          </p:cNvPr>
          <p:cNvGrpSpPr/>
          <p:nvPr/>
        </p:nvGrpSpPr>
        <p:grpSpPr>
          <a:xfrm>
            <a:off x="3254648" y="1775817"/>
            <a:ext cx="2634630" cy="524619"/>
            <a:chOff x="3254648" y="1775817"/>
            <a:chExt cx="2634630" cy="524619"/>
          </a:xfrm>
        </p:grpSpPr>
        <p:sp>
          <p:nvSpPr>
            <p:cNvPr id="5" name="Shape 3"/>
            <p:cNvSpPr/>
            <p:nvPr/>
          </p:nvSpPr>
          <p:spPr>
            <a:xfrm>
              <a:off x="3254648" y="1775817"/>
              <a:ext cx="2634630" cy="524619"/>
            </a:xfrm>
            <a:prstGeom prst="roundRect">
              <a:avLst>
                <a:gd name="adj" fmla="val 3547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4"/>
            <p:cNvSpPr/>
            <p:nvPr/>
          </p:nvSpPr>
          <p:spPr>
            <a:xfrm>
              <a:off x="3392909" y="1914079"/>
              <a:ext cx="235810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Where does it struggle or fail?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A25F6B1-EDCC-0582-06AC-D3636C439D3F}"/>
              </a:ext>
            </a:extLst>
          </p:cNvPr>
          <p:cNvGrpSpPr/>
          <p:nvPr/>
        </p:nvGrpSpPr>
        <p:grpSpPr>
          <a:xfrm>
            <a:off x="6013252" y="1775817"/>
            <a:ext cx="2634555" cy="524619"/>
            <a:chOff x="6013252" y="1775817"/>
            <a:chExt cx="2634555" cy="524619"/>
          </a:xfrm>
        </p:grpSpPr>
        <p:sp>
          <p:nvSpPr>
            <p:cNvPr id="7" name="Shape 5"/>
            <p:cNvSpPr/>
            <p:nvPr/>
          </p:nvSpPr>
          <p:spPr>
            <a:xfrm>
              <a:off x="6013252" y="1775817"/>
              <a:ext cx="2634555" cy="524619"/>
            </a:xfrm>
            <a:prstGeom prst="roundRect">
              <a:avLst>
                <a:gd name="adj" fmla="val 3547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6151513" y="1914079"/>
              <a:ext cx="235803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Does it surprise you in any way?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687A8F2-328C-ABC8-0792-677B38257F9C}"/>
              </a:ext>
            </a:extLst>
          </p:cNvPr>
          <p:cNvGrpSpPr/>
          <p:nvPr/>
        </p:nvGrpSpPr>
        <p:grpSpPr>
          <a:xfrm>
            <a:off x="496119" y="2424410"/>
            <a:ext cx="4013820" cy="524619"/>
            <a:chOff x="496119" y="2424410"/>
            <a:chExt cx="4013820" cy="524619"/>
          </a:xfrm>
        </p:grpSpPr>
        <p:sp>
          <p:nvSpPr>
            <p:cNvPr id="9" name="Shape 7"/>
            <p:cNvSpPr/>
            <p:nvPr/>
          </p:nvSpPr>
          <p:spPr>
            <a:xfrm>
              <a:off x="496119" y="2424410"/>
              <a:ext cx="4013820" cy="524619"/>
            </a:xfrm>
            <a:prstGeom prst="roundRect">
              <a:avLst>
                <a:gd name="adj" fmla="val 3547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34380" y="2562671"/>
              <a:ext cx="373729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Does it match what your sources said?</a:t>
              </a:r>
              <a:endParaRPr lang="en-US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7C09DEC-73EC-93CC-A922-471D97B5F781}"/>
              </a:ext>
            </a:extLst>
          </p:cNvPr>
          <p:cNvGrpSpPr/>
          <p:nvPr/>
        </p:nvGrpSpPr>
        <p:grpSpPr>
          <a:xfrm>
            <a:off x="4633913" y="2424410"/>
            <a:ext cx="4013895" cy="524619"/>
            <a:chOff x="4633913" y="2424410"/>
            <a:chExt cx="4013895" cy="524619"/>
          </a:xfrm>
        </p:grpSpPr>
        <p:sp>
          <p:nvSpPr>
            <p:cNvPr id="11" name="Shape 9"/>
            <p:cNvSpPr/>
            <p:nvPr/>
          </p:nvSpPr>
          <p:spPr>
            <a:xfrm>
              <a:off x="4633913" y="2424410"/>
              <a:ext cx="4013895" cy="524619"/>
            </a:xfrm>
            <a:prstGeom prst="roundRect">
              <a:avLst>
                <a:gd name="adj" fmla="val 3547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10"/>
            <p:cNvSpPr/>
            <p:nvPr/>
          </p:nvSpPr>
          <p:spPr>
            <a:xfrm>
              <a:off x="4772174" y="2562671"/>
              <a:ext cx="37373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Does it contradict anything you read?</a:t>
              </a:r>
              <a:endParaRPr lang="en-US" sz="1200" dirty="0"/>
            </a:p>
          </p:txBody>
        </p:sp>
      </p:grpSp>
      <p:sp>
        <p:nvSpPr>
          <p:cNvPr id="13" name="Text 11"/>
          <p:cNvSpPr/>
          <p:nvPr/>
        </p:nvSpPr>
        <p:spPr>
          <a:xfrm>
            <a:off x="496119" y="3088556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9CE97BC-845A-06ED-B897-B985202BF1F7}"/>
              </a:ext>
            </a:extLst>
          </p:cNvPr>
          <p:cNvGrpSpPr/>
          <p:nvPr/>
        </p:nvGrpSpPr>
        <p:grpSpPr>
          <a:xfrm>
            <a:off x="496119" y="3426544"/>
            <a:ext cx="8151763" cy="576635"/>
            <a:chOff x="496119" y="3426544"/>
            <a:chExt cx="8151763" cy="576635"/>
          </a:xfrm>
        </p:grpSpPr>
        <p:sp>
          <p:nvSpPr>
            <p:cNvPr id="14" name="Shape 12"/>
            <p:cNvSpPr/>
            <p:nvPr/>
          </p:nvSpPr>
          <p:spPr>
            <a:xfrm>
              <a:off x="496119" y="3426544"/>
              <a:ext cx="8151763" cy="576635"/>
            </a:xfrm>
            <a:prstGeom prst="roundRect">
              <a:avLst>
                <a:gd name="adj" fmla="val 322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622030"/>
              <a:ext cx="193774" cy="155004"/>
            </a:xfrm>
            <a:prstGeom prst="rect">
              <a:avLst/>
            </a:prstGeom>
          </p:spPr>
        </p:pic>
        <p:sp>
          <p:nvSpPr>
            <p:cNvPr id="16" name="Text 13"/>
            <p:cNvSpPr/>
            <p:nvPr/>
          </p:nvSpPr>
          <p:spPr>
            <a:xfrm>
              <a:off x="937840" y="3581474"/>
              <a:ext cx="758606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Take notes </a:t>
              </a: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as you go</a:t>
              </a: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- don't wait until the end to try to remember what happened.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0784"/>
            <a:ext cx="523495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Examples of Exploration in Practice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196355"/>
            <a:ext cx="8151763" cy="3386286"/>
          </a:xfrm>
          <a:prstGeom prst="roundRect">
            <a:avLst>
              <a:gd name="adj" fmla="val 54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24929" y="1280294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62833" y="1280294"/>
            <a:ext cx="300417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the student does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19713" y="1280294"/>
            <a:ext cx="2599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they pay attention 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929" y="1691506"/>
            <a:ext cx="178519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Food allergy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62833" y="1691506"/>
            <a:ext cx="300417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Sets up a Teachable Machine classifier with peanut and non-peanut food images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19713" y="1691506"/>
            <a:ext cx="2599432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it correctly identifies allergens; where it gets confused; whether confidence matches 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4929" y="2598911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Music education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62833" y="2598911"/>
            <a:ext cx="300417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ElevenLabs to generate the same sentence in five emotional tones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19713" y="2598911"/>
            <a:ext cx="2599432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Whether emotional tones are clearly different; what each tone changes about the voice; whether listeners can identify the intended emotion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929" y="3754413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Wildlife identification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62833" y="3754413"/>
            <a:ext cx="300417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iNaturalist to identify 15 photos of local plants and animals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19713" y="3754413"/>
            <a:ext cx="2599432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species it identifies confidently; which it gets wrong; how it handles unclear photos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7633"/>
            <a:ext cx="472819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Documenting Your Observations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01217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 the exploration, write down what you observed. Be specific - vague impressions won't help you write Results.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412" y="2015058"/>
            <a:ext cx="167432" cy="167432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AA6A30F1-5839-3F15-ED66-AF07D34FD143}"/>
              </a:ext>
            </a:extLst>
          </p:cNvPr>
          <p:cNvGrpSpPr/>
          <p:nvPr/>
        </p:nvGrpSpPr>
        <p:grpSpPr>
          <a:xfrm>
            <a:off x="496119" y="1788840"/>
            <a:ext cx="1944960" cy="1810792"/>
            <a:chOff x="496119" y="1788840"/>
            <a:chExt cx="1944960" cy="1810792"/>
          </a:xfrm>
        </p:grpSpPr>
        <p:sp>
          <p:nvSpPr>
            <p:cNvPr id="4" name="Shape 2"/>
            <p:cNvSpPr/>
            <p:nvPr/>
          </p:nvSpPr>
          <p:spPr>
            <a:xfrm>
              <a:off x="496119" y="1788840"/>
              <a:ext cx="1944960" cy="1810792"/>
            </a:xfrm>
            <a:prstGeom prst="roundRect">
              <a:avLst>
                <a:gd name="adj" fmla="val 102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0092" y="1912813"/>
              <a:ext cx="372070" cy="372070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620092" y="2408858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It Did Well</a:t>
              </a:r>
              <a:endParaRPr lang="en-US" sz="1200" dirty="0"/>
            </a:p>
          </p:txBody>
        </p:sp>
      </p:grpSp>
      <p:sp>
        <p:nvSpPr>
          <p:cNvPr id="8" name="Text 4"/>
          <p:cNvSpPr/>
          <p:nvPr/>
        </p:nvSpPr>
        <p:spPr>
          <a:xfrm>
            <a:off x="620092" y="2731368"/>
            <a:ext cx="169701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or two concrete examples of success</a:t>
            </a:r>
            <a:endParaRPr lang="en-US" sz="12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BE77478-F215-8CF2-DD7C-086415BF31BE}"/>
              </a:ext>
            </a:extLst>
          </p:cNvPr>
          <p:cNvGrpSpPr/>
          <p:nvPr/>
        </p:nvGrpSpPr>
        <p:grpSpPr>
          <a:xfrm>
            <a:off x="2565053" y="1788840"/>
            <a:ext cx="1944960" cy="1810792"/>
            <a:chOff x="2565053" y="1788840"/>
            <a:chExt cx="1944960" cy="1810792"/>
          </a:xfrm>
        </p:grpSpPr>
        <p:sp>
          <p:nvSpPr>
            <p:cNvPr id="9" name="Shape 5"/>
            <p:cNvSpPr/>
            <p:nvPr/>
          </p:nvSpPr>
          <p:spPr>
            <a:xfrm>
              <a:off x="2565053" y="1788840"/>
              <a:ext cx="1944960" cy="1810792"/>
            </a:xfrm>
            <a:prstGeom prst="roundRect">
              <a:avLst>
                <a:gd name="adj" fmla="val 102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89027" y="1912813"/>
              <a:ext cx="372070" cy="372070"/>
            </a:xfrm>
            <a:prstGeom prst="rect">
              <a:avLst/>
            </a:prstGeom>
          </p:spPr>
        </p:pic>
        <p:pic>
          <p:nvPicPr>
            <p:cNvPr id="11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791346" y="2015058"/>
              <a:ext cx="167432" cy="167432"/>
            </a:xfrm>
            <a:prstGeom prst="rect">
              <a:avLst/>
            </a:prstGeom>
          </p:spPr>
        </p:pic>
        <p:sp>
          <p:nvSpPr>
            <p:cNvPr id="12" name="Text 6"/>
            <p:cNvSpPr/>
            <p:nvPr/>
          </p:nvSpPr>
          <p:spPr>
            <a:xfrm>
              <a:off x="2689027" y="2408858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Where It Struggled</a:t>
              </a:r>
              <a:endParaRPr lang="en-US" sz="1200" dirty="0"/>
            </a:p>
          </p:txBody>
        </p:sp>
      </p:grpSp>
      <p:sp>
        <p:nvSpPr>
          <p:cNvPr id="13" name="Text 7"/>
          <p:cNvSpPr/>
          <p:nvPr/>
        </p:nvSpPr>
        <p:spPr>
          <a:xfrm>
            <a:off x="2689027" y="2731368"/>
            <a:ext cx="169701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or two concrete examples of failure or limitation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0280" y="2015058"/>
            <a:ext cx="167432" cy="16743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F9D328F8-CBF4-B0A6-AD22-84F16AB9F4B2}"/>
              </a:ext>
            </a:extLst>
          </p:cNvPr>
          <p:cNvGrpSpPr/>
          <p:nvPr/>
        </p:nvGrpSpPr>
        <p:grpSpPr>
          <a:xfrm>
            <a:off x="4633987" y="1788840"/>
            <a:ext cx="1944960" cy="1810792"/>
            <a:chOff x="4633987" y="1788840"/>
            <a:chExt cx="1944960" cy="1810792"/>
          </a:xfrm>
        </p:grpSpPr>
        <p:sp>
          <p:nvSpPr>
            <p:cNvPr id="14" name="Shape 8"/>
            <p:cNvSpPr/>
            <p:nvPr/>
          </p:nvSpPr>
          <p:spPr>
            <a:xfrm>
              <a:off x="4633987" y="1788840"/>
              <a:ext cx="1944960" cy="1810792"/>
            </a:xfrm>
            <a:prstGeom prst="roundRect">
              <a:avLst>
                <a:gd name="adj" fmla="val 102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5" name="Image 4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57961" y="1912813"/>
              <a:ext cx="372070" cy="372070"/>
            </a:xfrm>
            <a:prstGeom prst="rect">
              <a:avLst/>
            </a:prstGeom>
          </p:spPr>
        </p:pic>
        <p:sp>
          <p:nvSpPr>
            <p:cNvPr id="17" name="Text 9"/>
            <p:cNvSpPr/>
            <p:nvPr/>
          </p:nvSpPr>
          <p:spPr>
            <a:xfrm>
              <a:off x="4757961" y="2408858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Surprised You</a:t>
              </a:r>
              <a:endParaRPr lang="en-US" sz="1200" dirty="0"/>
            </a:p>
          </p:txBody>
        </p:sp>
      </p:grpSp>
      <p:sp>
        <p:nvSpPr>
          <p:cNvPr id="18" name="Text 10"/>
          <p:cNvSpPr/>
          <p:nvPr/>
        </p:nvSpPr>
        <p:spPr>
          <a:xfrm>
            <a:off x="4757961" y="2731368"/>
            <a:ext cx="169701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 specifically why it surprised you</a:t>
            </a:r>
            <a:endParaRPr lang="en-US" sz="12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5046329-F4ED-EB67-A9EE-5C0D25F35F09}"/>
              </a:ext>
            </a:extLst>
          </p:cNvPr>
          <p:cNvGrpSpPr/>
          <p:nvPr/>
        </p:nvGrpSpPr>
        <p:grpSpPr>
          <a:xfrm>
            <a:off x="6702921" y="1788840"/>
            <a:ext cx="1944960" cy="1810792"/>
            <a:chOff x="6702921" y="1788840"/>
            <a:chExt cx="1944960" cy="1810792"/>
          </a:xfrm>
        </p:grpSpPr>
        <p:sp>
          <p:nvSpPr>
            <p:cNvPr id="19" name="Shape 11"/>
            <p:cNvSpPr/>
            <p:nvPr/>
          </p:nvSpPr>
          <p:spPr>
            <a:xfrm>
              <a:off x="6702921" y="1788840"/>
              <a:ext cx="1944960" cy="1810792"/>
            </a:xfrm>
            <a:prstGeom prst="roundRect">
              <a:avLst>
                <a:gd name="adj" fmla="val 102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20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26895" y="1912813"/>
              <a:ext cx="372070" cy="372070"/>
            </a:xfrm>
            <a:prstGeom prst="rect">
              <a:avLst/>
            </a:prstGeom>
          </p:spPr>
        </p:pic>
        <p:pic>
          <p:nvPicPr>
            <p:cNvPr id="21" name="Image 7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929214" y="2015058"/>
              <a:ext cx="167432" cy="167432"/>
            </a:xfrm>
            <a:prstGeom prst="rect">
              <a:avLst/>
            </a:prstGeom>
          </p:spPr>
        </p:pic>
        <p:sp>
          <p:nvSpPr>
            <p:cNvPr id="22" name="Text 12"/>
            <p:cNvSpPr/>
            <p:nvPr/>
          </p:nvSpPr>
          <p:spPr>
            <a:xfrm>
              <a:off x="6826895" y="2408858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You Learned</a:t>
              </a:r>
              <a:endParaRPr lang="en-US" sz="1200" dirty="0"/>
            </a:p>
          </p:txBody>
        </p:sp>
      </p:grpSp>
      <p:sp>
        <p:nvSpPr>
          <p:cNvPr id="23" name="Text 13"/>
          <p:cNvSpPr/>
          <p:nvPr/>
        </p:nvSpPr>
        <p:spPr>
          <a:xfrm>
            <a:off x="6826895" y="2731368"/>
            <a:ext cx="169701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this taught you about AI in your domain</a:t>
            </a:r>
            <a:endParaRPr lang="en-US" sz="12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761D0EC-D4B2-ED75-F946-92B3AD252A24}"/>
              </a:ext>
            </a:extLst>
          </p:cNvPr>
          <p:cNvGrpSpPr/>
          <p:nvPr/>
        </p:nvGrpSpPr>
        <p:grpSpPr>
          <a:xfrm>
            <a:off x="496119" y="3739158"/>
            <a:ext cx="8151763" cy="576635"/>
            <a:chOff x="496119" y="3739158"/>
            <a:chExt cx="8151763" cy="576635"/>
          </a:xfrm>
        </p:grpSpPr>
        <p:sp>
          <p:nvSpPr>
            <p:cNvPr id="24" name="Shape 14"/>
            <p:cNvSpPr/>
            <p:nvPr/>
          </p:nvSpPr>
          <p:spPr>
            <a:xfrm>
              <a:off x="496119" y="3739158"/>
              <a:ext cx="8151763" cy="576635"/>
            </a:xfrm>
            <a:prstGeom prst="roundRect">
              <a:avLst>
                <a:gd name="adj" fmla="val 322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25" name="Image 8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0092" y="3934644"/>
              <a:ext cx="193774" cy="155004"/>
            </a:xfrm>
            <a:prstGeom prst="rect">
              <a:avLst/>
            </a:prstGeom>
          </p:spPr>
        </p:pic>
        <p:sp>
          <p:nvSpPr>
            <p:cNvPr id="26" name="Text 15"/>
            <p:cNvSpPr/>
            <p:nvPr/>
          </p:nvSpPr>
          <p:spPr>
            <a:xfrm>
              <a:off x="937840" y="3894088"/>
              <a:ext cx="758606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These observations become part of your Results and Bias &amp; Safety sections later.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3" grpId="0" animBg="1"/>
      <p:bldP spid="18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54608"/>
            <a:ext cx="320017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Drafting Methodology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128192"/>
            <a:ext cx="4722763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Methodology describes how you investigated your topic. You're not justifying engineering choices - you're documenting your investigation process so a reader can understand how you reached your findings.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5119" y="2260104"/>
            <a:ext cx="4722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219F6F-2CAF-9717-8AC3-28FEB1380A28}"/>
              </a:ext>
            </a:extLst>
          </p:cNvPr>
          <p:cNvGrpSpPr/>
          <p:nvPr/>
        </p:nvGrpSpPr>
        <p:grpSpPr>
          <a:xfrm>
            <a:off x="3925119" y="2647727"/>
            <a:ext cx="2299395" cy="1941091"/>
            <a:chOff x="3925119" y="2647727"/>
            <a:chExt cx="2299395" cy="1941091"/>
          </a:xfrm>
        </p:grpSpPr>
        <p:sp>
          <p:nvSpPr>
            <p:cNvPr id="6" name="Shape 3"/>
            <p:cNvSpPr/>
            <p:nvPr/>
          </p:nvSpPr>
          <p:spPr>
            <a:xfrm>
              <a:off x="3925119" y="2647727"/>
              <a:ext cx="2299395" cy="1941091"/>
            </a:xfrm>
            <a:prstGeom prst="roundRect">
              <a:avLst>
                <a:gd name="adj" fmla="val 959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4"/>
            <p:cNvSpPr/>
            <p:nvPr/>
          </p:nvSpPr>
          <p:spPr>
            <a:xfrm>
              <a:off x="4049092" y="2771701"/>
              <a:ext cx="20514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Literature Investigation</a:t>
              </a:r>
              <a:endParaRPr lang="en-US" sz="1200" dirty="0"/>
            </a:p>
          </p:txBody>
        </p:sp>
      </p:grpSp>
      <p:sp>
        <p:nvSpPr>
          <p:cNvPr id="8" name="Text 5"/>
          <p:cNvSpPr/>
          <p:nvPr/>
        </p:nvSpPr>
        <p:spPr>
          <a:xfrm>
            <a:off x="4049092" y="3094211"/>
            <a:ext cx="2175421" cy="137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sources you read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you found them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you verified them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you synthesized across them</a:t>
            </a:r>
            <a:endParaRPr lang="en-US" sz="1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DCBDF20-5683-CBE1-D48A-D2F61E656BE0}"/>
              </a:ext>
            </a:extLst>
          </p:cNvPr>
          <p:cNvGrpSpPr/>
          <p:nvPr/>
        </p:nvGrpSpPr>
        <p:grpSpPr>
          <a:xfrm>
            <a:off x="6348487" y="2647727"/>
            <a:ext cx="2299395" cy="1941091"/>
            <a:chOff x="6348487" y="2647727"/>
            <a:chExt cx="2299395" cy="1941091"/>
          </a:xfrm>
        </p:grpSpPr>
        <p:sp>
          <p:nvSpPr>
            <p:cNvPr id="9" name="Shape 6"/>
            <p:cNvSpPr/>
            <p:nvPr/>
          </p:nvSpPr>
          <p:spPr>
            <a:xfrm>
              <a:off x="6348487" y="2647727"/>
              <a:ext cx="2299395" cy="1941091"/>
            </a:xfrm>
            <a:prstGeom prst="roundRect">
              <a:avLst>
                <a:gd name="adj" fmla="val 959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7"/>
            <p:cNvSpPr/>
            <p:nvPr/>
          </p:nvSpPr>
          <p:spPr>
            <a:xfrm>
              <a:off x="6472461" y="2771701"/>
              <a:ext cx="20514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Hands-On Exploration</a:t>
              </a:r>
              <a:endParaRPr lang="en-US" sz="1200" dirty="0"/>
            </a:p>
          </p:txBody>
        </p:sp>
      </p:grpSp>
      <p:sp>
        <p:nvSpPr>
          <p:cNvPr id="11" name="Text 8"/>
          <p:cNvSpPr/>
          <p:nvPr/>
        </p:nvSpPr>
        <p:spPr>
          <a:xfrm>
            <a:off x="6472461" y="3094211"/>
            <a:ext cx="2051447" cy="137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tool you used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 set up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 tried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 paid attention to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02779"/>
            <a:ext cx="335629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Methodology 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38350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useful structure for your Methodology section</a:t>
            </a:r>
            <a:endParaRPr lang="en-US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9D4393-CB6F-7E4F-1DEA-85FFAED9CB49}"/>
              </a:ext>
            </a:extLst>
          </p:cNvPr>
          <p:cNvGrpSpPr/>
          <p:nvPr/>
        </p:nvGrpSpPr>
        <p:grpSpPr>
          <a:xfrm>
            <a:off x="496119" y="2425973"/>
            <a:ext cx="1944960" cy="1314748"/>
            <a:chOff x="496119" y="2425973"/>
            <a:chExt cx="1944960" cy="1314748"/>
          </a:xfrm>
        </p:grpSpPr>
        <p:sp>
          <p:nvSpPr>
            <p:cNvPr id="4" name="Shape 2"/>
            <p:cNvSpPr/>
            <p:nvPr/>
          </p:nvSpPr>
          <p:spPr>
            <a:xfrm>
              <a:off x="496119" y="2425973"/>
              <a:ext cx="1944960" cy="1314748"/>
            </a:xfrm>
            <a:prstGeom prst="roundRect">
              <a:avLst>
                <a:gd name="adj" fmla="val 1415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20092" y="2549947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Brief Restatement</a:t>
              </a:r>
              <a:endParaRPr lang="en-US" sz="12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620092" y="2872457"/>
            <a:ext cx="169701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 were investigating</a:t>
            </a:r>
            <a:endParaRPr lang="en-US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A5B1747-BF5C-926F-9EC9-331CD138925A}"/>
              </a:ext>
            </a:extLst>
          </p:cNvPr>
          <p:cNvGrpSpPr/>
          <p:nvPr/>
        </p:nvGrpSpPr>
        <p:grpSpPr>
          <a:xfrm>
            <a:off x="2565053" y="2425973"/>
            <a:ext cx="1944960" cy="1314748"/>
            <a:chOff x="2565053" y="2425973"/>
            <a:chExt cx="1944960" cy="1314748"/>
          </a:xfrm>
        </p:grpSpPr>
        <p:sp>
          <p:nvSpPr>
            <p:cNvPr id="7" name="Shape 5"/>
            <p:cNvSpPr/>
            <p:nvPr/>
          </p:nvSpPr>
          <p:spPr>
            <a:xfrm>
              <a:off x="2565053" y="2425973"/>
              <a:ext cx="1944960" cy="1314748"/>
            </a:xfrm>
            <a:prstGeom prst="roundRect">
              <a:avLst>
                <a:gd name="adj" fmla="val 1415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2689027" y="2549947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Literature Workflow</a:t>
              </a:r>
              <a:endParaRPr lang="en-US" sz="1200" dirty="0"/>
            </a:p>
          </p:txBody>
        </p:sp>
      </p:grpSp>
      <p:sp>
        <p:nvSpPr>
          <p:cNvPr id="9" name="Text 7"/>
          <p:cNvSpPr/>
          <p:nvPr/>
        </p:nvSpPr>
        <p:spPr>
          <a:xfrm>
            <a:off x="2689027" y="2872457"/>
            <a:ext cx="169701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Description of your literature research process</a:t>
            </a:r>
            <a:endParaRPr lang="en-US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BD69B90-A625-65EA-FD1A-A9848FA2F50F}"/>
              </a:ext>
            </a:extLst>
          </p:cNvPr>
          <p:cNvGrpSpPr/>
          <p:nvPr/>
        </p:nvGrpSpPr>
        <p:grpSpPr>
          <a:xfrm>
            <a:off x="4633987" y="2425973"/>
            <a:ext cx="1944960" cy="1314748"/>
            <a:chOff x="4633987" y="2425973"/>
            <a:chExt cx="1944960" cy="1314748"/>
          </a:xfrm>
        </p:grpSpPr>
        <p:sp>
          <p:nvSpPr>
            <p:cNvPr id="10" name="Shape 8"/>
            <p:cNvSpPr/>
            <p:nvPr/>
          </p:nvSpPr>
          <p:spPr>
            <a:xfrm>
              <a:off x="4633987" y="2425973"/>
              <a:ext cx="1944960" cy="1314748"/>
            </a:xfrm>
            <a:prstGeom prst="roundRect">
              <a:avLst>
                <a:gd name="adj" fmla="val 1415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4757961" y="2549947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Exploration Setup</a:t>
              </a:r>
              <a:endParaRPr lang="en-US" sz="12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4757961" y="2872457"/>
            <a:ext cx="169701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Description of your hands-on exploration</a:t>
            </a:r>
            <a:endParaRPr lang="en-US" sz="1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C13B9F-D77A-6C09-9598-ACD1A5F95C78}"/>
              </a:ext>
            </a:extLst>
          </p:cNvPr>
          <p:cNvGrpSpPr/>
          <p:nvPr/>
        </p:nvGrpSpPr>
        <p:grpSpPr>
          <a:xfrm>
            <a:off x="6702921" y="2425973"/>
            <a:ext cx="1944960" cy="1314748"/>
            <a:chOff x="6702921" y="2425973"/>
            <a:chExt cx="1944960" cy="1314748"/>
          </a:xfrm>
        </p:grpSpPr>
        <p:sp>
          <p:nvSpPr>
            <p:cNvPr id="13" name="Shape 11"/>
            <p:cNvSpPr/>
            <p:nvPr/>
          </p:nvSpPr>
          <p:spPr>
            <a:xfrm>
              <a:off x="6702921" y="2425973"/>
              <a:ext cx="1944960" cy="1314748"/>
            </a:xfrm>
            <a:prstGeom prst="roundRect">
              <a:avLst>
                <a:gd name="adj" fmla="val 1415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2"/>
            <p:cNvSpPr/>
            <p:nvPr/>
          </p:nvSpPr>
          <p:spPr>
            <a:xfrm>
              <a:off x="6826895" y="2549947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Synthesis Note</a:t>
              </a:r>
              <a:endParaRPr lang="en-US" sz="12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6826895" y="2872457"/>
            <a:ext cx="169701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you combined findings across both threads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6112"/>
            <a:ext cx="328471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Methodology Example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81683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Here's how a Methodology section might read for the food allergy management investigation: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469306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1856929"/>
            <a:ext cx="8151763" cy="173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"This investigation drew on two threads. For the literature thread, I identified five candidate sources through Perplexity searches on terms related to AI and food allergy management for children. I filtered for credibility using a five-point checklist, then verified content using NotebookLM. From these sources, I extracted findings about applications, effectiveness, and concerns. For the hands-on thread, I set up a small classifier using Teachable Machine, training it to distinguish images containing peanuts from images without peanuts. The exploration was meant to give me firsthand experience with image-based AI in this domain, not to test a hypothesis. I observed where the classifier worked well, where it struggled, and where its behavior matched or contradicted what the literature described."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3733130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A36BF3-6498-B0B1-8084-17A83C8B05C7}"/>
              </a:ext>
            </a:extLst>
          </p:cNvPr>
          <p:cNvGrpSpPr/>
          <p:nvPr/>
        </p:nvGrpSpPr>
        <p:grpSpPr>
          <a:xfrm>
            <a:off x="496119" y="4120753"/>
            <a:ext cx="8151763" cy="576635"/>
            <a:chOff x="496119" y="4120753"/>
            <a:chExt cx="8151763" cy="576635"/>
          </a:xfrm>
        </p:grpSpPr>
        <p:sp>
          <p:nvSpPr>
            <p:cNvPr id="7" name="Shape 5"/>
            <p:cNvSpPr/>
            <p:nvPr/>
          </p:nvSpPr>
          <p:spPr>
            <a:xfrm>
              <a:off x="496119" y="4120753"/>
              <a:ext cx="8151763" cy="576635"/>
            </a:xfrm>
            <a:prstGeom prst="roundRect">
              <a:avLst>
                <a:gd name="adj" fmla="val 322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4316239"/>
              <a:ext cx="193774" cy="155004"/>
            </a:xfrm>
            <a:prstGeom prst="rect">
              <a:avLst/>
            </a:prstGeom>
          </p:spPr>
        </p:pic>
        <p:sp>
          <p:nvSpPr>
            <p:cNvPr id="9" name="Text 6"/>
            <p:cNvSpPr/>
            <p:nvPr/>
          </p:nvSpPr>
          <p:spPr>
            <a:xfrm>
              <a:off x="937840" y="4275683"/>
              <a:ext cx="758606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This is one example, not a template you have to follow. </a:t>
              </a: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Use your own voice.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2065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Drafting Results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95648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 synthesizes the two threads of your investigation. This is where the literature and the exploration come together.</a:t>
            </a:r>
            <a:endParaRPr lang="en-US" sz="1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A65429C-BE55-822B-8BC1-AF0B58EE00E7}"/>
              </a:ext>
            </a:extLst>
          </p:cNvPr>
          <p:cNvGrpSpPr/>
          <p:nvPr/>
        </p:nvGrpSpPr>
        <p:grpSpPr>
          <a:xfrm>
            <a:off x="496119" y="2131368"/>
            <a:ext cx="4013895" cy="1066651"/>
            <a:chOff x="496119" y="2131368"/>
            <a:chExt cx="4013895" cy="1066651"/>
          </a:xfrm>
        </p:grpSpPr>
        <p:sp>
          <p:nvSpPr>
            <p:cNvPr id="4" name="Shape 2"/>
            <p:cNvSpPr/>
            <p:nvPr/>
          </p:nvSpPr>
          <p:spPr>
            <a:xfrm>
              <a:off x="496119" y="2131368"/>
              <a:ext cx="4013895" cy="1066651"/>
            </a:xfrm>
            <a:prstGeom prst="roundRect">
              <a:avLst>
                <a:gd name="adj" fmla="val 174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20092" y="2255341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From Literature</a:t>
              </a:r>
              <a:endParaRPr lang="en-US" sz="12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620092" y="2577852"/>
            <a:ext cx="3765947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your sources collectively show about AI in your domain</a:t>
            </a:r>
            <a:endParaRPr lang="en-US" sz="1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55F57D-FF39-51B5-1F64-949B5002C30D}"/>
              </a:ext>
            </a:extLst>
          </p:cNvPr>
          <p:cNvGrpSpPr/>
          <p:nvPr/>
        </p:nvGrpSpPr>
        <p:grpSpPr>
          <a:xfrm>
            <a:off x="4633987" y="2131368"/>
            <a:ext cx="4013895" cy="1066651"/>
            <a:chOff x="4633987" y="2131368"/>
            <a:chExt cx="4013895" cy="1066651"/>
          </a:xfrm>
        </p:grpSpPr>
        <p:sp>
          <p:nvSpPr>
            <p:cNvPr id="7" name="Shape 5"/>
            <p:cNvSpPr/>
            <p:nvPr/>
          </p:nvSpPr>
          <p:spPr>
            <a:xfrm>
              <a:off x="4633987" y="2131368"/>
              <a:ext cx="4013895" cy="1066651"/>
            </a:xfrm>
            <a:prstGeom prst="roundRect">
              <a:avLst>
                <a:gd name="adj" fmla="val 174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4757961" y="2255341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From Exploration</a:t>
              </a:r>
              <a:endParaRPr lang="en-US" sz="1200" dirty="0"/>
            </a:p>
          </p:txBody>
        </p:sp>
      </p:grpSp>
      <p:sp>
        <p:nvSpPr>
          <p:cNvPr id="9" name="Text 7"/>
          <p:cNvSpPr/>
          <p:nvPr/>
        </p:nvSpPr>
        <p:spPr>
          <a:xfrm>
            <a:off x="4757961" y="2577852"/>
            <a:ext cx="3765947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your hands-on work revealed about how the technology actually works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6119" y="3337545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119" y="3725168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do they agree? Where do they tension with each other? What does combining them reveal? These are the questions your Results section answers.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95896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Results Structure</a:t>
            </a:r>
            <a:endParaRPr lang="en-US" sz="2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412F8F-D355-BEDB-AB07-D21878467652}"/>
              </a:ext>
            </a:extLst>
          </p:cNvPr>
          <p:cNvGrpSpPr/>
          <p:nvPr/>
        </p:nvGrpSpPr>
        <p:grpSpPr>
          <a:xfrm>
            <a:off x="496119" y="2331467"/>
            <a:ext cx="2634555" cy="496044"/>
            <a:chOff x="496119" y="2331467"/>
            <a:chExt cx="2634555" cy="496044"/>
          </a:xfrm>
        </p:grpSpPr>
        <p:sp>
          <p:nvSpPr>
            <p:cNvPr id="3" name="Shape 1"/>
            <p:cNvSpPr/>
            <p:nvPr/>
          </p:nvSpPr>
          <p:spPr>
            <a:xfrm>
              <a:off x="496119" y="2331467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20092" y="2455441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Lead with the Headline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CD988E-EB5C-1423-AA45-9FAED3098E02}"/>
              </a:ext>
            </a:extLst>
          </p:cNvPr>
          <p:cNvGrpSpPr/>
          <p:nvPr/>
        </p:nvGrpSpPr>
        <p:grpSpPr>
          <a:xfrm>
            <a:off x="3254648" y="2331467"/>
            <a:ext cx="2634630" cy="496044"/>
            <a:chOff x="3254648" y="2331467"/>
            <a:chExt cx="2634630" cy="496044"/>
          </a:xfrm>
        </p:grpSpPr>
        <p:sp>
          <p:nvSpPr>
            <p:cNvPr id="5" name="Shape 3"/>
            <p:cNvSpPr/>
            <p:nvPr/>
          </p:nvSpPr>
          <p:spPr>
            <a:xfrm>
              <a:off x="3254648" y="2331467"/>
              <a:ext cx="263463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378622" y="2455441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Key Applications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3DD7390-15FA-7506-488F-C57168AA9E98}"/>
              </a:ext>
            </a:extLst>
          </p:cNvPr>
          <p:cNvGrpSpPr/>
          <p:nvPr/>
        </p:nvGrpSpPr>
        <p:grpSpPr>
          <a:xfrm>
            <a:off x="6013252" y="2331467"/>
            <a:ext cx="2634555" cy="496044"/>
            <a:chOff x="6013252" y="2331467"/>
            <a:chExt cx="2634555" cy="496044"/>
          </a:xfrm>
        </p:grpSpPr>
        <p:sp>
          <p:nvSpPr>
            <p:cNvPr id="7" name="Shape 5"/>
            <p:cNvSpPr/>
            <p:nvPr/>
          </p:nvSpPr>
          <p:spPr>
            <a:xfrm>
              <a:off x="6013252" y="2331467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6137225" y="2455441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Exploration Observations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6BB65C-9D9D-DAFC-B163-C3F260368550}"/>
              </a:ext>
            </a:extLst>
          </p:cNvPr>
          <p:cNvGrpSpPr/>
          <p:nvPr/>
        </p:nvGrpSpPr>
        <p:grpSpPr>
          <a:xfrm>
            <a:off x="496119" y="2951485"/>
            <a:ext cx="4013820" cy="496044"/>
            <a:chOff x="496119" y="2951485"/>
            <a:chExt cx="4013820" cy="496044"/>
          </a:xfrm>
        </p:grpSpPr>
        <p:sp>
          <p:nvSpPr>
            <p:cNvPr id="9" name="Shape 7"/>
            <p:cNvSpPr/>
            <p:nvPr/>
          </p:nvSpPr>
          <p:spPr>
            <a:xfrm>
              <a:off x="496119" y="2951485"/>
              <a:ext cx="401382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620092" y="3075459"/>
              <a:ext cx="37658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Confirmation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D6D703-1387-E760-6515-5737EF440FAA}"/>
              </a:ext>
            </a:extLst>
          </p:cNvPr>
          <p:cNvGrpSpPr/>
          <p:nvPr/>
        </p:nvGrpSpPr>
        <p:grpSpPr>
          <a:xfrm>
            <a:off x="4633913" y="2951485"/>
            <a:ext cx="4013895" cy="496044"/>
            <a:chOff x="4633913" y="2951485"/>
            <a:chExt cx="4013895" cy="496044"/>
          </a:xfrm>
        </p:grpSpPr>
        <p:sp>
          <p:nvSpPr>
            <p:cNvPr id="11" name="Shape 9"/>
            <p:cNvSpPr/>
            <p:nvPr/>
          </p:nvSpPr>
          <p:spPr>
            <a:xfrm>
              <a:off x="4633913" y="2951485"/>
              <a:ext cx="401389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10"/>
            <p:cNvSpPr/>
            <p:nvPr/>
          </p:nvSpPr>
          <p:spPr>
            <a:xfrm>
              <a:off x="4757886" y="3075459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New Discoveries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2798"/>
            <a:ext cx="377569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Quick Word on Honesty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26381"/>
            <a:ext cx="8151763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Honest research includes what didn't work.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496119" y="2782193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Don't shape your Results to make your hands-on exploration look more impressive than it was.</a:t>
            </a:r>
            <a:endParaRPr lang="en-US" sz="1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048313-153E-6585-4EBB-61B82F11ABFE}"/>
              </a:ext>
            </a:extLst>
          </p:cNvPr>
          <p:cNvGrpSpPr/>
          <p:nvPr/>
        </p:nvGrpSpPr>
        <p:grpSpPr>
          <a:xfrm>
            <a:off x="481831" y="3169816"/>
            <a:ext cx="2648843" cy="1020812"/>
            <a:chOff x="481831" y="3169816"/>
            <a:chExt cx="2648843" cy="1020812"/>
          </a:xfrm>
        </p:grpSpPr>
        <p:sp>
          <p:nvSpPr>
            <p:cNvPr id="5" name="Shape 3"/>
            <p:cNvSpPr/>
            <p:nvPr/>
          </p:nvSpPr>
          <p:spPr>
            <a:xfrm>
              <a:off x="496119" y="3169816"/>
              <a:ext cx="2634555" cy="1020812"/>
            </a:xfrm>
            <a:prstGeom prst="roundRect">
              <a:avLst>
                <a:gd name="adj" fmla="val 6718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1831" y="3169816"/>
              <a:ext cx="57150" cy="1020812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677242" y="3308077"/>
              <a:ext cx="2315170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If the tool worked imperfectly…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C2F9D2-55D0-6D0D-E8F9-93EC81123818}"/>
              </a:ext>
            </a:extLst>
          </p:cNvPr>
          <p:cNvGrpSpPr/>
          <p:nvPr/>
        </p:nvGrpSpPr>
        <p:grpSpPr>
          <a:xfrm>
            <a:off x="3240360" y="3169816"/>
            <a:ext cx="2648918" cy="1020812"/>
            <a:chOff x="3240360" y="3169816"/>
            <a:chExt cx="2648918" cy="1020812"/>
          </a:xfrm>
        </p:grpSpPr>
        <p:sp>
          <p:nvSpPr>
            <p:cNvPr id="8" name="Shape 5"/>
            <p:cNvSpPr/>
            <p:nvPr/>
          </p:nvSpPr>
          <p:spPr>
            <a:xfrm>
              <a:off x="3254648" y="3169816"/>
              <a:ext cx="2634630" cy="1020812"/>
            </a:xfrm>
            <a:prstGeom prst="roundRect">
              <a:avLst>
                <a:gd name="adj" fmla="val 6718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40360" y="3169816"/>
              <a:ext cx="57150" cy="1020812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3435772" y="3308077"/>
              <a:ext cx="2315245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If something surprised you because it was worse than expected…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65A4D85-076D-A0D4-969C-6001EC16856E}"/>
              </a:ext>
            </a:extLst>
          </p:cNvPr>
          <p:cNvGrpSpPr/>
          <p:nvPr/>
        </p:nvGrpSpPr>
        <p:grpSpPr>
          <a:xfrm>
            <a:off x="5998964" y="3169816"/>
            <a:ext cx="2648843" cy="1020812"/>
            <a:chOff x="5998964" y="3169816"/>
            <a:chExt cx="2648843" cy="1020812"/>
          </a:xfrm>
        </p:grpSpPr>
        <p:sp>
          <p:nvSpPr>
            <p:cNvPr id="11" name="Shape 7"/>
            <p:cNvSpPr/>
            <p:nvPr/>
          </p:nvSpPr>
          <p:spPr>
            <a:xfrm>
              <a:off x="6013252" y="3169816"/>
              <a:ext cx="2634555" cy="1020812"/>
            </a:xfrm>
            <a:prstGeom prst="roundRect">
              <a:avLst>
                <a:gd name="adj" fmla="val 6718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8964" y="3169816"/>
              <a:ext cx="57150" cy="1020812"/>
            </a:xfrm>
            <a:prstGeom prst="rect">
              <a:avLst/>
            </a:prstGeom>
          </p:spPr>
        </p:pic>
        <p:sp>
          <p:nvSpPr>
            <p:cNvPr id="13" name="Text 8"/>
            <p:cNvSpPr/>
            <p:nvPr/>
          </p:nvSpPr>
          <p:spPr>
            <a:xfrm>
              <a:off x="6194375" y="3308077"/>
              <a:ext cx="2315170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Where the most interesting observations come from…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30003"/>
            <a:ext cx="407848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Refining Your Related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65573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 reading your sources deeply today, look back at the Related Work draft you wrote in S22 homework. You're not rewriting from scratch - you're sharpening based on what your deeper reading revealed.</a:t>
            </a:r>
            <a:endParaRPr lang="en-US" sz="1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4BA5D4-A1F1-E99A-9EC3-98E575569779}"/>
              </a:ext>
            </a:extLst>
          </p:cNvPr>
          <p:cNvGrpSpPr/>
          <p:nvPr/>
        </p:nvGrpSpPr>
        <p:grpSpPr>
          <a:xfrm>
            <a:off x="496119" y="2601292"/>
            <a:ext cx="2634555" cy="496044"/>
            <a:chOff x="496119" y="2601292"/>
            <a:chExt cx="2634555" cy="496044"/>
          </a:xfrm>
        </p:grpSpPr>
        <p:sp>
          <p:nvSpPr>
            <p:cNvPr id="4" name="Shape 2"/>
            <p:cNvSpPr/>
            <p:nvPr/>
          </p:nvSpPr>
          <p:spPr>
            <a:xfrm>
              <a:off x="496119" y="2601292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20092" y="2725266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More Specific Findings?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C459F17-CD48-6376-CB35-11E28E116B04}"/>
              </a:ext>
            </a:extLst>
          </p:cNvPr>
          <p:cNvGrpSpPr/>
          <p:nvPr/>
        </p:nvGrpSpPr>
        <p:grpSpPr>
          <a:xfrm>
            <a:off x="3254648" y="2601292"/>
            <a:ext cx="2634630" cy="496044"/>
            <a:chOff x="3254648" y="2601292"/>
            <a:chExt cx="2634630" cy="496044"/>
          </a:xfrm>
        </p:grpSpPr>
        <p:sp>
          <p:nvSpPr>
            <p:cNvPr id="6" name="Shape 4"/>
            <p:cNvSpPr/>
            <p:nvPr/>
          </p:nvSpPr>
          <p:spPr>
            <a:xfrm>
              <a:off x="3254648" y="2601292"/>
              <a:ext cx="263463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3378622" y="2725266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Better Source Understanding?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2D4029D-BE26-62B8-32C8-3D37D729C4BE}"/>
              </a:ext>
            </a:extLst>
          </p:cNvPr>
          <p:cNvGrpSpPr/>
          <p:nvPr/>
        </p:nvGrpSpPr>
        <p:grpSpPr>
          <a:xfrm>
            <a:off x="6013252" y="2601292"/>
            <a:ext cx="2634555" cy="496044"/>
            <a:chOff x="6013252" y="2601292"/>
            <a:chExt cx="2634555" cy="496044"/>
          </a:xfrm>
        </p:grpSpPr>
        <p:sp>
          <p:nvSpPr>
            <p:cNvPr id="8" name="Shape 6"/>
            <p:cNvSpPr/>
            <p:nvPr/>
          </p:nvSpPr>
          <p:spPr>
            <a:xfrm>
              <a:off x="6013252" y="2601292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7"/>
            <p:cNvSpPr/>
            <p:nvPr/>
          </p:nvSpPr>
          <p:spPr>
            <a:xfrm>
              <a:off x="6137225" y="2725266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Still Synthesizing?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075BD94-98B2-6A6A-E880-65782340858E}"/>
              </a:ext>
            </a:extLst>
          </p:cNvPr>
          <p:cNvGrpSpPr/>
          <p:nvPr/>
        </p:nvGrpSpPr>
        <p:grpSpPr>
          <a:xfrm>
            <a:off x="496119" y="3236863"/>
            <a:ext cx="8151763" cy="576635"/>
            <a:chOff x="496119" y="3236863"/>
            <a:chExt cx="8151763" cy="576635"/>
          </a:xfrm>
        </p:grpSpPr>
        <p:sp>
          <p:nvSpPr>
            <p:cNvPr id="10" name="Shape 8"/>
            <p:cNvSpPr/>
            <p:nvPr/>
          </p:nvSpPr>
          <p:spPr>
            <a:xfrm>
              <a:off x="496119" y="3236863"/>
              <a:ext cx="8151763" cy="576635"/>
            </a:xfrm>
            <a:prstGeom prst="roundRect">
              <a:avLst>
                <a:gd name="adj" fmla="val 322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pic>
          <p:nvPicPr>
            <p:cNvPr id="11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432349"/>
              <a:ext cx="193774" cy="155004"/>
            </a:xfrm>
            <a:prstGeom prst="rect">
              <a:avLst/>
            </a:prstGeom>
          </p:spPr>
        </p:pic>
        <p:sp>
          <p:nvSpPr>
            <p:cNvPr id="12" name="Text 9"/>
            <p:cNvSpPr/>
            <p:nvPr/>
          </p:nvSpPr>
          <p:spPr>
            <a:xfrm>
              <a:off x="937840" y="3391793"/>
              <a:ext cx="758606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Spend a few minutes refining. Small improvements here make a big difference in the final paper.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7429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Production Block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51012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first major block of today is the literature deep read.</a:t>
            </a:r>
            <a:endParaRPr lang="en-US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027C3A-2DBB-77D4-A5A0-137CF1574B58}"/>
              </a:ext>
            </a:extLst>
          </p:cNvPr>
          <p:cNvGrpSpPr/>
          <p:nvPr/>
        </p:nvGrpSpPr>
        <p:grpSpPr>
          <a:xfrm>
            <a:off x="496119" y="1938635"/>
            <a:ext cx="4013895" cy="524619"/>
            <a:chOff x="496119" y="1938635"/>
            <a:chExt cx="4013895" cy="524619"/>
          </a:xfrm>
        </p:grpSpPr>
        <p:sp>
          <p:nvSpPr>
            <p:cNvPr id="4" name="Shape 2"/>
            <p:cNvSpPr/>
            <p:nvPr/>
          </p:nvSpPr>
          <p:spPr>
            <a:xfrm>
              <a:off x="496119" y="1938635"/>
              <a:ext cx="4013895" cy="524619"/>
            </a:xfrm>
            <a:prstGeom prst="roundRect">
              <a:avLst>
                <a:gd name="adj" fmla="val 3547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34380" y="2076896"/>
              <a:ext cx="37373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Read Each Source in NotebookLM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FC5F98-A8CF-F36B-AA2D-FD14821766CD}"/>
              </a:ext>
            </a:extLst>
          </p:cNvPr>
          <p:cNvGrpSpPr/>
          <p:nvPr/>
        </p:nvGrpSpPr>
        <p:grpSpPr>
          <a:xfrm>
            <a:off x="4633987" y="1938635"/>
            <a:ext cx="4013895" cy="524619"/>
            <a:chOff x="4633987" y="1938635"/>
            <a:chExt cx="4013895" cy="524619"/>
          </a:xfrm>
        </p:grpSpPr>
        <p:sp>
          <p:nvSpPr>
            <p:cNvPr id="6" name="Shape 4"/>
            <p:cNvSpPr/>
            <p:nvPr/>
          </p:nvSpPr>
          <p:spPr>
            <a:xfrm>
              <a:off x="4633987" y="1938635"/>
              <a:ext cx="4013895" cy="524619"/>
            </a:xfrm>
            <a:prstGeom prst="roundRect">
              <a:avLst>
                <a:gd name="adj" fmla="val 3547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772248" y="2076896"/>
              <a:ext cx="37373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Extract Specific Findings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48B51FC-455B-D8CA-3D4D-14F5D1517B90}"/>
              </a:ext>
            </a:extLst>
          </p:cNvPr>
          <p:cNvGrpSpPr/>
          <p:nvPr/>
        </p:nvGrpSpPr>
        <p:grpSpPr>
          <a:xfrm>
            <a:off x="496119" y="2587228"/>
            <a:ext cx="4013895" cy="524619"/>
            <a:chOff x="496119" y="2587228"/>
            <a:chExt cx="4013895" cy="524619"/>
          </a:xfrm>
        </p:grpSpPr>
        <p:sp>
          <p:nvSpPr>
            <p:cNvPr id="8" name="Shape 6"/>
            <p:cNvSpPr/>
            <p:nvPr/>
          </p:nvSpPr>
          <p:spPr>
            <a:xfrm>
              <a:off x="496119" y="2587228"/>
              <a:ext cx="4013895" cy="524619"/>
            </a:xfrm>
            <a:prstGeom prst="roundRect">
              <a:avLst>
                <a:gd name="adj" fmla="val 3547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7"/>
            <p:cNvSpPr/>
            <p:nvPr/>
          </p:nvSpPr>
          <p:spPr>
            <a:xfrm>
              <a:off x="634380" y="2725489"/>
              <a:ext cx="37373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Look for Patterns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35BCDE-3E4C-BAF9-5D86-4B2875B25456}"/>
              </a:ext>
            </a:extLst>
          </p:cNvPr>
          <p:cNvGrpSpPr/>
          <p:nvPr/>
        </p:nvGrpSpPr>
        <p:grpSpPr>
          <a:xfrm>
            <a:off x="4633987" y="2587228"/>
            <a:ext cx="4013895" cy="524619"/>
            <a:chOff x="4633987" y="2587228"/>
            <a:chExt cx="4013895" cy="524619"/>
          </a:xfrm>
        </p:grpSpPr>
        <p:sp>
          <p:nvSpPr>
            <p:cNvPr id="10" name="Shape 8"/>
            <p:cNvSpPr/>
            <p:nvPr/>
          </p:nvSpPr>
          <p:spPr>
            <a:xfrm>
              <a:off x="4633987" y="2587228"/>
              <a:ext cx="4013895" cy="524619"/>
            </a:xfrm>
            <a:prstGeom prst="roundRect">
              <a:avLst>
                <a:gd name="adj" fmla="val 3547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4772248" y="2725489"/>
              <a:ext cx="37373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Take Notes</a:t>
              </a:r>
              <a:endParaRPr lang="en-US" sz="12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496119" y="3251374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3CA1179-03AC-2B7D-FC5C-174C99D83AB5}"/>
              </a:ext>
            </a:extLst>
          </p:cNvPr>
          <p:cNvGrpSpPr/>
          <p:nvPr/>
        </p:nvGrpSpPr>
        <p:grpSpPr>
          <a:xfrm>
            <a:off x="496119" y="3589362"/>
            <a:ext cx="8151763" cy="576635"/>
            <a:chOff x="496119" y="3589362"/>
            <a:chExt cx="8151763" cy="576635"/>
          </a:xfrm>
        </p:grpSpPr>
        <p:sp>
          <p:nvSpPr>
            <p:cNvPr id="13" name="Shape 11"/>
            <p:cNvSpPr/>
            <p:nvPr/>
          </p:nvSpPr>
          <p:spPr>
            <a:xfrm>
              <a:off x="496119" y="3589362"/>
              <a:ext cx="8151763" cy="576635"/>
            </a:xfrm>
            <a:prstGeom prst="roundRect">
              <a:avLst>
                <a:gd name="adj" fmla="val 322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784848"/>
              <a:ext cx="193774" cy="155004"/>
            </a:xfrm>
            <a:prstGeom prst="rect">
              <a:avLst/>
            </a:prstGeom>
          </p:spPr>
        </p:pic>
        <p:sp>
          <p:nvSpPr>
            <p:cNvPr id="15" name="Text 12"/>
            <p:cNvSpPr/>
            <p:nvPr/>
          </p:nvSpPr>
          <p:spPr>
            <a:xfrm>
              <a:off x="937840" y="3744292"/>
              <a:ext cx="758606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Your mentor will check in at the midpoint and again at the end of this block.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844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Production Block B</a:t>
            </a:r>
            <a:endParaRPr lang="en-US" sz="2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D153B5-8968-6810-5DD5-C67A06BA4851}"/>
              </a:ext>
            </a:extLst>
          </p:cNvPr>
          <p:cNvGrpSpPr/>
          <p:nvPr/>
        </p:nvGrpSpPr>
        <p:grpSpPr>
          <a:xfrm>
            <a:off x="2053268" y="1199930"/>
            <a:ext cx="1426538" cy="643705"/>
            <a:chOff x="2053268" y="1199930"/>
            <a:chExt cx="1426538" cy="643705"/>
          </a:xfrm>
        </p:grpSpPr>
        <p:sp>
          <p:nvSpPr>
            <p:cNvPr id="4" name="Text 1"/>
            <p:cNvSpPr/>
            <p:nvPr/>
          </p:nvSpPr>
          <p:spPr>
            <a:xfrm>
              <a:off x="2526495" y="1199930"/>
              <a:ext cx="480085" cy="2351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350" b="1" dirty="0">
                  <a:solidFill>
                    <a:srgbClr val="15213F"/>
                  </a:solidFill>
                  <a:latin typeface="Roboto Slab Bold" pitchFamily="34" charset="0"/>
                  <a:ea typeface="Roboto Slab Bold" pitchFamily="34" charset="-122"/>
                  <a:cs typeface="Roboto Slab Bold" pitchFamily="34" charset="-120"/>
                </a:rPr>
                <a:t>Setup</a:t>
              </a:r>
              <a:endParaRPr lang="en-US" sz="135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2053268" y="1490920"/>
              <a:ext cx="1426538" cy="3527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1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Prepare tools and objectives</a:t>
              </a:r>
              <a:endParaRPr lang="en-US" sz="1100" dirty="0"/>
            </a:p>
          </p:txBody>
        </p:sp>
      </p:grp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2470" y="2207129"/>
            <a:ext cx="315974" cy="315974"/>
          </a:xfrm>
          <a:prstGeom prst="rect">
            <a:avLst/>
          </a:prstGeom>
        </p:spPr>
      </p:pic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055415"/>
            <a:ext cx="8151763" cy="366824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B3E042F-CAA4-6BAD-6396-2BB39A0DE6B4}"/>
              </a:ext>
            </a:extLst>
          </p:cNvPr>
          <p:cNvGrpSpPr/>
          <p:nvPr/>
        </p:nvGrpSpPr>
        <p:grpSpPr>
          <a:xfrm>
            <a:off x="3856036" y="3862932"/>
            <a:ext cx="1434377" cy="820063"/>
            <a:chOff x="3856036" y="3862932"/>
            <a:chExt cx="1434377" cy="820063"/>
          </a:xfrm>
        </p:grpSpPr>
        <p:sp>
          <p:nvSpPr>
            <p:cNvPr id="7" name="Text 3"/>
            <p:cNvSpPr/>
            <p:nvPr/>
          </p:nvSpPr>
          <p:spPr>
            <a:xfrm>
              <a:off x="4077953" y="3862932"/>
              <a:ext cx="990542" cy="2351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350" b="1" dirty="0">
                  <a:solidFill>
                    <a:srgbClr val="15213F"/>
                  </a:solidFill>
                  <a:latin typeface="Roboto Slab Bold" pitchFamily="34" charset="0"/>
                  <a:ea typeface="Roboto Slab Bold" pitchFamily="34" charset="-122"/>
                  <a:cs typeface="Roboto Slab Bold" pitchFamily="34" charset="-120"/>
                </a:rPr>
                <a:t>Exploration</a:t>
              </a:r>
              <a:endParaRPr lang="en-US" sz="135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3856036" y="4153922"/>
              <a:ext cx="1434377" cy="5290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1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Hands-on investigation with mentor</a:t>
              </a:r>
              <a:endParaRPr lang="en-US" sz="1100" dirty="0"/>
            </a:p>
          </p:txBody>
        </p:sp>
      </p:grp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5237" y="3359333"/>
            <a:ext cx="315974" cy="31597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D750499-EB9F-848D-49E5-77BC5BF7220C}"/>
              </a:ext>
            </a:extLst>
          </p:cNvPr>
          <p:cNvGrpSpPr/>
          <p:nvPr/>
        </p:nvGrpSpPr>
        <p:grpSpPr>
          <a:xfrm>
            <a:off x="5603938" y="1172497"/>
            <a:ext cx="1426539" cy="643706"/>
            <a:chOff x="5603938" y="1172497"/>
            <a:chExt cx="1426539" cy="643706"/>
          </a:xfrm>
        </p:grpSpPr>
        <p:sp>
          <p:nvSpPr>
            <p:cNvPr id="10" name="Text 5"/>
            <p:cNvSpPr/>
            <p:nvPr/>
          </p:nvSpPr>
          <p:spPr>
            <a:xfrm>
              <a:off x="5889172" y="1172497"/>
              <a:ext cx="856070" cy="2351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350" b="1" dirty="0">
                  <a:solidFill>
                    <a:srgbClr val="15213F"/>
                  </a:solidFill>
                  <a:latin typeface="Roboto Slab Bold" pitchFamily="34" charset="0"/>
                  <a:ea typeface="Roboto Slab Bold" pitchFamily="34" charset="-122"/>
                  <a:cs typeface="Roboto Slab Bold" pitchFamily="34" charset="-120"/>
                </a:rPr>
                <a:t>Document</a:t>
              </a:r>
              <a:endParaRPr lang="en-US" sz="1350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5603938" y="1463487"/>
              <a:ext cx="1426539" cy="3527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1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Capture observations and notes</a:t>
              </a:r>
              <a:endParaRPr lang="en-US" sz="1100" dirty="0"/>
            </a:p>
          </p:txBody>
        </p:sp>
      </p:grp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6653" y="2175776"/>
            <a:ext cx="315974" cy="3159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12106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Production Block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47676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final block is drafting Methodology and starting Results. Results doesn't have to be complete today - you'll expand it after your user testing in homework.</a:t>
            </a:r>
            <a:endParaRPr lang="en-US" sz="1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E051C91-372F-A8B2-9758-ABD10C74AF6D}"/>
              </a:ext>
            </a:extLst>
          </p:cNvPr>
          <p:cNvGrpSpPr/>
          <p:nvPr/>
        </p:nvGrpSpPr>
        <p:grpSpPr>
          <a:xfrm>
            <a:off x="496119" y="2283396"/>
            <a:ext cx="4013895" cy="744141"/>
            <a:chOff x="496119" y="2283396"/>
            <a:chExt cx="4013895" cy="744141"/>
          </a:xfrm>
        </p:grpSpPr>
        <p:sp>
          <p:nvSpPr>
            <p:cNvPr id="4" name="Shape 2"/>
            <p:cNvSpPr/>
            <p:nvPr/>
          </p:nvSpPr>
          <p:spPr>
            <a:xfrm>
              <a:off x="496119" y="2283396"/>
              <a:ext cx="4013895" cy="744141"/>
            </a:xfrm>
            <a:prstGeom prst="roundRect">
              <a:avLst>
                <a:gd name="adj" fmla="val 2500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20092" y="2407369"/>
              <a:ext cx="376594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Draft your 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Methodology section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- both literature and hands-on threads</a:t>
              </a:r>
              <a:endParaRPr lang="en-US" sz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05B828-42C9-742E-1F3D-7D1CBFA8DBED}"/>
              </a:ext>
            </a:extLst>
          </p:cNvPr>
          <p:cNvGrpSpPr/>
          <p:nvPr/>
        </p:nvGrpSpPr>
        <p:grpSpPr>
          <a:xfrm>
            <a:off x="4633987" y="2283396"/>
            <a:ext cx="4013895" cy="744141"/>
            <a:chOff x="4633987" y="2283396"/>
            <a:chExt cx="4013895" cy="744141"/>
          </a:xfrm>
        </p:grpSpPr>
        <p:sp>
          <p:nvSpPr>
            <p:cNvPr id="6" name="Shape 4"/>
            <p:cNvSpPr/>
            <p:nvPr/>
          </p:nvSpPr>
          <p:spPr>
            <a:xfrm>
              <a:off x="4633987" y="2283396"/>
              <a:ext cx="4013895" cy="744141"/>
            </a:xfrm>
            <a:prstGeom prst="roundRect">
              <a:avLst>
                <a:gd name="adj" fmla="val 2500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4757961" y="2407369"/>
              <a:ext cx="376594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Start your 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Results section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with what you have so far - headline finding and key observations</a:t>
              </a:r>
              <a:endParaRPr lang="en-US" sz="120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496119" y="3167063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6B417B-C22E-3768-DC73-40A892D246EB}"/>
              </a:ext>
            </a:extLst>
          </p:cNvPr>
          <p:cNvGrpSpPr/>
          <p:nvPr/>
        </p:nvGrpSpPr>
        <p:grpSpPr>
          <a:xfrm>
            <a:off x="496119" y="3554685"/>
            <a:ext cx="8151763" cy="576635"/>
            <a:chOff x="496119" y="3554685"/>
            <a:chExt cx="8151763" cy="576635"/>
          </a:xfrm>
        </p:grpSpPr>
        <p:sp>
          <p:nvSpPr>
            <p:cNvPr id="9" name="Shape 7"/>
            <p:cNvSpPr/>
            <p:nvPr/>
          </p:nvSpPr>
          <p:spPr>
            <a:xfrm>
              <a:off x="496119" y="3554685"/>
              <a:ext cx="8151763" cy="576635"/>
            </a:xfrm>
            <a:prstGeom prst="roundRect">
              <a:avLst>
                <a:gd name="adj" fmla="val 322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0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750171"/>
              <a:ext cx="193774" cy="155004"/>
            </a:xfrm>
            <a:prstGeom prst="rect">
              <a:avLst/>
            </a:prstGeom>
          </p:spPr>
        </p:pic>
        <p:sp>
          <p:nvSpPr>
            <p:cNvPr id="11" name="Text 8"/>
            <p:cNvSpPr/>
            <p:nvPr/>
          </p:nvSpPr>
          <p:spPr>
            <a:xfrm>
              <a:off x="937840" y="3709615"/>
              <a:ext cx="758606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Results doesn't have to be complete today. You'll expand it after your user testing in homework.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14375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Testing Plan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287959"/>
            <a:ext cx="4722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your homework, you'll do user testing - having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3-5 other people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interact with your hands-on exploration and giving you feedback.</a:t>
            </a:r>
            <a:endParaRPr lang="en-US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ABCC408-C71C-F372-108D-187CAD755A73}"/>
              </a:ext>
            </a:extLst>
          </p:cNvPr>
          <p:cNvGrpSpPr/>
          <p:nvPr/>
        </p:nvGrpSpPr>
        <p:grpSpPr>
          <a:xfrm>
            <a:off x="3925119" y="1923678"/>
            <a:ext cx="2299395" cy="1314748"/>
            <a:chOff x="3925119" y="1923678"/>
            <a:chExt cx="2299395" cy="1314748"/>
          </a:xfrm>
        </p:grpSpPr>
        <p:sp>
          <p:nvSpPr>
            <p:cNvPr id="5" name="Shape 2"/>
            <p:cNvSpPr/>
            <p:nvPr/>
          </p:nvSpPr>
          <p:spPr>
            <a:xfrm>
              <a:off x="3925119" y="1923678"/>
              <a:ext cx="2299395" cy="1314748"/>
            </a:xfrm>
            <a:prstGeom prst="roundRect">
              <a:avLst>
                <a:gd name="adj" fmla="val 1415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3"/>
            <p:cNvSpPr/>
            <p:nvPr/>
          </p:nvSpPr>
          <p:spPr>
            <a:xfrm>
              <a:off x="4049092" y="2047652"/>
              <a:ext cx="20514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Why It Matters</a:t>
              </a:r>
              <a:endParaRPr lang="en-US" sz="1200" dirty="0"/>
            </a:p>
          </p:txBody>
        </p:sp>
      </p:grpSp>
      <p:sp>
        <p:nvSpPr>
          <p:cNvPr id="7" name="Text 4"/>
          <p:cNvSpPr/>
          <p:nvPr/>
        </p:nvSpPr>
        <p:spPr>
          <a:xfrm>
            <a:off x="4049092" y="2370162"/>
            <a:ext cx="2051447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shows how the technology behaves with people other than you.</a:t>
            </a:r>
            <a:endParaRPr lang="en-US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1BECFC-1667-B9F2-C36F-8B42FB2122AB}"/>
              </a:ext>
            </a:extLst>
          </p:cNvPr>
          <p:cNvGrpSpPr/>
          <p:nvPr/>
        </p:nvGrpSpPr>
        <p:grpSpPr>
          <a:xfrm>
            <a:off x="6348487" y="1923678"/>
            <a:ext cx="2299395" cy="1314748"/>
            <a:chOff x="6348487" y="1923678"/>
            <a:chExt cx="2299395" cy="1314748"/>
          </a:xfrm>
        </p:grpSpPr>
        <p:sp>
          <p:nvSpPr>
            <p:cNvPr id="8" name="Shape 5"/>
            <p:cNvSpPr/>
            <p:nvPr/>
          </p:nvSpPr>
          <p:spPr>
            <a:xfrm>
              <a:off x="6348487" y="1923678"/>
              <a:ext cx="2299395" cy="1314748"/>
            </a:xfrm>
            <a:prstGeom prst="roundRect">
              <a:avLst>
                <a:gd name="adj" fmla="val 1415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6"/>
            <p:cNvSpPr/>
            <p:nvPr/>
          </p:nvSpPr>
          <p:spPr>
            <a:xfrm>
              <a:off x="6472461" y="2047652"/>
              <a:ext cx="20514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Who Are Your Testers?</a:t>
              </a:r>
              <a:endParaRPr lang="en-US" sz="1200" dirty="0"/>
            </a:p>
          </p:txBody>
        </p:sp>
      </p:grpSp>
      <p:sp>
        <p:nvSpPr>
          <p:cNvPr id="10" name="Text 7"/>
          <p:cNvSpPr/>
          <p:nvPr/>
        </p:nvSpPr>
        <p:spPr>
          <a:xfrm>
            <a:off x="6472461" y="2370162"/>
            <a:ext cx="2051447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3-5 people, ideally a mix of ages or backgrounds</a:t>
            </a:r>
            <a:endParaRPr lang="en-US" sz="1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EC4E81D-4455-AB94-3B2F-563B0B296695}"/>
              </a:ext>
            </a:extLst>
          </p:cNvPr>
          <p:cNvGrpSpPr/>
          <p:nvPr/>
        </p:nvGrpSpPr>
        <p:grpSpPr>
          <a:xfrm>
            <a:off x="3925119" y="3362399"/>
            <a:ext cx="2299395" cy="1066651"/>
            <a:chOff x="3925119" y="3362399"/>
            <a:chExt cx="2299395" cy="1066651"/>
          </a:xfrm>
        </p:grpSpPr>
        <p:sp>
          <p:nvSpPr>
            <p:cNvPr id="11" name="Shape 8"/>
            <p:cNvSpPr/>
            <p:nvPr/>
          </p:nvSpPr>
          <p:spPr>
            <a:xfrm>
              <a:off x="3925119" y="3362399"/>
              <a:ext cx="2299395" cy="1066651"/>
            </a:xfrm>
            <a:prstGeom prst="roundRect">
              <a:avLst>
                <a:gd name="adj" fmla="val 174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9"/>
            <p:cNvSpPr/>
            <p:nvPr/>
          </p:nvSpPr>
          <p:spPr>
            <a:xfrm>
              <a:off x="4049092" y="3486373"/>
              <a:ext cx="20514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Will They Try?</a:t>
              </a:r>
              <a:endParaRPr lang="en-US" sz="1200" dirty="0"/>
            </a:p>
          </p:txBody>
        </p:sp>
      </p:grpSp>
      <p:sp>
        <p:nvSpPr>
          <p:cNvPr id="13" name="Text 10"/>
          <p:cNvSpPr/>
          <p:nvPr/>
        </p:nvSpPr>
        <p:spPr>
          <a:xfrm>
            <a:off x="4049092" y="3808884"/>
            <a:ext cx="2051447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same exploration you did, or a version of it</a:t>
            </a:r>
            <a:endParaRPr lang="en-US" sz="12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4DA0FCF-C3E9-64C3-CD6A-42871C65F1A6}"/>
              </a:ext>
            </a:extLst>
          </p:cNvPr>
          <p:cNvGrpSpPr/>
          <p:nvPr/>
        </p:nvGrpSpPr>
        <p:grpSpPr>
          <a:xfrm>
            <a:off x="6348487" y="3362399"/>
            <a:ext cx="2299395" cy="1066651"/>
            <a:chOff x="6348487" y="3362399"/>
            <a:chExt cx="2299395" cy="1066651"/>
          </a:xfrm>
        </p:grpSpPr>
        <p:sp>
          <p:nvSpPr>
            <p:cNvPr id="14" name="Shape 11"/>
            <p:cNvSpPr/>
            <p:nvPr/>
          </p:nvSpPr>
          <p:spPr>
            <a:xfrm>
              <a:off x="6348487" y="3362399"/>
              <a:ext cx="2299395" cy="1066651"/>
            </a:xfrm>
            <a:prstGeom prst="roundRect">
              <a:avLst>
                <a:gd name="adj" fmla="val 174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2"/>
            <p:cNvSpPr/>
            <p:nvPr/>
          </p:nvSpPr>
          <p:spPr>
            <a:xfrm>
              <a:off x="6472461" y="3486373"/>
              <a:ext cx="20514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Will You Ask?</a:t>
              </a:r>
              <a:endParaRPr lang="en-US" sz="1200" dirty="0"/>
            </a:p>
          </p:txBody>
        </p:sp>
      </p:grpSp>
      <p:sp>
        <p:nvSpPr>
          <p:cNvPr id="16" name="Text 13"/>
          <p:cNvSpPr/>
          <p:nvPr/>
        </p:nvSpPr>
        <p:spPr>
          <a:xfrm>
            <a:off x="6472461" y="3808884"/>
            <a:ext cx="2051447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Specific questions that get honest, useful responses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25376"/>
            <a:ext cx="584805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Testing - What to Ask Your Testers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860947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Useful questions to ask your testers.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Don't lead them to answers.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Let them tell you what they noticed.</a:t>
            </a:r>
            <a:endParaRPr lang="en-US" sz="12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D50C214-555A-3430-96A2-3173BC3C63CF}"/>
              </a:ext>
            </a:extLst>
          </p:cNvPr>
          <p:cNvGrpSpPr/>
          <p:nvPr/>
        </p:nvGrpSpPr>
        <p:grpSpPr>
          <a:xfrm>
            <a:off x="435992" y="2188443"/>
            <a:ext cx="2754808" cy="1017091"/>
            <a:chOff x="435992" y="2188443"/>
            <a:chExt cx="2754808" cy="1017091"/>
          </a:xfrm>
        </p:grpSpPr>
        <p:sp>
          <p:nvSpPr>
            <p:cNvPr id="4" name="Shape 2"/>
            <p:cNvSpPr/>
            <p:nvPr/>
          </p:nvSpPr>
          <p:spPr>
            <a:xfrm>
              <a:off x="496119" y="2248570"/>
              <a:ext cx="2634555" cy="896838"/>
            </a:xfrm>
            <a:prstGeom prst="roundRect">
              <a:avLst>
                <a:gd name="adj" fmla="val 2075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992" y="2188443"/>
              <a:ext cx="148828" cy="148828"/>
            </a:xfrm>
            <a:prstGeom prst="rect">
              <a:avLst/>
            </a:prstGeom>
          </p:spPr>
        </p:pic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1972" y="3056706"/>
              <a:ext cx="148828" cy="148828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696441" y="2448892"/>
              <a:ext cx="2233910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"What did the tool seem to 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do well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?"</a:t>
              </a:r>
              <a:endParaRPr lang="en-US" sz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9235059-275A-462B-2F7B-C23FCB68DADF}"/>
              </a:ext>
            </a:extLst>
          </p:cNvPr>
          <p:cNvGrpSpPr/>
          <p:nvPr/>
        </p:nvGrpSpPr>
        <p:grpSpPr>
          <a:xfrm>
            <a:off x="3194521" y="2188443"/>
            <a:ext cx="2754883" cy="1017091"/>
            <a:chOff x="3194521" y="2188443"/>
            <a:chExt cx="2754883" cy="1017091"/>
          </a:xfrm>
        </p:grpSpPr>
        <p:sp>
          <p:nvSpPr>
            <p:cNvPr id="8" name="Shape 4"/>
            <p:cNvSpPr/>
            <p:nvPr/>
          </p:nvSpPr>
          <p:spPr>
            <a:xfrm>
              <a:off x="3254648" y="2248570"/>
              <a:ext cx="2634630" cy="896838"/>
            </a:xfrm>
            <a:prstGeom prst="roundRect">
              <a:avLst>
                <a:gd name="adj" fmla="val 2075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94521" y="2188443"/>
              <a:ext cx="148828" cy="148828"/>
            </a:xfrm>
            <a:prstGeom prst="rect">
              <a:avLst/>
            </a:prstGeom>
          </p:spPr>
        </p:pic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0576" y="3056706"/>
              <a:ext cx="148828" cy="148828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3454971" y="2448892"/>
              <a:ext cx="223398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"Where did it 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confuse you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?"</a:t>
              </a:r>
              <a:endParaRPr lang="en-US" sz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2887C83-DA6D-EFAF-6CDB-76137BEA092E}"/>
              </a:ext>
            </a:extLst>
          </p:cNvPr>
          <p:cNvGrpSpPr/>
          <p:nvPr/>
        </p:nvGrpSpPr>
        <p:grpSpPr>
          <a:xfrm>
            <a:off x="5953125" y="2188443"/>
            <a:ext cx="2754808" cy="1017091"/>
            <a:chOff x="5953125" y="2188443"/>
            <a:chExt cx="2754808" cy="1017091"/>
          </a:xfrm>
        </p:grpSpPr>
        <p:sp>
          <p:nvSpPr>
            <p:cNvPr id="12" name="Shape 6"/>
            <p:cNvSpPr/>
            <p:nvPr/>
          </p:nvSpPr>
          <p:spPr>
            <a:xfrm>
              <a:off x="6013252" y="2248570"/>
              <a:ext cx="2634555" cy="896838"/>
            </a:xfrm>
            <a:prstGeom prst="roundRect">
              <a:avLst>
                <a:gd name="adj" fmla="val 2075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710576A-DDF5-B1D2-1012-252A7A7CF5DE}"/>
                </a:ext>
              </a:extLst>
            </p:cNvPr>
            <p:cNvGrpSpPr/>
            <p:nvPr/>
          </p:nvGrpSpPr>
          <p:grpSpPr>
            <a:xfrm>
              <a:off x="5953125" y="2188443"/>
              <a:ext cx="2754808" cy="1017091"/>
              <a:chOff x="5953125" y="2188443"/>
              <a:chExt cx="2754808" cy="1017091"/>
            </a:xfrm>
          </p:grpSpPr>
          <p:pic>
            <p:nvPicPr>
              <p:cNvPr id="13" name="Image 4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53125" y="2188443"/>
                <a:ext cx="148828" cy="148828"/>
              </a:xfrm>
              <a:prstGeom prst="rect">
                <a:avLst/>
              </a:prstGeom>
            </p:spPr>
          </p:pic>
          <p:pic>
            <p:nvPicPr>
              <p:cNvPr id="14" name="Image 5" descr="preencod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59105" y="3056706"/>
                <a:ext cx="148828" cy="148828"/>
              </a:xfrm>
              <a:prstGeom prst="rect">
                <a:avLst/>
              </a:prstGeom>
            </p:spPr>
          </p:pic>
          <p:sp>
            <p:nvSpPr>
              <p:cNvPr id="15" name="Text 7"/>
              <p:cNvSpPr/>
              <p:nvPr/>
            </p:nvSpPr>
            <p:spPr>
              <a:xfrm>
                <a:off x="6213574" y="2448892"/>
                <a:ext cx="2233910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"Did anything </a:t>
                </a:r>
                <a:r>
                  <a:rPr lang="en-US" sz="120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surprise you</a:t>
                </a:r>
                <a:r>
                  <a:rPr lang="en-US" sz="120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?"</a:t>
                </a:r>
                <a:endParaRPr lang="en-US" sz="1200" dirty="0"/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01DD9C-8097-4B83-0495-62CFA612D35A}"/>
              </a:ext>
            </a:extLst>
          </p:cNvPr>
          <p:cNvGrpSpPr/>
          <p:nvPr/>
        </p:nvGrpSpPr>
        <p:grpSpPr>
          <a:xfrm>
            <a:off x="435992" y="3209255"/>
            <a:ext cx="4134073" cy="768995"/>
            <a:chOff x="435992" y="3209255"/>
            <a:chExt cx="4134073" cy="768995"/>
          </a:xfrm>
        </p:grpSpPr>
        <p:sp>
          <p:nvSpPr>
            <p:cNvPr id="16" name="Shape 8"/>
            <p:cNvSpPr/>
            <p:nvPr/>
          </p:nvSpPr>
          <p:spPr>
            <a:xfrm>
              <a:off x="496119" y="3269382"/>
              <a:ext cx="4013820" cy="648742"/>
            </a:xfrm>
            <a:prstGeom prst="roundRect">
              <a:avLst>
                <a:gd name="adj" fmla="val 2868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7" name="Image 6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992" y="3209255"/>
              <a:ext cx="148828" cy="148828"/>
            </a:xfrm>
            <a:prstGeom prst="rect">
              <a:avLst/>
            </a:prstGeom>
          </p:spPr>
        </p:pic>
        <p:pic>
          <p:nvPicPr>
            <p:cNvPr id="18" name="Image 7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21237" y="3829422"/>
              <a:ext cx="148828" cy="148828"/>
            </a:xfrm>
            <a:prstGeom prst="rect">
              <a:avLst/>
            </a:prstGeom>
          </p:spPr>
        </p:pic>
        <p:sp>
          <p:nvSpPr>
            <p:cNvPr id="19" name="Text 9"/>
            <p:cNvSpPr/>
            <p:nvPr/>
          </p:nvSpPr>
          <p:spPr>
            <a:xfrm>
              <a:off x="696441" y="3469704"/>
              <a:ext cx="361317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"Would you 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trust this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for [the domain's purpose]?"</a:t>
              </a:r>
              <a:endParaRPr lang="en-US" sz="12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04454C1-7BDE-F961-9239-43F1E4E24CE1}"/>
              </a:ext>
            </a:extLst>
          </p:cNvPr>
          <p:cNvGrpSpPr/>
          <p:nvPr/>
        </p:nvGrpSpPr>
        <p:grpSpPr>
          <a:xfrm>
            <a:off x="4573786" y="3209255"/>
            <a:ext cx="4134147" cy="768995"/>
            <a:chOff x="4573786" y="3209255"/>
            <a:chExt cx="4134147" cy="768995"/>
          </a:xfrm>
        </p:grpSpPr>
        <p:sp>
          <p:nvSpPr>
            <p:cNvPr id="20" name="Shape 10"/>
            <p:cNvSpPr/>
            <p:nvPr/>
          </p:nvSpPr>
          <p:spPr>
            <a:xfrm>
              <a:off x="4633913" y="3269382"/>
              <a:ext cx="4013895" cy="648742"/>
            </a:xfrm>
            <a:prstGeom prst="roundRect">
              <a:avLst>
                <a:gd name="adj" fmla="val 2868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21" name="Image 8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3786" y="3209255"/>
              <a:ext cx="148828" cy="148828"/>
            </a:xfrm>
            <a:prstGeom prst="rect">
              <a:avLst/>
            </a:prstGeom>
          </p:spPr>
        </p:pic>
        <p:pic>
          <p:nvPicPr>
            <p:cNvPr id="22" name="Image 9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59105" y="3829422"/>
              <a:ext cx="148828" cy="148828"/>
            </a:xfrm>
            <a:prstGeom prst="rect">
              <a:avLst/>
            </a:prstGeom>
          </p:spPr>
        </p:pic>
        <p:sp>
          <p:nvSpPr>
            <p:cNvPr id="23" name="Text 11"/>
            <p:cNvSpPr/>
            <p:nvPr/>
          </p:nvSpPr>
          <p:spPr>
            <a:xfrm>
              <a:off x="4834235" y="3469704"/>
              <a:ext cx="3613249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"What would make you 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trust it more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?"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32247"/>
            <a:ext cx="389907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Documenting User Testing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67818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each tester, write down the following. This documentation becomes part of your expanded Results section.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455441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8A42DA5-DBB1-2323-B734-712BA4810792}"/>
              </a:ext>
            </a:extLst>
          </p:cNvPr>
          <p:cNvGrpSpPr/>
          <p:nvPr/>
        </p:nvGrpSpPr>
        <p:grpSpPr>
          <a:xfrm>
            <a:off x="496119" y="2843064"/>
            <a:ext cx="3998341" cy="310083"/>
            <a:chOff x="496119" y="2843064"/>
            <a:chExt cx="3998341" cy="310083"/>
          </a:xfrm>
        </p:grpSpPr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119" y="2843064"/>
              <a:ext cx="310083" cy="310083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961206" y="2843064"/>
              <a:ext cx="3533254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Who They Are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FC5816-4F8D-53A0-81A7-78CD06C2CEFF}"/>
              </a:ext>
            </a:extLst>
          </p:cNvPr>
          <p:cNvGrpSpPr/>
          <p:nvPr/>
        </p:nvGrpSpPr>
        <p:grpSpPr>
          <a:xfrm>
            <a:off x="4649465" y="2843064"/>
            <a:ext cx="3998417" cy="310083"/>
            <a:chOff x="4649465" y="2843064"/>
            <a:chExt cx="3998417" cy="310083"/>
          </a:xfrm>
        </p:grpSpPr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49465" y="2843064"/>
              <a:ext cx="310083" cy="310083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5114553" y="2843064"/>
              <a:ext cx="3533329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They Tried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F64A21-F30B-A24E-E0CA-F10594FFB9C7}"/>
              </a:ext>
            </a:extLst>
          </p:cNvPr>
          <p:cNvGrpSpPr/>
          <p:nvPr/>
        </p:nvGrpSpPr>
        <p:grpSpPr>
          <a:xfrm>
            <a:off x="496119" y="3401169"/>
            <a:ext cx="3998341" cy="310083"/>
            <a:chOff x="496119" y="3401169"/>
            <a:chExt cx="3998341" cy="310083"/>
          </a:xfrm>
        </p:grpSpPr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6119" y="3401169"/>
              <a:ext cx="310083" cy="310083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961206" y="3401169"/>
              <a:ext cx="3533254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Their Reactions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2FFFE-2619-B12A-2D2F-4D7E72CD3B5D}"/>
              </a:ext>
            </a:extLst>
          </p:cNvPr>
          <p:cNvGrpSpPr/>
          <p:nvPr/>
        </p:nvGrpSpPr>
        <p:grpSpPr>
          <a:xfrm>
            <a:off x="4649465" y="3401169"/>
            <a:ext cx="3998417" cy="310083"/>
            <a:chOff x="4649465" y="3401169"/>
            <a:chExt cx="3998417" cy="310083"/>
          </a:xfrm>
        </p:grpSpPr>
        <p:pic>
          <p:nvPicPr>
            <p:cNvPr id="11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49465" y="3401169"/>
              <a:ext cx="310083" cy="310083"/>
            </a:xfrm>
            <a:prstGeom prst="rect">
              <a:avLst/>
            </a:prstGeom>
          </p:spPr>
        </p:pic>
        <p:sp>
          <p:nvSpPr>
            <p:cNvPr id="12" name="Text 6"/>
            <p:cNvSpPr/>
            <p:nvPr/>
          </p:nvSpPr>
          <p:spPr>
            <a:xfrm>
              <a:off x="5114553" y="3401169"/>
              <a:ext cx="3533329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Patterns Across Testers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1665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Outputs Checklist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97236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the end of today's session, you should be able to check off every item below: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6119" y="2131293"/>
            <a:ext cx="155004" cy="155004"/>
          </a:xfrm>
          <a:prstGeom prst="roundRect">
            <a:avLst>
              <a:gd name="adj" fmla="val 15005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96119" y="2422773"/>
            <a:ext cx="155004" cy="155004"/>
          </a:xfrm>
          <a:prstGeom prst="roundRect">
            <a:avLst>
              <a:gd name="adj" fmla="val 15005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6119" y="2714253"/>
            <a:ext cx="155004" cy="155004"/>
          </a:xfrm>
          <a:prstGeom prst="roundRect">
            <a:avLst>
              <a:gd name="adj" fmla="val 15005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96119" y="3005733"/>
            <a:ext cx="155004" cy="155004"/>
          </a:xfrm>
          <a:prstGeom prst="roundRect">
            <a:avLst>
              <a:gd name="adj" fmla="val 15005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96119" y="3297213"/>
            <a:ext cx="155004" cy="155004"/>
          </a:xfrm>
          <a:prstGeom prst="roundRect">
            <a:avLst>
              <a:gd name="adj" fmla="val 15005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96119" y="3588693"/>
            <a:ext cx="155004" cy="155004"/>
          </a:xfrm>
          <a:prstGeom prst="roundRect">
            <a:avLst>
              <a:gd name="adj" fmla="val 15005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9836782-36AA-3A8A-D3DD-496C106CB40C}"/>
              </a:ext>
            </a:extLst>
          </p:cNvPr>
          <p:cNvGrpSpPr/>
          <p:nvPr/>
        </p:nvGrpSpPr>
        <p:grpSpPr>
          <a:xfrm>
            <a:off x="496119" y="2084859"/>
            <a:ext cx="8151763" cy="1996975"/>
            <a:chOff x="496119" y="2084859"/>
            <a:chExt cx="8151763" cy="1996975"/>
          </a:xfrm>
        </p:grpSpPr>
        <p:sp>
          <p:nvSpPr>
            <p:cNvPr id="4" name="Text 2"/>
            <p:cNvSpPr/>
            <p:nvPr/>
          </p:nvSpPr>
          <p:spPr>
            <a:xfrm>
              <a:off x="496119" y="2084859"/>
              <a:ext cx="815176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550"/>
                </a:lnSpc>
                <a:buSzPct val="100000"/>
                <a:buChar char="​"/>
              </a:pPr>
              <a:r>
                <a:rPr lang="en-US" sz="11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Sources read deeply with specific findings extracted</a:t>
              </a:r>
              <a:endParaRPr lang="en-US" sz="11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496119" y="2376339"/>
              <a:ext cx="815176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550"/>
                </a:lnSpc>
                <a:buSzPct val="100000"/>
                <a:buChar char="​"/>
              </a:pPr>
              <a:r>
                <a:rPr lang="en-US" sz="11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Hands-on exploration completed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96119" y="2667819"/>
              <a:ext cx="815176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550"/>
                </a:lnSpc>
                <a:buSzPct val="100000"/>
                <a:buChar char="​"/>
              </a:pPr>
              <a:r>
                <a:rPr lang="en-US" sz="11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Observations documented</a:t>
              </a:r>
              <a:endParaRPr lang="en-US" sz="11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96119" y="2959298"/>
              <a:ext cx="815176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550"/>
                </a:lnSpc>
                <a:buSzPct val="100000"/>
                <a:buChar char="​"/>
              </a:pPr>
              <a:r>
                <a:rPr lang="en-US" sz="11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Methodology section drafted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96119" y="3250778"/>
              <a:ext cx="815176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550"/>
                </a:lnSpc>
                <a:buSzPct val="100000"/>
                <a:buChar char="​"/>
              </a:pPr>
              <a:r>
                <a:rPr lang="en-US" sz="11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Results section started</a:t>
              </a:r>
              <a:endParaRPr lang="en-US" sz="11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96119" y="3542258"/>
              <a:ext cx="815176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550"/>
                </a:lnSpc>
                <a:buSzPct val="100000"/>
                <a:buChar char="​"/>
              </a:pPr>
              <a:r>
                <a:rPr lang="en-US" sz="11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Related Work refined</a:t>
              </a:r>
              <a:endParaRPr lang="en-US" sz="11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96119" y="3833738"/>
              <a:ext cx="815176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550"/>
                </a:lnSpc>
                <a:buSzPct val="100000"/>
                <a:buChar char="​"/>
              </a:pPr>
              <a:r>
                <a:rPr lang="en-US" sz="11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User testing plan committed (3-5 testers, what they'll try, what you'll ask)</a:t>
              </a:r>
              <a:endParaRPr lang="en-US" sz="1100" dirty="0"/>
            </a:p>
          </p:txBody>
        </p:sp>
      </p:grpSp>
      <p:sp>
        <p:nvSpPr>
          <p:cNvPr id="17" name="Shape 15"/>
          <p:cNvSpPr/>
          <p:nvPr/>
        </p:nvSpPr>
        <p:spPr>
          <a:xfrm>
            <a:off x="496119" y="3880172"/>
            <a:ext cx="155004" cy="155004"/>
          </a:xfrm>
          <a:prstGeom prst="roundRect">
            <a:avLst>
              <a:gd name="adj" fmla="val 15005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35348"/>
            <a:ext cx="310135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Homework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870918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Homework is focused on user testing and expanding Results.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258541"/>
            <a:ext cx="8151763" cy="1649611"/>
          </a:xfrm>
          <a:prstGeom prst="roundRect">
            <a:avLst>
              <a:gd name="adj" fmla="val 112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855" y="2342480"/>
            <a:ext cx="78942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55" y="2753692"/>
            <a:ext cx="78942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testing with 3–5 testers; document observations from each tester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55" y="3164904"/>
            <a:ext cx="78942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 Results section with testing observations (~150–250 words by grade)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4855" y="3576117"/>
            <a:ext cx="78942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 3 surprises or unexpected findings - these inform the Bias &amp; Safety analysis next session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8174"/>
            <a:ext cx="361503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What's Next - Session 24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43745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9472A8E-B4EC-C162-2C19-054BAC6FD1BB}"/>
              </a:ext>
            </a:extLst>
          </p:cNvPr>
          <p:cNvGrpSpPr/>
          <p:nvPr/>
        </p:nvGrpSpPr>
        <p:grpSpPr>
          <a:xfrm>
            <a:off x="406822" y="2081733"/>
            <a:ext cx="4103191" cy="1953592"/>
            <a:chOff x="406822" y="2081733"/>
            <a:chExt cx="4103191" cy="1953592"/>
          </a:xfrm>
        </p:grpSpPr>
        <p:sp>
          <p:nvSpPr>
            <p:cNvPr id="4" name="Shape 2"/>
            <p:cNvSpPr/>
            <p:nvPr/>
          </p:nvSpPr>
          <p:spPr>
            <a:xfrm>
              <a:off x="406822" y="2081733"/>
              <a:ext cx="4103191" cy="1953592"/>
            </a:xfrm>
            <a:prstGeom prst="roundRect">
              <a:avLst>
                <a:gd name="adj" fmla="val 952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530796" y="2193354"/>
              <a:ext cx="3855244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Bring to Session 24</a:t>
              </a:r>
              <a:endParaRPr lang="en-US" sz="12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530796" y="2553072"/>
            <a:ext cx="3855244" cy="1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refined Related Work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Methodology section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expanded Results section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user testing documentation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three documented surprises</a:t>
            </a:r>
            <a:endParaRPr lang="en-US" sz="12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E7F7706-B8EA-E6F0-BAC7-32372C58AADE}"/>
              </a:ext>
            </a:extLst>
          </p:cNvPr>
          <p:cNvGrpSpPr/>
          <p:nvPr/>
        </p:nvGrpSpPr>
        <p:grpSpPr>
          <a:xfrm>
            <a:off x="4728046" y="2193354"/>
            <a:ext cx="3924598" cy="1798588"/>
            <a:chOff x="4728046" y="2193354"/>
            <a:chExt cx="3924598" cy="1798588"/>
          </a:xfrm>
        </p:grpSpPr>
        <p:sp>
          <p:nvSpPr>
            <p:cNvPr id="7" name="Text 5"/>
            <p:cNvSpPr/>
            <p:nvPr/>
          </p:nvSpPr>
          <p:spPr>
            <a:xfrm>
              <a:off x="4728046" y="2193354"/>
              <a:ext cx="392459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Session 24 - Analyze &amp; Synthesize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728046" y="2553072"/>
              <a:ext cx="3924598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You'll examine AI in your domain through 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five lenses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, polish all your sections, and begin the final stretch: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728046" y="3160886"/>
              <a:ext cx="3924598" cy="831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155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Draft Conclusion and final Abstract</a:t>
              </a:r>
              <a:endParaRPr lang="en-US" sz="1200" dirty="0"/>
            </a:p>
            <a:p>
              <a:pPr marL="342900" indent="-342900" algn="l">
                <a:lnSpc>
                  <a:spcPts val="155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Write your AI Attribution Statement</a:t>
              </a:r>
              <a:endParaRPr lang="en-US" sz="1200" dirty="0"/>
            </a:p>
            <a:p>
              <a:pPr marL="342900" indent="-342900" algn="l">
                <a:lnSpc>
                  <a:spcPts val="155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Start your presentation slides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2004</Words>
  <Application>Microsoft Office PowerPoint</Application>
  <PresentationFormat>On-screen Show (16:9)</PresentationFormat>
  <Paragraphs>285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Roboto Slab</vt:lpstr>
      <vt:lpstr>Roboto</vt:lpstr>
      <vt:lpstr>Roboto Slab Light</vt:lpstr>
      <vt:lpstr>Roboto Slab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sneha arya</dc:creator>
  <cp:lastModifiedBy>Office</cp:lastModifiedBy>
  <cp:revision>2</cp:revision>
  <dcterms:created xsi:type="dcterms:W3CDTF">2026-05-13T04:19:05Z</dcterms:created>
  <dcterms:modified xsi:type="dcterms:W3CDTF">2026-05-13T07:52:17Z</dcterms:modified>
</cp:coreProperties>
</file>