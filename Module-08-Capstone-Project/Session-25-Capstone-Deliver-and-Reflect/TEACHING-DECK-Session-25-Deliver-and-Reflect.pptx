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5"/>
      <p:bold r:id="rId16"/>
    </p:embeddedFont>
    <p:embeddedFont>
      <p:font typeface="Roboto Slab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5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ijntr.org" TargetMode="External"/><Relationship Id="rId3" Type="http://schemas.openxmlformats.org/officeDocument/2006/relationships/hyperlink" Target="http://theijes.com" TargetMode="External"/><Relationship Id="rId7" Type="http://schemas.openxmlformats.org/officeDocument/2006/relationships/hyperlink" Target="http://rsisinternational.or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nairjc.com" TargetMode="External"/><Relationship Id="rId5" Type="http://schemas.openxmlformats.org/officeDocument/2006/relationships/hyperlink" Target="http://aijsh.com" TargetMode="External"/><Relationship Id="rId4" Type="http://schemas.openxmlformats.org/officeDocument/2006/relationships/hyperlink" Target="http://ijresm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84202"/>
            <a:ext cx="3101132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25 : </a:t>
            </a:r>
            <a:endParaRPr lang="en-US" sz="2400" dirty="0"/>
          </a:p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Deliver &amp; Reflect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6078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4164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hour, you will have accomplished the following: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029271"/>
            <a:ext cx="2634555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2153245"/>
            <a:ext cx="372070" cy="3720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2255490"/>
            <a:ext cx="167432" cy="167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092" y="2649289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254648" y="2029271"/>
            <a:ext cx="2634630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622" y="2153245"/>
            <a:ext cx="372070" cy="37207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0941" y="2255490"/>
            <a:ext cx="167432" cy="1674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78622" y="2649289"/>
            <a:ext cx="23866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Defended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6013252" y="2029271"/>
            <a:ext cx="2634555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7225" y="2153245"/>
            <a:ext cx="372070" cy="37207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9545" y="2255490"/>
            <a:ext cx="167432" cy="1674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37225" y="2649289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Received Feedback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496119" y="3145334"/>
            <a:ext cx="4013820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3269307"/>
            <a:ext cx="372070" cy="37207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412" y="3371552"/>
            <a:ext cx="167432" cy="1674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20092" y="3765352"/>
            <a:ext cx="3765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Reflected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4633913" y="3145334"/>
            <a:ext cx="4013895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7886" y="3269307"/>
            <a:ext cx="372070" cy="37207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0206" y="3371552"/>
            <a:ext cx="167432" cy="16743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757886" y="3765352"/>
            <a:ext cx="37659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Mapped Pathways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03686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Presentation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610445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You'll present your investigation now, using the Gamma slides you built and practiced.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192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Reflection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1465511"/>
            <a:ext cx="2299395" cy="524619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63380" y="1603772"/>
            <a:ext cx="2022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&amp; After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348487" y="1465511"/>
            <a:ext cx="2299395" cy="524619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86748" y="1603772"/>
            <a:ext cx="2022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Biggest Surprise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25119" y="2114104"/>
            <a:ext cx="2299395" cy="524619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063380" y="2252365"/>
            <a:ext cx="2022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Turning Point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48487" y="2114104"/>
            <a:ext cx="2299395" cy="524619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86748" y="2252365"/>
            <a:ext cx="2022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Proudest Moment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25119" y="2762696"/>
            <a:ext cx="2299395" cy="524619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063380" y="2900958"/>
            <a:ext cx="2022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Do-Over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48487" y="2762696"/>
            <a:ext cx="2299395" cy="524619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86748" y="2900958"/>
            <a:ext cx="20228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553B9C-ED16-0DA0-6CE2-8B1B8A914D51}"/>
              </a:ext>
            </a:extLst>
          </p:cNvPr>
          <p:cNvGrpSpPr/>
          <p:nvPr/>
        </p:nvGrpSpPr>
        <p:grpSpPr>
          <a:xfrm>
            <a:off x="3925119" y="3426842"/>
            <a:ext cx="4722763" cy="824731"/>
            <a:chOff x="3925119" y="3426842"/>
            <a:chExt cx="4722763" cy="824731"/>
          </a:xfrm>
        </p:grpSpPr>
        <p:sp>
          <p:nvSpPr>
            <p:cNvPr id="16" name="Shape 13"/>
            <p:cNvSpPr/>
            <p:nvPr/>
          </p:nvSpPr>
          <p:spPr>
            <a:xfrm>
              <a:off x="3925119" y="3426842"/>
              <a:ext cx="4722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9092" y="3622328"/>
              <a:ext cx="193774" cy="155004"/>
            </a:xfrm>
            <a:prstGeom prst="rect">
              <a:avLst/>
            </a:prstGeom>
          </p:spPr>
        </p:pic>
        <p:sp>
          <p:nvSpPr>
            <p:cNvPr id="18" name="Text 14"/>
            <p:cNvSpPr/>
            <p:nvPr/>
          </p:nvSpPr>
          <p:spPr>
            <a:xfrm>
              <a:off x="4366840" y="3581772"/>
              <a:ext cx="4157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There's no right answer to any of them. The goal is to articulate, in your own words, what changed in you.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388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Sharing Your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2959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paper has been written to a structure used in research. Several journals accept submissions from student researchers like you.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88678"/>
            <a:ext cx="4013895" cy="1095226"/>
          </a:xfrm>
          <a:prstGeom prst="roundRect">
            <a:avLst>
              <a:gd name="adj" fmla="val 169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34380" y="1826940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International Journal of Engineering and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2149450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theijes.com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33987" y="1688678"/>
            <a:ext cx="4013895" cy="1095226"/>
          </a:xfrm>
          <a:prstGeom prst="roundRect">
            <a:avLst>
              <a:gd name="adj" fmla="val 169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72248" y="1826940"/>
            <a:ext cx="373737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International Journal of Research in Engineering, Science and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2248" y="2397547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ijresm.com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6119" y="2907878"/>
            <a:ext cx="4013895" cy="847130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4380" y="3046140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American International Journal of Social Science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380" y="3368650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aijsh.com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33987" y="2907878"/>
            <a:ext cx="4013895" cy="847130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72248" y="3046140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National Association for Interdisciplinary Research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2248" y="3368650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nairjc.com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6119" y="3878982"/>
            <a:ext cx="4013895" cy="847130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4380" y="4017243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RSIS International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380" y="4339754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rsisinternational.org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33987" y="3878982"/>
            <a:ext cx="4013895" cy="847130"/>
          </a:xfrm>
          <a:prstGeom prst="roundRect">
            <a:avLst>
              <a:gd name="adj" fmla="val 21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72248" y="4017243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International Journal of Novel Trends in Research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2248" y="4339754"/>
            <a:ext cx="373737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ijntr.org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678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Prompt Library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72357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prompt library is the collection of tested prompts you built starting in Session 11 - for ChatGPT, Gemini, NotebookLM, image generation, audio generation, and more.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10807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495699"/>
            <a:ext cx="2634555" cy="1810941"/>
          </a:xfrm>
          <a:prstGeom prst="roundRect">
            <a:avLst>
              <a:gd name="adj" fmla="val 102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0092" y="2619673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2942183"/>
            <a:ext cx="238660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Compiled into a single document - all the prompts you tested and refined across Sessions 11-21.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4648" y="2495699"/>
            <a:ext cx="2634630" cy="1810941"/>
          </a:xfrm>
          <a:prstGeom prst="roundRect">
            <a:avLst>
              <a:gd name="adj" fmla="val 102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78622" y="2619673"/>
            <a:ext cx="23866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78622" y="2942183"/>
            <a:ext cx="2386682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prompts are specific to use cases you encountered. They work because you tested them - not because someone else wrote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3252" y="2495699"/>
            <a:ext cx="2634555" cy="1810941"/>
          </a:xfrm>
          <a:prstGeom prst="roundRect">
            <a:avLst>
              <a:gd name="adj" fmla="val 102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37225" y="2619673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Use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37225" y="2942183"/>
            <a:ext cx="2386608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these prompts when you continue investigating, when you write papers in school, when you experiment with new AI tools.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0396"/>
            <a:ext cx="59165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This Capstone Was Designed to 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75966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capstone was designed to teach you four things you can do for the rest of your life. These skills compound - they apply to history papers, science investigations, professional reports, anything you'll need to investigate seriously.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411685"/>
            <a:ext cx="1944960" cy="1591419"/>
          </a:xfrm>
          <a:prstGeom prst="roundRect">
            <a:avLst>
              <a:gd name="adj" fmla="val 116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34380" y="2549947"/>
            <a:ext cx="166843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a 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3120554"/>
            <a:ext cx="166843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a topic and sharpen it into something investigable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5053" y="2411685"/>
            <a:ext cx="1944960" cy="1591419"/>
          </a:xfrm>
          <a:prstGeom prst="roundRect">
            <a:avLst>
              <a:gd name="adj" fmla="val 116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03314" y="2549947"/>
            <a:ext cx="16684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Credible 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03314" y="2872457"/>
            <a:ext cx="166843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Distinguish real, useful sources from low-quality information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33987" y="2411685"/>
            <a:ext cx="1944960" cy="1591419"/>
          </a:xfrm>
          <a:prstGeom prst="roundRect">
            <a:avLst>
              <a:gd name="adj" fmla="val 116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72248" y="2549947"/>
            <a:ext cx="16684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Investigate with 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2248" y="2872457"/>
            <a:ext cx="166843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reading with hands-on understanding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02921" y="2411685"/>
            <a:ext cx="1944960" cy="1591419"/>
          </a:xfrm>
          <a:prstGeom prst="roundRect">
            <a:avLst>
              <a:gd name="adj" fmla="val 116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41182" y="2549947"/>
            <a:ext cx="16684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Communicate Findings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41182" y="2872457"/>
            <a:ext cx="166843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from raw work to a polished paper and a clear presentation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02122"/>
            <a:ext cx="472142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Different About You 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3769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useful question: what can you do now that you couldn't do before Session 1?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0E49F4-FB84-84B8-9AD6-42E9ABF09944}"/>
              </a:ext>
            </a:extLst>
          </p:cNvPr>
          <p:cNvGrpSpPr/>
          <p:nvPr/>
        </p:nvGrpSpPr>
        <p:grpSpPr>
          <a:xfrm>
            <a:off x="496119" y="2525316"/>
            <a:ext cx="2634555" cy="496044"/>
            <a:chOff x="496119" y="2525316"/>
            <a:chExt cx="2634555" cy="496044"/>
          </a:xfrm>
        </p:grpSpPr>
        <p:sp>
          <p:nvSpPr>
            <p:cNvPr id="4" name="Shape 2"/>
            <p:cNvSpPr/>
            <p:nvPr/>
          </p:nvSpPr>
          <p:spPr>
            <a:xfrm>
              <a:off x="496119" y="2525316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64928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Real Work with AI Tools</a:t>
              </a:r>
              <a:endParaRPr lang="en-US" sz="1200" dirty="0"/>
            </a:p>
          </p:txBody>
        </p:sp>
      </p:grpSp>
      <p:sp>
        <p:nvSpPr>
          <p:cNvPr id="6" name="Shape 4"/>
          <p:cNvSpPr/>
          <p:nvPr/>
        </p:nvSpPr>
        <p:spPr>
          <a:xfrm>
            <a:off x="3254648" y="2525316"/>
            <a:ext cx="2634630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78622" y="2649289"/>
            <a:ext cx="23866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Detecting Hallucination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13252" y="2525316"/>
            <a:ext cx="2634555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37225" y="2649289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Safety Awareness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6119" y="3145334"/>
            <a:ext cx="2634555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0092" y="3269307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Serious Investigation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4648" y="3145334"/>
            <a:ext cx="2634630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78622" y="3269307"/>
            <a:ext cx="23866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Writing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252" y="3145334"/>
            <a:ext cx="2634555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37225" y="3269307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Presenting Under Pressure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859"/>
            <a:ext cx="3438079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Your View of AI Evolved</a:t>
            </a:r>
            <a:endParaRPr lang="en-US" sz="19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F96679-9EE5-EC6F-C194-6BF77F64E12D}"/>
              </a:ext>
            </a:extLst>
          </p:cNvPr>
          <p:cNvGrpSpPr/>
          <p:nvPr/>
        </p:nvGrpSpPr>
        <p:grpSpPr>
          <a:xfrm>
            <a:off x="496119" y="1718965"/>
            <a:ext cx="3938102" cy="2263601"/>
            <a:chOff x="496119" y="1718965"/>
            <a:chExt cx="3938102" cy="2263601"/>
          </a:xfrm>
        </p:grpSpPr>
        <p:sp>
          <p:nvSpPr>
            <p:cNvPr id="4" name="Shape 2"/>
            <p:cNvSpPr/>
            <p:nvPr/>
          </p:nvSpPr>
          <p:spPr>
            <a:xfrm>
              <a:off x="496119" y="1718965"/>
              <a:ext cx="3938102" cy="2263601"/>
            </a:xfrm>
            <a:prstGeom prst="roundRect">
              <a:avLst>
                <a:gd name="adj" fmla="val 82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19659" y="1842939"/>
              <a:ext cx="381456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Where You Started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19659" y="2165449"/>
            <a:ext cx="342480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started this program with whatever you thought AI was - perhaps a magic tool, perhaps a threat, perhaps something in between.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00476" y="1718965"/>
            <a:ext cx="4047406" cy="2263601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95974" y="1842939"/>
            <a:ext cx="382793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You're 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5974" y="2165449"/>
            <a:ext cx="382793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You're ending with a more accurate picture: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5974" y="2487960"/>
            <a:ext cx="3827934" cy="13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useful tool that can also be wrong, biased, and unsafe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technology that needs human oversight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field that's changing fast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domain being shaped by who builds it and how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907"/>
            <a:ext cx="3590851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Research Framework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41946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started this capstone investigating one domain. You're ending it knowing how to investigate any domain.</a:t>
            </a:r>
            <a:endParaRPr lang="en-US" sz="11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48A33B-54EF-AB19-9DFD-246F8CC9D946}"/>
              </a:ext>
            </a:extLst>
          </p:cNvPr>
          <p:cNvGrpSpPr/>
          <p:nvPr/>
        </p:nvGrpSpPr>
        <p:grpSpPr>
          <a:xfrm>
            <a:off x="496119" y="1652811"/>
            <a:ext cx="2543919" cy="756493"/>
            <a:chOff x="496119" y="1652811"/>
            <a:chExt cx="2543919" cy="756493"/>
          </a:xfrm>
        </p:grpSpPr>
        <p:sp>
          <p:nvSpPr>
            <p:cNvPr id="4" name="Text 2"/>
            <p:cNvSpPr/>
            <p:nvPr/>
          </p:nvSpPr>
          <p:spPr>
            <a:xfrm>
              <a:off x="496119" y="1652811"/>
              <a:ext cx="254391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Discover</a:t>
              </a:r>
              <a:endParaRPr lang="en-US" sz="11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96119" y="1949723"/>
              <a:ext cx="2543919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Find a domain and sharpen a question worth investigating</a:t>
              </a:r>
              <a:endParaRPr lang="en-US" sz="1150" dirty="0"/>
            </a:p>
          </p:txBody>
        </p:sp>
      </p:grp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771" y="1397645"/>
            <a:ext cx="2710458" cy="271045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8327" y="1888517"/>
            <a:ext cx="176287" cy="17628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2A657F7-0545-80D2-C5AE-CD34AEFD9ACA}"/>
              </a:ext>
            </a:extLst>
          </p:cNvPr>
          <p:cNvGrpSpPr/>
          <p:nvPr/>
        </p:nvGrpSpPr>
        <p:grpSpPr>
          <a:xfrm>
            <a:off x="6103962" y="1652811"/>
            <a:ext cx="2543919" cy="756493"/>
            <a:chOff x="6103962" y="1652811"/>
            <a:chExt cx="2543919" cy="756493"/>
          </a:xfrm>
        </p:grpSpPr>
        <p:sp>
          <p:nvSpPr>
            <p:cNvPr id="8" name="Text 4"/>
            <p:cNvSpPr/>
            <p:nvPr/>
          </p:nvSpPr>
          <p:spPr>
            <a:xfrm>
              <a:off x="6103962" y="1652811"/>
              <a:ext cx="254391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Research</a:t>
              </a:r>
              <a:endParaRPr lang="en-US" sz="11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6103962" y="1949723"/>
              <a:ext cx="2543919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Gather credible sources and build your literature foundation</a:t>
              </a:r>
              <a:endParaRPr lang="en-US" sz="1150" dirty="0"/>
            </a:p>
          </p:txBody>
        </p:sp>
      </p:grp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771" y="1397645"/>
            <a:ext cx="2710458" cy="271045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9995" y="2119201"/>
            <a:ext cx="176287" cy="17628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CF59FB0-287F-7530-F547-E617BE6C1CBD}"/>
              </a:ext>
            </a:extLst>
          </p:cNvPr>
          <p:cNvGrpSpPr/>
          <p:nvPr/>
        </p:nvGrpSpPr>
        <p:grpSpPr>
          <a:xfrm>
            <a:off x="6103962" y="3096369"/>
            <a:ext cx="2543919" cy="756493"/>
            <a:chOff x="6103962" y="3096369"/>
            <a:chExt cx="2543919" cy="756493"/>
          </a:xfrm>
        </p:grpSpPr>
        <p:sp>
          <p:nvSpPr>
            <p:cNvPr id="12" name="Text 6"/>
            <p:cNvSpPr/>
            <p:nvPr/>
          </p:nvSpPr>
          <p:spPr>
            <a:xfrm>
              <a:off x="6103962" y="3096369"/>
              <a:ext cx="254391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Analyze</a:t>
              </a:r>
              <a:endParaRPr lang="en-US" sz="1150" dirty="0"/>
            </a:p>
          </p:txBody>
        </p:sp>
        <p:sp>
          <p:nvSpPr>
            <p:cNvPr id="13" name="Text 7"/>
            <p:cNvSpPr/>
            <p:nvPr/>
          </p:nvSpPr>
          <p:spPr>
            <a:xfrm>
              <a:off x="6103962" y="3393281"/>
              <a:ext cx="2543919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Combine reading with hands-on exploration and draw findings</a:t>
              </a:r>
              <a:endParaRPr lang="en-US" sz="1150" dirty="0"/>
            </a:p>
          </p:txBody>
        </p:sp>
      </p:grp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6771" y="1397645"/>
            <a:ext cx="2710458" cy="271045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9312" y="3440869"/>
            <a:ext cx="176287" cy="17628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4F05B48-DA86-0E0C-CF68-005B2C6BD7DB}"/>
              </a:ext>
            </a:extLst>
          </p:cNvPr>
          <p:cNvGrpSpPr/>
          <p:nvPr/>
        </p:nvGrpSpPr>
        <p:grpSpPr>
          <a:xfrm>
            <a:off x="496119" y="3096369"/>
            <a:ext cx="2543919" cy="756493"/>
            <a:chOff x="496119" y="3096369"/>
            <a:chExt cx="2543919" cy="756493"/>
          </a:xfrm>
        </p:grpSpPr>
        <p:sp>
          <p:nvSpPr>
            <p:cNvPr id="16" name="Text 8"/>
            <p:cNvSpPr/>
            <p:nvPr/>
          </p:nvSpPr>
          <p:spPr>
            <a:xfrm>
              <a:off x="496119" y="3096369"/>
              <a:ext cx="2543919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Deliver</a:t>
              </a:r>
              <a:endParaRPr lang="en-US" sz="1150" dirty="0"/>
            </a:p>
          </p:txBody>
        </p:sp>
        <p:sp>
          <p:nvSpPr>
            <p:cNvPr id="17" name="Text 9"/>
            <p:cNvSpPr/>
            <p:nvPr/>
          </p:nvSpPr>
          <p:spPr>
            <a:xfrm>
              <a:off x="496119" y="3393281"/>
              <a:ext cx="2543919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Communicate findings in writing and presentation</a:t>
              </a:r>
              <a:endParaRPr lang="en-US" sz="1150" dirty="0"/>
            </a:p>
          </p:txBody>
        </p:sp>
      </p:grp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6771" y="1397645"/>
            <a:ext cx="2710458" cy="271045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07643" y="3210185"/>
            <a:ext cx="176287" cy="17628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96119" y="4234011"/>
            <a:ext cx="8151763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four-stage arc works for any topic you want to take seriously - AI in finance, climate solutions, mental health, local policy. Anything. The structure is portable. Take it with you.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9244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Achievements 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55254"/>
            <a:ext cx="123974" cy="12397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323802"/>
            <a:ext cx="1944960" cy="1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241436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Learned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96119" y="2736875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think more carefully about a technology reshaping the world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5053" y="2155254"/>
            <a:ext cx="123974" cy="12397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053" y="2323802"/>
            <a:ext cx="1944960" cy="142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565053" y="241436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Investigated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2565053" y="2736875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Something that mattered to you, with rigor and honesty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987" y="2155254"/>
            <a:ext cx="123974" cy="123974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87" y="2323802"/>
            <a:ext cx="1944960" cy="1428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633987" y="241436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Wrote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4633987" y="2736875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paper that didn't exist before - in your voice, about your findings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2921" y="2155254"/>
            <a:ext cx="123974" cy="12397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921" y="2336229"/>
            <a:ext cx="1944960" cy="1428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702921" y="241436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Spent 25 Sessions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6702921" y="2736875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Doing real work.</a:t>
            </a:r>
            <a:endParaRPr lang="en-US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E756FAD-725B-93F0-03DB-B474A00AE208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496119" y="2330946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F0312D-D1B2-1C2E-5AB2-4A3AF5432184}"/>
              </a:ext>
            </a:extLst>
          </p:cNvPr>
          <p:cNvCxnSpPr/>
          <p:nvPr/>
        </p:nvCxnSpPr>
        <p:spPr>
          <a:xfrm>
            <a:off x="2549348" y="2331234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DC1FF8-2570-7946-0581-2C78EB44F3AA}"/>
              </a:ext>
            </a:extLst>
          </p:cNvPr>
          <p:cNvCxnSpPr/>
          <p:nvPr/>
        </p:nvCxnSpPr>
        <p:spPr>
          <a:xfrm>
            <a:off x="4599186" y="2326254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6C6C6D-012A-0F05-440E-E6C3E6C14EDC}"/>
              </a:ext>
            </a:extLst>
          </p:cNvPr>
          <p:cNvCxnSpPr/>
          <p:nvPr/>
        </p:nvCxnSpPr>
        <p:spPr>
          <a:xfrm>
            <a:off x="6664780" y="2330946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6724" y="1552352"/>
            <a:ext cx="4279553" cy="160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Stay curious.</a:t>
            </a:r>
            <a:endParaRPr lang="en-US" sz="3350" dirty="0"/>
          </a:p>
          <a:p>
            <a:pPr marL="0" indent="0" algn="ctr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Stay honest.</a:t>
            </a:r>
            <a:endParaRPr lang="en-US" sz="3350" dirty="0"/>
          </a:p>
          <a:p>
            <a:pPr marL="0" indent="0" algn="ctr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Keep building.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3925119" y="3343052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capstone ends. What you do next doesn't have to.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664</Words>
  <Application>Microsoft Office PowerPoint</Application>
  <PresentationFormat>On-screen Show (16:9)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 Slab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2</cp:revision>
  <dcterms:created xsi:type="dcterms:W3CDTF">2026-05-13T05:18:37Z</dcterms:created>
  <dcterms:modified xsi:type="dcterms:W3CDTF">2026-05-13T10:09:02Z</dcterms:modified>
</cp:coreProperties>
</file>