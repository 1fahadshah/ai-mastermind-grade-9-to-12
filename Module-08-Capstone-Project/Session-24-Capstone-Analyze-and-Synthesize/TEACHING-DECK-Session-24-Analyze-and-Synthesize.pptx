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embeddedFontLst>
    <p:embeddedFont>
      <p:font typeface="Roboto" panose="02000000000000000000" pitchFamily="2" charset="0"/>
      <p:regular r:id="rId34"/>
      <p:bold r:id="rId35"/>
      <p:italic r:id="rId36"/>
    </p:embeddedFont>
    <p:embeddedFont>
      <p:font typeface="Roboto Slab" pitchFamily="2" charset="0"/>
      <p:regular r:id="rId37"/>
    </p:embeddedFont>
    <p:embeddedFont>
      <p:font typeface="Roboto Slab Light" pitchFamily="2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49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5942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24 :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96530"/>
            <a:ext cx="31446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Analyze &amp; Synthesize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003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0560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you'll have accomplished the following: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3932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89684"/>
            <a:ext cx="2634555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80246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Lenses Applied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54648" y="23932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589684"/>
            <a:ext cx="2634630" cy="142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54648" y="2680246"/>
            <a:ext cx="26346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Sections Drafted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13252" y="239323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589684"/>
            <a:ext cx="2634555" cy="142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13252" y="2680246"/>
            <a:ext cx="26345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Six Sections Polished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96119" y="31453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329360"/>
            <a:ext cx="4013820" cy="142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3432349"/>
            <a:ext cx="401382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 &amp; Attribution Written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33913" y="314533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13" y="3329360"/>
            <a:ext cx="4013895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33913" y="3432349"/>
            <a:ext cx="401389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Started</a:t>
            </a:r>
            <a:endParaRPr lang="en-US" sz="1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500766-6359-9ABA-7017-5008EB98C8FC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96119" y="2596828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47B5C5-5914-9127-BE18-A6A2F7F3EACC}"/>
              </a:ext>
            </a:extLst>
          </p:cNvPr>
          <p:cNvCxnSpPr/>
          <p:nvPr/>
        </p:nvCxnSpPr>
        <p:spPr>
          <a:xfrm>
            <a:off x="3242619" y="2595712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3F4DC39-CFF1-2DA4-22B2-053E5F09E896}"/>
              </a:ext>
            </a:extLst>
          </p:cNvPr>
          <p:cNvCxnSpPr/>
          <p:nvPr/>
        </p:nvCxnSpPr>
        <p:spPr>
          <a:xfrm>
            <a:off x="5991205" y="259358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A4F89B-5E29-613F-D8AA-4F6372603121}"/>
              </a:ext>
            </a:extLst>
          </p:cNvPr>
          <p:cNvCxnSpPr>
            <a:cxnSpLocks/>
          </p:cNvCxnSpPr>
          <p:nvPr/>
        </p:nvCxnSpPr>
        <p:spPr>
          <a:xfrm>
            <a:off x="482051" y="3336504"/>
            <a:ext cx="4013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418BCA-80D7-23EB-C724-92E9D1966A67}"/>
              </a:ext>
            </a:extLst>
          </p:cNvPr>
          <p:cNvCxnSpPr/>
          <p:nvPr/>
        </p:nvCxnSpPr>
        <p:spPr>
          <a:xfrm>
            <a:off x="4609719" y="3336614"/>
            <a:ext cx="4013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816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work adds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183556"/>
            <a:ext cx="392459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Paper Sections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71179"/>
            <a:ext cx="3924598" cy="496044"/>
          </a:xfrm>
          <a:prstGeom prst="roundRect">
            <a:avLst>
              <a:gd name="adj" fmla="val 375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0092" y="1695152"/>
            <a:ext cx="367665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&amp; Fairness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191196"/>
            <a:ext cx="3924598" cy="496044"/>
          </a:xfrm>
          <a:prstGeom prst="roundRect">
            <a:avLst>
              <a:gd name="adj" fmla="val 375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0092" y="2315170"/>
            <a:ext cx="367665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&amp; Governance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6119" y="2811214"/>
            <a:ext cx="3924598" cy="496044"/>
          </a:xfrm>
          <a:prstGeom prst="roundRect">
            <a:avLst>
              <a:gd name="adj" fmla="val 3751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0092" y="2935188"/>
            <a:ext cx="367665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6119" y="3431232"/>
            <a:ext cx="3924598" cy="855762"/>
          </a:xfrm>
          <a:prstGeom prst="roundRect">
            <a:avLst>
              <a:gd name="adj" fmla="val 217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0092" y="3555206"/>
            <a:ext cx="367665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Abstract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0092" y="3914924"/>
            <a:ext cx="367665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Replaces the placeholder from S22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8046" y="1183556"/>
            <a:ext cx="392459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Deliverables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28046" y="1571179"/>
            <a:ext cx="3924598" cy="884337"/>
          </a:xfrm>
          <a:prstGeom prst="roundRect">
            <a:avLst>
              <a:gd name="adj" fmla="val 2104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66308" y="1709440"/>
            <a:ext cx="36480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Attribution Statement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6308" y="2069157"/>
            <a:ext cx="36480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disclosure of AI tools used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8046" y="2579489"/>
            <a:ext cx="3924598" cy="884337"/>
          </a:xfrm>
          <a:prstGeom prst="roundRect">
            <a:avLst>
              <a:gd name="adj" fmla="val 2104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66308" y="2717750"/>
            <a:ext cx="36480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Gamma Presentation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6308" y="3077468"/>
            <a:ext cx="36480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three slides started today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AEB59-274F-E57B-3253-E8E8B8B12E08}"/>
              </a:ext>
            </a:extLst>
          </p:cNvPr>
          <p:cNvGrpSpPr/>
          <p:nvPr/>
        </p:nvGrpSpPr>
        <p:grpSpPr>
          <a:xfrm>
            <a:off x="4728046" y="3603352"/>
            <a:ext cx="3924598" cy="824731"/>
            <a:chOff x="4728046" y="3603352"/>
            <a:chExt cx="3924598" cy="824731"/>
          </a:xfrm>
        </p:grpSpPr>
        <p:sp>
          <p:nvSpPr>
            <p:cNvPr id="20" name="Shape 18"/>
            <p:cNvSpPr/>
            <p:nvPr/>
          </p:nvSpPr>
          <p:spPr>
            <a:xfrm>
              <a:off x="4728046" y="3603352"/>
              <a:ext cx="3924598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1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2020" y="3798838"/>
              <a:ext cx="193774" cy="155004"/>
            </a:xfrm>
            <a:prstGeom prst="rect">
              <a:avLst/>
            </a:prstGeom>
          </p:spPr>
        </p:pic>
        <p:sp>
          <p:nvSpPr>
            <p:cNvPr id="22" name="Text 19"/>
            <p:cNvSpPr/>
            <p:nvPr/>
          </p:nvSpPr>
          <p:spPr>
            <a:xfrm>
              <a:off x="5169768" y="3758282"/>
              <a:ext cx="3358902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By end of homework after today, your paper is complete and your presentation is ready.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5780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 Review</a:t>
            </a:r>
            <a:endParaRPr 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5E9FDE-8A50-4E59-F30B-02545500707C}"/>
              </a:ext>
            </a:extLst>
          </p:cNvPr>
          <p:cNvGrpSpPr/>
          <p:nvPr/>
        </p:nvGrpSpPr>
        <p:grpSpPr>
          <a:xfrm>
            <a:off x="496119" y="2331393"/>
            <a:ext cx="2283841" cy="310083"/>
            <a:chOff x="496119" y="2331393"/>
            <a:chExt cx="2283841" cy="310083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119" y="2331393"/>
              <a:ext cx="310083" cy="310083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961206" y="2331393"/>
              <a:ext cx="181875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Flag Generated Phrasing</a:t>
              </a:r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0158ED-A158-E623-DAFF-09DD3D10D8AC}"/>
              </a:ext>
            </a:extLst>
          </p:cNvPr>
          <p:cNvGrpSpPr/>
          <p:nvPr/>
        </p:nvGrpSpPr>
        <p:grpSpPr>
          <a:xfrm>
            <a:off x="2934965" y="2331393"/>
            <a:ext cx="2283917" cy="310083"/>
            <a:chOff x="2934965" y="2331393"/>
            <a:chExt cx="2283917" cy="310083"/>
          </a:xfrm>
        </p:grpSpPr>
        <p:pic>
          <p:nvPicPr>
            <p:cNvPr id="6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34965" y="2331393"/>
              <a:ext cx="310083" cy="310083"/>
            </a:xfrm>
            <a:prstGeom prst="rect">
              <a:avLst/>
            </a:prstGeom>
          </p:spPr>
        </p:pic>
        <p:sp>
          <p:nvSpPr>
            <p:cNvPr id="7" name="Text 2"/>
            <p:cNvSpPr/>
            <p:nvPr/>
          </p:nvSpPr>
          <p:spPr>
            <a:xfrm>
              <a:off x="3400053" y="2331393"/>
              <a:ext cx="181882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Push on Specificity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946286-18CC-A9E8-077D-488F92F925B1}"/>
              </a:ext>
            </a:extLst>
          </p:cNvPr>
          <p:cNvGrpSpPr/>
          <p:nvPr/>
        </p:nvGrpSpPr>
        <p:grpSpPr>
          <a:xfrm>
            <a:off x="496119" y="2889498"/>
            <a:ext cx="2283841" cy="496193"/>
            <a:chOff x="496119" y="2889498"/>
            <a:chExt cx="2283841" cy="496193"/>
          </a:xfrm>
        </p:grpSpPr>
        <p:pic>
          <p:nvPicPr>
            <p:cNvPr id="8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119" y="2889498"/>
              <a:ext cx="310083" cy="310083"/>
            </a:xfrm>
            <a:prstGeom prst="rect">
              <a:avLst/>
            </a:prstGeom>
          </p:spPr>
        </p:pic>
        <p:sp>
          <p:nvSpPr>
            <p:cNvPr id="9" name="Text 3"/>
            <p:cNvSpPr/>
            <p:nvPr/>
          </p:nvSpPr>
          <p:spPr>
            <a:xfrm>
              <a:off x="961206" y="2889498"/>
              <a:ext cx="1818754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Connect Surprises to Analysis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D06FAE-3A9C-11BB-EB25-A1C725A7E188}"/>
              </a:ext>
            </a:extLst>
          </p:cNvPr>
          <p:cNvGrpSpPr/>
          <p:nvPr/>
        </p:nvGrpSpPr>
        <p:grpSpPr>
          <a:xfrm>
            <a:off x="2934965" y="2889498"/>
            <a:ext cx="2283917" cy="496193"/>
            <a:chOff x="2934965" y="2889498"/>
            <a:chExt cx="2283917" cy="496193"/>
          </a:xfrm>
        </p:grpSpPr>
        <p:pic>
          <p:nvPicPr>
            <p:cNvPr id="10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34965" y="2889498"/>
              <a:ext cx="310083" cy="310083"/>
            </a:xfrm>
            <a:prstGeom prst="rect">
              <a:avLst/>
            </a:prstGeom>
          </p:spPr>
        </p:pic>
        <p:sp>
          <p:nvSpPr>
            <p:cNvPr id="11" name="Text 4"/>
            <p:cNvSpPr/>
            <p:nvPr/>
          </p:nvSpPr>
          <p:spPr>
            <a:xfrm>
              <a:off x="3400053" y="2889498"/>
              <a:ext cx="1818829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Identify Strongest Observations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578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Five Lenses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ACA9CA-45DD-E00A-F489-1A8D1CDC7480}"/>
              </a:ext>
            </a:extLst>
          </p:cNvPr>
          <p:cNvGrpSpPr/>
          <p:nvPr/>
        </p:nvGrpSpPr>
        <p:grpSpPr>
          <a:xfrm>
            <a:off x="496119" y="1171352"/>
            <a:ext cx="8151763" cy="2472035"/>
            <a:chOff x="496119" y="1171352"/>
            <a:chExt cx="8151763" cy="2472035"/>
          </a:xfrm>
        </p:grpSpPr>
        <p:sp>
          <p:nvSpPr>
            <p:cNvPr id="3" name="Shape 1"/>
            <p:cNvSpPr/>
            <p:nvPr/>
          </p:nvSpPr>
          <p:spPr>
            <a:xfrm>
              <a:off x="496119" y="1171352"/>
              <a:ext cx="8151763" cy="2472035"/>
            </a:xfrm>
            <a:prstGeom prst="roundRect">
              <a:avLst>
                <a:gd name="adj" fmla="val 753"/>
              </a:avLst>
            </a:prstGeom>
            <a:noFill/>
            <a:ln w="4763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4929" y="1255291"/>
              <a:ext cx="17851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Lens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662833" y="1255291"/>
              <a:ext cx="585631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Examines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4929" y="1666503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&amp; Fairness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62833" y="1666503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AI in this domain works well for; who it fails or underserves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929" y="207771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&amp; Governance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2833" y="2077715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harms could result; who's accountable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929" y="2488927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62833" y="2488927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values are at stake; who benefits, who could be harmed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929" y="2900139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2833" y="2900139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human oversight exists or should exist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929" y="331135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Integrity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62833" y="3311351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Whether your paper is in your authentic voice</a:t>
            </a:r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800C44-0716-C26B-C1D5-597D95A85D44}"/>
              </a:ext>
            </a:extLst>
          </p:cNvPr>
          <p:cNvGrpSpPr/>
          <p:nvPr/>
        </p:nvGrpSpPr>
        <p:grpSpPr>
          <a:xfrm>
            <a:off x="496119" y="3782913"/>
            <a:ext cx="8151763" cy="824731"/>
            <a:chOff x="496119" y="3782913"/>
            <a:chExt cx="8151763" cy="824731"/>
          </a:xfrm>
        </p:grpSpPr>
        <p:sp>
          <p:nvSpPr>
            <p:cNvPr id="16" name="Shape 14"/>
            <p:cNvSpPr/>
            <p:nvPr/>
          </p:nvSpPr>
          <p:spPr>
            <a:xfrm>
              <a:off x="496119" y="3782913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1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978399"/>
              <a:ext cx="193774" cy="155004"/>
            </a:xfrm>
            <a:prstGeom prst="rect">
              <a:avLst/>
            </a:prstGeom>
          </p:spPr>
        </p:pic>
        <p:sp>
          <p:nvSpPr>
            <p:cNvPr id="18" name="Text 15"/>
            <p:cNvSpPr/>
            <p:nvPr/>
          </p:nvSpPr>
          <p:spPr>
            <a:xfrm>
              <a:off x="937840" y="3937843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Bias &amp; Fairness and Safety &amp; Governance become their own paper sections. Ethics, Human-in-the-Loop, and Voice Integrity integrate into those sections.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32272"/>
            <a:ext cx="34147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Lens 1 - Bias &amp; Fairness</a:t>
            </a: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EA756A-BEF2-ACB7-A957-02B3EF75827C}"/>
              </a:ext>
            </a:extLst>
          </p:cNvPr>
          <p:cNvGrpSpPr/>
          <p:nvPr/>
        </p:nvGrpSpPr>
        <p:grpSpPr>
          <a:xfrm>
            <a:off x="3925119" y="1605855"/>
            <a:ext cx="2299395" cy="1314748"/>
            <a:chOff x="3925119" y="1605855"/>
            <a:chExt cx="2299395" cy="1314748"/>
          </a:xfrm>
        </p:grpSpPr>
        <p:sp>
          <p:nvSpPr>
            <p:cNvPr id="4" name="Shape 1"/>
            <p:cNvSpPr/>
            <p:nvPr/>
          </p:nvSpPr>
          <p:spPr>
            <a:xfrm>
              <a:off x="3925119" y="1605855"/>
              <a:ext cx="229939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2"/>
            <p:cNvSpPr/>
            <p:nvPr/>
          </p:nvSpPr>
          <p:spPr>
            <a:xfrm>
              <a:off x="4049092" y="1729829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Data Bias</a:t>
              </a:r>
              <a:endParaRPr lang="en-US" sz="1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4049092" y="2052340"/>
              <a:ext cx="2051447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What's in and missing from the data AI systems are trained on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6E5BFE-318D-3526-0A95-CBD00D2EA909}"/>
              </a:ext>
            </a:extLst>
          </p:cNvPr>
          <p:cNvGrpSpPr/>
          <p:nvPr/>
        </p:nvGrpSpPr>
        <p:grpSpPr>
          <a:xfrm>
            <a:off x="6348487" y="1605855"/>
            <a:ext cx="2299395" cy="1314748"/>
            <a:chOff x="6348487" y="1605855"/>
            <a:chExt cx="2299395" cy="1314748"/>
          </a:xfrm>
        </p:grpSpPr>
        <p:sp>
          <p:nvSpPr>
            <p:cNvPr id="7" name="Shape 4"/>
            <p:cNvSpPr/>
            <p:nvPr/>
          </p:nvSpPr>
          <p:spPr>
            <a:xfrm>
              <a:off x="6348487" y="1605855"/>
              <a:ext cx="2299395" cy="1314748"/>
            </a:xfrm>
            <a:prstGeom prst="roundRect">
              <a:avLst>
                <a:gd name="adj" fmla="val 1415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6472461" y="1729829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Algorithmic Bias</a:t>
              </a:r>
              <a:endParaRPr lang="en-US" sz="1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472461" y="2052340"/>
              <a:ext cx="2051447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the algorithm processes information and what patterns it amplifies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702410-3884-9EBC-32E8-8DA1F0CE823B}"/>
              </a:ext>
            </a:extLst>
          </p:cNvPr>
          <p:cNvGrpSpPr/>
          <p:nvPr/>
        </p:nvGrpSpPr>
        <p:grpSpPr>
          <a:xfrm>
            <a:off x="3925119" y="3044577"/>
            <a:ext cx="4722763" cy="1066651"/>
            <a:chOff x="3925119" y="3044577"/>
            <a:chExt cx="4722763" cy="1066651"/>
          </a:xfrm>
        </p:grpSpPr>
        <p:sp>
          <p:nvSpPr>
            <p:cNvPr id="10" name="Shape 7"/>
            <p:cNvSpPr/>
            <p:nvPr/>
          </p:nvSpPr>
          <p:spPr>
            <a:xfrm>
              <a:off x="3925119" y="3044577"/>
              <a:ext cx="4722763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8"/>
            <p:cNvSpPr/>
            <p:nvPr/>
          </p:nvSpPr>
          <p:spPr>
            <a:xfrm>
              <a:off x="4049092" y="3168551"/>
              <a:ext cx="44748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Human Bias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4049092" y="3491061"/>
              <a:ext cx="4474815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assumptions the people building or using the system bring to it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33079"/>
            <a:ext cx="611400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Bias Questions to Ask About Your Domain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6864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187266-909C-BE45-F493-148108116E95}"/>
              </a:ext>
            </a:extLst>
          </p:cNvPr>
          <p:cNvGrpSpPr/>
          <p:nvPr/>
        </p:nvGrpSpPr>
        <p:grpSpPr>
          <a:xfrm>
            <a:off x="542627" y="2556272"/>
            <a:ext cx="3951833" cy="248096"/>
            <a:chOff x="542627" y="2556272"/>
            <a:chExt cx="3951833" cy="248096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627" y="2587154"/>
              <a:ext cx="186035" cy="186035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899145" y="2556272"/>
              <a:ext cx="35953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Training Populations</a:t>
              </a:r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5D65F2-5B1D-57D6-A208-4CEACFB968F0}"/>
              </a:ext>
            </a:extLst>
          </p:cNvPr>
          <p:cNvGrpSpPr/>
          <p:nvPr/>
        </p:nvGrpSpPr>
        <p:grpSpPr>
          <a:xfrm>
            <a:off x="4695974" y="2556272"/>
            <a:ext cx="3951908" cy="248096"/>
            <a:chOff x="4695974" y="2556272"/>
            <a:chExt cx="3951908" cy="248096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95974" y="2587154"/>
              <a:ext cx="186035" cy="186035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5052492" y="2556272"/>
              <a:ext cx="359539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Published Failures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A979C4-CEF6-461C-600D-FE0A78536373}"/>
              </a:ext>
            </a:extLst>
          </p:cNvPr>
          <p:cNvGrpSpPr/>
          <p:nvPr/>
        </p:nvGrpSpPr>
        <p:grpSpPr>
          <a:xfrm>
            <a:off x="542627" y="3207321"/>
            <a:ext cx="3951833" cy="248096"/>
            <a:chOff x="542627" y="3207321"/>
            <a:chExt cx="3951833" cy="248096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627" y="3238202"/>
              <a:ext cx="186035" cy="186035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899145" y="3207321"/>
              <a:ext cx="35953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Hands-On Patterns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29D9EA-F8B9-63FA-C5BD-8987E5FF7EA6}"/>
              </a:ext>
            </a:extLst>
          </p:cNvPr>
          <p:cNvGrpSpPr/>
          <p:nvPr/>
        </p:nvGrpSpPr>
        <p:grpSpPr>
          <a:xfrm>
            <a:off x="4695974" y="3207321"/>
            <a:ext cx="3951908" cy="248096"/>
            <a:chOff x="4695974" y="3207321"/>
            <a:chExt cx="3951908" cy="248096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95974" y="3238202"/>
              <a:ext cx="186035" cy="186035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5052492" y="3207321"/>
              <a:ext cx="359539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User Testing Signals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8382"/>
            <a:ext cx="385591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Bias - A Concrete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85490"/>
            <a:ext cx="342334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Food Allergy Management for Children</a:t>
            </a:r>
            <a:endParaRPr lang="en-US" sz="14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D1829E6-D585-B4AC-4A82-648436955215}"/>
              </a:ext>
            </a:extLst>
          </p:cNvPr>
          <p:cNvGrpSpPr/>
          <p:nvPr/>
        </p:nvGrpSpPr>
        <p:grpSpPr>
          <a:xfrm>
            <a:off x="496119" y="1715691"/>
            <a:ext cx="3924598" cy="1104006"/>
            <a:chOff x="496119" y="1715691"/>
            <a:chExt cx="3924598" cy="1104006"/>
          </a:xfrm>
        </p:grpSpPr>
        <p:sp>
          <p:nvSpPr>
            <p:cNvPr id="4" name="Text 2"/>
            <p:cNvSpPr/>
            <p:nvPr/>
          </p:nvSpPr>
          <p:spPr>
            <a:xfrm>
              <a:off x="496119" y="1715691"/>
              <a:ext cx="392459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Sources Revealed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96119" y="2075408"/>
              <a:ext cx="3924598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Allergen-detection systems are typically trained on Western foods, which means they may underperform on foods central to non-Western cuisines.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32507F-7944-D736-D1D8-C219AEB79947}"/>
              </a:ext>
            </a:extLst>
          </p:cNvPr>
          <p:cNvGrpSpPr/>
          <p:nvPr/>
        </p:nvGrpSpPr>
        <p:grpSpPr>
          <a:xfrm>
            <a:off x="496119" y="2931319"/>
            <a:ext cx="3924598" cy="1352103"/>
            <a:chOff x="496119" y="2931319"/>
            <a:chExt cx="3924598" cy="1352103"/>
          </a:xfrm>
        </p:grpSpPr>
        <p:sp>
          <p:nvSpPr>
            <p:cNvPr id="6" name="Text 4"/>
            <p:cNvSpPr/>
            <p:nvPr/>
          </p:nvSpPr>
          <p:spPr>
            <a:xfrm>
              <a:off x="496119" y="2931319"/>
              <a:ext cx="392459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Exploration Confirmed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96119" y="3291036"/>
              <a:ext cx="3924598" cy="9923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classifier handled Western examples (peanut butter, Snickers) reliably but had no training data for Asian peanut sauces, African peanut stews, or Middle Eastern peanut-based sweets.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CFED57-3484-236C-0524-AD1E2EA9FA23}"/>
              </a:ext>
            </a:extLst>
          </p:cNvPr>
          <p:cNvGrpSpPr/>
          <p:nvPr/>
        </p:nvGrpSpPr>
        <p:grpSpPr>
          <a:xfrm>
            <a:off x="4638749" y="1604070"/>
            <a:ext cx="4103191" cy="2790974"/>
            <a:chOff x="4638749" y="1604070"/>
            <a:chExt cx="4103191" cy="2790974"/>
          </a:xfrm>
        </p:grpSpPr>
        <p:sp>
          <p:nvSpPr>
            <p:cNvPr id="8" name="Shape 6"/>
            <p:cNvSpPr/>
            <p:nvPr/>
          </p:nvSpPr>
          <p:spPr>
            <a:xfrm>
              <a:off x="4638749" y="1604070"/>
              <a:ext cx="4103191" cy="2790974"/>
            </a:xfrm>
            <a:prstGeom prst="roundRect">
              <a:avLst>
                <a:gd name="adj" fmla="val 66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4762723" y="1715691"/>
              <a:ext cx="385524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Specific Claim</a:t>
              </a:r>
              <a:endParaRPr lang="en-US" sz="1200" dirty="0"/>
            </a:p>
          </p:txBody>
        </p:sp>
      </p:grpSp>
      <p:sp>
        <p:nvSpPr>
          <p:cNvPr id="10" name="Text 8"/>
          <p:cNvSpPr/>
          <p:nvPr/>
        </p:nvSpPr>
        <p:spPr>
          <a:xfrm>
            <a:off x="4762723" y="2075408"/>
            <a:ext cx="3855244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data gap means the tool could fail for the populations whose families eat these foods -populations who are not less in need of allergen support, just less represented in training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62723" y="3238277"/>
            <a:ext cx="3855244" cy="9302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62723" y="3418061"/>
            <a:ext cx="3855244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mirrors patterns documented in other AI systems, where narrow training data produces systems that work for some users and fail for others.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61008"/>
            <a:ext cx="423460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Lens 2 - Safety &amp; Governance</a:t>
            </a: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DF2389-E296-FC5A-321C-993CC7CF71E7}"/>
              </a:ext>
            </a:extLst>
          </p:cNvPr>
          <p:cNvGrpSpPr/>
          <p:nvPr/>
        </p:nvGrpSpPr>
        <p:grpSpPr>
          <a:xfrm>
            <a:off x="3925119" y="1134591"/>
            <a:ext cx="4722763" cy="1066651"/>
            <a:chOff x="3925119" y="1134591"/>
            <a:chExt cx="4722763" cy="1066651"/>
          </a:xfrm>
        </p:grpSpPr>
        <p:sp>
          <p:nvSpPr>
            <p:cNvPr id="4" name="Shape 1"/>
            <p:cNvSpPr/>
            <p:nvPr/>
          </p:nvSpPr>
          <p:spPr>
            <a:xfrm>
              <a:off x="3925119" y="1134591"/>
              <a:ext cx="4722763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2"/>
            <p:cNvSpPr/>
            <p:nvPr/>
          </p:nvSpPr>
          <p:spPr>
            <a:xfrm>
              <a:off x="4049092" y="1258565"/>
              <a:ext cx="44748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Misuse</a:t>
              </a:r>
              <a:endParaRPr lang="en-US" sz="1200" dirty="0"/>
            </a:p>
          </p:txBody>
        </p:sp>
      </p:grpSp>
      <p:sp>
        <p:nvSpPr>
          <p:cNvPr id="6" name="Text 3"/>
          <p:cNvSpPr/>
          <p:nvPr/>
        </p:nvSpPr>
        <p:spPr>
          <a:xfrm>
            <a:off x="4049092" y="1581076"/>
            <a:ext cx="4474815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AI in this domain could be used to cause harm - intentionally or through negligence</a:t>
            </a: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31E6CBF-501A-4D21-EB81-167F6BA57E36}"/>
              </a:ext>
            </a:extLst>
          </p:cNvPr>
          <p:cNvGrpSpPr/>
          <p:nvPr/>
        </p:nvGrpSpPr>
        <p:grpSpPr>
          <a:xfrm>
            <a:off x="3925119" y="2325216"/>
            <a:ext cx="4722763" cy="1066651"/>
            <a:chOff x="3925119" y="2325216"/>
            <a:chExt cx="4722763" cy="1066651"/>
          </a:xfrm>
        </p:grpSpPr>
        <p:sp>
          <p:nvSpPr>
            <p:cNvPr id="7" name="Shape 4"/>
            <p:cNvSpPr/>
            <p:nvPr/>
          </p:nvSpPr>
          <p:spPr>
            <a:xfrm>
              <a:off x="3925119" y="2325216"/>
              <a:ext cx="4722763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4049092" y="2449190"/>
              <a:ext cx="44748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Privacy</a:t>
              </a:r>
              <a:endParaRPr lang="en-US" sz="1200" dirty="0"/>
            </a:p>
          </p:txBody>
        </p:sp>
      </p:grpSp>
      <p:sp>
        <p:nvSpPr>
          <p:cNvPr id="9" name="Text 6"/>
          <p:cNvSpPr/>
          <p:nvPr/>
        </p:nvSpPr>
        <p:spPr>
          <a:xfrm>
            <a:off x="4049092" y="2771701"/>
            <a:ext cx="4474815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personal data AI applications collect and how that data could be exposed or exploited</a:t>
            </a:r>
            <a:endParaRPr lang="en-US" sz="1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7B49FD-A2C6-6880-D8D9-8F8962E909E7}"/>
              </a:ext>
            </a:extLst>
          </p:cNvPr>
          <p:cNvGrpSpPr/>
          <p:nvPr/>
        </p:nvGrpSpPr>
        <p:grpSpPr>
          <a:xfrm>
            <a:off x="3925119" y="3515841"/>
            <a:ext cx="4722763" cy="1066651"/>
            <a:chOff x="3925119" y="3515841"/>
            <a:chExt cx="4722763" cy="1066651"/>
          </a:xfrm>
        </p:grpSpPr>
        <p:sp>
          <p:nvSpPr>
            <p:cNvPr id="10" name="Shape 7"/>
            <p:cNvSpPr/>
            <p:nvPr/>
          </p:nvSpPr>
          <p:spPr>
            <a:xfrm>
              <a:off x="3925119" y="3515841"/>
              <a:ext cx="4722763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8"/>
            <p:cNvSpPr/>
            <p:nvPr/>
          </p:nvSpPr>
          <p:spPr>
            <a:xfrm>
              <a:off x="4049092" y="3639815"/>
              <a:ext cx="447481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Accountability</a:t>
              </a:r>
              <a:endParaRPr lang="en-US" sz="1200" dirty="0"/>
            </a:p>
          </p:txBody>
        </p:sp>
      </p:grpSp>
      <p:sp>
        <p:nvSpPr>
          <p:cNvPr id="12" name="Text 9"/>
          <p:cNvSpPr/>
          <p:nvPr/>
        </p:nvSpPr>
        <p:spPr>
          <a:xfrm>
            <a:off x="4049092" y="3962326"/>
            <a:ext cx="4474815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Who's responsible when AI in this domain fails or causes harm - the developer, the user, the company?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99852"/>
            <a:ext cx="640266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Safety Questions to Ask About Your Domain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412" y="2061642"/>
            <a:ext cx="167432" cy="16743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E25C35A-3A86-3D9C-392D-835D9F33CF25}"/>
              </a:ext>
            </a:extLst>
          </p:cNvPr>
          <p:cNvGrpSpPr/>
          <p:nvPr/>
        </p:nvGrpSpPr>
        <p:grpSpPr>
          <a:xfrm>
            <a:off x="496119" y="1835423"/>
            <a:ext cx="4013895" cy="992088"/>
            <a:chOff x="496119" y="1835423"/>
            <a:chExt cx="4013895" cy="992088"/>
          </a:xfrm>
        </p:grpSpPr>
        <p:sp>
          <p:nvSpPr>
            <p:cNvPr id="3" name="Shape 1"/>
            <p:cNvSpPr/>
            <p:nvPr/>
          </p:nvSpPr>
          <p:spPr>
            <a:xfrm>
              <a:off x="496119" y="1835423"/>
              <a:ext cx="401389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092" y="1959397"/>
              <a:ext cx="372070" cy="372070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620092" y="2455441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Realistic Misuse</a:t>
              </a:r>
              <a:endParaRPr lang="en-US" sz="1200" dirty="0"/>
            </a:p>
          </p:txBody>
        </p:sp>
      </p:grp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0280" y="2061642"/>
            <a:ext cx="167432" cy="16743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A67CE4F-26D9-9569-C21A-E5C378F4658F}"/>
              </a:ext>
            </a:extLst>
          </p:cNvPr>
          <p:cNvGrpSpPr/>
          <p:nvPr/>
        </p:nvGrpSpPr>
        <p:grpSpPr>
          <a:xfrm>
            <a:off x="4633987" y="1835423"/>
            <a:ext cx="4013895" cy="992088"/>
            <a:chOff x="4633987" y="1835423"/>
            <a:chExt cx="4013895" cy="992088"/>
          </a:xfrm>
        </p:grpSpPr>
        <p:sp>
          <p:nvSpPr>
            <p:cNvPr id="7" name="Shape 3"/>
            <p:cNvSpPr/>
            <p:nvPr/>
          </p:nvSpPr>
          <p:spPr>
            <a:xfrm>
              <a:off x="4633987" y="1835423"/>
              <a:ext cx="401389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57961" y="1959397"/>
              <a:ext cx="372070" cy="372070"/>
            </a:xfrm>
            <a:prstGeom prst="rect">
              <a:avLst/>
            </a:prstGeom>
          </p:spPr>
        </p:pic>
        <p:sp>
          <p:nvSpPr>
            <p:cNvPr id="10" name="Text 4"/>
            <p:cNvSpPr/>
            <p:nvPr/>
          </p:nvSpPr>
          <p:spPr>
            <a:xfrm>
              <a:off x="4757961" y="2455441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Sensitive Data</a:t>
              </a:r>
              <a:endParaRPr lang="en-US" sz="1200" dirty="0"/>
            </a:p>
          </p:txBody>
        </p:sp>
      </p:grp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412" y="3177704"/>
            <a:ext cx="167432" cy="16743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FB10F28-A9FD-48EA-B06B-B593DF5D495D}"/>
              </a:ext>
            </a:extLst>
          </p:cNvPr>
          <p:cNvGrpSpPr/>
          <p:nvPr/>
        </p:nvGrpSpPr>
        <p:grpSpPr>
          <a:xfrm>
            <a:off x="496119" y="2951485"/>
            <a:ext cx="4013895" cy="992088"/>
            <a:chOff x="496119" y="2951485"/>
            <a:chExt cx="4013895" cy="992088"/>
          </a:xfrm>
        </p:grpSpPr>
        <p:sp>
          <p:nvSpPr>
            <p:cNvPr id="11" name="Shape 5"/>
            <p:cNvSpPr/>
            <p:nvPr/>
          </p:nvSpPr>
          <p:spPr>
            <a:xfrm>
              <a:off x="496119" y="2951485"/>
              <a:ext cx="401389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0092" y="3075459"/>
              <a:ext cx="372070" cy="372070"/>
            </a:xfrm>
            <a:prstGeom prst="rect">
              <a:avLst/>
            </a:prstGeom>
          </p:spPr>
        </p:pic>
        <p:sp>
          <p:nvSpPr>
            <p:cNvPr id="14" name="Text 6"/>
            <p:cNvSpPr/>
            <p:nvPr/>
          </p:nvSpPr>
          <p:spPr>
            <a:xfrm>
              <a:off x="620092" y="3571503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Accountability Gap</a:t>
              </a:r>
              <a:endParaRPr lang="en-US" sz="1200" dirty="0"/>
            </a:p>
          </p:txBody>
        </p:sp>
      </p:grpSp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60280" y="3177704"/>
            <a:ext cx="167432" cy="16743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D0ED4A2-B38A-84B0-4128-7FC8C658647B}"/>
              </a:ext>
            </a:extLst>
          </p:cNvPr>
          <p:cNvGrpSpPr/>
          <p:nvPr/>
        </p:nvGrpSpPr>
        <p:grpSpPr>
          <a:xfrm>
            <a:off x="4633987" y="2951485"/>
            <a:ext cx="4013895" cy="992088"/>
            <a:chOff x="4633987" y="2951485"/>
            <a:chExt cx="4013895" cy="992088"/>
          </a:xfrm>
        </p:grpSpPr>
        <p:sp>
          <p:nvSpPr>
            <p:cNvPr id="15" name="Shape 7"/>
            <p:cNvSpPr/>
            <p:nvPr/>
          </p:nvSpPr>
          <p:spPr>
            <a:xfrm>
              <a:off x="4633987" y="2951485"/>
              <a:ext cx="401389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6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57961" y="3075459"/>
              <a:ext cx="372070" cy="372070"/>
            </a:xfrm>
            <a:prstGeom prst="rect">
              <a:avLst/>
            </a:prstGeom>
          </p:spPr>
        </p:pic>
        <p:sp>
          <p:nvSpPr>
            <p:cNvPr id="18" name="Text 8"/>
            <p:cNvSpPr/>
            <p:nvPr/>
          </p:nvSpPr>
          <p:spPr>
            <a:xfrm>
              <a:off x="4757961" y="3571503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User Concerns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7323"/>
            <a:ext cx="414449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Safety - A Concrete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64431"/>
            <a:ext cx="342334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Food Allergy Management for Children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583010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serious safety concern in this domain is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misplaced trust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Sources reported that consumer-facing allergen detection tools often present results with high confidence even when wrong.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031" y="2218730"/>
            <a:ext cx="372070" cy="37207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8652" y="2330351"/>
            <a:ext cx="148828" cy="1488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3BBD62B-7DB9-208B-4509-04D5B9B25221}"/>
              </a:ext>
            </a:extLst>
          </p:cNvPr>
          <p:cNvGrpSpPr/>
          <p:nvPr/>
        </p:nvGrpSpPr>
        <p:grpSpPr>
          <a:xfrm>
            <a:off x="496119" y="2390477"/>
            <a:ext cx="4013895" cy="2025626"/>
            <a:chOff x="496119" y="2390477"/>
            <a:chExt cx="4013895" cy="2025626"/>
          </a:xfrm>
        </p:grpSpPr>
        <p:sp>
          <p:nvSpPr>
            <p:cNvPr id="5" name="Shape 3"/>
            <p:cNvSpPr/>
            <p:nvPr/>
          </p:nvSpPr>
          <p:spPr>
            <a:xfrm>
              <a:off x="496119" y="2404765"/>
              <a:ext cx="4013895" cy="2011338"/>
            </a:xfrm>
            <a:prstGeom prst="roundRect">
              <a:avLst>
                <a:gd name="adj" fmla="val 341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119" y="2390477"/>
              <a:ext cx="4013895" cy="57150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634380" y="2714848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Exploration Revealed</a:t>
              </a:r>
              <a:endParaRPr lang="en-US" sz="120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634380" y="3037359"/>
              <a:ext cx="3737372" cy="9923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When the classifier confidently misidentified a Snickers bar as peanut-free - the failure mode most likely to cause harm - a trusting parent or child could face a life-threatening allergic reaction.</a:t>
              </a:r>
              <a:endParaRPr lang="en-US" sz="1200" dirty="0"/>
            </a:p>
          </p:txBody>
        </p:sp>
      </p:grp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899" y="2218730"/>
            <a:ext cx="372070" cy="37207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6520" y="2330351"/>
            <a:ext cx="148828" cy="14882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FF47D82-BFD0-25E6-AA83-BBEFEB70D1AF}"/>
              </a:ext>
            </a:extLst>
          </p:cNvPr>
          <p:cNvGrpSpPr/>
          <p:nvPr/>
        </p:nvGrpSpPr>
        <p:grpSpPr>
          <a:xfrm>
            <a:off x="4633987" y="2390477"/>
            <a:ext cx="4013895" cy="2025626"/>
            <a:chOff x="4633987" y="2390477"/>
            <a:chExt cx="4013895" cy="2025626"/>
          </a:xfrm>
        </p:grpSpPr>
        <p:sp>
          <p:nvSpPr>
            <p:cNvPr id="11" name="Shape 6"/>
            <p:cNvSpPr/>
            <p:nvPr/>
          </p:nvSpPr>
          <p:spPr>
            <a:xfrm>
              <a:off x="4633987" y="2404765"/>
              <a:ext cx="4013895" cy="2011338"/>
            </a:xfrm>
            <a:prstGeom prst="roundRect">
              <a:avLst>
                <a:gd name="adj" fmla="val 341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33987" y="2390477"/>
              <a:ext cx="4013895" cy="57150"/>
            </a:xfrm>
            <a:prstGeom prst="rect">
              <a:avLst/>
            </a:prstGeom>
          </p:spPr>
        </p:pic>
        <p:sp>
          <p:nvSpPr>
            <p:cNvPr id="15" name="Text 7"/>
            <p:cNvSpPr/>
            <p:nvPr/>
          </p:nvSpPr>
          <p:spPr>
            <a:xfrm>
              <a:off x="4772248" y="2714848"/>
              <a:ext cx="37373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Accountability Problem</a:t>
              </a:r>
              <a:endParaRPr lang="en-US" sz="1200" dirty="0"/>
            </a:p>
          </p:txBody>
        </p:sp>
      </p:grpSp>
      <p:sp>
        <p:nvSpPr>
          <p:cNvPr id="16" name="Text 8"/>
          <p:cNvSpPr/>
          <p:nvPr/>
        </p:nvSpPr>
        <p:spPr>
          <a:xfrm>
            <a:off x="4772248" y="3037359"/>
            <a:ext cx="3737372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 misclassification causes a child to consume an allergen, responsibility is spread across the parent, tool maker, and hosting platform - with no clear standard governing AI accessibility tools for vulnerable populations like children with allergies.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963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Lens 3 - Ethics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861" y="2293218"/>
            <a:ext cx="372070" cy="37207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7482" y="2404839"/>
            <a:ext cx="148828" cy="14882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EAB82B0-B54C-92DA-F5A0-C30206ECA861}"/>
              </a:ext>
            </a:extLst>
          </p:cNvPr>
          <p:cNvGrpSpPr/>
          <p:nvPr/>
        </p:nvGrpSpPr>
        <p:grpSpPr>
          <a:xfrm>
            <a:off x="496119" y="2464966"/>
            <a:ext cx="1491555" cy="958825"/>
            <a:chOff x="496119" y="2464966"/>
            <a:chExt cx="1491555" cy="958825"/>
          </a:xfrm>
        </p:grpSpPr>
        <p:sp>
          <p:nvSpPr>
            <p:cNvPr id="4" name="Shape 1"/>
            <p:cNvSpPr/>
            <p:nvPr/>
          </p:nvSpPr>
          <p:spPr>
            <a:xfrm>
              <a:off x="496119" y="2479253"/>
              <a:ext cx="1491555" cy="944538"/>
            </a:xfrm>
            <a:prstGeom prst="roundRect">
              <a:avLst>
                <a:gd name="adj" fmla="val 7261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6119" y="2464966"/>
              <a:ext cx="1491555" cy="57150"/>
            </a:xfrm>
            <a:prstGeom prst="rect">
              <a:avLst/>
            </a:prstGeom>
          </p:spPr>
        </p:pic>
        <p:sp>
          <p:nvSpPr>
            <p:cNvPr id="8" name="Text 2"/>
            <p:cNvSpPr/>
            <p:nvPr/>
          </p:nvSpPr>
          <p:spPr>
            <a:xfrm>
              <a:off x="634380" y="2789337"/>
              <a:ext cx="121503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Who Benefits?</a:t>
              </a:r>
              <a:endParaRPr lang="en-US" sz="1200" dirty="0"/>
            </a:p>
          </p:txBody>
        </p:sp>
      </p:grpSp>
      <p:pic>
        <p:nvPicPr>
          <p:cNvPr id="1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83012" y="2404839"/>
            <a:ext cx="148828" cy="148828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390" y="2293218"/>
            <a:ext cx="372070" cy="37207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FE60A20-BFF6-FE78-88BC-1D69332B6A9B}"/>
              </a:ext>
            </a:extLst>
          </p:cNvPr>
          <p:cNvGrpSpPr/>
          <p:nvPr/>
        </p:nvGrpSpPr>
        <p:grpSpPr>
          <a:xfrm>
            <a:off x="2111648" y="2464966"/>
            <a:ext cx="1491630" cy="958825"/>
            <a:chOff x="2111648" y="2464966"/>
            <a:chExt cx="1491630" cy="958825"/>
          </a:xfrm>
        </p:grpSpPr>
        <p:sp>
          <p:nvSpPr>
            <p:cNvPr id="9" name="Shape 3"/>
            <p:cNvSpPr/>
            <p:nvPr/>
          </p:nvSpPr>
          <p:spPr>
            <a:xfrm>
              <a:off x="2111648" y="2479253"/>
              <a:ext cx="1491630" cy="944538"/>
            </a:xfrm>
            <a:prstGeom prst="roundRect">
              <a:avLst>
                <a:gd name="adj" fmla="val 7261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0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11648" y="2464966"/>
              <a:ext cx="1491630" cy="57150"/>
            </a:xfrm>
            <a:prstGeom prst="rect">
              <a:avLst/>
            </a:prstGeom>
          </p:spPr>
        </p:pic>
        <p:sp>
          <p:nvSpPr>
            <p:cNvPr id="13" name="Text 4"/>
            <p:cNvSpPr/>
            <p:nvPr/>
          </p:nvSpPr>
          <p:spPr>
            <a:xfrm>
              <a:off x="2249909" y="2789337"/>
              <a:ext cx="121510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Who Could Be Harmed?</a:t>
              </a:r>
              <a:endParaRPr lang="en-US" sz="1200" dirty="0"/>
            </a:p>
          </p:txBody>
        </p:sp>
      </p:grp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994" y="2293218"/>
            <a:ext cx="372070" cy="37207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8615" y="2404839"/>
            <a:ext cx="148828" cy="14882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34120E8-1F75-6A77-1349-393293B405C6}"/>
              </a:ext>
            </a:extLst>
          </p:cNvPr>
          <p:cNvGrpSpPr/>
          <p:nvPr/>
        </p:nvGrpSpPr>
        <p:grpSpPr>
          <a:xfrm>
            <a:off x="3727252" y="2464966"/>
            <a:ext cx="1491630" cy="958825"/>
            <a:chOff x="3727252" y="2464966"/>
            <a:chExt cx="1491630" cy="958825"/>
          </a:xfrm>
        </p:grpSpPr>
        <p:sp>
          <p:nvSpPr>
            <p:cNvPr id="14" name="Shape 5"/>
            <p:cNvSpPr/>
            <p:nvPr/>
          </p:nvSpPr>
          <p:spPr>
            <a:xfrm>
              <a:off x="3727252" y="2479253"/>
              <a:ext cx="1491630" cy="944538"/>
            </a:xfrm>
            <a:prstGeom prst="roundRect">
              <a:avLst>
                <a:gd name="adj" fmla="val 7261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7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27252" y="2464966"/>
              <a:ext cx="1491630" cy="57150"/>
            </a:xfrm>
            <a:prstGeom prst="rect">
              <a:avLst/>
            </a:prstGeom>
          </p:spPr>
        </p:pic>
        <p:sp>
          <p:nvSpPr>
            <p:cNvPr id="18" name="Text 6"/>
            <p:cNvSpPr/>
            <p:nvPr/>
          </p:nvSpPr>
          <p:spPr>
            <a:xfrm>
              <a:off x="3865513" y="2789337"/>
              <a:ext cx="121510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Values in Tension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1430"/>
            <a:ext cx="418266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Lens 4 - Human-in-the-Loop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083" y="1597000"/>
            <a:ext cx="6383759" cy="2584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55069" y="2667526"/>
            <a:ext cx="1431730" cy="45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Existing Oversight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863007" y="2663451"/>
            <a:ext cx="1431730" cy="45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Missing Oversight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73746" y="2659375"/>
            <a:ext cx="1431730" cy="4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Recommended HITL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5558"/>
            <a:ext cx="337110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Lens 5 - Voice Integrity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179141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939AF6-967C-49CC-B1AD-1C99E082187D}"/>
              </a:ext>
            </a:extLst>
          </p:cNvPr>
          <p:cNvGrpSpPr/>
          <p:nvPr/>
        </p:nvGrpSpPr>
        <p:grpSpPr>
          <a:xfrm>
            <a:off x="3910831" y="2517130"/>
            <a:ext cx="1505843" cy="1020812"/>
            <a:chOff x="3910831" y="2517130"/>
            <a:chExt cx="1505843" cy="1020812"/>
          </a:xfrm>
        </p:grpSpPr>
        <p:sp>
          <p:nvSpPr>
            <p:cNvPr id="5" name="Shape 2"/>
            <p:cNvSpPr/>
            <p:nvPr/>
          </p:nvSpPr>
          <p:spPr>
            <a:xfrm>
              <a:off x="3925119" y="2517130"/>
              <a:ext cx="1491555" cy="1020812"/>
            </a:xfrm>
            <a:prstGeom prst="roundRect">
              <a:avLst>
                <a:gd name="adj" fmla="val 671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10831" y="2517130"/>
              <a:ext cx="57150" cy="1020812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4106242" y="2655391"/>
              <a:ext cx="1172170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 Paraphrased AI Output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A9F5395-7A49-8973-C518-F37A31B1A446}"/>
              </a:ext>
            </a:extLst>
          </p:cNvPr>
          <p:cNvGrpSpPr/>
          <p:nvPr/>
        </p:nvGrpSpPr>
        <p:grpSpPr>
          <a:xfrm>
            <a:off x="5526360" y="2517130"/>
            <a:ext cx="1505918" cy="1020812"/>
            <a:chOff x="5526360" y="2517130"/>
            <a:chExt cx="1505918" cy="1020812"/>
          </a:xfrm>
        </p:grpSpPr>
        <p:sp>
          <p:nvSpPr>
            <p:cNvPr id="8" name="Shape 4"/>
            <p:cNvSpPr/>
            <p:nvPr/>
          </p:nvSpPr>
          <p:spPr>
            <a:xfrm>
              <a:off x="5540648" y="2517130"/>
              <a:ext cx="1491630" cy="1020812"/>
            </a:xfrm>
            <a:prstGeom prst="roundRect">
              <a:avLst>
                <a:gd name="adj" fmla="val 671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6360" y="2517130"/>
              <a:ext cx="57150" cy="1020812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5721772" y="2655391"/>
              <a:ext cx="1172245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 Copy-Pasted from a Source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B645CF-F571-AF55-23AB-655BAFED7792}"/>
              </a:ext>
            </a:extLst>
          </p:cNvPr>
          <p:cNvGrpSpPr/>
          <p:nvPr/>
        </p:nvGrpSpPr>
        <p:grpSpPr>
          <a:xfrm>
            <a:off x="7141964" y="2517130"/>
            <a:ext cx="1505918" cy="1020812"/>
            <a:chOff x="7141964" y="2517130"/>
            <a:chExt cx="1505918" cy="1020812"/>
          </a:xfrm>
        </p:grpSpPr>
        <p:sp>
          <p:nvSpPr>
            <p:cNvPr id="11" name="Shape 6"/>
            <p:cNvSpPr/>
            <p:nvPr/>
          </p:nvSpPr>
          <p:spPr>
            <a:xfrm>
              <a:off x="7156252" y="2517130"/>
              <a:ext cx="1491630" cy="1020812"/>
            </a:xfrm>
            <a:prstGeom prst="roundRect">
              <a:avLst>
                <a:gd name="adj" fmla="val 671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41964" y="2517130"/>
              <a:ext cx="57150" cy="1020812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7337375" y="2655391"/>
              <a:ext cx="1172245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Your Voice, Your Reasoning, Your Judgment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6960"/>
            <a:ext cx="318068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AI-Sounding Phrases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72530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E061F2-DC7C-D476-EC0D-4DC132389245}"/>
              </a:ext>
            </a:extLst>
          </p:cNvPr>
          <p:cNvGrpSpPr/>
          <p:nvPr/>
        </p:nvGrpSpPr>
        <p:grpSpPr>
          <a:xfrm>
            <a:off x="496119" y="2010519"/>
            <a:ext cx="1944960" cy="744141"/>
            <a:chOff x="496119" y="2010519"/>
            <a:chExt cx="1944960" cy="744141"/>
          </a:xfrm>
        </p:grpSpPr>
        <p:sp>
          <p:nvSpPr>
            <p:cNvPr id="4" name="Shape 2"/>
            <p:cNvSpPr/>
            <p:nvPr/>
          </p:nvSpPr>
          <p:spPr>
            <a:xfrm>
              <a:off x="496119" y="2010519"/>
              <a:ext cx="1944960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134493"/>
              <a:ext cx="1697013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Overly Polished Sentences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760B06-E6F3-C245-C716-A21A75381948}"/>
              </a:ext>
            </a:extLst>
          </p:cNvPr>
          <p:cNvGrpSpPr/>
          <p:nvPr/>
        </p:nvGrpSpPr>
        <p:grpSpPr>
          <a:xfrm>
            <a:off x="2565053" y="2010519"/>
            <a:ext cx="1944960" cy="744141"/>
            <a:chOff x="2565053" y="2010519"/>
            <a:chExt cx="1944960" cy="744141"/>
          </a:xfrm>
        </p:grpSpPr>
        <p:sp>
          <p:nvSpPr>
            <p:cNvPr id="6" name="Shape 4"/>
            <p:cNvSpPr/>
            <p:nvPr/>
          </p:nvSpPr>
          <p:spPr>
            <a:xfrm>
              <a:off x="2565053" y="2010519"/>
              <a:ext cx="1944960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689027" y="2134493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Hollow Phrases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7CCF1F-EAB0-908A-7178-D45B0DA8D984}"/>
              </a:ext>
            </a:extLst>
          </p:cNvPr>
          <p:cNvGrpSpPr/>
          <p:nvPr/>
        </p:nvGrpSpPr>
        <p:grpSpPr>
          <a:xfrm>
            <a:off x="4633987" y="2010519"/>
            <a:ext cx="1944960" cy="744141"/>
            <a:chOff x="4633987" y="2010519"/>
            <a:chExt cx="1944960" cy="744141"/>
          </a:xfrm>
        </p:grpSpPr>
        <p:sp>
          <p:nvSpPr>
            <p:cNvPr id="8" name="Shape 6"/>
            <p:cNvSpPr/>
            <p:nvPr/>
          </p:nvSpPr>
          <p:spPr>
            <a:xfrm>
              <a:off x="4633987" y="2010519"/>
              <a:ext cx="1944960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4757961" y="2134493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Unusual Vocabulary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D33954-BDE2-FB98-F75A-CD1385F31A2B}"/>
              </a:ext>
            </a:extLst>
          </p:cNvPr>
          <p:cNvGrpSpPr/>
          <p:nvPr/>
        </p:nvGrpSpPr>
        <p:grpSpPr>
          <a:xfrm>
            <a:off x="6702921" y="2010519"/>
            <a:ext cx="1944960" cy="744141"/>
            <a:chOff x="6702921" y="2010519"/>
            <a:chExt cx="1944960" cy="744141"/>
          </a:xfrm>
        </p:grpSpPr>
        <p:sp>
          <p:nvSpPr>
            <p:cNvPr id="10" name="Shape 8"/>
            <p:cNvSpPr/>
            <p:nvPr/>
          </p:nvSpPr>
          <p:spPr>
            <a:xfrm>
              <a:off x="6702921" y="2010519"/>
              <a:ext cx="1944960" cy="744141"/>
            </a:xfrm>
            <a:prstGeom prst="roundRect">
              <a:avLst>
                <a:gd name="adj" fmla="val 2500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6826895" y="2134493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Generic Claims</a:t>
              </a:r>
              <a:endParaRPr lang="en-US" sz="12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496119" y="289418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1421C5-BDA4-F066-71E5-93F572AD834B}"/>
              </a:ext>
            </a:extLst>
          </p:cNvPr>
          <p:cNvGrpSpPr/>
          <p:nvPr/>
        </p:nvGrpSpPr>
        <p:grpSpPr>
          <a:xfrm>
            <a:off x="496119" y="3281809"/>
            <a:ext cx="8151763" cy="824731"/>
            <a:chOff x="496119" y="3281809"/>
            <a:chExt cx="8151763" cy="824731"/>
          </a:xfrm>
        </p:grpSpPr>
        <p:sp>
          <p:nvSpPr>
            <p:cNvPr id="13" name="Shape 11"/>
            <p:cNvSpPr/>
            <p:nvPr/>
          </p:nvSpPr>
          <p:spPr>
            <a:xfrm>
              <a:off x="496119" y="3281809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477295"/>
              <a:ext cx="193774" cy="155004"/>
            </a:xfrm>
            <a:prstGeom prst="rect">
              <a:avLst/>
            </a:prstGeom>
          </p:spPr>
        </p:pic>
        <p:sp>
          <p:nvSpPr>
            <p:cNvPr id="15" name="Text 12"/>
            <p:cNvSpPr/>
            <p:nvPr/>
          </p:nvSpPr>
          <p:spPr>
            <a:xfrm>
              <a:off x="937840" y="3436739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When you spot these, rewrite in your own words. Don't just swap one phrase for another - actually think through what you mean.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3569"/>
            <a:ext cx="51424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Drafting Bias &amp; Fairness -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4913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this structure for your Bias &amp; Fairness section. Follow the sequence, then check your target word count by grade.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D4961C-D6B5-D876-36F4-3A62999E4ADC}"/>
              </a:ext>
            </a:extLst>
          </p:cNvPr>
          <p:cNvGrpSpPr/>
          <p:nvPr/>
        </p:nvGrpSpPr>
        <p:grpSpPr>
          <a:xfrm>
            <a:off x="496119" y="2394942"/>
            <a:ext cx="1944960" cy="744140"/>
            <a:chOff x="496119" y="2394942"/>
            <a:chExt cx="1944960" cy="744140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119" y="2394942"/>
              <a:ext cx="1944960" cy="714375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620092" y="2890986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State the Issue</a:t>
              </a:r>
              <a:endParaRPr lang="en-US" sz="1200" dirty="0"/>
            </a:p>
          </p:txBody>
        </p:sp>
      </p:grpSp>
      <p:sp>
        <p:nvSpPr>
          <p:cNvPr id="6" name="Text 3"/>
          <p:cNvSpPr/>
          <p:nvPr/>
        </p:nvSpPr>
        <p:spPr>
          <a:xfrm>
            <a:off x="620092" y="3213497"/>
            <a:ext cx="169701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the most important bias issue in AI applications in your domain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9485D5-70D1-46C2-E422-8BD5618FE671}"/>
              </a:ext>
            </a:extLst>
          </p:cNvPr>
          <p:cNvGrpSpPr/>
          <p:nvPr/>
        </p:nvGrpSpPr>
        <p:grpSpPr>
          <a:xfrm>
            <a:off x="2565053" y="2208833"/>
            <a:ext cx="1944960" cy="744140"/>
            <a:chOff x="2565053" y="2208833"/>
            <a:chExt cx="1944960" cy="744140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5053" y="2208833"/>
              <a:ext cx="1944960" cy="714375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2689027" y="2704877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Show Source Evidence</a:t>
              </a:r>
              <a:endParaRPr lang="en-US" sz="1200" dirty="0"/>
            </a:p>
          </p:txBody>
        </p:sp>
      </p:grpSp>
      <p:sp>
        <p:nvSpPr>
          <p:cNvPr id="9" name="Text 5"/>
          <p:cNvSpPr/>
          <p:nvPr/>
        </p:nvSpPr>
        <p:spPr>
          <a:xfrm>
            <a:off x="2689027" y="3027387"/>
            <a:ext cx="169701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your sources reveal about who AI in this domain works for and against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9279F2B-C38C-E1D7-319F-E12C99A3C8DA}"/>
              </a:ext>
            </a:extLst>
          </p:cNvPr>
          <p:cNvGrpSpPr/>
          <p:nvPr/>
        </p:nvGrpSpPr>
        <p:grpSpPr>
          <a:xfrm>
            <a:off x="4633987" y="2022797"/>
            <a:ext cx="1944960" cy="992238"/>
            <a:chOff x="4633987" y="2022797"/>
            <a:chExt cx="1944960" cy="992238"/>
          </a:xfrm>
        </p:grpSpPr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3987" y="2022797"/>
              <a:ext cx="1944960" cy="714375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4757961" y="2518842"/>
              <a:ext cx="1697013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Show Exploration Evidence</a:t>
              </a:r>
              <a:endParaRPr lang="en-US" sz="1200" dirty="0"/>
            </a:p>
          </p:txBody>
        </p:sp>
      </p:grpSp>
      <p:sp>
        <p:nvSpPr>
          <p:cNvPr id="12" name="Text 7"/>
          <p:cNvSpPr/>
          <p:nvPr/>
        </p:nvSpPr>
        <p:spPr>
          <a:xfrm>
            <a:off x="4757961" y="3089449"/>
            <a:ext cx="169701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your hands-on exploration revealed about bias patterns</a:t>
            </a: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28C30C-AC81-CE5A-902E-E52E83D5C903}"/>
              </a:ext>
            </a:extLst>
          </p:cNvPr>
          <p:cNvGrpSpPr/>
          <p:nvPr/>
        </p:nvGrpSpPr>
        <p:grpSpPr>
          <a:xfrm>
            <a:off x="6702921" y="1836762"/>
            <a:ext cx="1944960" cy="744140"/>
            <a:chOff x="6702921" y="1836762"/>
            <a:chExt cx="1944960" cy="744140"/>
          </a:xfrm>
        </p:grpSpPr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2921" y="1836762"/>
              <a:ext cx="1944960" cy="714375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6826895" y="2332806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Connect to Frameworks</a:t>
              </a:r>
              <a:endParaRPr lang="en-US" sz="1200" dirty="0"/>
            </a:p>
          </p:txBody>
        </p:sp>
      </p:grpSp>
      <p:sp>
        <p:nvSpPr>
          <p:cNvPr id="15" name="Text 9"/>
          <p:cNvSpPr/>
          <p:nvPr/>
        </p:nvSpPr>
        <p:spPr>
          <a:xfrm>
            <a:off x="6826895" y="2655317"/>
            <a:ext cx="169701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to broader bias frameworks where relevant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9521"/>
            <a:ext cx="591889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Drafting Safety &amp; Governance -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25091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this structure for your Safety &amp; Governance section. Integrate Ethics and Human-in-the-Loop observations here - they don't get separate sections.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0A1CDA-AB32-E6F4-7FA0-1BD221226BA6}"/>
              </a:ext>
            </a:extLst>
          </p:cNvPr>
          <p:cNvGrpSpPr/>
          <p:nvPr/>
        </p:nvGrpSpPr>
        <p:grpSpPr>
          <a:xfrm>
            <a:off x="496119" y="2518990"/>
            <a:ext cx="1944960" cy="744141"/>
            <a:chOff x="496119" y="2518990"/>
            <a:chExt cx="1944960" cy="744141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119" y="2518990"/>
              <a:ext cx="1944960" cy="714375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620092" y="3015035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Name the Concerns</a:t>
              </a:r>
              <a:endParaRPr lang="en-US" sz="1200" dirty="0"/>
            </a:p>
          </p:txBody>
        </p:sp>
      </p:grpSp>
      <p:sp>
        <p:nvSpPr>
          <p:cNvPr id="6" name="Text 3"/>
          <p:cNvSpPr/>
          <p:nvPr/>
        </p:nvSpPr>
        <p:spPr>
          <a:xfrm>
            <a:off x="620092" y="3337545"/>
            <a:ext cx="169701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the most serious safety concerns in AI applications in your domain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F0A32C9-1E73-722C-9A4A-9753F5A96100}"/>
              </a:ext>
            </a:extLst>
          </p:cNvPr>
          <p:cNvGrpSpPr/>
          <p:nvPr/>
        </p:nvGrpSpPr>
        <p:grpSpPr>
          <a:xfrm>
            <a:off x="2565053" y="2332881"/>
            <a:ext cx="1944960" cy="992237"/>
            <a:chOff x="2565053" y="2332881"/>
            <a:chExt cx="1944960" cy="992237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5053" y="2332881"/>
              <a:ext cx="1944960" cy="714375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2689027" y="2828925"/>
              <a:ext cx="1697013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Address All Three Categories</a:t>
              </a:r>
              <a:endParaRPr lang="en-US" sz="1200" dirty="0"/>
            </a:p>
          </p:txBody>
        </p:sp>
      </p:grpSp>
      <p:sp>
        <p:nvSpPr>
          <p:cNvPr id="9" name="Text 5"/>
          <p:cNvSpPr/>
          <p:nvPr/>
        </p:nvSpPr>
        <p:spPr>
          <a:xfrm>
            <a:off x="2689027" y="3399532"/>
            <a:ext cx="169701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 misuse, privacy, and accountability - even briefly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BD46EE-D6B8-632A-25D1-A1282F86E7A6}"/>
              </a:ext>
            </a:extLst>
          </p:cNvPr>
          <p:cNvGrpSpPr/>
          <p:nvPr/>
        </p:nvGrpSpPr>
        <p:grpSpPr>
          <a:xfrm>
            <a:off x="4633987" y="2146846"/>
            <a:ext cx="1944960" cy="744140"/>
            <a:chOff x="4633987" y="2146846"/>
            <a:chExt cx="1944960" cy="744140"/>
          </a:xfrm>
        </p:grpSpPr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3987" y="2146846"/>
              <a:ext cx="1944960" cy="714375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4757961" y="2642890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Connect to Your Work</a:t>
              </a:r>
              <a:endParaRPr lang="en-US" sz="1200" dirty="0"/>
            </a:p>
          </p:txBody>
        </p:sp>
      </p:grpSp>
      <p:sp>
        <p:nvSpPr>
          <p:cNvPr id="12" name="Text 7"/>
          <p:cNvSpPr/>
          <p:nvPr/>
        </p:nvSpPr>
        <p:spPr>
          <a:xfrm>
            <a:off x="4757961" y="2965400"/>
            <a:ext cx="169701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to your hands-on observations and user testing findings</a:t>
            </a: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13B477-CEC0-BD6C-BF2B-A366D62BA821}"/>
              </a:ext>
            </a:extLst>
          </p:cNvPr>
          <p:cNvGrpSpPr/>
          <p:nvPr/>
        </p:nvGrpSpPr>
        <p:grpSpPr>
          <a:xfrm>
            <a:off x="6702921" y="1960811"/>
            <a:ext cx="1944960" cy="744140"/>
            <a:chOff x="6702921" y="1960811"/>
            <a:chExt cx="1944960" cy="744140"/>
          </a:xfrm>
        </p:grpSpPr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2921" y="1960811"/>
              <a:ext cx="1944960" cy="714375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6826895" y="2456855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Note Human Oversight</a:t>
              </a:r>
              <a:endParaRPr lang="en-US" sz="1200" dirty="0"/>
            </a:p>
          </p:txBody>
        </p:sp>
      </p:grpSp>
      <p:sp>
        <p:nvSpPr>
          <p:cNvPr id="15" name="Text 9"/>
          <p:cNvSpPr/>
          <p:nvPr/>
        </p:nvSpPr>
        <p:spPr>
          <a:xfrm>
            <a:off x="6826895" y="2779365"/>
            <a:ext cx="169701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human oversight is needed and what responsible deployment looks like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738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Polish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94309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Polish doesn't mean making sentences fancier. It means making your paper sharper, clearer, and more authentically yours.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74A454-28D6-DD00-8BAD-0398DA63D9E3}"/>
              </a:ext>
            </a:extLst>
          </p:cNvPr>
          <p:cNvGrpSpPr/>
          <p:nvPr/>
        </p:nvGrpSpPr>
        <p:grpSpPr>
          <a:xfrm>
            <a:off x="496119" y="2130028"/>
            <a:ext cx="2634555" cy="818555"/>
            <a:chOff x="496119" y="2130028"/>
            <a:chExt cx="2634555" cy="818555"/>
          </a:xfrm>
        </p:grpSpPr>
        <p:sp>
          <p:nvSpPr>
            <p:cNvPr id="4" name="Shape 2"/>
            <p:cNvSpPr/>
            <p:nvPr/>
          </p:nvSpPr>
          <p:spPr>
            <a:xfrm>
              <a:off x="496119" y="2130028"/>
              <a:ext cx="2634555" cy="818555"/>
            </a:xfrm>
            <a:prstGeom prst="roundRect">
              <a:avLst>
                <a:gd name="adj" fmla="val 227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254002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Remove Generated Phrasing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0092" y="2576513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0BCF09-853D-B26D-5279-19639B68608E}"/>
              </a:ext>
            </a:extLst>
          </p:cNvPr>
          <p:cNvGrpSpPr/>
          <p:nvPr/>
        </p:nvGrpSpPr>
        <p:grpSpPr>
          <a:xfrm>
            <a:off x="3254648" y="2130028"/>
            <a:ext cx="2634630" cy="818555"/>
            <a:chOff x="3254648" y="2130028"/>
            <a:chExt cx="2634630" cy="818555"/>
          </a:xfrm>
        </p:grpSpPr>
        <p:sp>
          <p:nvSpPr>
            <p:cNvPr id="7" name="Shape 5"/>
            <p:cNvSpPr/>
            <p:nvPr/>
          </p:nvSpPr>
          <p:spPr>
            <a:xfrm>
              <a:off x="3254648" y="2130028"/>
              <a:ext cx="2634630" cy="818555"/>
            </a:xfrm>
            <a:prstGeom prst="roundRect">
              <a:avLst>
                <a:gd name="adj" fmla="val 227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3378622" y="2254002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Make Claims Specific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0CFBA6D-9EF4-BDBC-20FA-F3858BE6BB6D}"/>
              </a:ext>
            </a:extLst>
          </p:cNvPr>
          <p:cNvGrpSpPr/>
          <p:nvPr/>
        </p:nvGrpSpPr>
        <p:grpSpPr>
          <a:xfrm>
            <a:off x="6013252" y="2130028"/>
            <a:ext cx="2634555" cy="818555"/>
            <a:chOff x="6013252" y="2130028"/>
            <a:chExt cx="2634555" cy="818555"/>
          </a:xfrm>
        </p:grpSpPr>
        <p:sp>
          <p:nvSpPr>
            <p:cNvPr id="9" name="Shape 7"/>
            <p:cNvSpPr/>
            <p:nvPr/>
          </p:nvSpPr>
          <p:spPr>
            <a:xfrm>
              <a:off x="6013252" y="2130028"/>
              <a:ext cx="2634555" cy="818555"/>
            </a:xfrm>
            <a:prstGeom prst="roundRect">
              <a:avLst>
                <a:gd name="adj" fmla="val 227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137225" y="2254002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Add Missing Citations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38BFA5-3987-6BBC-56ED-408249B341E6}"/>
              </a:ext>
            </a:extLst>
          </p:cNvPr>
          <p:cNvGrpSpPr/>
          <p:nvPr/>
        </p:nvGrpSpPr>
        <p:grpSpPr>
          <a:xfrm>
            <a:off x="496119" y="3072557"/>
            <a:ext cx="4013820" cy="496044"/>
            <a:chOff x="496119" y="3072557"/>
            <a:chExt cx="4013820" cy="496044"/>
          </a:xfrm>
        </p:grpSpPr>
        <p:sp>
          <p:nvSpPr>
            <p:cNvPr id="11" name="Shape 9"/>
            <p:cNvSpPr/>
            <p:nvPr/>
          </p:nvSpPr>
          <p:spPr>
            <a:xfrm>
              <a:off x="496119" y="3072557"/>
              <a:ext cx="401382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620092" y="3196530"/>
              <a:ext cx="37658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Improve Flow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F011D2-A216-330A-7BC1-EF87FD1EB517}"/>
              </a:ext>
            </a:extLst>
          </p:cNvPr>
          <p:cNvGrpSpPr/>
          <p:nvPr/>
        </p:nvGrpSpPr>
        <p:grpSpPr>
          <a:xfrm>
            <a:off x="4633913" y="3072557"/>
            <a:ext cx="4013895" cy="496044"/>
            <a:chOff x="4633913" y="3072557"/>
            <a:chExt cx="4013895" cy="496044"/>
          </a:xfrm>
        </p:grpSpPr>
        <p:sp>
          <p:nvSpPr>
            <p:cNvPr id="13" name="Shape 11"/>
            <p:cNvSpPr/>
            <p:nvPr/>
          </p:nvSpPr>
          <p:spPr>
            <a:xfrm>
              <a:off x="4633913" y="3072557"/>
              <a:ext cx="401389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4757886" y="3196530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Cut Filler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9838EF-54CD-E376-BAAA-E51C11CD490D}"/>
              </a:ext>
            </a:extLst>
          </p:cNvPr>
          <p:cNvGrpSpPr/>
          <p:nvPr/>
        </p:nvGrpSpPr>
        <p:grpSpPr>
          <a:xfrm>
            <a:off x="496119" y="3708127"/>
            <a:ext cx="8151763" cy="576635"/>
            <a:chOff x="496119" y="3708127"/>
            <a:chExt cx="8151763" cy="576635"/>
          </a:xfrm>
        </p:grpSpPr>
        <p:sp>
          <p:nvSpPr>
            <p:cNvPr id="15" name="Shape 13"/>
            <p:cNvSpPr/>
            <p:nvPr/>
          </p:nvSpPr>
          <p:spPr>
            <a:xfrm>
              <a:off x="496119" y="3708127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903613"/>
              <a:ext cx="193774" cy="155004"/>
            </a:xfrm>
            <a:prstGeom prst="rect">
              <a:avLst/>
            </a:prstGeom>
          </p:spPr>
        </p:pic>
        <p:sp>
          <p:nvSpPr>
            <p:cNvPr id="17" name="Text 14"/>
            <p:cNvSpPr/>
            <p:nvPr/>
          </p:nvSpPr>
          <p:spPr>
            <a:xfrm>
              <a:off x="937840" y="3863057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polished paper is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shorter, sharper, and more clearly in your voice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- not longer or more decorated.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396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Polish Order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3C1560-8C02-2125-B3DF-3157E5A67034}"/>
              </a:ext>
            </a:extLst>
          </p:cNvPr>
          <p:cNvGrpSpPr/>
          <p:nvPr/>
        </p:nvGrpSpPr>
        <p:grpSpPr>
          <a:xfrm>
            <a:off x="496119" y="1779538"/>
            <a:ext cx="1944960" cy="744140"/>
            <a:chOff x="496119" y="1779538"/>
            <a:chExt cx="1944960" cy="744140"/>
          </a:xfrm>
        </p:grpSpPr>
        <p:sp>
          <p:nvSpPr>
            <p:cNvPr id="3" name="Shape 1"/>
            <p:cNvSpPr/>
            <p:nvPr/>
          </p:nvSpPr>
          <p:spPr>
            <a:xfrm>
              <a:off x="496119" y="1779538"/>
              <a:ext cx="1944960" cy="372070"/>
            </a:xfrm>
            <a:prstGeom prst="roundRect">
              <a:avLst>
                <a:gd name="adj" fmla="val 48008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1375544" y="1849264"/>
              <a:ext cx="186035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1</a:t>
              </a:r>
              <a:endParaRPr lang="en-US" sz="145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275582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Read Aloud for Voice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36DBBD-EC66-1EE8-E18F-3E8261EE9025}"/>
              </a:ext>
            </a:extLst>
          </p:cNvPr>
          <p:cNvGrpSpPr/>
          <p:nvPr/>
        </p:nvGrpSpPr>
        <p:grpSpPr>
          <a:xfrm>
            <a:off x="2565053" y="1779538"/>
            <a:ext cx="1944960" cy="744140"/>
            <a:chOff x="2565053" y="1779538"/>
            <a:chExt cx="1944960" cy="744140"/>
          </a:xfrm>
        </p:grpSpPr>
        <p:sp>
          <p:nvSpPr>
            <p:cNvPr id="6" name="Shape 4"/>
            <p:cNvSpPr/>
            <p:nvPr/>
          </p:nvSpPr>
          <p:spPr>
            <a:xfrm>
              <a:off x="2565053" y="1779538"/>
              <a:ext cx="1944960" cy="372070"/>
            </a:xfrm>
            <a:prstGeom prst="roundRect">
              <a:avLst>
                <a:gd name="adj" fmla="val 48008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444478" y="1849264"/>
              <a:ext cx="186035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2</a:t>
              </a:r>
              <a:endParaRPr lang="en-US" sz="14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689027" y="2275582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Check Every Claim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0C98F4-4033-B149-EEA4-6B021C7CA04E}"/>
              </a:ext>
            </a:extLst>
          </p:cNvPr>
          <p:cNvGrpSpPr/>
          <p:nvPr/>
        </p:nvGrpSpPr>
        <p:grpSpPr>
          <a:xfrm>
            <a:off x="4633987" y="1779538"/>
            <a:ext cx="1944960" cy="744140"/>
            <a:chOff x="4633987" y="1779538"/>
            <a:chExt cx="1944960" cy="744140"/>
          </a:xfrm>
        </p:grpSpPr>
        <p:sp>
          <p:nvSpPr>
            <p:cNvPr id="9" name="Shape 7"/>
            <p:cNvSpPr/>
            <p:nvPr/>
          </p:nvSpPr>
          <p:spPr>
            <a:xfrm>
              <a:off x="4633987" y="1779538"/>
              <a:ext cx="1944960" cy="372070"/>
            </a:xfrm>
            <a:prstGeom prst="roundRect">
              <a:avLst>
                <a:gd name="adj" fmla="val 48008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5513412" y="1849264"/>
              <a:ext cx="186035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3</a:t>
              </a:r>
              <a:endParaRPr lang="en-US" sz="14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757961" y="2275582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Check Transitions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21AA62-B4D0-451C-ADEA-BA072845800C}"/>
              </a:ext>
            </a:extLst>
          </p:cNvPr>
          <p:cNvGrpSpPr/>
          <p:nvPr/>
        </p:nvGrpSpPr>
        <p:grpSpPr>
          <a:xfrm>
            <a:off x="6702921" y="1779538"/>
            <a:ext cx="1944960" cy="744140"/>
            <a:chOff x="6702921" y="1779538"/>
            <a:chExt cx="1944960" cy="744140"/>
          </a:xfrm>
        </p:grpSpPr>
        <p:sp>
          <p:nvSpPr>
            <p:cNvPr id="12" name="Shape 10"/>
            <p:cNvSpPr/>
            <p:nvPr/>
          </p:nvSpPr>
          <p:spPr>
            <a:xfrm>
              <a:off x="6702921" y="1779538"/>
              <a:ext cx="1944960" cy="372070"/>
            </a:xfrm>
            <a:prstGeom prst="roundRect">
              <a:avLst>
                <a:gd name="adj" fmla="val 48008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7582346" y="1849264"/>
              <a:ext cx="186035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4</a:t>
              </a:r>
              <a:endParaRPr lang="en-US" sz="14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826895" y="2275582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Cut Filler</a:t>
              </a:r>
              <a:endParaRPr lang="en-US" sz="12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496119" y="278717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E5C7AC-8144-086C-DDE7-58D9895F2429}"/>
              </a:ext>
            </a:extLst>
          </p:cNvPr>
          <p:cNvGrpSpPr/>
          <p:nvPr/>
        </p:nvGrpSpPr>
        <p:grpSpPr>
          <a:xfrm>
            <a:off x="496119" y="3174802"/>
            <a:ext cx="8151763" cy="824731"/>
            <a:chOff x="496119" y="3174802"/>
            <a:chExt cx="8151763" cy="824731"/>
          </a:xfrm>
        </p:grpSpPr>
        <p:sp>
          <p:nvSpPr>
            <p:cNvPr id="16" name="Shape 14"/>
            <p:cNvSpPr/>
            <p:nvPr/>
          </p:nvSpPr>
          <p:spPr>
            <a:xfrm>
              <a:off x="496119" y="3174802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370287"/>
              <a:ext cx="193774" cy="155004"/>
            </a:xfrm>
            <a:prstGeom prst="rect">
              <a:avLst/>
            </a:prstGeom>
          </p:spPr>
        </p:pic>
        <p:sp>
          <p:nvSpPr>
            <p:cNvPr id="18" name="Text 15"/>
            <p:cNvSpPr/>
            <p:nvPr/>
          </p:nvSpPr>
          <p:spPr>
            <a:xfrm>
              <a:off x="937840" y="3329732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Don't polish your draft until it's perfect - that's a trap. Polish until it's clearly in your voice, well-cited, and flows. Then stop.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9146"/>
            <a:ext cx="346710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Drafting the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64717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Conclusion summarizes what your investigation showed about AI in your domain. It does not introduce new findings.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300436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C794A1-C152-6B40-A36A-EFAD20CBB8B1}"/>
              </a:ext>
            </a:extLst>
          </p:cNvPr>
          <p:cNvGrpSpPr/>
          <p:nvPr/>
        </p:nvGrpSpPr>
        <p:grpSpPr>
          <a:xfrm>
            <a:off x="542627" y="2315914"/>
            <a:ext cx="1875160" cy="496193"/>
            <a:chOff x="542627" y="2315914"/>
            <a:chExt cx="1875160" cy="496193"/>
          </a:xfrm>
        </p:grpSpPr>
        <p:sp>
          <p:nvSpPr>
            <p:cNvPr id="5" name="Text 3"/>
            <p:cNvSpPr/>
            <p:nvPr/>
          </p:nvSpPr>
          <p:spPr>
            <a:xfrm>
              <a:off x="542627" y="2323691"/>
              <a:ext cx="186035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1</a:t>
              </a:r>
              <a:endParaRPr lang="en-US" sz="14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99145" y="2315914"/>
              <a:ext cx="1518642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Restate the Investigation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55D506-C6E3-5D7A-A429-A6DFE01E5D0E}"/>
              </a:ext>
            </a:extLst>
          </p:cNvPr>
          <p:cNvGrpSpPr/>
          <p:nvPr/>
        </p:nvGrpSpPr>
        <p:grpSpPr>
          <a:xfrm>
            <a:off x="4649465" y="2300436"/>
            <a:ext cx="1921669" cy="279053"/>
            <a:chOff x="4649465" y="2300436"/>
            <a:chExt cx="1921669" cy="279053"/>
          </a:xfrm>
        </p:grpSpPr>
        <p:sp>
          <p:nvSpPr>
            <p:cNvPr id="10" name="Shape 8"/>
            <p:cNvSpPr/>
            <p:nvPr/>
          </p:nvSpPr>
          <p:spPr>
            <a:xfrm>
              <a:off x="4649465" y="2300436"/>
              <a:ext cx="279053" cy="279053"/>
            </a:xfrm>
            <a:prstGeom prst="roundRect">
              <a:avLst>
                <a:gd name="adj" fmla="val 666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4695974" y="2323691"/>
              <a:ext cx="186035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3</a:t>
              </a:r>
              <a:endParaRPr lang="en-US" sz="14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052492" y="2315914"/>
              <a:ext cx="151864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State the Takeaway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B421A0D-D08F-D1AB-2EE7-B9AC022C67DD}"/>
              </a:ext>
            </a:extLst>
          </p:cNvPr>
          <p:cNvGrpSpPr/>
          <p:nvPr/>
        </p:nvGrpSpPr>
        <p:grpSpPr>
          <a:xfrm>
            <a:off x="6726138" y="2300436"/>
            <a:ext cx="1921744" cy="279053"/>
            <a:chOff x="6726138" y="2300436"/>
            <a:chExt cx="1921744" cy="279053"/>
          </a:xfrm>
        </p:grpSpPr>
        <p:sp>
          <p:nvSpPr>
            <p:cNvPr id="13" name="Shape 11"/>
            <p:cNvSpPr/>
            <p:nvPr/>
          </p:nvSpPr>
          <p:spPr>
            <a:xfrm>
              <a:off x="6726138" y="2300436"/>
              <a:ext cx="279053" cy="279053"/>
            </a:xfrm>
            <a:prstGeom prst="roundRect">
              <a:avLst>
                <a:gd name="adj" fmla="val 666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6772647" y="2323691"/>
              <a:ext cx="186035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4</a:t>
              </a:r>
              <a:endParaRPr lang="en-US" sz="14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129165" y="2315914"/>
              <a:ext cx="151871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Point Forward</a:t>
              </a:r>
              <a:endParaRPr lang="en-US" sz="12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496119" y="2951634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C7F7D7-2705-CF12-6F65-C00E7AD69B7B}"/>
              </a:ext>
            </a:extLst>
          </p:cNvPr>
          <p:cNvGrpSpPr/>
          <p:nvPr/>
        </p:nvGrpSpPr>
        <p:grpSpPr>
          <a:xfrm>
            <a:off x="496119" y="3289622"/>
            <a:ext cx="8151763" cy="824731"/>
            <a:chOff x="496119" y="3289622"/>
            <a:chExt cx="8151763" cy="824731"/>
          </a:xfrm>
        </p:grpSpPr>
        <p:sp>
          <p:nvSpPr>
            <p:cNvPr id="17" name="Shape 15"/>
            <p:cNvSpPr/>
            <p:nvPr/>
          </p:nvSpPr>
          <p:spPr>
            <a:xfrm>
              <a:off x="496119" y="3289622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485108"/>
              <a:ext cx="193774" cy="155004"/>
            </a:xfrm>
            <a:prstGeom prst="rect">
              <a:avLst/>
            </a:prstGeom>
          </p:spPr>
        </p:pic>
        <p:sp>
          <p:nvSpPr>
            <p:cNvPr id="19" name="Text 16"/>
            <p:cNvSpPr/>
            <p:nvPr/>
          </p:nvSpPr>
          <p:spPr>
            <a:xfrm>
              <a:off x="937840" y="3444553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Conclusion does not introduce new findings. Everything in it should connect back to something you already showed.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2FC96C-B7D2-BA82-19E5-A40617543F68}"/>
              </a:ext>
            </a:extLst>
          </p:cNvPr>
          <p:cNvGrpSpPr/>
          <p:nvPr/>
        </p:nvGrpSpPr>
        <p:grpSpPr>
          <a:xfrm>
            <a:off x="2572792" y="2300436"/>
            <a:ext cx="1921668" cy="279053"/>
            <a:chOff x="2572792" y="2300436"/>
            <a:chExt cx="1921668" cy="279053"/>
          </a:xfrm>
        </p:grpSpPr>
        <p:sp>
          <p:nvSpPr>
            <p:cNvPr id="7" name="Shape 5"/>
            <p:cNvSpPr/>
            <p:nvPr/>
          </p:nvSpPr>
          <p:spPr>
            <a:xfrm>
              <a:off x="2572792" y="2300436"/>
              <a:ext cx="279053" cy="279053"/>
            </a:xfrm>
            <a:prstGeom prst="roundRect">
              <a:avLst>
                <a:gd name="adj" fmla="val 666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2975818" y="2315914"/>
              <a:ext cx="151864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Summarize Findings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619301" y="2323691"/>
              <a:ext cx="186035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4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2</a:t>
              </a:r>
              <a:endParaRPr lang="en-US" sz="14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9829"/>
            <a:ext cx="383835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Writing the Final Abstract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1629C07-3C4F-DA76-6C8E-B19AB9A58A65}"/>
              </a:ext>
            </a:extLst>
          </p:cNvPr>
          <p:cNvGrpSpPr/>
          <p:nvPr/>
        </p:nvGrpSpPr>
        <p:grpSpPr>
          <a:xfrm>
            <a:off x="496119" y="1295400"/>
            <a:ext cx="8151763" cy="2472035"/>
            <a:chOff x="496119" y="1295400"/>
            <a:chExt cx="8151763" cy="2472035"/>
          </a:xfrm>
        </p:grpSpPr>
        <p:sp>
          <p:nvSpPr>
            <p:cNvPr id="3" name="Shape 1"/>
            <p:cNvSpPr/>
            <p:nvPr/>
          </p:nvSpPr>
          <p:spPr>
            <a:xfrm>
              <a:off x="496119" y="1295400"/>
              <a:ext cx="8151763" cy="2472035"/>
            </a:xfrm>
            <a:prstGeom prst="roundRect">
              <a:avLst>
                <a:gd name="adj" fmla="val 753"/>
              </a:avLst>
            </a:prstGeom>
            <a:noFill/>
            <a:ln w="4763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4929" y="1379339"/>
              <a:ext cx="197003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Component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847677" y="1379339"/>
              <a:ext cx="567146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Now You Can Fill In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4929" y="1790551"/>
            <a:ext cx="19700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47677" y="1790551"/>
            <a:ext cx="567146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your domain investigation mattered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929" y="2201763"/>
            <a:ext cx="19700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47677" y="2201763"/>
            <a:ext cx="567146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sharpened question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929" y="2612975"/>
            <a:ext cx="19700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 Preview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47677" y="2612975"/>
            <a:ext cx="567146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investigated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929" y="3024188"/>
            <a:ext cx="19700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47677" y="3024188"/>
            <a:ext cx="567146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actually found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929" y="3435400"/>
            <a:ext cx="19700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47677" y="3435400"/>
            <a:ext cx="567146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 for your domain</a:t>
            </a:r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42B0B2-47E5-FC80-3C24-F1E3D23B036F}"/>
              </a:ext>
            </a:extLst>
          </p:cNvPr>
          <p:cNvGrpSpPr/>
          <p:nvPr/>
        </p:nvGrpSpPr>
        <p:grpSpPr>
          <a:xfrm>
            <a:off x="496119" y="3906962"/>
            <a:ext cx="8151763" cy="576635"/>
            <a:chOff x="496119" y="3906962"/>
            <a:chExt cx="8151763" cy="576635"/>
          </a:xfrm>
        </p:grpSpPr>
        <p:sp>
          <p:nvSpPr>
            <p:cNvPr id="16" name="Shape 14"/>
            <p:cNvSpPr/>
            <p:nvPr/>
          </p:nvSpPr>
          <p:spPr>
            <a:xfrm>
              <a:off x="496119" y="3906962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4102447"/>
              <a:ext cx="193774" cy="155004"/>
            </a:xfrm>
            <a:prstGeom prst="rect">
              <a:avLst/>
            </a:prstGeom>
          </p:spPr>
        </p:pic>
        <p:sp>
          <p:nvSpPr>
            <p:cNvPr id="18" name="Text 15"/>
            <p:cNvSpPr/>
            <p:nvPr/>
          </p:nvSpPr>
          <p:spPr>
            <a:xfrm>
              <a:off x="937840" y="4061892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Abstract is the last thing you write - but it appears first in your paper.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5282"/>
            <a:ext cx="359717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Attribution Statement</a:t>
            </a:r>
            <a:endParaRPr lang="en-US" sz="2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A8B5CE-8886-C3D6-0A30-B1145FE08B9A}"/>
              </a:ext>
            </a:extLst>
          </p:cNvPr>
          <p:cNvGrpSpPr/>
          <p:nvPr/>
        </p:nvGrpSpPr>
        <p:grpSpPr>
          <a:xfrm>
            <a:off x="406822" y="1518865"/>
            <a:ext cx="4103191" cy="2679353"/>
            <a:chOff x="406822" y="1518865"/>
            <a:chExt cx="4103191" cy="2679353"/>
          </a:xfrm>
        </p:grpSpPr>
        <p:sp>
          <p:nvSpPr>
            <p:cNvPr id="3" name="Shape 1"/>
            <p:cNvSpPr/>
            <p:nvPr/>
          </p:nvSpPr>
          <p:spPr>
            <a:xfrm>
              <a:off x="406822" y="1518865"/>
              <a:ext cx="4103191" cy="2679353"/>
            </a:xfrm>
            <a:prstGeom prst="roundRect">
              <a:avLst>
                <a:gd name="adj" fmla="val 694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30796" y="1630487"/>
              <a:ext cx="385524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Is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30796" y="1990204"/>
              <a:ext cx="3855244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short statement disclosing which AI tools you used in your investigation and how you used them.</a:t>
              </a:r>
              <a:endParaRPr lang="en-US" sz="12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530796" y="2656880"/>
              <a:ext cx="3855244" cy="9302"/>
            </a:xfrm>
            <a:prstGeom prst="rect">
              <a:avLst/>
            </a:prstGeom>
            <a:solidFill>
              <a:srgbClr val="15213F">
                <a:alpha val="50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6B4F97-49F6-7829-F1C5-1AC4E666EE4C}"/>
              </a:ext>
            </a:extLst>
          </p:cNvPr>
          <p:cNvGrpSpPr/>
          <p:nvPr/>
        </p:nvGrpSpPr>
        <p:grpSpPr>
          <a:xfrm>
            <a:off x="530796" y="2836664"/>
            <a:ext cx="3855244" cy="1104007"/>
            <a:chOff x="530796" y="2836664"/>
            <a:chExt cx="3855244" cy="1104007"/>
          </a:xfrm>
        </p:grpSpPr>
        <p:sp>
          <p:nvSpPr>
            <p:cNvPr id="7" name="Text 5"/>
            <p:cNvSpPr/>
            <p:nvPr/>
          </p:nvSpPr>
          <p:spPr>
            <a:xfrm>
              <a:off x="530796" y="2836664"/>
              <a:ext cx="385524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Isn't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0796" y="3196382"/>
              <a:ext cx="3855244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It's not a confession. It's not an apology. It's </a:t>
              </a: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transparency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- being clear about what role AI played in your research process.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A8D433-2FE1-C257-8471-FB4AAF5E866B}"/>
              </a:ext>
            </a:extLst>
          </p:cNvPr>
          <p:cNvGrpSpPr/>
          <p:nvPr/>
        </p:nvGrpSpPr>
        <p:grpSpPr>
          <a:xfrm>
            <a:off x="4728046" y="1630487"/>
            <a:ext cx="3924598" cy="2456110"/>
            <a:chOff x="4728046" y="1630487"/>
            <a:chExt cx="3924598" cy="2456110"/>
          </a:xfrm>
        </p:grpSpPr>
        <p:sp>
          <p:nvSpPr>
            <p:cNvPr id="9" name="Text 7"/>
            <p:cNvSpPr/>
            <p:nvPr/>
          </p:nvSpPr>
          <p:spPr>
            <a:xfrm>
              <a:off x="4728046" y="1630487"/>
              <a:ext cx="392459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Why It Matters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728046" y="1990204"/>
              <a:ext cx="3924598" cy="9923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practice is becoming standard in academic and professional writing. Researchers, journalists, and scientists are increasingly expected to disclose AI assistance clearly and specifically.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728046" y="3094211"/>
              <a:ext cx="3924598" cy="9923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By including an AI Attribution Statement, you're aligning with how serious researchers handle AI assistance and demonstrating the kind of intellectual honesty that defines Academic Integrity.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1973"/>
            <a:ext cx="620561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Attribution Statement - What to Include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3754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92516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statement should cover two things: what AI tools did, and what you did yourself.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424410"/>
            <a:ext cx="477001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AI Tool You Used</a:t>
            </a:r>
            <a:endParaRPr lang="en-US" sz="1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2E10C1-F6A2-87CB-BAE1-AA47F4072FC3}"/>
              </a:ext>
            </a:extLst>
          </p:cNvPr>
          <p:cNvGrpSpPr/>
          <p:nvPr/>
        </p:nvGrpSpPr>
        <p:grpSpPr>
          <a:xfrm>
            <a:off x="496119" y="2812033"/>
            <a:ext cx="2322984" cy="524619"/>
            <a:chOff x="496119" y="2812033"/>
            <a:chExt cx="2322984" cy="524619"/>
          </a:xfrm>
        </p:grpSpPr>
        <p:sp>
          <p:nvSpPr>
            <p:cNvPr id="6" name="Shape 4"/>
            <p:cNvSpPr/>
            <p:nvPr/>
          </p:nvSpPr>
          <p:spPr>
            <a:xfrm>
              <a:off x="496119" y="2812033"/>
              <a:ext cx="2322984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634380" y="2950294"/>
              <a:ext cx="2046461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Which tool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D7A9E2-34B5-E485-191E-348D61F02AFC}"/>
              </a:ext>
            </a:extLst>
          </p:cNvPr>
          <p:cNvGrpSpPr/>
          <p:nvPr/>
        </p:nvGrpSpPr>
        <p:grpSpPr>
          <a:xfrm>
            <a:off x="2943076" y="2812033"/>
            <a:ext cx="2323058" cy="524619"/>
            <a:chOff x="2943076" y="2812033"/>
            <a:chExt cx="2323058" cy="524619"/>
          </a:xfrm>
        </p:grpSpPr>
        <p:sp>
          <p:nvSpPr>
            <p:cNvPr id="8" name="Shape 6"/>
            <p:cNvSpPr/>
            <p:nvPr/>
          </p:nvSpPr>
          <p:spPr>
            <a:xfrm>
              <a:off x="2943076" y="2812033"/>
              <a:ext cx="2323058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3081338" y="2950294"/>
              <a:ext cx="2046536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you used it for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53772-7E5A-54FF-CBA0-34D43092BE1C}"/>
              </a:ext>
            </a:extLst>
          </p:cNvPr>
          <p:cNvGrpSpPr/>
          <p:nvPr/>
        </p:nvGrpSpPr>
        <p:grpSpPr>
          <a:xfrm>
            <a:off x="496119" y="3460626"/>
            <a:ext cx="4770016" cy="524619"/>
            <a:chOff x="496119" y="3460626"/>
            <a:chExt cx="4770016" cy="524619"/>
          </a:xfrm>
        </p:grpSpPr>
        <p:sp>
          <p:nvSpPr>
            <p:cNvPr id="10" name="Shape 8"/>
            <p:cNvSpPr/>
            <p:nvPr/>
          </p:nvSpPr>
          <p:spPr>
            <a:xfrm>
              <a:off x="496119" y="3460626"/>
              <a:ext cx="4770016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634380" y="3598887"/>
              <a:ext cx="44934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you verified its output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4E04B7-6BD5-C5BE-BFBB-845540FF976D}"/>
              </a:ext>
            </a:extLst>
          </p:cNvPr>
          <p:cNvGrpSpPr/>
          <p:nvPr/>
        </p:nvGrpSpPr>
        <p:grpSpPr>
          <a:xfrm>
            <a:off x="5484168" y="2312789"/>
            <a:ext cx="3257699" cy="1672456"/>
            <a:chOff x="5484168" y="2312789"/>
            <a:chExt cx="3257699" cy="1672456"/>
          </a:xfrm>
        </p:grpSpPr>
        <p:sp>
          <p:nvSpPr>
            <p:cNvPr id="12" name="Shape 10"/>
            <p:cNvSpPr/>
            <p:nvPr/>
          </p:nvSpPr>
          <p:spPr>
            <a:xfrm>
              <a:off x="5484168" y="2312789"/>
              <a:ext cx="3257699" cy="1672456"/>
            </a:xfrm>
            <a:prstGeom prst="roundRect">
              <a:avLst>
                <a:gd name="adj" fmla="val 965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5608141" y="2424410"/>
              <a:ext cx="3009751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You Did Yourself</a:t>
              </a:r>
              <a:endParaRPr lang="en-US" sz="12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5608141" y="2784128"/>
            <a:ext cx="3009751" cy="1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Drafting all sections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Polishing in your voice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Conducting the hands-on exploration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Doing user testing</a:t>
            </a:r>
            <a:endParaRPr lang="en-US" sz="1200" dirty="0"/>
          </a:p>
          <a:p>
            <a:pPr marL="171450" indent="-171450" algn="l">
              <a:lnSpc>
                <a:spcPts val="15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Deciding what claims to make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4209"/>
            <a:ext cx="51585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Attribution Statement - Example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2154" y="1469306"/>
            <a:ext cx="7965728" cy="1488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"AI tools assisted in this investigation. Perplexity helped discover candidate sources. NotebookLM was used to verify content and extract specific findings, with all extractions cross-checked against original sources. Gemini compared candidate sources during initial filtering. Teachable Machine was the subject of the hands-on exploration. ChatGPT was used briefly for early brainstorming on framing but not for content generation. All paper sections were drafted, polished, and revised by me. Where AI tools suggested phrasing, I rewrote in my own voice. My mentor provided guidance and feedback throughout but did not write any sections of this paper."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329779"/>
            <a:ext cx="14288" cy="1767632"/>
          </a:xfrm>
          <a:prstGeom prst="rect">
            <a:avLst/>
          </a:prstGeom>
          <a:solidFill>
            <a:srgbClr val="3257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96119" y="323693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6A9E3ED-4552-AEC7-2B8B-B9A1DF757A3E}"/>
              </a:ext>
            </a:extLst>
          </p:cNvPr>
          <p:cNvGrpSpPr/>
          <p:nvPr/>
        </p:nvGrpSpPr>
        <p:grpSpPr>
          <a:xfrm>
            <a:off x="496119" y="3624560"/>
            <a:ext cx="8151763" cy="824731"/>
            <a:chOff x="496119" y="3624560"/>
            <a:chExt cx="8151763" cy="824731"/>
          </a:xfrm>
        </p:grpSpPr>
        <p:sp>
          <p:nvSpPr>
            <p:cNvPr id="6" name="Shape 4"/>
            <p:cNvSpPr/>
            <p:nvPr/>
          </p:nvSpPr>
          <p:spPr>
            <a:xfrm>
              <a:off x="496119" y="3624560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820046"/>
              <a:ext cx="193774" cy="155004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937840" y="3779490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This is one example. Yours should reflect what you </a:t>
              </a:r>
              <a:r>
                <a:rPr lang="en-US" sz="1200" i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actually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used - the tools, the purposes, and the verification steps that match your real investigation process.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903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Meet Gamma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292623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we move to your presentation. The tool you'll use is called Gamma.</a:t>
            </a:r>
            <a:endParaRPr lang="en-US" sz="1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981E81-DFCA-FF66-284A-D1C4D248F440}"/>
              </a:ext>
            </a:extLst>
          </p:cNvPr>
          <p:cNvGrpSpPr/>
          <p:nvPr/>
        </p:nvGrpSpPr>
        <p:grpSpPr>
          <a:xfrm>
            <a:off x="3925119" y="2928342"/>
            <a:ext cx="1491555" cy="496044"/>
            <a:chOff x="3925119" y="2928342"/>
            <a:chExt cx="1491555" cy="496044"/>
          </a:xfrm>
        </p:grpSpPr>
        <p:sp>
          <p:nvSpPr>
            <p:cNvPr id="5" name="Shape 2"/>
            <p:cNvSpPr/>
            <p:nvPr/>
          </p:nvSpPr>
          <p:spPr>
            <a:xfrm>
              <a:off x="3925119" y="2928342"/>
              <a:ext cx="1491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4049092" y="3052316"/>
              <a:ext cx="1243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Gamma Is</a:t>
              </a:r>
              <a:endParaRPr lang="en-US" sz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300425-F733-1AC7-3FEF-A4E5129D37D8}"/>
              </a:ext>
            </a:extLst>
          </p:cNvPr>
          <p:cNvGrpSpPr/>
          <p:nvPr/>
        </p:nvGrpSpPr>
        <p:grpSpPr>
          <a:xfrm>
            <a:off x="5540648" y="2928342"/>
            <a:ext cx="1491630" cy="496044"/>
            <a:chOff x="5540648" y="2928342"/>
            <a:chExt cx="1491630" cy="496044"/>
          </a:xfrm>
        </p:grpSpPr>
        <p:sp>
          <p:nvSpPr>
            <p:cNvPr id="7" name="Shape 4"/>
            <p:cNvSpPr/>
            <p:nvPr/>
          </p:nvSpPr>
          <p:spPr>
            <a:xfrm>
              <a:off x="5540648" y="2928342"/>
              <a:ext cx="1491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5664622" y="3052316"/>
              <a:ext cx="1243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It Works</a:t>
              </a:r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D0994E-1F16-979E-ADB7-4669D35AE529}"/>
              </a:ext>
            </a:extLst>
          </p:cNvPr>
          <p:cNvGrpSpPr/>
          <p:nvPr/>
        </p:nvGrpSpPr>
        <p:grpSpPr>
          <a:xfrm>
            <a:off x="7156252" y="2928342"/>
            <a:ext cx="1491630" cy="496044"/>
            <a:chOff x="7156252" y="2928342"/>
            <a:chExt cx="1491630" cy="496044"/>
          </a:xfrm>
        </p:grpSpPr>
        <p:sp>
          <p:nvSpPr>
            <p:cNvPr id="9" name="Shape 6"/>
            <p:cNvSpPr/>
            <p:nvPr/>
          </p:nvSpPr>
          <p:spPr>
            <a:xfrm>
              <a:off x="7156252" y="2928342"/>
              <a:ext cx="1491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7280225" y="3052316"/>
              <a:ext cx="1243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Why It's Powerful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3460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Gamma Works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409030"/>
            <a:ext cx="7890644" cy="296093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5341" y="2163234"/>
            <a:ext cx="407584" cy="4075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2209" y="3536538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Adjust Theme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3200" y="2163998"/>
            <a:ext cx="407584" cy="4075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02299" y="3536538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Edit Text &amp; Visuals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442" y="2163998"/>
            <a:ext cx="407584" cy="4075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10540" y="3536538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Auto‑Design Slide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9683" y="2163998"/>
            <a:ext cx="407584" cy="40758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518781" y="365117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Paste Content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9772" y="2163998"/>
            <a:ext cx="407584" cy="4075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94415" y="3651171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Open Gamma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9891"/>
            <a:ext cx="365469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Presentation Structure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96119" y="1109663"/>
            <a:ext cx="8151763" cy="3473946"/>
          </a:xfrm>
          <a:prstGeom prst="roundRect">
            <a:avLst>
              <a:gd name="adj" fmla="val 48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12577" y="1179463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29122" y="1179463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81846" y="1179463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from Your Paper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577" y="1526381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29122" y="1526381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81846" y="1526381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 title + your name + grade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577" y="1873300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29122" y="1873300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Hook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81846" y="1873300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striking finding or question from your investigation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577" y="2220218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29122" y="2220218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81846" y="2220218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sharpened research 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577" y="2567136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29122" y="2567136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81846" y="2567136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key findings from your Related Work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577" y="2914055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29122" y="2914055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81846" y="2914055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 investigated (literature + hands-on)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577" y="3260973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29122" y="3260973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81846" y="3260973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synthesis of findings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577" y="3607891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29122" y="3607891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&amp; Safety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81846" y="3607891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bias concern and main safety concern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577" y="3954810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29122" y="3954810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81846" y="3954810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takeaway and one or two future work directions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577" y="4301728"/>
            <a:ext cx="588541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429122" y="4301728"/>
            <a:ext cx="13247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81846" y="4301728"/>
            <a:ext cx="554965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Closing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5431"/>
            <a:ext cx="377815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First Three Slides</a:t>
            </a:r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EBD2F1-8287-8E1E-AA0D-AE53E307CAAF}"/>
              </a:ext>
            </a:extLst>
          </p:cNvPr>
          <p:cNvGrpSpPr/>
          <p:nvPr/>
        </p:nvGrpSpPr>
        <p:grpSpPr>
          <a:xfrm>
            <a:off x="496119" y="1581001"/>
            <a:ext cx="2634555" cy="1562844"/>
            <a:chOff x="496119" y="1581001"/>
            <a:chExt cx="2634555" cy="1562844"/>
          </a:xfrm>
        </p:grpSpPr>
        <p:sp>
          <p:nvSpPr>
            <p:cNvPr id="3" name="Shape 1"/>
            <p:cNvSpPr/>
            <p:nvPr/>
          </p:nvSpPr>
          <p:spPr>
            <a:xfrm>
              <a:off x="496119" y="1581001"/>
              <a:ext cx="2634555" cy="1562844"/>
            </a:xfrm>
            <a:prstGeom prst="roundRect">
              <a:avLst>
                <a:gd name="adj" fmla="val 1904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1704975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Slide 1 - Title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620092" y="2027486"/>
            <a:ext cx="238660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paper title, your name, your grade. Clean and clear - this is your first impression.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FE4AA2-75C3-106F-26F2-51B94C397D25}"/>
              </a:ext>
            </a:extLst>
          </p:cNvPr>
          <p:cNvGrpSpPr/>
          <p:nvPr/>
        </p:nvGrpSpPr>
        <p:grpSpPr>
          <a:xfrm>
            <a:off x="3254648" y="1581001"/>
            <a:ext cx="2634630" cy="1562844"/>
            <a:chOff x="3254648" y="1581001"/>
            <a:chExt cx="2634630" cy="1562844"/>
          </a:xfrm>
        </p:grpSpPr>
        <p:sp>
          <p:nvSpPr>
            <p:cNvPr id="6" name="Shape 4"/>
            <p:cNvSpPr/>
            <p:nvPr/>
          </p:nvSpPr>
          <p:spPr>
            <a:xfrm>
              <a:off x="3254648" y="1581001"/>
              <a:ext cx="2634630" cy="1562844"/>
            </a:xfrm>
            <a:prstGeom prst="roundRect">
              <a:avLst>
                <a:gd name="adj" fmla="val 1904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1704975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Slide 2 - Hook</a:t>
              </a: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3378622" y="2027486"/>
            <a:ext cx="2386682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striking sentence that opens your presentation strongly. The most surprising or important thing you found.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308274-31CA-0AC2-9FF4-6C34655A6936}"/>
              </a:ext>
            </a:extLst>
          </p:cNvPr>
          <p:cNvGrpSpPr/>
          <p:nvPr/>
        </p:nvGrpSpPr>
        <p:grpSpPr>
          <a:xfrm>
            <a:off x="6013252" y="1581001"/>
            <a:ext cx="2634555" cy="1562844"/>
            <a:chOff x="6013252" y="1581001"/>
            <a:chExt cx="2634555" cy="1562844"/>
          </a:xfrm>
        </p:grpSpPr>
        <p:sp>
          <p:nvSpPr>
            <p:cNvPr id="9" name="Shape 7"/>
            <p:cNvSpPr/>
            <p:nvPr/>
          </p:nvSpPr>
          <p:spPr>
            <a:xfrm>
              <a:off x="6013252" y="1581001"/>
              <a:ext cx="2634555" cy="1562844"/>
            </a:xfrm>
            <a:prstGeom prst="roundRect">
              <a:avLst>
                <a:gd name="adj" fmla="val 19049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137225" y="1704975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Slide 3 - Research Question</a:t>
              </a:r>
              <a:endParaRPr lang="en-US" sz="12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6137225" y="2027486"/>
            <a:ext cx="2386608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sharpened research question, prominently displayed. This is what your whole investigation was built to answer.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119" y="328337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923F49-FCD6-CACE-9D70-26C0666D21EF}"/>
              </a:ext>
            </a:extLst>
          </p:cNvPr>
          <p:cNvGrpSpPr/>
          <p:nvPr/>
        </p:nvGrpSpPr>
        <p:grpSpPr>
          <a:xfrm>
            <a:off x="496119" y="3621360"/>
            <a:ext cx="8151763" cy="576635"/>
            <a:chOff x="496119" y="3621360"/>
            <a:chExt cx="8151763" cy="576635"/>
          </a:xfrm>
        </p:grpSpPr>
        <p:sp>
          <p:nvSpPr>
            <p:cNvPr id="13" name="Shape 11"/>
            <p:cNvSpPr/>
            <p:nvPr/>
          </p:nvSpPr>
          <p:spPr>
            <a:xfrm>
              <a:off x="496119" y="3621360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816846"/>
              <a:ext cx="193774" cy="155004"/>
            </a:xfrm>
            <a:prstGeom prst="rect">
              <a:avLst/>
            </a:prstGeom>
          </p:spPr>
        </p:pic>
        <p:sp>
          <p:nvSpPr>
            <p:cNvPr id="15" name="Text 12"/>
            <p:cNvSpPr/>
            <p:nvPr/>
          </p:nvSpPr>
          <p:spPr>
            <a:xfrm>
              <a:off x="937840" y="3776290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Six more slides come in homework. By Session 25, your full presentation is ready.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747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Outputs Checklist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5304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today's session, you should be able to check off every item on this list.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252290"/>
            <a:ext cx="493908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 Sections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612008"/>
            <a:ext cx="493908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​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 &amp; Fairness section drafted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658442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6119" y="2903488"/>
            <a:ext cx="4939085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​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 &amp; Governance section drafted (with Ethics and HITL integrated)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6119" y="2949922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6119" y="3443064"/>
            <a:ext cx="493908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​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 &amp; Future Work drafted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6119" y="3489499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6119" y="3734544"/>
            <a:ext cx="493908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​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six prior sections polished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6119" y="3780979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742533" y="2252290"/>
            <a:ext cx="29100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Deliverables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42533" y="2612008"/>
            <a:ext cx="29100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​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Abstract written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533" y="2658442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742533" y="2903488"/>
            <a:ext cx="29100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​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Attribution Statement written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42533" y="2949922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42533" y="3194968"/>
            <a:ext cx="2910036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​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 list complete and consistent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42533" y="3241402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42533" y="3734544"/>
            <a:ext cx="29100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​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three Gamma slides started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42533" y="3780979"/>
            <a:ext cx="155004" cy="155004"/>
          </a:xfrm>
          <a:prstGeom prst="roundRect">
            <a:avLst>
              <a:gd name="adj" fmla="val 15005"/>
            </a:avLst>
          </a:prstGeom>
          <a:noFill/>
          <a:ln w="19050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543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</a:t>
            </a:r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9A08B8C-DDE8-7E91-58B4-457199F6BB98}"/>
              </a:ext>
            </a:extLst>
          </p:cNvPr>
          <p:cNvGrpSpPr/>
          <p:nvPr/>
        </p:nvGrpSpPr>
        <p:grpSpPr>
          <a:xfrm>
            <a:off x="496119" y="1581001"/>
            <a:ext cx="2634555" cy="1562844"/>
            <a:chOff x="496119" y="1581001"/>
            <a:chExt cx="2634555" cy="1562844"/>
          </a:xfrm>
        </p:grpSpPr>
        <p:sp>
          <p:nvSpPr>
            <p:cNvPr id="3" name="Shape 1"/>
            <p:cNvSpPr/>
            <p:nvPr/>
          </p:nvSpPr>
          <p:spPr>
            <a:xfrm>
              <a:off x="496119" y="1581001"/>
              <a:ext cx="2634555" cy="1562844"/>
            </a:xfrm>
            <a:prstGeom prst="roundRect">
              <a:avLst>
                <a:gd name="adj" fmla="val 119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1704975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Final Proofread</a:t>
              </a:r>
              <a:endParaRPr lang="en-US" sz="12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620092" y="2027486"/>
            <a:ext cx="2386608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Citations consistent, voice consistent, no remaining generated-sounding phrases throughout the full paper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EE1AE2-3AEC-8D8F-9C7F-D733B14BBDF8}"/>
              </a:ext>
            </a:extLst>
          </p:cNvPr>
          <p:cNvGrpSpPr/>
          <p:nvPr/>
        </p:nvGrpSpPr>
        <p:grpSpPr>
          <a:xfrm>
            <a:off x="3254648" y="1581001"/>
            <a:ext cx="2634630" cy="1562844"/>
            <a:chOff x="3254648" y="1581001"/>
            <a:chExt cx="2634630" cy="1562844"/>
          </a:xfrm>
        </p:grpSpPr>
        <p:sp>
          <p:nvSpPr>
            <p:cNvPr id="6" name="Shape 4"/>
            <p:cNvSpPr/>
            <p:nvPr/>
          </p:nvSpPr>
          <p:spPr>
            <a:xfrm>
              <a:off x="3254648" y="1581001"/>
              <a:ext cx="2634630" cy="1562844"/>
            </a:xfrm>
            <a:prstGeom prst="roundRect">
              <a:avLst>
                <a:gd name="adj" fmla="val 119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1704975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Build Slides 4-9</a:t>
              </a:r>
              <a:endParaRPr lang="en-US" sz="12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3378622" y="2027486"/>
            <a:ext cx="2386682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the remaining six Gamma slides - Background, Methodology, Results, Bias &amp; Safety, Conclusion, Thank You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799CFF-8EEC-0051-70FB-4102C70579F5}"/>
              </a:ext>
            </a:extLst>
          </p:cNvPr>
          <p:cNvGrpSpPr/>
          <p:nvPr/>
        </p:nvGrpSpPr>
        <p:grpSpPr>
          <a:xfrm>
            <a:off x="6013252" y="1581001"/>
            <a:ext cx="2634555" cy="1562844"/>
            <a:chOff x="6013252" y="1581001"/>
            <a:chExt cx="2634555" cy="1562844"/>
          </a:xfrm>
        </p:grpSpPr>
        <p:sp>
          <p:nvSpPr>
            <p:cNvPr id="9" name="Shape 7"/>
            <p:cNvSpPr/>
            <p:nvPr/>
          </p:nvSpPr>
          <p:spPr>
            <a:xfrm>
              <a:off x="6013252" y="1581001"/>
              <a:ext cx="2634555" cy="1562844"/>
            </a:xfrm>
            <a:prstGeom prst="roundRect">
              <a:avLst>
                <a:gd name="adj" fmla="val 119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137225" y="1704975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Practice Aloud</a:t>
              </a:r>
              <a:endParaRPr lang="en-US" sz="12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6137225" y="2027486"/>
            <a:ext cx="238660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through your full presentation aloud, time it, and aim for about 10-15 minutes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119" y="328337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8DFB4A-AAED-78BE-C6E4-41C6C451A377}"/>
              </a:ext>
            </a:extLst>
          </p:cNvPr>
          <p:cNvGrpSpPr/>
          <p:nvPr/>
        </p:nvGrpSpPr>
        <p:grpSpPr>
          <a:xfrm>
            <a:off x="496119" y="3621360"/>
            <a:ext cx="8151763" cy="576635"/>
            <a:chOff x="496119" y="3621360"/>
            <a:chExt cx="8151763" cy="576635"/>
          </a:xfrm>
        </p:grpSpPr>
        <p:sp>
          <p:nvSpPr>
            <p:cNvPr id="13" name="Shape 11"/>
            <p:cNvSpPr/>
            <p:nvPr/>
          </p:nvSpPr>
          <p:spPr>
            <a:xfrm>
              <a:off x="496119" y="3621360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816846"/>
              <a:ext cx="193774" cy="155004"/>
            </a:xfrm>
            <a:prstGeom prst="rect">
              <a:avLst/>
            </a:prstGeom>
          </p:spPr>
        </p:pic>
        <p:sp>
          <p:nvSpPr>
            <p:cNvPr id="15" name="Text 12"/>
            <p:cNvSpPr/>
            <p:nvPr/>
          </p:nvSpPr>
          <p:spPr>
            <a:xfrm>
              <a:off x="937840" y="3776290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By end of homework, your paper is complete and your presentation is ready for Session 25.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1291"/>
            <a:ext cx="359903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What's Next - Session 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7487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Bring everything to Session 25. You'll present your investigation, defend it, and reflect on the full journey.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362498"/>
            <a:ext cx="1944960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2486471"/>
            <a:ext cx="372070" cy="37207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12" y="2588716"/>
            <a:ext cx="167432" cy="167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092" y="2982516"/>
            <a:ext cx="16970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Paper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565053" y="2362498"/>
            <a:ext cx="1944960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027" y="2486471"/>
            <a:ext cx="372070" cy="37207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1346" y="2588716"/>
            <a:ext cx="167432" cy="1674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89027" y="2982516"/>
            <a:ext cx="16970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Presentation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4633987" y="2362498"/>
            <a:ext cx="1944960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961" y="2486471"/>
            <a:ext cx="372070" cy="37207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0280" y="2588716"/>
            <a:ext cx="167432" cy="1674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757961" y="2982516"/>
            <a:ext cx="16970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Practiced Delivery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6702921" y="2362498"/>
            <a:ext cx="1944960" cy="992088"/>
          </a:xfrm>
          <a:prstGeom prst="roundRect">
            <a:avLst>
              <a:gd name="adj" fmla="val 187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6895" y="2486471"/>
            <a:ext cx="372070" cy="37207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9214" y="2588716"/>
            <a:ext cx="167432" cy="16743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826895" y="2982516"/>
            <a:ext cx="16970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Readiness to Defend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496119" y="349411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25 is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&amp; Reflect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1822</Words>
  <Application>Microsoft Office PowerPoint</Application>
  <PresentationFormat>On-screen Show (16:9)</PresentationFormat>
  <Paragraphs>298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Roboto</vt:lpstr>
      <vt:lpstr>Arial</vt:lpstr>
      <vt:lpstr>Roboto Slab Light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2</cp:revision>
  <dcterms:created xsi:type="dcterms:W3CDTF">2026-05-13T05:02:02Z</dcterms:created>
  <dcterms:modified xsi:type="dcterms:W3CDTF">2026-05-13T09:19:21Z</dcterms:modified>
</cp:coreProperties>
</file>