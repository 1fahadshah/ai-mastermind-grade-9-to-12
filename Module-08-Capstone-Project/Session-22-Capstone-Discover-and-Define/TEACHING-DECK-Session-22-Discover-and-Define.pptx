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86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5143500" type="screen16x9"/>
  <p:notesSz cx="5143500" cy="9144000"/>
  <p:embeddedFontLst>
    <p:embeddedFont>
      <p:font typeface="Roboto" panose="02000000000000000000" pitchFamily="2" charset="0"/>
      <p:regular r:id="rId33"/>
      <p:bold r:id="rId34"/>
    </p:embeddedFont>
    <p:embeddedFont>
      <p:font typeface="Roboto Slab" pitchFamily="2" charset="0"/>
      <p:regular r:id="rId35"/>
      <p:bold r:id="rId36"/>
    </p:embeddedFont>
    <p:embeddedFont>
      <p:font typeface="Roboto Slab Bold" pitchFamily="2" charset="0"/>
      <p:bold r:id="rId37"/>
    </p:embeddedFont>
    <p:embeddedFont>
      <p:font typeface="Roboto Slab Light" pitchFamily="2" charset="0"/>
      <p:regular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87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44553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.pn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8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svg"/><Relationship Id="rId7" Type="http://schemas.openxmlformats.org/officeDocument/2006/relationships/image" Target="../media/image21.sv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2377976"/>
            <a:ext cx="4227835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Session 22: Discover &amp; Define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44773"/>
            <a:ext cx="31011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Capstone Topic</a:t>
            </a:r>
            <a:endParaRPr lang="en-US" sz="240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1D78FCF-E579-894D-009A-734A41FD8076}"/>
              </a:ext>
            </a:extLst>
          </p:cNvPr>
          <p:cNvGrpSpPr/>
          <p:nvPr/>
        </p:nvGrpSpPr>
        <p:grpSpPr>
          <a:xfrm>
            <a:off x="496119" y="1680344"/>
            <a:ext cx="2634555" cy="496044"/>
            <a:chOff x="496119" y="1680344"/>
            <a:chExt cx="2634555" cy="496044"/>
          </a:xfrm>
        </p:grpSpPr>
        <p:sp>
          <p:nvSpPr>
            <p:cNvPr id="3" name="Shape 1"/>
            <p:cNvSpPr/>
            <p:nvPr/>
          </p:nvSpPr>
          <p:spPr>
            <a:xfrm>
              <a:off x="496119" y="1680344"/>
              <a:ext cx="2634555" cy="496044"/>
            </a:xfrm>
            <a:prstGeom prst="roundRect">
              <a:avLst>
                <a:gd name="adj" fmla="val 3751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 2"/>
            <p:cNvSpPr/>
            <p:nvPr/>
          </p:nvSpPr>
          <p:spPr>
            <a:xfrm>
              <a:off x="620092" y="1804318"/>
              <a:ext cx="2386608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Healthcare</a:t>
              </a:r>
              <a:endParaRPr lang="en-US" sz="1200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C000398-B3D6-8094-E130-C052FCA844B5}"/>
              </a:ext>
            </a:extLst>
          </p:cNvPr>
          <p:cNvGrpSpPr/>
          <p:nvPr/>
        </p:nvGrpSpPr>
        <p:grpSpPr>
          <a:xfrm>
            <a:off x="3254648" y="1680344"/>
            <a:ext cx="2634630" cy="496044"/>
            <a:chOff x="3254648" y="1680344"/>
            <a:chExt cx="2634630" cy="496044"/>
          </a:xfrm>
        </p:grpSpPr>
        <p:sp>
          <p:nvSpPr>
            <p:cNvPr id="5" name="Shape 3"/>
            <p:cNvSpPr/>
            <p:nvPr/>
          </p:nvSpPr>
          <p:spPr>
            <a:xfrm>
              <a:off x="3254648" y="1680344"/>
              <a:ext cx="2634630" cy="496044"/>
            </a:xfrm>
            <a:prstGeom prst="roundRect">
              <a:avLst>
                <a:gd name="adj" fmla="val 3751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 4"/>
            <p:cNvSpPr/>
            <p:nvPr/>
          </p:nvSpPr>
          <p:spPr>
            <a:xfrm>
              <a:off x="3378622" y="1804318"/>
              <a:ext cx="2386682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 Sports</a:t>
              </a:r>
              <a:endParaRPr lang="en-US" sz="1200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A2CD73A-89B3-4ED3-987D-DAFA503F3B2A}"/>
              </a:ext>
            </a:extLst>
          </p:cNvPr>
          <p:cNvGrpSpPr/>
          <p:nvPr/>
        </p:nvGrpSpPr>
        <p:grpSpPr>
          <a:xfrm>
            <a:off x="6013252" y="1680344"/>
            <a:ext cx="2634555" cy="496044"/>
            <a:chOff x="6013252" y="1680344"/>
            <a:chExt cx="2634555" cy="496044"/>
          </a:xfrm>
        </p:grpSpPr>
        <p:sp>
          <p:nvSpPr>
            <p:cNvPr id="7" name="Shape 5"/>
            <p:cNvSpPr/>
            <p:nvPr/>
          </p:nvSpPr>
          <p:spPr>
            <a:xfrm>
              <a:off x="6013252" y="1680344"/>
              <a:ext cx="2634555" cy="496044"/>
            </a:xfrm>
            <a:prstGeom prst="roundRect">
              <a:avLst>
                <a:gd name="adj" fmla="val 3751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 6"/>
            <p:cNvSpPr/>
            <p:nvPr/>
          </p:nvSpPr>
          <p:spPr>
            <a:xfrm>
              <a:off x="6137225" y="1804318"/>
              <a:ext cx="2386608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Music</a:t>
              </a:r>
              <a:endParaRPr lang="en-US" sz="1200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F27AA2A-2712-A083-BD2D-CA5D82895801}"/>
              </a:ext>
            </a:extLst>
          </p:cNvPr>
          <p:cNvGrpSpPr/>
          <p:nvPr/>
        </p:nvGrpSpPr>
        <p:grpSpPr>
          <a:xfrm>
            <a:off x="496119" y="2300362"/>
            <a:ext cx="2634555" cy="496044"/>
            <a:chOff x="496119" y="2300362"/>
            <a:chExt cx="2634555" cy="496044"/>
          </a:xfrm>
        </p:grpSpPr>
        <p:sp>
          <p:nvSpPr>
            <p:cNvPr id="9" name="Shape 7"/>
            <p:cNvSpPr/>
            <p:nvPr/>
          </p:nvSpPr>
          <p:spPr>
            <a:xfrm>
              <a:off x="496119" y="2300362"/>
              <a:ext cx="2634555" cy="496044"/>
            </a:xfrm>
            <a:prstGeom prst="roundRect">
              <a:avLst>
                <a:gd name="adj" fmla="val 3751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 8"/>
            <p:cNvSpPr/>
            <p:nvPr/>
          </p:nvSpPr>
          <p:spPr>
            <a:xfrm>
              <a:off x="620092" y="2424336"/>
              <a:ext cx="2386608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Education</a:t>
              </a:r>
              <a:endParaRPr lang="en-US" sz="1200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05AFEBE-D4F5-5D23-8144-57F4E44955F0}"/>
              </a:ext>
            </a:extLst>
          </p:cNvPr>
          <p:cNvGrpSpPr/>
          <p:nvPr/>
        </p:nvGrpSpPr>
        <p:grpSpPr>
          <a:xfrm>
            <a:off x="3254648" y="2300362"/>
            <a:ext cx="2634630" cy="496044"/>
            <a:chOff x="3254648" y="2300362"/>
            <a:chExt cx="2634630" cy="496044"/>
          </a:xfrm>
        </p:grpSpPr>
        <p:sp>
          <p:nvSpPr>
            <p:cNvPr id="11" name="Shape 9"/>
            <p:cNvSpPr/>
            <p:nvPr/>
          </p:nvSpPr>
          <p:spPr>
            <a:xfrm>
              <a:off x="3254648" y="2300362"/>
              <a:ext cx="2634630" cy="496044"/>
            </a:xfrm>
            <a:prstGeom prst="roundRect">
              <a:avLst>
                <a:gd name="adj" fmla="val 3751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 10"/>
            <p:cNvSpPr/>
            <p:nvPr/>
          </p:nvSpPr>
          <p:spPr>
            <a:xfrm>
              <a:off x="3378622" y="2424336"/>
              <a:ext cx="2386682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Wildlife</a:t>
              </a:r>
              <a:endParaRPr lang="en-US" sz="1200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F5DE52D-FB42-E30F-A9A5-8FF8730EB9B5}"/>
              </a:ext>
            </a:extLst>
          </p:cNvPr>
          <p:cNvGrpSpPr/>
          <p:nvPr/>
        </p:nvGrpSpPr>
        <p:grpSpPr>
          <a:xfrm>
            <a:off x="6013252" y="2300362"/>
            <a:ext cx="2634555" cy="496044"/>
            <a:chOff x="6013252" y="2300362"/>
            <a:chExt cx="2634555" cy="496044"/>
          </a:xfrm>
        </p:grpSpPr>
        <p:sp>
          <p:nvSpPr>
            <p:cNvPr id="13" name="Shape 11"/>
            <p:cNvSpPr/>
            <p:nvPr/>
          </p:nvSpPr>
          <p:spPr>
            <a:xfrm>
              <a:off x="6013252" y="2300362"/>
              <a:ext cx="2634555" cy="496044"/>
            </a:xfrm>
            <a:prstGeom prst="roundRect">
              <a:avLst>
                <a:gd name="adj" fmla="val 3751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 12"/>
            <p:cNvSpPr/>
            <p:nvPr/>
          </p:nvSpPr>
          <p:spPr>
            <a:xfrm>
              <a:off x="6137225" y="2424336"/>
              <a:ext cx="2386608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Accessibility</a:t>
              </a:r>
              <a:endParaRPr lang="en-US" sz="1200" dirty="0"/>
            </a:p>
          </p:txBody>
        </p:sp>
      </p:grpSp>
      <p:sp>
        <p:nvSpPr>
          <p:cNvPr id="15" name="Text 13"/>
          <p:cNvSpPr/>
          <p:nvPr/>
        </p:nvSpPr>
        <p:spPr>
          <a:xfrm>
            <a:off x="496119" y="2935932"/>
            <a:ext cx="81517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endParaRPr lang="en-US" sz="950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79F3232-9ED2-BDA8-9D8B-A31804906206}"/>
              </a:ext>
            </a:extLst>
          </p:cNvPr>
          <p:cNvGrpSpPr/>
          <p:nvPr/>
        </p:nvGrpSpPr>
        <p:grpSpPr>
          <a:xfrm>
            <a:off x="496119" y="3273921"/>
            <a:ext cx="8151763" cy="824731"/>
            <a:chOff x="496119" y="3273921"/>
            <a:chExt cx="8151763" cy="824731"/>
          </a:xfrm>
        </p:grpSpPr>
        <p:sp>
          <p:nvSpPr>
            <p:cNvPr id="16" name="Shape 14"/>
            <p:cNvSpPr/>
            <p:nvPr/>
          </p:nvSpPr>
          <p:spPr>
            <a:xfrm>
              <a:off x="496119" y="3273921"/>
              <a:ext cx="8151763" cy="824731"/>
            </a:xfrm>
            <a:prstGeom prst="roundRect">
              <a:avLst>
                <a:gd name="adj" fmla="val 2256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17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0092" y="3469407"/>
              <a:ext cx="193774" cy="155004"/>
            </a:xfrm>
            <a:prstGeom prst="rect">
              <a:avLst/>
            </a:prstGeom>
          </p:spPr>
        </p:pic>
        <p:sp>
          <p:nvSpPr>
            <p:cNvPr id="18" name="Text 15"/>
            <p:cNvSpPr/>
            <p:nvPr/>
          </p:nvSpPr>
          <p:spPr>
            <a:xfrm>
              <a:off x="937840" y="3428851"/>
              <a:ext cx="7586067" cy="4961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You're not investigating all of AI. You're investigating how AI is being applied in </a:t>
              </a:r>
              <a:r>
                <a:rPr lang="en-US" sz="1200" b="1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one specific area you care about.</a:t>
              </a:r>
              <a:endParaRPr lang="en-US" sz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205061"/>
            <a:ext cx="31011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What This Paper Is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96119" y="1778645"/>
            <a:ext cx="47227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endParaRPr lang="en-US" sz="95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FF8B36A-70D1-1881-7A86-0FA6C6CACD5C}"/>
              </a:ext>
            </a:extLst>
          </p:cNvPr>
          <p:cNvGrpSpPr/>
          <p:nvPr/>
        </p:nvGrpSpPr>
        <p:grpSpPr>
          <a:xfrm>
            <a:off x="481831" y="2116634"/>
            <a:ext cx="4737051" cy="524619"/>
            <a:chOff x="481831" y="2116634"/>
            <a:chExt cx="4737051" cy="524619"/>
          </a:xfrm>
        </p:grpSpPr>
        <p:sp>
          <p:nvSpPr>
            <p:cNvPr id="5" name="Shape 2"/>
            <p:cNvSpPr/>
            <p:nvPr/>
          </p:nvSpPr>
          <p:spPr>
            <a:xfrm>
              <a:off x="496119" y="2116634"/>
              <a:ext cx="4722763" cy="524619"/>
            </a:xfrm>
            <a:prstGeom prst="roundRect">
              <a:avLst>
                <a:gd name="adj" fmla="val 13072"/>
              </a:avLst>
            </a:prstGeom>
            <a:solidFill>
              <a:srgbClr val="FBFCFE"/>
            </a:solidFill>
            <a:ln w="14288">
              <a:solidFill>
                <a:srgbClr val="CFD2D8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pic>
          <p:nvPicPr>
            <p:cNvPr id="6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1831" y="2116634"/>
              <a:ext cx="57150" cy="524619"/>
            </a:xfrm>
            <a:prstGeom prst="rect">
              <a:avLst/>
            </a:prstGeom>
          </p:spPr>
        </p:pic>
        <p:sp>
          <p:nvSpPr>
            <p:cNvPr id="7" name="Text 3"/>
            <p:cNvSpPr/>
            <p:nvPr/>
          </p:nvSpPr>
          <p:spPr>
            <a:xfrm>
              <a:off x="677242" y="2254895"/>
              <a:ext cx="4403378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A Real Investigation</a:t>
              </a:r>
              <a:endParaRPr lang="en-US" sz="120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13D4BE2-2AA1-AE2C-7A63-FC9E4719003F}"/>
              </a:ext>
            </a:extLst>
          </p:cNvPr>
          <p:cNvGrpSpPr/>
          <p:nvPr/>
        </p:nvGrpSpPr>
        <p:grpSpPr>
          <a:xfrm>
            <a:off x="481831" y="2765227"/>
            <a:ext cx="4737051" cy="524619"/>
            <a:chOff x="481831" y="2765227"/>
            <a:chExt cx="4737051" cy="524619"/>
          </a:xfrm>
        </p:grpSpPr>
        <p:sp>
          <p:nvSpPr>
            <p:cNvPr id="8" name="Shape 4"/>
            <p:cNvSpPr/>
            <p:nvPr/>
          </p:nvSpPr>
          <p:spPr>
            <a:xfrm>
              <a:off x="496119" y="2765227"/>
              <a:ext cx="4722763" cy="524619"/>
            </a:xfrm>
            <a:prstGeom prst="roundRect">
              <a:avLst>
                <a:gd name="adj" fmla="val 13072"/>
              </a:avLst>
            </a:prstGeom>
            <a:solidFill>
              <a:srgbClr val="FBFCFE"/>
            </a:solidFill>
            <a:ln w="14288">
              <a:solidFill>
                <a:srgbClr val="CFD2D8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pic>
          <p:nvPicPr>
            <p:cNvPr id="9" name="Image 2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1831" y="2765227"/>
              <a:ext cx="57150" cy="524619"/>
            </a:xfrm>
            <a:prstGeom prst="rect">
              <a:avLst/>
            </a:prstGeom>
          </p:spPr>
        </p:pic>
        <p:sp>
          <p:nvSpPr>
            <p:cNvPr id="10" name="Text 5"/>
            <p:cNvSpPr/>
            <p:nvPr/>
          </p:nvSpPr>
          <p:spPr>
            <a:xfrm>
              <a:off x="677242" y="2903488"/>
              <a:ext cx="4403378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Literature + Hands-On</a:t>
              </a:r>
              <a:endParaRPr lang="en-US" sz="120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5EC2DA1-7F5E-D8BF-FB90-C20E2E6D444E}"/>
              </a:ext>
            </a:extLst>
          </p:cNvPr>
          <p:cNvGrpSpPr/>
          <p:nvPr/>
        </p:nvGrpSpPr>
        <p:grpSpPr>
          <a:xfrm>
            <a:off x="481831" y="3413820"/>
            <a:ext cx="4737051" cy="524619"/>
            <a:chOff x="481831" y="3413820"/>
            <a:chExt cx="4737051" cy="524619"/>
          </a:xfrm>
        </p:grpSpPr>
        <p:sp>
          <p:nvSpPr>
            <p:cNvPr id="11" name="Shape 6"/>
            <p:cNvSpPr/>
            <p:nvPr/>
          </p:nvSpPr>
          <p:spPr>
            <a:xfrm>
              <a:off x="496119" y="3413820"/>
              <a:ext cx="4722763" cy="524619"/>
            </a:xfrm>
            <a:prstGeom prst="roundRect">
              <a:avLst>
                <a:gd name="adj" fmla="val 13072"/>
              </a:avLst>
            </a:prstGeom>
            <a:solidFill>
              <a:srgbClr val="FBFCFE"/>
            </a:solidFill>
            <a:ln w="14288">
              <a:solidFill>
                <a:srgbClr val="CFD2D8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pic>
          <p:nvPicPr>
            <p:cNvPr id="12" name="Image 3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1831" y="3413820"/>
              <a:ext cx="57150" cy="524619"/>
            </a:xfrm>
            <a:prstGeom prst="rect">
              <a:avLst/>
            </a:prstGeom>
          </p:spPr>
        </p:pic>
        <p:sp>
          <p:nvSpPr>
            <p:cNvPr id="13" name="Text 7"/>
            <p:cNvSpPr/>
            <p:nvPr/>
          </p:nvSpPr>
          <p:spPr>
            <a:xfrm>
              <a:off x="677242" y="3552081"/>
              <a:ext cx="4403378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A Synthesis</a:t>
              </a:r>
              <a:endParaRPr lang="en-US" sz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991618"/>
            <a:ext cx="3400425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What This Paper Is </a:t>
            </a:r>
            <a:r>
              <a:rPr lang="en-US" sz="2400" i="1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Not</a:t>
            </a:r>
            <a:endParaRPr lang="en-US" sz="240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916C60A-43A2-2473-4259-960F37EAC4B9}"/>
              </a:ext>
            </a:extLst>
          </p:cNvPr>
          <p:cNvGrpSpPr/>
          <p:nvPr/>
        </p:nvGrpSpPr>
        <p:grpSpPr>
          <a:xfrm>
            <a:off x="481831" y="2627188"/>
            <a:ext cx="2648843" cy="524619"/>
            <a:chOff x="481831" y="2627188"/>
            <a:chExt cx="2648843" cy="524619"/>
          </a:xfrm>
        </p:grpSpPr>
        <p:sp>
          <p:nvSpPr>
            <p:cNvPr id="3" name="Shape 1"/>
            <p:cNvSpPr/>
            <p:nvPr/>
          </p:nvSpPr>
          <p:spPr>
            <a:xfrm>
              <a:off x="496119" y="2627188"/>
              <a:ext cx="2634555" cy="524619"/>
            </a:xfrm>
            <a:prstGeom prst="roundRect">
              <a:avLst>
                <a:gd name="adj" fmla="val 13072"/>
              </a:avLst>
            </a:prstGeom>
            <a:solidFill>
              <a:srgbClr val="FBFCFE"/>
            </a:solidFill>
            <a:ln w="14288">
              <a:solidFill>
                <a:srgbClr val="CFD2D8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pic>
          <p:nvPicPr>
            <p:cNvPr id="4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1831" y="2627188"/>
              <a:ext cx="57150" cy="524619"/>
            </a:xfrm>
            <a:prstGeom prst="rect">
              <a:avLst/>
            </a:prstGeom>
          </p:spPr>
        </p:pic>
        <p:sp>
          <p:nvSpPr>
            <p:cNvPr id="5" name="Text 2"/>
            <p:cNvSpPr/>
            <p:nvPr/>
          </p:nvSpPr>
          <p:spPr>
            <a:xfrm>
              <a:off x="677242" y="2765450"/>
              <a:ext cx="2315170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Not an Engineering Paper</a:t>
              </a:r>
              <a:endParaRPr lang="en-US" sz="1200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7AFA0B8-E552-1B6C-36AE-B67D05E885D5}"/>
              </a:ext>
            </a:extLst>
          </p:cNvPr>
          <p:cNvGrpSpPr/>
          <p:nvPr/>
        </p:nvGrpSpPr>
        <p:grpSpPr>
          <a:xfrm>
            <a:off x="3240360" y="2627188"/>
            <a:ext cx="2648918" cy="524619"/>
            <a:chOff x="3240360" y="2627188"/>
            <a:chExt cx="2648918" cy="524619"/>
          </a:xfrm>
        </p:grpSpPr>
        <p:sp>
          <p:nvSpPr>
            <p:cNvPr id="6" name="Shape 3"/>
            <p:cNvSpPr/>
            <p:nvPr/>
          </p:nvSpPr>
          <p:spPr>
            <a:xfrm>
              <a:off x="3254648" y="2627188"/>
              <a:ext cx="2634630" cy="524619"/>
            </a:xfrm>
            <a:prstGeom prst="roundRect">
              <a:avLst>
                <a:gd name="adj" fmla="val 13072"/>
              </a:avLst>
            </a:prstGeom>
            <a:solidFill>
              <a:srgbClr val="FBFCFE"/>
            </a:solidFill>
            <a:ln w="14288">
              <a:solidFill>
                <a:srgbClr val="CFD2D8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pic>
          <p:nvPicPr>
            <p:cNvPr id="7" name="Image 1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40360" y="2627188"/>
              <a:ext cx="57150" cy="524619"/>
            </a:xfrm>
            <a:prstGeom prst="rect">
              <a:avLst/>
            </a:prstGeom>
          </p:spPr>
        </p:pic>
        <p:sp>
          <p:nvSpPr>
            <p:cNvPr id="8" name="Text 4"/>
            <p:cNvSpPr/>
            <p:nvPr/>
          </p:nvSpPr>
          <p:spPr>
            <a:xfrm>
              <a:off x="3435772" y="2765450"/>
              <a:ext cx="2315245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Not a Technology Claim</a:t>
              </a:r>
              <a:endParaRPr lang="en-US" sz="1200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4955C73-32B5-6C1F-E08E-090BB015BD4D}"/>
              </a:ext>
            </a:extLst>
          </p:cNvPr>
          <p:cNvGrpSpPr/>
          <p:nvPr/>
        </p:nvGrpSpPr>
        <p:grpSpPr>
          <a:xfrm>
            <a:off x="5998964" y="2627188"/>
            <a:ext cx="2648843" cy="524619"/>
            <a:chOff x="5998964" y="2627188"/>
            <a:chExt cx="2648843" cy="524619"/>
          </a:xfrm>
        </p:grpSpPr>
        <p:sp>
          <p:nvSpPr>
            <p:cNvPr id="9" name="Shape 5"/>
            <p:cNvSpPr/>
            <p:nvPr/>
          </p:nvSpPr>
          <p:spPr>
            <a:xfrm>
              <a:off x="6013252" y="2627188"/>
              <a:ext cx="2634555" cy="524619"/>
            </a:xfrm>
            <a:prstGeom prst="roundRect">
              <a:avLst>
                <a:gd name="adj" fmla="val 13072"/>
              </a:avLst>
            </a:prstGeom>
            <a:solidFill>
              <a:srgbClr val="FBFCFE"/>
            </a:solidFill>
            <a:ln w="14288">
              <a:solidFill>
                <a:srgbClr val="CFD2D8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pic>
          <p:nvPicPr>
            <p:cNvPr id="10" name="Image 2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98964" y="2627188"/>
              <a:ext cx="57150" cy="524619"/>
            </a:xfrm>
            <a:prstGeom prst="rect">
              <a:avLst/>
            </a:prstGeom>
          </p:spPr>
        </p:pic>
        <p:sp>
          <p:nvSpPr>
            <p:cNvPr id="11" name="Text 6"/>
            <p:cNvSpPr/>
            <p:nvPr/>
          </p:nvSpPr>
          <p:spPr>
            <a:xfrm>
              <a:off x="6194375" y="2765450"/>
              <a:ext cx="2315170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Not Exploration-Centered</a:t>
              </a:r>
              <a:endParaRPr lang="en-US" sz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695896"/>
            <a:ext cx="4749998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Examples of Research Questions</a:t>
            </a:r>
            <a:endParaRPr lang="en-US" sz="24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B273B04-C9C1-89BE-9B7A-A1AEDBC97ACB}"/>
              </a:ext>
            </a:extLst>
          </p:cNvPr>
          <p:cNvGrpSpPr/>
          <p:nvPr/>
        </p:nvGrpSpPr>
        <p:grpSpPr>
          <a:xfrm>
            <a:off x="496119" y="2331467"/>
            <a:ext cx="2634555" cy="496044"/>
            <a:chOff x="496119" y="2331467"/>
            <a:chExt cx="2634555" cy="496044"/>
          </a:xfrm>
        </p:grpSpPr>
        <p:sp>
          <p:nvSpPr>
            <p:cNvPr id="3" name="Shape 1"/>
            <p:cNvSpPr/>
            <p:nvPr/>
          </p:nvSpPr>
          <p:spPr>
            <a:xfrm>
              <a:off x="496119" y="2331467"/>
              <a:ext cx="2634555" cy="496044"/>
            </a:xfrm>
            <a:prstGeom prst="roundRect">
              <a:avLst>
                <a:gd name="adj" fmla="val 3751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 2"/>
            <p:cNvSpPr/>
            <p:nvPr/>
          </p:nvSpPr>
          <p:spPr>
            <a:xfrm>
              <a:off x="620092" y="2455441"/>
              <a:ext cx="2386608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Healthcare</a:t>
              </a:r>
              <a:endParaRPr lang="en-US" sz="1200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ED8AE07-C8BD-7CD5-E35F-DF7A4120034D}"/>
              </a:ext>
            </a:extLst>
          </p:cNvPr>
          <p:cNvGrpSpPr/>
          <p:nvPr/>
        </p:nvGrpSpPr>
        <p:grpSpPr>
          <a:xfrm>
            <a:off x="3254648" y="2331467"/>
            <a:ext cx="2634630" cy="496044"/>
            <a:chOff x="3254648" y="2331467"/>
            <a:chExt cx="2634630" cy="496044"/>
          </a:xfrm>
        </p:grpSpPr>
        <p:sp>
          <p:nvSpPr>
            <p:cNvPr id="5" name="Shape 3"/>
            <p:cNvSpPr/>
            <p:nvPr/>
          </p:nvSpPr>
          <p:spPr>
            <a:xfrm>
              <a:off x="3254648" y="2331467"/>
              <a:ext cx="2634630" cy="496044"/>
            </a:xfrm>
            <a:prstGeom prst="roundRect">
              <a:avLst>
                <a:gd name="adj" fmla="val 3751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 4"/>
            <p:cNvSpPr/>
            <p:nvPr/>
          </p:nvSpPr>
          <p:spPr>
            <a:xfrm>
              <a:off x="3378622" y="2455441"/>
              <a:ext cx="2386682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Sports</a:t>
              </a:r>
              <a:endParaRPr lang="en-US" sz="120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6A705DE-2EA8-B138-D008-7860764FB7F4}"/>
              </a:ext>
            </a:extLst>
          </p:cNvPr>
          <p:cNvGrpSpPr/>
          <p:nvPr/>
        </p:nvGrpSpPr>
        <p:grpSpPr>
          <a:xfrm>
            <a:off x="6013252" y="2331467"/>
            <a:ext cx="2634555" cy="496044"/>
            <a:chOff x="6013252" y="2331467"/>
            <a:chExt cx="2634555" cy="496044"/>
          </a:xfrm>
        </p:grpSpPr>
        <p:sp>
          <p:nvSpPr>
            <p:cNvPr id="7" name="Shape 5"/>
            <p:cNvSpPr/>
            <p:nvPr/>
          </p:nvSpPr>
          <p:spPr>
            <a:xfrm>
              <a:off x="6013252" y="2331467"/>
              <a:ext cx="2634555" cy="496044"/>
            </a:xfrm>
            <a:prstGeom prst="roundRect">
              <a:avLst>
                <a:gd name="adj" fmla="val 3751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 6"/>
            <p:cNvSpPr/>
            <p:nvPr/>
          </p:nvSpPr>
          <p:spPr>
            <a:xfrm>
              <a:off x="6137225" y="2455441"/>
              <a:ext cx="2386608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Music</a:t>
              </a:r>
              <a:endParaRPr lang="en-US" sz="120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41F4229-648B-9D4B-6913-586756ADBEC0}"/>
              </a:ext>
            </a:extLst>
          </p:cNvPr>
          <p:cNvGrpSpPr/>
          <p:nvPr/>
        </p:nvGrpSpPr>
        <p:grpSpPr>
          <a:xfrm>
            <a:off x="496119" y="2951485"/>
            <a:ext cx="4013820" cy="496044"/>
            <a:chOff x="496119" y="2951485"/>
            <a:chExt cx="4013820" cy="496044"/>
          </a:xfrm>
        </p:grpSpPr>
        <p:sp>
          <p:nvSpPr>
            <p:cNvPr id="9" name="Shape 7"/>
            <p:cNvSpPr/>
            <p:nvPr/>
          </p:nvSpPr>
          <p:spPr>
            <a:xfrm>
              <a:off x="496119" y="2951485"/>
              <a:ext cx="4013820" cy="496044"/>
            </a:xfrm>
            <a:prstGeom prst="roundRect">
              <a:avLst>
                <a:gd name="adj" fmla="val 3751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 8"/>
            <p:cNvSpPr/>
            <p:nvPr/>
          </p:nvSpPr>
          <p:spPr>
            <a:xfrm>
              <a:off x="620092" y="3075459"/>
              <a:ext cx="3765872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Education</a:t>
              </a:r>
              <a:endParaRPr lang="en-US" sz="1200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EC30DAB-6D5B-C9C9-AC28-4A3A944EB178}"/>
              </a:ext>
            </a:extLst>
          </p:cNvPr>
          <p:cNvGrpSpPr/>
          <p:nvPr/>
        </p:nvGrpSpPr>
        <p:grpSpPr>
          <a:xfrm>
            <a:off x="4633913" y="2951485"/>
            <a:ext cx="4013895" cy="496044"/>
            <a:chOff x="4633913" y="2951485"/>
            <a:chExt cx="4013895" cy="496044"/>
          </a:xfrm>
        </p:grpSpPr>
        <p:sp>
          <p:nvSpPr>
            <p:cNvPr id="11" name="Shape 9"/>
            <p:cNvSpPr/>
            <p:nvPr/>
          </p:nvSpPr>
          <p:spPr>
            <a:xfrm>
              <a:off x="4633913" y="2951485"/>
              <a:ext cx="4013895" cy="496044"/>
            </a:xfrm>
            <a:prstGeom prst="roundRect">
              <a:avLst>
                <a:gd name="adj" fmla="val 3751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 10"/>
            <p:cNvSpPr/>
            <p:nvPr/>
          </p:nvSpPr>
          <p:spPr>
            <a:xfrm>
              <a:off x="4757886" y="3075459"/>
              <a:ext cx="3765947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Wildlife</a:t>
              </a:r>
              <a:endParaRPr lang="en-US" sz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70037"/>
            <a:ext cx="31011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Today's Goals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2005608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By the end of this session, you'll have completed all of the following: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96119" y="2393231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01</a:t>
            </a:r>
            <a:endParaRPr lang="en-US" sz="9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589684"/>
            <a:ext cx="2634555" cy="142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6119" y="2680246"/>
            <a:ext cx="2634555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Choose Your Domain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254648" y="2393231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02</a:t>
            </a:r>
            <a:endParaRPr lang="en-US" sz="9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4648" y="2589684"/>
            <a:ext cx="2634630" cy="142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54648" y="2680246"/>
            <a:ext cx="263463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Sharpen Your Question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013252" y="2393231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03</a:t>
            </a:r>
            <a:endParaRPr lang="en-US" sz="9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3252" y="2589684"/>
            <a:ext cx="2634555" cy="1428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013252" y="2680246"/>
            <a:ext cx="2634555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Understand the Structure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496119" y="3145334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04</a:t>
            </a:r>
            <a:endParaRPr lang="en-US" sz="9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3329360"/>
            <a:ext cx="2634555" cy="1428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96119" y="3432349"/>
            <a:ext cx="2634555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Find Sources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3254648" y="3145334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05</a:t>
            </a:r>
            <a:endParaRPr lang="en-US" sz="9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4648" y="3329360"/>
            <a:ext cx="2634630" cy="1428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3254648" y="3432349"/>
            <a:ext cx="263463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Sketch &amp; Outline</a:t>
            </a:r>
            <a:endParaRPr lang="en-US" sz="1200" dirty="0"/>
          </a:p>
        </p:txBody>
      </p:sp>
      <p:sp>
        <p:nvSpPr>
          <p:cNvPr id="19" name="Text 12"/>
          <p:cNvSpPr/>
          <p:nvPr/>
        </p:nvSpPr>
        <p:spPr>
          <a:xfrm>
            <a:off x="6013252" y="3145334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06</a:t>
            </a:r>
            <a:endParaRPr lang="en-US" sz="95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3252" y="3329360"/>
            <a:ext cx="2634555" cy="1428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013252" y="3432349"/>
            <a:ext cx="2634555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Commit to Exploration</a:t>
            </a:r>
            <a:endParaRPr lang="en-US" sz="1200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11B9918-E25F-B240-3993-3F45E15BF3C2}"/>
              </a:ext>
            </a:extLst>
          </p:cNvPr>
          <p:cNvCxnSpPr>
            <a:stCxn id="5" idx="1"/>
            <a:endCxn id="5" idx="3"/>
          </p:cNvCxnSpPr>
          <p:nvPr/>
        </p:nvCxnSpPr>
        <p:spPr>
          <a:xfrm>
            <a:off x="496119" y="2596828"/>
            <a:ext cx="263455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436E023-1163-8097-DD2A-96C93ADE3135}"/>
              </a:ext>
            </a:extLst>
          </p:cNvPr>
          <p:cNvCxnSpPr/>
          <p:nvPr/>
        </p:nvCxnSpPr>
        <p:spPr>
          <a:xfrm>
            <a:off x="3236976" y="2596938"/>
            <a:ext cx="263455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329DC05-EB5B-DF54-FCD2-2DFE186FF621}"/>
              </a:ext>
            </a:extLst>
          </p:cNvPr>
          <p:cNvCxnSpPr/>
          <p:nvPr/>
        </p:nvCxnSpPr>
        <p:spPr>
          <a:xfrm>
            <a:off x="5976138" y="2596828"/>
            <a:ext cx="263455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28B8AEF-A78A-7966-58D2-431D8358A656}"/>
              </a:ext>
            </a:extLst>
          </p:cNvPr>
          <p:cNvCxnSpPr/>
          <p:nvPr/>
        </p:nvCxnSpPr>
        <p:spPr>
          <a:xfrm>
            <a:off x="482843" y="3382627"/>
            <a:ext cx="263455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25685B4-6922-E0FF-2893-EC4E031D92E0}"/>
              </a:ext>
            </a:extLst>
          </p:cNvPr>
          <p:cNvCxnSpPr/>
          <p:nvPr/>
        </p:nvCxnSpPr>
        <p:spPr>
          <a:xfrm>
            <a:off x="3236978" y="3385852"/>
            <a:ext cx="263455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6BDE675-1BFB-6DD7-5379-699CFAA92366}"/>
              </a:ext>
            </a:extLst>
          </p:cNvPr>
          <p:cNvCxnSpPr/>
          <p:nvPr/>
        </p:nvCxnSpPr>
        <p:spPr>
          <a:xfrm>
            <a:off x="5998932" y="3382627"/>
            <a:ext cx="263455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2377976"/>
            <a:ext cx="425038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Personalization Moment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19994"/>
            <a:ext cx="387124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How to Choose Your Angle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655564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Listen to all the angles your mentor offers. For each one, your mentor will explain:</a:t>
            </a:r>
            <a:endParaRPr lang="en-US" sz="12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61C219E-6687-F1FE-5603-1F63D410F672}"/>
              </a:ext>
            </a:extLst>
          </p:cNvPr>
          <p:cNvGrpSpPr/>
          <p:nvPr/>
        </p:nvGrpSpPr>
        <p:grpSpPr>
          <a:xfrm>
            <a:off x="496119" y="2043187"/>
            <a:ext cx="2634555" cy="496044"/>
            <a:chOff x="496119" y="2043187"/>
            <a:chExt cx="2634555" cy="496044"/>
          </a:xfrm>
        </p:grpSpPr>
        <p:sp>
          <p:nvSpPr>
            <p:cNvPr id="4" name="Shape 2"/>
            <p:cNvSpPr/>
            <p:nvPr/>
          </p:nvSpPr>
          <p:spPr>
            <a:xfrm>
              <a:off x="496119" y="2043187"/>
              <a:ext cx="2634555" cy="496044"/>
            </a:xfrm>
            <a:prstGeom prst="roundRect">
              <a:avLst>
                <a:gd name="adj" fmla="val 3751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 3"/>
            <p:cNvSpPr/>
            <p:nvPr/>
          </p:nvSpPr>
          <p:spPr>
            <a:xfrm>
              <a:off x="620092" y="2167161"/>
              <a:ext cx="2386608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The Domain &amp; Focus</a:t>
              </a:r>
              <a:endParaRPr lang="en-US" sz="1200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3241713-9269-FCDD-5CAB-E7A5A3C0B017}"/>
              </a:ext>
            </a:extLst>
          </p:cNvPr>
          <p:cNvGrpSpPr/>
          <p:nvPr/>
        </p:nvGrpSpPr>
        <p:grpSpPr>
          <a:xfrm>
            <a:off x="3254648" y="2043187"/>
            <a:ext cx="2634630" cy="496044"/>
            <a:chOff x="3254648" y="2043187"/>
            <a:chExt cx="2634630" cy="496044"/>
          </a:xfrm>
        </p:grpSpPr>
        <p:sp>
          <p:nvSpPr>
            <p:cNvPr id="6" name="Shape 4"/>
            <p:cNvSpPr/>
            <p:nvPr/>
          </p:nvSpPr>
          <p:spPr>
            <a:xfrm>
              <a:off x="3254648" y="2043187"/>
              <a:ext cx="2634630" cy="496044"/>
            </a:xfrm>
            <a:prstGeom prst="roundRect">
              <a:avLst>
                <a:gd name="adj" fmla="val 3751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 5"/>
            <p:cNvSpPr/>
            <p:nvPr/>
          </p:nvSpPr>
          <p:spPr>
            <a:xfrm>
              <a:off x="3378622" y="2167161"/>
              <a:ext cx="2386682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Why It Matches You</a:t>
              </a:r>
              <a:endParaRPr lang="en-US" sz="120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A674F20-22DA-6FF5-8BAE-B965C8CCAF02}"/>
              </a:ext>
            </a:extLst>
          </p:cNvPr>
          <p:cNvGrpSpPr/>
          <p:nvPr/>
        </p:nvGrpSpPr>
        <p:grpSpPr>
          <a:xfrm>
            <a:off x="6013252" y="2043187"/>
            <a:ext cx="2634555" cy="496044"/>
            <a:chOff x="6013252" y="2043187"/>
            <a:chExt cx="2634555" cy="496044"/>
          </a:xfrm>
        </p:grpSpPr>
        <p:sp>
          <p:nvSpPr>
            <p:cNvPr id="8" name="Shape 6"/>
            <p:cNvSpPr/>
            <p:nvPr/>
          </p:nvSpPr>
          <p:spPr>
            <a:xfrm>
              <a:off x="6013252" y="2043187"/>
              <a:ext cx="2634555" cy="496044"/>
            </a:xfrm>
            <a:prstGeom prst="roundRect">
              <a:avLst>
                <a:gd name="adj" fmla="val 3751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 7"/>
            <p:cNvSpPr/>
            <p:nvPr/>
          </p:nvSpPr>
          <p:spPr>
            <a:xfrm>
              <a:off x="6137225" y="2167161"/>
              <a:ext cx="2386608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The Research Question</a:t>
              </a:r>
              <a:endParaRPr lang="en-US" sz="1200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BE2B1DC-E459-6621-17E9-E795A70D104A}"/>
              </a:ext>
            </a:extLst>
          </p:cNvPr>
          <p:cNvGrpSpPr/>
          <p:nvPr/>
        </p:nvGrpSpPr>
        <p:grpSpPr>
          <a:xfrm>
            <a:off x="496119" y="2663205"/>
            <a:ext cx="4013820" cy="496044"/>
            <a:chOff x="496119" y="2663205"/>
            <a:chExt cx="4013820" cy="496044"/>
          </a:xfrm>
        </p:grpSpPr>
        <p:sp>
          <p:nvSpPr>
            <p:cNvPr id="10" name="Shape 8"/>
            <p:cNvSpPr/>
            <p:nvPr/>
          </p:nvSpPr>
          <p:spPr>
            <a:xfrm>
              <a:off x="496119" y="2663205"/>
              <a:ext cx="4013820" cy="496044"/>
            </a:xfrm>
            <a:prstGeom prst="roundRect">
              <a:avLst>
                <a:gd name="adj" fmla="val 3751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 9"/>
            <p:cNvSpPr/>
            <p:nvPr/>
          </p:nvSpPr>
          <p:spPr>
            <a:xfrm>
              <a:off x="620092" y="2787179"/>
              <a:ext cx="3765872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Existing Sources</a:t>
              </a:r>
              <a:endParaRPr lang="en-US" sz="1200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98DE1E9-FB17-1AA7-5CC5-1298CD262BC3}"/>
              </a:ext>
            </a:extLst>
          </p:cNvPr>
          <p:cNvGrpSpPr/>
          <p:nvPr/>
        </p:nvGrpSpPr>
        <p:grpSpPr>
          <a:xfrm>
            <a:off x="4633913" y="2663205"/>
            <a:ext cx="4013895" cy="496044"/>
            <a:chOff x="4633913" y="2663205"/>
            <a:chExt cx="4013895" cy="496044"/>
          </a:xfrm>
        </p:grpSpPr>
        <p:sp>
          <p:nvSpPr>
            <p:cNvPr id="12" name="Shape 10"/>
            <p:cNvSpPr/>
            <p:nvPr/>
          </p:nvSpPr>
          <p:spPr>
            <a:xfrm>
              <a:off x="4633913" y="2663205"/>
              <a:ext cx="4013895" cy="496044"/>
            </a:xfrm>
            <a:prstGeom prst="roundRect">
              <a:avLst>
                <a:gd name="adj" fmla="val 3751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 11"/>
            <p:cNvSpPr/>
            <p:nvPr/>
          </p:nvSpPr>
          <p:spPr>
            <a:xfrm>
              <a:off x="4757886" y="2787179"/>
              <a:ext cx="3765947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The Hands-On Exploration</a:t>
              </a:r>
              <a:endParaRPr lang="en-US" sz="1200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88BDD91-0CAF-2EEF-1DF2-6D54961105B9}"/>
              </a:ext>
            </a:extLst>
          </p:cNvPr>
          <p:cNvGrpSpPr/>
          <p:nvPr/>
        </p:nvGrpSpPr>
        <p:grpSpPr>
          <a:xfrm>
            <a:off x="496119" y="3298775"/>
            <a:ext cx="8151763" cy="824731"/>
            <a:chOff x="496119" y="3298775"/>
            <a:chExt cx="8151763" cy="824731"/>
          </a:xfrm>
        </p:grpSpPr>
        <p:sp>
          <p:nvSpPr>
            <p:cNvPr id="14" name="Shape 12"/>
            <p:cNvSpPr/>
            <p:nvPr/>
          </p:nvSpPr>
          <p:spPr>
            <a:xfrm>
              <a:off x="496119" y="3298775"/>
              <a:ext cx="8151763" cy="824731"/>
            </a:xfrm>
            <a:prstGeom prst="roundRect">
              <a:avLst>
                <a:gd name="adj" fmla="val 2256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15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0092" y="3494261"/>
              <a:ext cx="193774" cy="155004"/>
            </a:xfrm>
            <a:prstGeom prst="rect">
              <a:avLst/>
            </a:prstGeom>
          </p:spPr>
        </p:pic>
        <p:sp>
          <p:nvSpPr>
            <p:cNvPr id="16" name="Text 13"/>
            <p:cNvSpPr/>
            <p:nvPr/>
          </p:nvSpPr>
          <p:spPr>
            <a:xfrm>
              <a:off x="937840" y="3453705"/>
              <a:ext cx="7586067" cy="4961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Pick the one you </a:t>
              </a:r>
              <a:r>
                <a:rPr lang="en-US" sz="1200" b="1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actually want to investigate</a:t>
              </a:r>
              <a:r>
                <a:rPr lang="en-US" sz="1200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, not the one that sounds the smartest. You're going to spend four sessions on this - pick what holds your interest.</a:t>
              </a:r>
              <a:endParaRPr lang="en-US" sz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94481"/>
            <a:ext cx="31011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Paper Structure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130052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Your paper will have </a:t>
            </a: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eight sections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plus an AI Attribution Statement and References.</a:t>
            </a:r>
            <a:endParaRPr lang="en-US" sz="120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FAB05FC-8CAE-76B3-F956-0EAB3003309E}"/>
              </a:ext>
            </a:extLst>
          </p:cNvPr>
          <p:cNvGrpSpPr/>
          <p:nvPr/>
        </p:nvGrpSpPr>
        <p:grpSpPr>
          <a:xfrm>
            <a:off x="496119" y="1517675"/>
            <a:ext cx="4013895" cy="496044"/>
            <a:chOff x="496119" y="1517675"/>
            <a:chExt cx="4013895" cy="496044"/>
          </a:xfrm>
        </p:grpSpPr>
        <p:sp>
          <p:nvSpPr>
            <p:cNvPr id="4" name="Shape 2"/>
            <p:cNvSpPr/>
            <p:nvPr/>
          </p:nvSpPr>
          <p:spPr>
            <a:xfrm>
              <a:off x="496119" y="1517675"/>
              <a:ext cx="4013895" cy="496044"/>
            </a:xfrm>
            <a:prstGeom prst="roundRect">
              <a:avLst>
                <a:gd name="adj" fmla="val 3751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 3"/>
            <p:cNvSpPr/>
            <p:nvPr/>
          </p:nvSpPr>
          <p:spPr>
            <a:xfrm>
              <a:off x="620092" y="1641649"/>
              <a:ext cx="3765947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1 - Abstract</a:t>
              </a:r>
              <a:endParaRPr lang="en-US" sz="1200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792CFA1-3B13-0541-7439-1A4A8885700D}"/>
              </a:ext>
            </a:extLst>
          </p:cNvPr>
          <p:cNvGrpSpPr/>
          <p:nvPr/>
        </p:nvGrpSpPr>
        <p:grpSpPr>
          <a:xfrm>
            <a:off x="4633987" y="1517675"/>
            <a:ext cx="4013895" cy="496044"/>
            <a:chOff x="4633987" y="1517675"/>
            <a:chExt cx="4013895" cy="496044"/>
          </a:xfrm>
        </p:grpSpPr>
        <p:sp>
          <p:nvSpPr>
            <p:cNvPr id="6" name="Shape 4"/>
            <p:cNvSpPr/>
            <p:nvPr/>
          </p:nvSpPr>
          <p:spPr>
            <a:xfrm>
              <a:off x="4633987" y="1517675"/>
              <a:ext cx="4013895" cy="496044"/>
            </a:xfrm>
            <a:prstGeom prst="roundRect">
              <a:avLst>
                <a:gd name="adj" fmla="val 3751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 5"/>
            <p:cNvSpPr/>
            <p:nvPr/>
          </p:nvSpPr>
          <p:spPr>
            <a:xfrm>
              <a:off x="4757961" y="1641649"/>
              <a:ext cx="3765947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2 - Introduction</a:t>
              </a:r>
              <a:endParaRPr lang="en-US" sz="1200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4DBD954-B1E1-6327-C7FB-B48A97390846}"/>
              </a:ext>
            </a:extLst>
          </p:cNvPr>
          <p:cNvGrpSpPr/>
          <p:nvPr/>
        </p:nvGrpSpPr>
        <p:grpSpPr>
          <a:xfrm>
            <a:off x="496119" y="2137693"/>
            <a:ext cx="4013895" cy="496044"/>
            <a:chOff x="496119" y="2137693"/>
            <a:chExt cx="4013895" cy="496044"/>
          </a:xfrm>
        </p:grpSpPr>
        <p:sp>
          <p:nvSpPr>
            <p:cNvPr id="8" name="Shape 6"/>
            <p:cNvSpPr/>
            <p:nvPr/>
          </p:nvSpPr>
          <p:spPr>
            <a:xfrm>
              <a:off x="496119" y="2137693"/>
              <a:ext cx="4013895" cy="496044"/>
            </a:xfrm>
            <a:prstGeom prst="roundRect">
              <a:avLst>
                <a:gd name="adj" fmla="val 3751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 7"/>
            <p:cNvSpPr/>
            <p:nvPr/>
          </p:nvSpPr>
          <p:spPr>
            <a:xfrm>
              <a:off x="620092" y="2261667"/>
              <a:ext cx="3765947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3 - Related Work</a:t>
              </a:r>
              <a:endParaRPr lang="en-US" sz="1200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C0DF656-F02B-E44E-4FB1-766F6C51F0FB}"/>
              </a:ext>
            </a:extLst>
          </p:cNvPr>
          <p:cNvGrpSpPr/>
          <p:nvPr/>
        </p:nvGrpSpPr>
        <p:grpSpPr>
          <a:xfrm>
            <a:off x="4633987" y="2137693"/>
            <a:ext cx="4013895" cy="496044"/>
            <a:chOff x="4633987" y="2137693"/>
            <a:chExt cx="4013895" cy="496044"/>
          </a:xfrm>
        </p:grpSpPr>
        <p:sp>
          <p:nvSpPr>
            <p:cNvPr id="10" name="Shape 8"/>
            <p:cNvSpPr/>
            <p:nvPr/>
          </p:nvSpPr>
          <p:spPr>
            <a:xfrm>
              <a:off x="4633987" y="2137693"/>
              <a:ext cx="4013895" cy="496044"/>
            </a:xfrm>
            <a:prstGeom prst="roundRect">
              <a:avLst>
                <a:gd name="adj" fmla="val 3751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 9"/>
            <p:cNvSpPr/>
            <p:nvPr/>
          </p:nvSpPr>
          <p:spPr>
            <a:xfrm>
              <a:off x="4757961" y="2261667"/>
              <a:ext cx="3765947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4 - Methodology</a:t>
              </a:r>
              <a:endParaRPr lang="en-US" sz="1200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015F0C6-DB98-FD51-02AA-453784DF6866}"/>
              </a:ext>
            </a:extLst>
          </p:cNvPr>
          <p:cNvGrpSpPr/>
          <p:nvPr/>
        </p:nvGrpSpPr>
        <p:grpSpPr>
          <a:xfrm>
            <a:off x="496119" y="2757711"/>
            <a:ext cx="4013895" cy="496044"/>
            <a:chOff x="496119" y="2757711"/>
            <a:chExt cx="4013895" cy="496044"/>
          </a:xfrm>
        </p:grpSpPr>
        <p:sp>
          <p:nvSpPr>
            <p:cNvPr id="12" name="Shape 10"/>
            <p:cNvSpPr/>
            <p:nvPr/>
          </p:nvSpPr>
          <p:spPr>
            <a:xfrm>
              <a:off x="496119" y="2757711"/>
              <a:ext cx="4013895" cy="496044"/>
            </a:xfrm>
            <a:prstGeom prst="roundRect">
              <a:avLst>
                <a:gd name="adj" fmla="val 3751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 11"/>
            <p:cNvSpPr/>
            <p:nvPr/>
          </p:nvSpPr>
          <p:spPr>
            <a:xfrm>
              <a:off x="620092" y="2881685"/>
              <a:ext cx="3765947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5 - Bias &amp; Fairness</a:t>
              </a:r>
              <a:endParaRPr lang="en-US" sz="1200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326986D-31C5-AD3D-ADD9-357C6EEA676C}"/>
              </a:ext>
            </a:extLst>
          </p:cNvPr>
          <p:cNvGrpSpPr/>
          <p:nvPr/>
        </p:nvGrpSpPr>
        <p:grpSpPr>
          <a:xfrm>
            <a:off x="4633987" y="2757711"/>
            <a:ext cx="4013895" cy="496044"/>
            <a:chOff x="4633987" y="2757711"/>
            <a:chExt cx="4013895" cy="496044"/>
          </a:xfrm>
        </p:grpSpPr>
        <p:sp>
          <p:nvSpPr>
            <p:cNvPr id="14" name="Shape 12"/>
            <p:cNvSpPr/>
            <p:nvPr/>
          </p:nvSpPr>
          <p:spPr>
            <a:xfrm>
              <a:off x="4633987" y="2757711"/>
              <a:ext cx="4013895" cy="496044"/>
            </a:xfrm>
            <a:prstGeom prst="roundRect">
              <a:avLst>
                <a:gd name="adj" fmla="val 3751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 13"/>
            <p:cNvSpPr/>
            <p:nvPr/>
          </p:nvSpPr>
          <p:spPr>
            <a:xfrm>
              <a:off x="4757961" y="2881685"/>
              <a:ext cx="3765947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6 - Safety &amp; Governance</a:t>
              </a:r>
              <a:endParaRPr lang="en-US" sz="1200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9FDB4F4-0475-8378-12DE-80B53A813FB7}"/>
              </a:ext>
            </a:extLst>
          </p:cNvPr>
          <p:cNvGrpSpPr/>
          <p:nvPr/>
        </p:nvGrpSpPr>
        <p:grpSpPr>
          <a:xfrm>
            <a:off x="496119" y="3377729"/>
            <a:ext cx="4013895" cy="496044"/>
            <a:chOff x="496119" y="3377729"/>
            <a:chExt cx="4013895" cy="496044"/>
          </a:xfrm>
        </p:grpSpPr>
        <p:sp>
          <p:nvSpPr>
            <p:cNvPr id="16" name="Shape 14"/>
            <p:cNvSpPr/>
            <p:nvPr/>
          </p:nvSpPr>
          <p:spPr>
            <a:xfrm>
              <a:off x="496119" y="3377729"/>
              <a:ext cx="4013895" cy="496044"/>
            </a:xfrm>
            <a:prstGeom prst="roundRect">
              <a:avLst>
                <a:gd name="adj" fmla="val 3751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 15"/>
            <p:cNvSpPr/>
            <p:nvPr/>
          </p:nvSpPr>
          <p:spPr>
            <a:xfrm>
              <a:off x="620092" y="3501703"/>
              <a:ext cx="3765947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7 - Results</a:t>
              </a:r>
              <a:endParaRPr lang="en-US" sz="1200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3F395BB-D9AB-D6F1-18C3-475B45A0FDA6}"/>
              </a:ext>
            </a:extLst>
          </p:cNvPr>
          <p:cNvGrpSpPr/>
          <p:nvPr/>
        </p:nvGrpSpPr>
        <p:grpSpPr>
          <a:xfrm>
            <a:off x="4633987" y="3377729"/>
            <a:ext cx="4013895" cy="496044"/>
            <a:chOff x="4633987" y="3377729"/>
            <a:chExt cx="4013895" cy="496044"/>
          </a:xfrm>
        </p:grpSpPr>
        <p:sp>
          <p:nvSpPr>
            <p:cNvPr id="18" name="Shape 16"/>
            <p:cNvSpPr/>
            <p:nvPr/>
          </p:nvSpPr>
          <p:spPr>
            <a:xfrm>
              <a:off x="4633987" y="3377729"/>
              <a:ext cx="4013895" cy="496044"/>
            </a:xfrm>
            <a:prstGeom prst="roundRect">
              <a:avLst>
                <a:gd name="adj" fmla="val 3751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 17"/>
            <p:cNvSpPr/>
            <p:nvPr/>
          </p:nvSpPr>
          <p:spPr>
            <a:xfrm>
              <a:off x="4757961" y="3501703"/>
              <a:ext cx="3765947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8 - Conclusion &amp; Future Work</a:t>
              </a:r>
              <a:endParaRPr lang="en-US" sz="1200" dirty="0"/>
            </a:p>
          </p:txBody>
        </p:sp>
      </p:grpSp>
      <p:sp>
        <p:nvSpPr>
          <p:cNvPr id="20" name="Text 18"/>
          <p:cNvSpPr/>
          <p:nvPr/>
        </p:nvSpPr>
        <p:spPr>
          <a:xfrm>
            <a:off x="496119" y="4013299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6119" y="4400922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Plus an </a:t>
            </a: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Attribution Statement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</a:t>
            </a: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References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at the end.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49189"/>
            <a:ext cx="31011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Section 1 - Abstract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934394"/>
            <a:ext cx="578450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It 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96119" y="2294111"/>
            <a:ext cx="578450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Abstract is </a:t>
            </a: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one paragraph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that summarizes the entire paper. It tells a reader: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96120" y="2653829"/>
            <a:ext cx="2603920" cy="112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ts val="15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the paper investigates</a:t>
            </a:r>
            <a:endParaRPr lang="en-US" sz="1100" dirty="0"/>
          </a:p>
          <a:p>
            <a:pPr marL="171450" indent="-171450" algn="l">
              <a:lnSpc>
                <a:spcPts val="15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How it was investigated</a:t>
            </a:r>
            <a:endParaRPr lang="en-US" sz="1100" dirty="0"/>
          </a:p>
          <a:p>
            <a:pPr marL="171450" indent="-171450" algn="l">
              <a:lnSpc>
                <a:spcPts val="15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was found</a:t>
            </a:r>
            <a:endParaRPr lang="en-US" sz="1100" dirty="0"/>
          </a:p>
          <a:p>
            <a:pPr marL="171450" indent="-171450" algn="l">
              <a:lnSpc>
                <a:spcPts val="15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it means</a:t>
            </a:r>
            <a:endParaRPr lang="en-US" sz="110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D189EBD-1EA2-7D7D-393B-22C63B69B32C}"/>
              </a:ext>
            </a:extLst>
          </p:cNvPr>
          <p:cNvGrpSpPr/>
          <p:nvPr/>
        </p:nvGrpSpPr>
        <p:grpSpPr>
          <a:xfrm>
            <a:off x="6137946" y="1822773"/>
            <a:ext cx="2603920" cy="1648974"/>
            <a:chOff x="6137946" y="1822773"/>
            <a:chExt cx="2603920" cy="1648974"/>
          </a:xfrm>
        </p:grpSpPr>
        <p:sp>
          <p:nvSpPr>
            <p:cNvPr id="6" name="Shape 4"/>
            <p:cNvSpPr/>
            <p:nvPr/>
          </p:nvSpPr>
          <p:spPr>
            <a:xfrm>
              <a:off x="6137946" y="1822773"/>
              <a:ext cx="2603920" cy="1648974"/>
            </a:xfrm>
            <a:prstGeom prst="roundRect">
              <a:avLst>
                <a:gd name="adj" fmla="val 898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 5"/>
            <p:cNvSpPr/>
            <p:nvPr/>
          </p:nvSpPr>
          <p:spPr>
            <a:xfrm>
              <a:off x="6622628" y="1934394"/>
              <a:ext cx="1995264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Your Task Today</a:t>
              </a:r>
              <a:endParaRPr lang="en-US" sz="12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6280622" y="2294112"/>
              <a:ext cx="2337270" cy="9992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Sketch a </a:t>
              </a: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placeholder version (~80 words)</a:t>
              </a:r>
              <a:r>
                <a:rPr lang="en-US" sz="12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 today. The real Abstract gets written in Session 24, once you know your actual findings.</a:t>
              </a:r>
              <a:endParaRPr lang="en-US" sz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596554"/>
            <a:ext cx="3447008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Section 2 - Introduction</a:t>
            </a:r>
            <a:endParaRPr lang="en-US" sz="240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6C18156-8C8F-2C48-575E-34025BDC5B18}"/>
              </a:ext>
            </a:extLst>
          </p:cNvPr>
          <p:cNvGrpSpPr/>
          <p:nvPr/>
        </p:nvGrpSpPr>
        <p:grpSpPr>
          <a:xfrm>
            <a:off x="496119" y="2232124"/>
            <a:ext cx="2634555" cy="1314748"/>
            <a:chOff x="496119" y="2232124"/>
            <a:chExt cx="2634555" cy="1314748"/>
          </a:xfrm>
        </p:grpSpPr>
        <p:sp>
          <p:nvSpPr>
            <p:cNvPr id="3" name="Shape 1"/>
            <p:cNvSpPr/>
            <p:nvPr/>
          </p:nvSpPr>
          <p:spPr>
            <a:xfrm>
              <a:off x="496119" y="2232124"/>
              <a:ext cx="2634555" cy="1314748"/>
            </a:xfrm>
            <a:prstGeom prst="roundRect">
              <a:avLst>
                <a:gd name="adj" fmla="val 1415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 2"/>
            <p:cNvSpPr/>
            <p:nvPr/>
          </p:nvSpPr>
          <p:spPr>
            <a:xfrm>
              <a:off x="620092" y="2356098"/>
              <a:ext cx="2386608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The Hook</a:t>
              </a:r>
              <a:endParaRPr lang="en-US" sz="1200" dirty="0"/>
            </a:p>
          </p:txBody>
        </p:sp>
      </p:grpSp>
      <p:sp>
        <p:nvSpPr>
          <p:cNvPr id="5" name="Text 3"/>
          <p:cNvSpPr/>
          <p:nvPr/>
        </p:nvSpPr>
        <p:spPr>
          <a:xfrm>
            <a:off x="620092" y="2678609"/>
            <a:ext cx="2386608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Opens with a compelling reason why your domain matters</a:t>
            </a:r>
            <a:endParaRPr lang="en-US" sz="12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8715683-271A-395E-34C3-D23979A43B8F}"/>
              </a:ext>
            </a:extLst>
          </p:cNvPr>
          <p:cNvGrpSpPr/>
          <p:nvPr/>
        </p:nvGrpSpPr>
        <p:grpSpPr>
          <a:xfrm>
            <a:off x="3254648" y="2232124"/>
            <a:ext cx="2634630" cy="1314748"/>
            <a:chOff x="3254648" y="2232124"/>
            <a:chExt cx="2634630" cy="1314748"/>
          </a:xfrm>
        </p:grpSpPr>
        <p:sp>
          <p:nvSpPr>
            <p:cNvPr id="6" name="Shape 4"/>
            <p:cNvSpPr/>
            <p:nvPr/>
          </p:nvSpPr>
          <p:spPr>
            <a:xfrm>
              <a:off x="3254648" y="2232124"/>
              <a:ext cx="2634630" cy="1314748"/>
            </a:xfrm>
            <a:prstGeom prst="roundRect">
              <a:avLst>
                <a:gd name="adj" fmla="val 1415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 5"/>
            <p:cNvSpPr/>
            <p:nvPr/>
          </p:nvSpPr>
          <p:spPr>
            <a:xfrm>
              <a:off x="3378622" y="2356098"/>
              <a:ext cx="2386682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Context</a:t>
              </a:r>
              <a:endParaRPr lang="en-US" sz="1200" dirty="0"/>
            </a:p>
          </p:txBody>
        </p:sp>
      </p:grpSp>
      <p:sp>
        <p:nvSpPr>
          <p:cNvPr id="8" name="Text 6"/>
          <p:cNvSpPr/>
          <p:nvPr/>
        </p:nvSpPr>
        <p:spPr>
          <a:xfrm>
            <a:off x="3378622" y="2678609"/>
            <a:ext cx="2386682" cy="744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Gives background on what's already known about AI in your domain</a:t>
            </a:r>
            <a:endParaRPr lang="en-US" sz="120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A29740C-AED5-B781-6141-C113B15D536A}"/>
              </a:ext>
            </a:extLst>
          </p:cNvPr>
          <p:cNvGrpSpPr/>
          <p:nvPr/>
        </p:nvGrpSpPr>
        <p:grpSpPr>
          <a:xfrm>
            <a:off x="6013252" y="2232124"/>
            <a:ext cx="2634555" cy="1314748"/>
            <a:chOff x="6013252" y="2232124"/>
            <a:chExt cx="2634555" cy="1314748"/>
          </a:xfrm>
        </p:grpSpPr>
        <p:sp>
          <p:nvSpPr>
            <p:cNvPr id="9" name="Shape 7"/>
            <p:cNvSpPr/>
            <p:nvPr/>
          </p:nvSpPr>
          <p:spPr>
            <a:xfrm>
              <a:off x="6013252" y="2232124"/>
              <a:ext cx="2634555" cy="1314748"/>
            </a:xfrm>
            <a:prstGeom prst="roundRect">
              <a:avLst>
                <a:gd name="adj" fmla="val 1415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 8"/>
            <p:cNvSpPr/>
            <p:nvPr/>
          </p:nvSpPr>
          <p:spPr>
            <a:xfrm>
              <a:off x="6137225" y="2356098"/>
              <a:ext cx="2386608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Research Question</a:t>
              </a:r>
              <a:endParaRPr lang="en-US" sz="1200" dirty="0"/>
            </a:p>
          </p:txBody>
        </p:sp>
      </p:grpSp>
      <p:sp>
        <p:nvSpPr>
          <p:cNvPr id="11" name="Text 9"/>
          <p:cNvSpPr/>
          <p:nvPr/>
        </p:nvSpPr>
        <p:spPr>
          <a:xfrm>
            <a:off x="6137225" y="2678609"/>
            <a:ext cx="2386608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Ends with your sharp, specific research question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621334"/>
            <a:ext cx="3591446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Section 3 - Related Work</a:t>
            </a:r>
            <a:endParaRPr lang="en-US" sz="240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DDAFCC0-BD1F-C8DF-E912-0662F6711525}"/>
              </a:ext>
            </a:extLst>
          </p:cNvPr>
          <p:cNvGrpSpPr/>
          <p:nvPr/>
        </p:nvGrpSpPr>
        <p:grpSpPr>
          <a:xfrm>
            <a:off x="496119" y="2306538"/>
            <a:ext cx="3924598" cy="1104007"/>
            <a:chOff x="496119" y="2306538"/>
            <a:chExt cx="3924598" cy="1104007"/>
          </a:xfrm>
        </p:grpSpPr>
        <p:sp>
          <p:nvSpPr>
            <p:cNvPr id="3" name="Text 1"/>
            <p:cNvSpPr/>
            <p:nvPr/>
          </p:nvSpPr>
          <p:spPr>
            <a:xfrm>
              <a:off x="496119" y="2306538"/>
              <a:ext cx="3924598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What It Is</a:t>
              </a:r>
              <a:endParaRPr lang="en-US" sz="12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496119" y="2666256"/>
              <a:ext cx="3924598" cy="74428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Related Work synthesizes what's known about AI in your domain. It draws on your sources to show what other researchers, journalists, and developers have found.</a:t>
              </a:r>
              <a:endParaRPr lang="en-US" sz="1200" dirty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C18E80AF-7433-C4F2-255B-4729760F4017}"/>
              </a:ext>
            </a:extLst>
          </p:cNvPr>
          <p:cNvGrpSpPr/>
          <p:nvPr/>
        </p:nvGrpSpPr>
        <p:grpSpPr>
          <a:xfrm>
            <a:off x="4728046" y="2306538"/>
            <a:ext cx="3924598" cy="1104007"/>
            <a:chOff x="4728046" y="2306538"/>
            <a:chExt cx="3924598" cy="1104007"/>
          </a:xfrm>
        </p:grpSpPr>
        <p:sp>
          <p:nvSpPr>
            <p:cNvPr id="5" name="Text 3"/>
            <p:cNvSpPr/>
            <p:nvPr/>
          </p:nvSpPr>
          <p:spPr>
            <a:xfrm>
              <a:off x="4728046" y="2306538"/>
              <a:ext cx="3924598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Key Skill</a:t>
              </a:r>
              <a:endParaRPr lang="en-US" sz="12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4728046" y="2666256"/>
              <a:ext cx="3924598" cy="74428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Finding the threads that run across multiple sources the agreements, the tensions, the gaps and weaving them into a coherent picture.</a:t>
              </a:r>
              <a:endParaRPr lang="en-US" sz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60909"/>
            <a:ext cx="3545979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Section 4 - Methodology</a:t>
            </a:r>
            <a:endParaRPr lang="en-US" sz="24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96A7B4C-5D9E-E7A8-A50D-321AE9252528}"/>
              </a:ext>
            </a:extLst>
          </p:cNvPr>
          <p:cNvGrpSpPr/>
          <p:nvPr/>
        </p:nvGrpSpPr>
        <p:grpSpPr>
          <a:xfrm>
            <a:off x="496119" y="1596479"/>
            <a:ext cx="2613868" cy="713184"/>
            <a:chOff x="496119" y="1596479"/>
            <a:chExt cx="2613868" cy="713184"/>
          </a:xfrm>
        </p:grpSpPr>
        <p:pic>
          <p:nvPicPr>
            <p:cNvPr id="3" name="Image 0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96119" y="1596479"/>
              <a:ext cx="310083" cy="310083"/>
            </a:xfrm>
            <a:prstGeom prst="rect">
              <a:avLst/>
            </a:prstGeom>
          </p:spPr>
        </p:pic>
        <p:sp>
          <p:nvSpPr>
            <p:cNvPr id="4" name="Text 1"/>
            <p:cNvSpPr/>
            <p:nvPr/>
          </p:nvSpPr>
          <p:spPr>
            <a:xfrm>
              <a:off x="496119" y="2061567"/>
              <a:ext cx="2613868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Research Workflow</a:t>
              </a:r>
              <a:endParaRPr lang="en-US" sz="1200" dirty="0"/>
            </a:p>
          </p:txBody>
        </p:sp>
      </p:grpSp>
      <p:sp>
        <p:nvSpPr>
          <p:cNvPr id="5" name="Text 2"/>
          <p:cNvSpPr/>
          <p:nvPr/>
        </p:nvSpPr>
        <p:spPr>
          <a:xfrm>
            <a:off x="496119" y="2384078"/>
            <a:ext cx="2613868" cy="744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Document the tools you used to find and verify sources, and how you approached the literature.</a:t>
            </a:r>
            <a:endParaRPr lang="en-US" sz="12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2B8DBA8-0D6E-A116-1E94-5C3F8CC38DBC}"/>
              </a:ext>
            </a:extLst>
          </p:cNvPr>
          <p:cNvGrpSpPr/>
          <p:nvPr/>
        </p:nvGrpSpPr>
        <p:grpSpPr>
          <a:xfrm>
            <a:off x="3264991" y="1596479"/>
            <a:ext cx="2613943" cy="713184"/>
            <a:chOff x="3264991" y="1596479"/>
            <a:chExt cx="2613943" cy="713184"/>
          </a:xfrm>
        </p:grpSpPr>
        <p:pic>
          <p:nvPicPr>
            <p:cNvPr id="6" name="Image 1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264991" y="1596479"/>
              <a:ext cx="310083" cy="310083"/>
            </a:xfrm>
            <a:prstGeom prst="rect">
              <a:avLst/>
            </a:prstGeom>
          </p:spPr>
        </p:pic>
        <p:sp>
          <p:nvSpPr>
            <p:cNvPr id="7" name="Text 3"/>
            <p:cNvSpPr/>
            <p:nvPr/>
          </p:nvSpPr>
          <p:spPr>
            <a:xfrm>
              <a:off x="3264991" y="2061567"/>
              <a:ext cx="2613943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Hands-On Exploration</a:t>
              </a:r>
              <a:endParaRPr lang="en-US" sz="1200" dirty="0"/>
            </a:p>
          </p:txBody>
        </p:sp>
      </p:grpSp>
      <p:sp>
        <p:nvSpPr>
          <p:cNvPr id="8" name="Text 4"/>
          <p:cNvSpPr/>
          <p:nvPr/>
        </p:nvSpPr>
        <p:spPr>
          <a:xfrm>
            <a:off x="3264991" y="2384078"/>
            <a:ext cx="2613943" cy="744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Describe the tool you used, what you explored, and how you structured your firsthand investigation.</a:t>
            </a:r>
            <a:endParaRPr lang="en-US" sz="12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F39768F-178E-5885-6154-D3D0E833C6D0}"/>
              </a:ext>
            </a:extLst>
          </p:cNvPr>
          <p:cNvGrpSpPr/>
          <p:nvPr/>
        </p:nvGrpSpPr>
        <p:grpSpPr>
          <a:xfrm>
            <a:off x="6033939" y="1596479"/>
            <a:ext cx="2613943" cy="713184"/>
            <a:chOff x="6033939" y="1596479"/>
            <a:chExt cx="2613943" cy="713184"/>
          </a:xfrm>
        </p:grpSpPr>
        <p:pic>
          <p:nvPicPr>
            <p:cNvPr id="9" name="Image 2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033939" y="1596479"/>
              <a:ext cx="310083" cy="310083"/>
            </a:xfrm>
            <a:prstGeom prst="rect">
              <a:avLst/>
            </a:prstGeom>
          </p:spPr>
        </p:pic>
        <p:sp>
          <p:nvSpPr>
            <p:cNvPr id="10" name="Text 5"/>
            <p:cNvSpPr/>
            <p:nvPr/>
          </p:nvSpPr>
          <p:spPr>
            <a:xfrm>
              <a:off x="6033939" y="2061567"/>
              <a:ext cx="2613943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How You Put It Together</a:t>
              </a:r>
              <a:endParaRPr lang="en-US" sz="1200" dirty="0"/>
            </a:p>
          </p:txBody>
        </p:sp>
      </p:grpSp>
      <p:sp>
        <p:nvSpPr>
          <p:cNvPr id="11" name="Text 6"/>
          <p:cNvSpPr/>
          <p:nvPr/>
        </p:nvSpPr>
        <p:spPr>
          <a:xfrm>
            <a:off x="6033939" y="2384078"/>
            <a:ext cx="2613943" cy="744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Explain how you combined literature findings with hands-on observations to build your investigation.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496119" y="3267894"/>
            <a:ext cx="81517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endParaRPr lang="en-US" sz="95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3D82FAA-E4F5-4B08-4DD0-3969189F664F}"/>
              </a:ext>
            </a:extLst>
          </p:cNvPr>
          <p:cNvGrpSpPr/>
          <p:nvPr/>
        </p:nvGrpSpPr>
        <p:grpSpPr>
          <a:xfrm>
            <a:off x="496119" y="3605882"/>
            <a:ext cx="8151763" cy="576635"/>
            <a:chOff x="496119" y="3605882"/>
            <a:chExt cx="8151763" cy="576635"/>
          </a:xfrm>
        </p:grpSpPr>
        <p:sp>
          <p:nvSpPr>
            <p:cNvPr id="13" name="Shape 8"/>
            <p:cNvSpPr/>
            <p:nvPr/>
          </p:nvSpPr>
          <p:spPr>
            <a:xfrm>
              <a:off x="496119" y="3605882"/>
              <a:ext cx="8151763" cy="576635"/>
            </a:xfrm>
            <a:prstGeom prst="roundRect">
              <a:avLst>
                <a:gd name="adj" fmla="val 3227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14" name="Image 3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20092" y="3801368"/>
              <a:ext cx="193774" cy="155004"/>
            </a:xfrm>
            <a:prstGeom prst="rect">
              <a:avLst/>
            </a:prstGeom>
          </p:spPr>
        </p:pic>
        <p:sp>
          <p:nvSpPr>
            <p:cNvPr id="15" name="Text 9"/>
            <p:cNvSpPr/>
            <p:nvPr/>
          </p:nvSpPr>
          <p:spPr>
            <a:xfrm>
              <a:off x="937840" y="3760812"/>
              <a:ext cx="7586067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You'll draft Methodology in </a:t>
              </a:r>
              <a:r>
                <a:rPr lang="en-US" sz="1200" b="1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Session 23</a:t>
              </a:r>
              <a:r>
                <a:rPr lang="en-US" sz="1200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, after completing your hands-on exploration.</a:t>
              </a:r>
              <a:endParaRPr lang="en-US" sz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94184"/>
            <a:ext cx="5206231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Section 5 - Bias &amp; Fairness Analysis</a:t>
            </a:r>
            <a:endParaRPr lang="en-US" sz="24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9816E2D-B0C0-3645-494F-A023E93C1B82}"/>
              </a:ext>
            </a:extLst>
          </p:cNvPr>
          <p:cNvGrpSpPr/>
          <p:nvPr/>
        </p:nvGrpSpPr>
        <p:grpSpPr>
          <a:xfrm>
            <a:off x="406822" y="1667768"/>
            <a:ext cx="2327746" cy="2381548"/>
            <a:chOff x="406822" y="1667768"/>
            <a:chExt cx="2327746" cy="2381548"/>
          </a:xfrm>
        </p:grpSpPr>
        <p:sp>
          <p:nvSpPr>
            <p:cNvPr id="3" name="Shape 1"/>
            <p:cNvSpPr/>
            <p:nvPr/>
          </p:nvSpPr>
          <p:spPr>
            <a:xfrm>
              <a:off x="406822" y="1667768"/>
              <a:ext cx="2327746" cy="2381548"/>
            </a:xfrm>
            <a:prstGeom prst="roundRect">
              <a:avLst>
                <a:gd name="adj" fmla="val 799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 2"/>
            <p:cNvSpPr/>
            <p:nvPr/>
          </p:nvSpPr>
          <p:spPr>
            <a:xfrm>
              <a:off x="530796" y="1779389"/>
              <a:ext cx="2079799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What It Examines</a:t>
              </a:r>
              <a:endParaRPr lang="en-US" sz="12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530796" y="2139107"/>
              <a:ext cx="2079799" cy="148857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This section examines bias issues in AI applications across your domain - drawing on what the literature shows and on what you observed in your hands-on exploration.</a:t>
              </a:r>
              <a:endParaRPr lang="en-US" sz="1200" dirty="0"/>
            </a:p>
          </p:txBody>
        </p:sp>
      </p:grpSp>
      <p:sp>
        <p:nvSpPr>
          <p:cNvPr id="6" name="Text 4"/>
          <p:cNvSpPr/>
          <p:nvPr/>
        </p:nvSpPr>
        <p:spPr>
          <a:xfrm>
            <a:off x="2952601" y="1779389"/>
            <a:ext cx="5699968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Frameworks You'll Apply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952601" y="2139107"/>
            <a:ext cx="5699968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You'll apply the </a:t>
            </a: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bias frameworks from Session 20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analyze your domain. Think about: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952601" y="2746921"/>
            <a:ext cx="5699968" cy="83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ts val="15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Who the AI was trained on</a:t>
            </a:r>
            <a:endParaRPr lang="en-US" sz="1200" dirty="0"/>
          </a:p>
          <a:p>
            <a:pPr marL="171450" indent="-171450" algn="l">
              <a:lnSpc>
                <a:spcPts val="15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Who it works well for and who it doesn't</a:t>
            </a:r>
            <a:endParaRPr lang="en-US" sz="1200" dirty="0"/>
          </a:p>
          <a:p>
            <a:pPr marL="171450" indent="-171450" algn="l">
              <a:lnSpc>
                <a:spcPts val="15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the literature says about fairness in your domain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582266"/>
            <a:ext cx="4625280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Section 6 - Safety &amp; Governance</a:t>
            </a:r>
            <a:endParaRPr lang="en-US" sz="240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7691B22-3DDC-E831-42F9-F5E4164B2CE9}"/>
              </a:ext>
            </a:extLst>
          </p:cNvPr>
          <p:cNvGrpSpPr/>
          <p:nvPr/>
        </p:nvGrpSpPr>
        <p:grpSpPr>
          <a:xfrm>
            <a:off x="496119" y="2217837"/>
            <a:ext cx="4013895" cy="1343323"/>
            <a:chOff x="496119" y="2217837"/>
            <a:chExt cx="4013895" cy="1343323"/>
          </a:xfrm>
        </p:grpSpPr>
        <p:sp>
          <p:nvSpPr>
            <p:cNvPr id="3" name="Shape 1"/>
            <p:cNvSpPr/>
            <p:nvPr/>
          </p:nvSpPr>
          <p:spPr>
            <a:xfrm>
              <a:off x="496119" y="2217837"/>
              <a:ext cx="4013895" cy="1343323"/>
            </a:xfrm>
            <a:prstGeom prst="roundRect">
              <a:avLst>
                <a:gd name="adj" fmla="val 1385"/>
              </a:avLst>
            </a:prstGeom>
            <a:solidFill>
              <a:srgbClr val="FBFCFE"/>
            </a:solidFill>
            <a:ln w="14288">
              <a:solidFill>
                <a:srgbClr val="CFD2D8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 2"/>
            <p:cNvSpPr/>
            <p:nvPr/>
          </p:nvSpPr>
          <p:spPr>
            <a:xfrm>
              <a:off x="634380" y="2356098"/>
              <a:ext cx="3737372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What It Covers</a:t>
              </a:r>
              <a:endParaRPr lang="en-US" sz="12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634380" y="2678609"/>
              <a:ext cx="3737372" cy="74428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This section examines safety and governance concerns in AI applications across your domain - risks, regulations, oversight, and accountability.</a:t>
              </a:r>
              <a:endParaRPr lang="en-US" sz="1200" dirty="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78132673-EF39-4D00-EDF4-760699ADADF4}"/>
              </a:ext>
            </a:extLst>
          </p:cNvPr>
          <p:cNvGrpSpPr/>
          <p:nvPr/>
        </p:nvGrpSpPr>
        <p:grpSpPr>
          <a:xfrm>
            <a:off x="4633987" y="2217837"/>
            <a:ext cx="4013895" cy="1343323"/>
            <a:chOff x="4633987" y="2217837"/>
            <a:chExt cx="4013895" cy="1343323"/>
          </a:xfrm>
        </p:grpSpPr>
        <p:sp>
          <p:nvSpPr>
            <p:cNvPr id="6" name="Shape 4"/>
            <p:cNvSpPr/>
            <p:nvPr/>
          </p:nvSpPr>
          <p:spPr>
            <a:xfrm>
              <a:off x="4633987" y="2217837"/>
              <a:ext cx="4013895" cy="1343323"/>
            </a:xfrm>
            <a:prstGeom prst="roundRect">
              <a:avLst>
                <a:gd name="adj" fmla="val 1385"/>
              </a:avLst>
            </a:prstGeom>
            <a:solidFill>
              <a:srgbClr val="FBFCFE"/>
            </a:solidFill>
            <a:ln w="14288">
              <a:solidFill>
                <a:srgbClr val="CFD2D8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 5"/>
            <p:cNvSpPr/>
            <p:nvPr/>
          </p:nvSpPr>
          <p:spPr>
            <a:xfrm>
              <a:off x="4772248" y="2356098"/>
              <a:ext cx="3737372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Frameworks You'll Apply</a:t>
              </a:r>
              <a:endParaRPr lang="en-US" sz="12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4772248" y="2678609"/>
              <a:ext cx="3737372" cy="74428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You'll draw on the </a:t>
              </a: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safety frameworks from Session 21</a:t>
              </a:r>
              <a:r>
                <a:rPr lang="en-US" sz="12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 to structure your analysis of what safeguards exist and what gaps remain.</a:t>
              </a:r>
              <a:endParaRPr lang="en-US" sz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1344"/>
            <a:ext cx="31011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Section 7 - Results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8829" y="1026914"/>
            <a:ext cx="5506343" cy="3725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057613" y="2714236"/>
            <a:ext cx="1002660" cy="229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Results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797111" y="3752942"/>
            <a:ext cx="1009538" cy="473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5213F"/>
                </a:solidFill>
                <a:latin typeface="Roboto Slab Bold" pitchFamily="34" charset="0"/>
                <a:ea typeface="Roboto Slab Bold" pitchFamily="34" charset="-122"/>
                <a:cs typeface="Roboto Slab Bold" pitchFamily="34" charset="-120"/>
              </a:rPr>
              <a:t>Hands-on exploration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286527" y="3752942"/>
            <a:ext cx="1042527" cy="473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5213F"/>
                </a:solidFill>
                <a:latin typeface="Roboto Slab Bold" pitchFamily="34" charset="0"/>
                <a:ea typeface="Roboto Slab Bold" pitchFamily="34" charset="-122"/>
                <a:cs typeface="Roboto Slab Bold" pitchFamily="34" charset="-120"/>
              </a:rPr>
              <a:t>Contextual comparison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269587" y="1543829"/>
            <a:ext cx="1118312" cy="473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5213F"/>
                </a:solidFill>
                <a:latin typeface="Roboto Slab Bold" pitchFamily="34" charset="0"/>
                <a:ea typeface="Roboto Slab Bold" pitchFamily="34" charset="-122"/>
                <a:cs typeface="Roboto Slab Bold" pitchFamily="34" charset="-120"/>
              </a:rPr>
              <a:t>Synthesized conclusions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882194" y="1543829"/>
            <a:ext cx="903566" cy="473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5213F"/>
                </a:solidFill>
                <a:latin typeface="Roboto Slab Bold" pitchFamily="34" charset="0"/>
                <a:ea typeface="Roboto Slab Bold" pitchFamily="34" charset="-122"/>
                <a:cs typeface="Roboto Slab Bold" pitchFamily="34" charset="-120"/>
              </a:rPr>
              <a:t>Literature findings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94259"/>
            <a:ext cx="5450086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Section 8 - Conclusion &amp; Future Work</a:t>
            </a:r>
            <a:endParaRPr lang="en-US" sz="240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8D0919B-ADFB-993C-91B1-B7293644170B}"/>
              </a:ext>
            </a:extLst>
          </p:cNvPr>
          <p:cNvGrpSpPr/>
          <p:nvPr/>
        </p:nvGrpSpPr>
        <p:grpSpPr>
          <a:xfrm>
            <a:off x="496119" y="1779463"/>
            <a:ext cx="3924598" cy="1104007"/>
            <a:chOff x="496119" y="1779463"/>
            <a:chExt cx="3924598" cy="1104007"/>
          </a:xfrm>
        </p:grpSpPr>
        <p:sp>
          <p:nvSpPr>
            <p:cNvPr id="3" name="Text 1"/>
            <p:cNvSpPr/>
            <p:nvPr/>
          </p:nvSpPr>
          <p:spPr>
            <a:xfrm>
              <a:off x="496119" y="1779463"/>
              <a:ext cx="3924598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Conclusion</a:t>
              </a:r>
              <a:endParaRPr lang="en-US" sz="12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496119" y="2139181"/>
              <a:ext cx="3924598" cy="74428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Summarizes what your investigation showed about AI in your domain. What did you find? What does it mean? What should readers take away?</a:t>
              </a:r>
              <a:endParaRPr lang="en-US" sz="1200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25F91A6-EB61-A725-AD3E-85C18E536E61}"/>
              </a:ext>
            </a:extLst>
          </p:cNvPr>
          <p:cNvGrpSpPr/>
          <p:nvPr/>
        </p:nvGrpSpPr>
        <p:grpSpPr>
          <a:xfrm>
            <a:off x="4728046" y="1779463"/>
            <a:ext cx="3924598" cy="1104007"/>
            <a:chOff x="4728046" y="1779463"/>
            <a:chExt cx="3924598" cy="1104007"/>
          </a:xfrm>
        </p:grpSpPr>
        <p:sp>
          <p:nvSpPr>
            <p:cNvPr id="5" name="Text 3"/>
            <p:cNvSpPr/>
            <p:nvPr/>
          </p:nvSpPr>
          <p:spPr>
            <a:xfrm>
              <a:off x="4728046" y="1779463"/>
              <a:ext cx="3924598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Future Work</a:t>
              </a:r>
              <a:endParaRPr lang="en-US" sz="12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4728046" y="2139181"/>
              <a:ext cx="3924598" cy="74428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Names what would come next questions you didn't answer, areas that need more investigation, directions a future researcher could take.</a:t>
              </a:r>
              <a:endParaRPr lang="en-US" sz="1200" dirty="0"/>
            </a:p>
          </p:txBody>
        </p:sp>
      </p:grpSp>
      <p:sp>
        <p:nvSpPr>
          <p:cNvPr id="7" name="Text 5"/>
          <p:cNvSpPr/>
          <p:nvPr/>
        </p:nvSpPr>
        <p:spPr>
          <a:xfrm>
            <a:off x="496119" y="3134618"/>
            <a:ext cx="81517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endParaRPr lang="en-US" sz="95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A43C02B-19DA-2508-33AF-332228CFE988}"/>
              </a:ext>
            </a:extLst>
          </p:cNvPr>
          <p:cNvGrpSpPr/>
          <p:nvPr/>
        </p:nvGrpSpPr>
        <p:grpSpPr>
          <a:xfrm>
            <a:off x="496119" y="3472607"/>
            <a:ext cx="8151763" cy="576635"/>
            <a:chOff x="496119" y="3472607"/>
            <a:chExt cx="8151763" cy="576635"/>
          </a:xfrm>
        </p:grpSpPr>
        <p:sp>
          <p:nvSpPr>
            <p:cNvPr id="8" name="Shape 6"/>
            <p:cNvSpPr/>
            <p:nvPr/>
          </p:nvSpPr>
          <p:spPr>
            <a:xfrm>
              <a:off x="496119" y="3472607"/>
              <a:ext cx="8151763" cy="576635"/>
            </a:xfrm>
            <a:prstGeom prst="roundRect">
              <a:avLst>
                <a:gd name="adj" fmla="val 3227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9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0092" y="3668092"/>
              <a:ext cx="193774" cy="155004"/>
            </a:xfrm>
            <a:prstGeom prst="rect">
              <a:avLst/>
            </a:prstGeom>
          </p:spPr>
        </p:pic>
        <p:sp>
          <p:nvSpPr>
            <p:cNvPr id="10" name="Text 7"/>
            <p:cNvSpPr/>
            <p:nvPr/>
          </p:nvSpPr>
          <p:spPr>
            <a:xfrm>
              <a:off x="937840" y="3627537"/>
              <a:ext cx="7586067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You'll draft both parts in </a:t>
              </a:r>
              <a:r>
                <a:rPr lang="en-US" sz="1200" b="1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Session 24</a:t>
              </a:r>
              <a:r>
                <a:rPr lang="en-US" sz="1200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.</a:t>
              </a:r>
              <a:endParaRPr lang="en-US" sz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621334"/>
            <a:ext cx="3597176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AI Attribution Statement</a:t>
            </a:r>
            <a:endParaRPr lang="en-US" sz="24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CD20FC2-68E4-8FB2-33DA-EE0B0AD9107C}"/>
              </a:ext>
            </a:extLst>
          </p:cNvPr>
          <p:cNvGrpSpPr/>
          <p:nvPr/>
        </p:nvGrpSpPr>
        <p:grpSpPr>
          <a:xfrm>
            <a:off x="406822" y="2194917"/>
            <a:ext cx="2581349" cy="1327249"/>
            <a:chOff x="406822" y="2194917"/>
            <a:chExt cx="2581349" cy="1327249"/>
          </a:xfrm>
        </p:grpSpPr>
        <p:sp>
          <p:nvSpPr>
            <p:cNvPr id="3" name="Shape 1"/>
            <p:cNvSpPr/>
            <p:nvPr/>
          </p:nvSpPr>
          <p:spPr>
            <a:xfrm>
              <a:off x="406822" y="2194917"/>
              <a:ext cx="2581349" cy="1327249"/>
            </a:xfrm>
            <a:prstGeom prst="roundRect">
              <a:avLst>
                <a:gd name="adj" fmla="val 1402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 2"/>
            <p:cNvSpPr/>
            <p:nvPr/>
          </p:nvSpPr>
          <p:spPr>
            <a:xfrm>
              <a:off x="530796" y="2306538"/>
              <a:ext cx="2333402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What It Is</a:t>
              </a:r>
              <a:endParaRPr lang="en-US" sz="12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530796" y="2666256"/>
              <a:ext cx="2333402" cy="74428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A short statement disclosing which AI tools you used in your research and how you used them.</a:t>
              </a:r>
              <a:endParaRPr lang="en-US" sz="1200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5ADA159E-E5E9-F2A5-63EE-8A4076B39AEB}"/>
              </a:ext>
            </a:extLst>
          </p:cNvPr>
          <p:cNvGrpSpPr/>
          <p:nvPr/>
        </p:nvGrpSpPr>
        <p:grpSpPr>
          <a:xfrm>
            <a:off x="3206204" y="2306538"/>
            <a:ext cx="5446365" cy="1104007"/>
            <a:chOff x="3206204" y="2306538"/>
            <a:chExt cx="5446365" cy="1104007"/>
          </a:xfrm>
        </p:grpSpPr>
        <p:sp>
          <p:nvSpPr>
            <p:cNvPr id="6" name="Text 4"/>
            <p:cNvSpPr/>
            <p:nvPr/>
          </p:nvSpPr>
          <p:spPr>
            <a:xfrm>
              <a:off x="3206204" y="2306538"/>
              <a:ext cx="5446365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Why It Matters</a:t>
              </a:r>
              <a:endParaRPr lang="en-US" sz="12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3206204" y="2666256"/>
              <a:ext cx="5446365" cy="74428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This is a </a:t>
              </a: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normal practice in modern research</a:t>
              </a:r>
              <a:r>
                <a:rPr lang="en-US" sz="12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 being transparent about AI assistance. Researchers and journalists are increasingly expected to disclose when and how AI tools contributed to their work. You'll write this in </a:t>
              </a: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Session 24</a:t>
              </a:r>
              <a:r>
                <a:rPr lang="en-US" sz="12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.</a:t>
              </a:r>
              <a:endParaRPr lang="en-US" sz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564109"/>
            <a:ext cx="5719018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What Makes a Good Research Question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2199680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</a:t>
            </a: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topic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is broad. A </a:t>
            </a: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research question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is sharp. A good research question passes three tests:</a:t>
            </a: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2412" y="2813521"/>
            <a:ext cx="167432" cy="167432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B21EE55D-DFA0-88A2-1494-0EB0FF4C6FCF}"/>
              </a:ext>
            </a:extLst>
          </p:cNvPr>
          <p:cNvGrpSpPr/>
          <p:nvPr/>
        </p:nvGrpSpPr>
        <p:grpSpPr>
          <a:xfrm>
            <a:off x="496119" y="2587303"/>
            <a:ext cx="2634555" cy="992088"/>
            <a:chOff x="496119" y="2587303"/>
            <a:chExt cx="2634555" cy="992088"/>
          </a:xfrm>
        </p:grpSpPr>
        <p:sp>
          <p:nvSpPr>
            <p:cNvPr id="4" name="Shape 2"/>
            <p:cNvSpPr/>
            <p:nvPr/>
          </p:nvSpPr>
          <p:spPr>
            <a:xfrm>
              <a:off x="496119" y="2587303"/>
              <a:ext cx="2634555" cy="992088"/>
            </a:xfrm>
            <a:prstGeom prst="roundRect">
              <a:avLst>
                <a:gd name="adj" fmla="val 1876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5" name="Image 0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0092" y="2711276"/>
              <a:ext cx="372070" cy="372070"/>
            </a:xfrm>
            <a:prstGeom prst="rect">
              <a:avLst/>
            </a:prstGeom>
          </p:spPr>
        </p:pic>
        <p:sp>
          <p:nvSpPr>
            <p:cNvPr id="7" name="Text 3"/>
            <p:cNvSpPr/>
            <p:nvPr/>
          </p:nvSpPr>
          <p:spPr>
            <a:xfrm>
              <a:off x="620092" y="3207321"/>
              <a:ext cx="2386608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Specific</a:t>
              </a:r>
              <a:endParaRPr lang="en-US" sz="1200" dirty="0"/>
            </a:p>
          </p:txBody>
        </p:sp>
      </p:grp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80941" y="2813521"/>
            <a:ext cx="167432" cy="167432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20A33D54-8ECD-D26D-3EE8-1A41ACD8E59A}"/>
              </a:ext>
            </a:extLst>
          </p:cNvPr>
          <p:cNvGrpSpPr/>
          <p:nvPr/>
        </p:nvGrpSpPr>
        <p:grpSpPr>
          <a:xfrm>
            <a:off x="3254648" y="2587303"/>
            <a:ext cx="2634630" cy="992088"/>
            <a:chOff x="3254648" y="2587303"/>
            <a:chExt cx="2634630" cy="992088"/>
          </a:xfrm>
        </p:grpSpPr>
        <p:sp>
          <p:nvSpPr>
            <p:cNvPr id="8" name="Shape 4"/>
            <p:cNvSpPr/>
            <p:nvPr/>
          </p:nvSpPr>
          <p:spPr>
            <a:xfrm>
              <a:off x="3254648" y="2587303"/>
              <a:ext cx="2634630" cy="992088"/>
            </a:xfrm>
            <a:prstGeom prst="roundRect">
              <a:avLst>
                <a:gd name="adj" fmla="val 1876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9" name="Image 2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378622" y="2711276"/>
              <a:ext cx="372070" cy="372070"/>
            </a:xfrm>
            <a:prstGeom prst="rect">
              <a:avLst/>
            </a:prstGeom>
          </p:spPr>
        </p:pic>
        <p:sp>
          <p:nvSpPr>
            <p:cNvPr id="11" name="Text 5"/>
            <p:cNvSpPr/>
            <p:nvPr/>
          </p:nvSpPr>
          <p:spPr>
            <a:xfrm>
              <a:off x="3378622" y="3207321"/>
              <a:ext cx="2386682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Original</a:t>
              </a:r>
              <a:endParaRPr lang="en-US" sz="1200" dirty="0"/>
            </a:p>
          </p:txBody>
        </p:sp>
      </p:grpSp>
      <p:pic>
        <p:nvPicPr>
          <p:cNvPr id="1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39545" y="2813521"/>
            <a:ext cx="167432" cy="167432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CBD2F4C7-B96B-7D2F-F2BD-9C75159FCEED}"/>
              </a:ext>
            </a:extLst>
          </p:cNvPr>
          <p:cNvGrpSpPr/>
          <p:nvPr/>
        </p:nvGrpSpPr>
        <p:grpSpPr>
          <a:xfrm>
            <a:off x="6013252" y="2587303"/>
            <a:ext cx="2634555" cy="992088"/>
            <a:chOff x="6013252" y="2587303"/>
            <a:chExt cx="2634555" cy="992088"/>
          </a:xfrm>
        </p:grpSpPr>
        <p:sp>
          <p:nvSpPr>
            <p:cNvPr id="12" name="Shape 6"/>
            <p:cNvSpPr/>
            <p:nvPr/>
          </p:nvSpPr>
          <p:spPr>
            <a:xfrm>
              <a:off x="6013252" y="2587303"/>
              <a:ext cx="2634555" cy="992088"/>
            </a:xfrm>
            <a:prstGeom prst="roundRect">
              <a:avLst>
                <a:gd name="adj" fmla="val 1876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13" name="Image 4" descr="preencoded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137225" y="2711276"/>
              <a:ext cx="372070" cy="372070"/>
            </a:xfrm>
            <a:prstGeom prst="rect">
              <a:avLst/>
            </a:prstGeom>
          </p:spPr>
        </p:pic>
        <p:sp>
          <p:nvSpPr>
            <p:cNvPr id="15" name="Text 7"/>
            <p:cNvSpPr/>
            <p:nvPr/>
          </p:nvSpPr>
          <p:spPr>
            <a:xfrm>
              <a:off x="6137225" y="3207321"/>
              <a:ext cx="2386608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Achievable</a:t>
              </a:r>
              <a:endParaRPr lang="en-US" sz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77193"/>
            <a:ext cx="4753794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Sharpening a Research Question</a:t>
            </a:r>
            <a:endParaRPr lang="en-US" sz="240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7354F30-0CD0-A03E-2BF4-FE97B7BB85D9}"/>
              </a:ext>
            </a:extLst>
          </p:cNvPr>
          <p:cNvGrpSpPr/>
          <p:nvPr/>
        </p:nvGrpSpPr>
        <p:grpSpPr>
          <a:xfrm>
            <a:off x="496119" y="1512763"/>
            <a:ext cx="4013895" cy="1314748"/>
            <a:chOff x="496119" y="1512763"/>
            <a:chExt cx="4013895" cy="1314748"/>
          </a:xfrm>
        </p:grpSpPr>
        <p:sp>
          <p:nvSpPr>
            <p:cNvPr id="3" name="Shape 1"/>
            <p:cNvSpPr/>
            <p:nvPr/>
          </p:nvSpPr>
          <p:spPr>
            <a:xfrm>
              <a:off x="496119" y="1512763"/>
              <a:ext cx="4013895" cy="1314748"/>
            </a:xfrm>
            <a:prstGeom prst="roundRect">
              <a:avLst>
                <a:gd name="adj" fmla="val 1415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 2"/>
            <p:cNvSpPr/>
            <p:nvPr/>
          </p:nvSpPr>
          <p:spPr>
            <a:xfrm>
              <a:off x="620092" y="1636737"/>
              <a:ext cx="3765947" cy="99238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Too Broad - AI in Healthcare</a:t>
              </a:r>
              <a:endParaRPr lang="en-US" sz="1200" dirty="0"/>
            </a:p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Sharpened - </a:t>
              </a:r>
              <a:r>
                <a:rPr lang="en-US" sz="12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How is AI being applied to support food allergy management for children, and what bias and safety considerations come with it?</a:t>
              </a:r>
              <a:endParaRPr lang="en-US" sz="120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2A6386F-E934-6A6B-6396-5C39053C96C5}"/>
              </a:ext>
            </a:extLst>
          </p:cNvPr>
          <p:cNvGrpSpPr/>
          <p:nvPr/>
        </p:nvGrpSpPr>
        <p:grpSpPr>
          <a:xfrm>
            <a:off x="4633987" y="1512763"/>
            <a:ext cx="4013895" cy="1314748"/>
            <a:chOff x="4633987" y="1512763"/>
            <a:chExt cx="4013895" cy="1314748"/>
          </a:xfrm>
        </p:grpSpPr>
        <p:sp>
          <p:nvSpPr>
            <p:cNvPr id="5" name="Shape 3"/>
            <p:cNvSpPr/>
            <p:nvPr/>
          </p:nvSpPr>
          <p:spPr>
            <a:xfrm>
              <a:off x="4633987" y="1512763"/>
              <a:ext cx="4013895" cy="1314748"/>
            </a:xfrm>
            <a:prstGeom prst="roundRect">
              <a:avLst>
                <a:gd name="adj" fmla="val 1415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 4"/>
            <p:cNvSpPr/>
            <p:nvPr/>
          </p:nvSpPr>
          <p:spPr>
            <a:xfrm>
              <a:off x="4757961" y="1636737"/>
              <a:ext cx="3765947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Too Broad - AI in Education</a:t>
              </a:r>
              <a:endParaRPr lang="en-US" sz="12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4757961" y="1959248"/>
              <a:ext cx="3765947" cy="74428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Sharpened - </a:t>
              </a:r>
              <a:r>
                <a:rPr lang="en-US" sz="12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How is AI being applied to early elementary math practice, and what concerns arise about student dependency?</a:t>
              </a:r>
              <a:endParaRPr lang="en-US" sz="120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B79418B-FE45-C413-04FC-BF4319EB1426}"/>
              </a:ext>
            </a:extLst>
          </p:cNvPr>
          <p:cNvGrpSpPr/>
          <p:nvPr/>
        </p:nvGrpSpPr>
        <p:grpSpPr>
          <a:xfrm>
            <a:off x="496119" y="2951485"/>
            <a:ext cx="4013895" cy="1314748"/>
            <a:chOff x="496119" y="2951485"/>
            <a:chExt cx="4013895" cy="1314748"/>
          </a:xfrm>
        </p:grpSpPr>
        <p:sp>
          <p:nvSpPr>
            <p:cNvPr id="8" name="Shape 6"/>
            <p:cNvSpPr/>
            <p:nvPr/>
          </p:nvSpPr>
          <p:spPr>
            <a:xfrm>
              <a:off x="496119" y="2951485"/>
              <a:ext cx="4013895" cy="1314748"/>
            </a:xfrm>
            <a:prstGeom prst="roundRect">
              <a:avLst>
                <a:gd name="adj" fmla="val 1415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 7"/>
            <p:cNvSpPr/>
            <p:nvPr/>
          </p:nvSpPr>
          <p:spPr>
            <a:xfrm>
              <a:off x="620092" y="3075459"/>
              <a:ext cx="3765947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Too Broad - AI in Music</a:t>
              </a:r>
              <a:endParaRPr lang="en-US" sz="12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620092" y="3397969"/>
              <a:ext cx="3765947" cy="4961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Sharpened - </a:t>
              </a:r>
              <a:r>
                <a:rPr lang="en-US" sz="12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How is AI being applied to emotion-aware music generation for educational settings?</a:t>
              </a:r>
              <a:endParaRPr lang="en-US" sz="1200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5D5C920-C83E-CBA2-CFBD-7D6C23DC36BB}"/>
              </a:ext>
            </a:extLst>
          </p:cNvPr>
          <p:cNvGrpSpPr/>
          <p:nvPr/>
        </p:nvGrpSpPr>
        <p:grpSpPr>
          <a:xfrm>
            <a:off x="4633987" y="2951485"/>
            <a:ext cx="4013895" cy="1314748"/>
            <a:chOff x="4633987" y="2951485"/>
            <a:chExt cx="4013895" cy="1314748"/>
          </a:xfrm>
        </p:grpSpPr>
        <p:sp>
          <p:nvSpPr>
            <p:cNvPr id="11" name="Shape 9"/>
            <p:cNvSpPr/>
            <p:nvPr/>
          </p:nvSpPr>
          <p:spPr>
            <a:xfrm>
              <a:off x="4633987" y="2951485"/>
              <a:ext cx="4013895" cy="1314748"/>
            </a:xfrm>
            <a:prstGeom prst="roundRect">
              <a:avLst>
                <a:gd name="adj" fmla="val 1415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 10"/>
            <p:cNvSpPr/>
            <p:nvPr/>
          </p:nvSpPr>
          <p:spPr>
            <a:xfrm>
              <a:off x="4757961" y="3075459"/>
              <a:ext cx="3765947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Too Broad - AI in Sports</a:t>
              </a:r>
              <a:endParaRPr lang="en-US" sz="12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4757961" y="3397969"/>
              <a:ext cx="3765947" cy="74428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Sharpened - </a:t>
              </a:r>
              <a:r>
                <a:rPr lang="en-US" sz="12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How is AI being used in youth basketball training apps, and how effectively does it support skill development for ages 10-14?</a:t>
              </a:r>
              <a:endParaRPr lang="en-US" sz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85888"/>
            <a:ext cx="3913138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Hands-On Exploration</a:t>
            </a:r>
            <a:endParaRPr lang="en-US" sz="2400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2E57640-ADF9-AAD5-9DA5-5BF6DE16B9CC}"/>
              </a:ext>
            </a:extLst>
          </p:cNvPr>
          <p:cNvGrpSpPr/>
          <p:nvPr/>
        </p:nvGrpSpPr>
        <p:grpSpPr>
          <a:xfrm>
            <a:off x="496119" y="2021458"/>
            <a:ext cx="2634555" cy="496044"/>
            <a:chOff x="496119" y="2021458"/>
            <a:chExt cx="2634555" cy="496044"/>
          </a:xfrm>
        </p:grpSpPr>
        <p:sp>
          <p:nvSpPr>
            <p:cNvPr id="3" name="Shape 1"/>
            <p:cNvSpPr/>
            <p:nvPr/>
          </p:nvSpPr>
          <p:spPr>
            <a:xfrm>
              <a:off x="496119" y="2021458"/>
              <a:ext cx="2634555" cy="496044"/>
            </a:xfrm>
            <a:prstGeom prst="roundRect">
              <a:avLst>
                <a:gd name="adj" fmla="val 3751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 2"/>
            <p:cNvSpPr/>
            <p:nvPr/>
          </p:nvSpPr>
          <p:spPr>
            <a:xfrm>
              <a:off x="620092" y="2145432"/>
              <a:ext cx="2386608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Teachable Machine</a:t>
              </a:r>
              <a:endParaRPr lang="en-US" sz="1200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EB37A2F-6C95-F70F-52F5-F5149DD38CEF}"/>
              </a:ext>
            </a:extLst>
          </p:cNvPr>
          <p:cNvGrpSpPr/>
          <p:nvPr/>
        </p:nvGrpSpPr>
        <p:grpSpPr>
          <a:xfrm>
            <a:off x="3254648" y="2021458"/>
            <a:ext cx="2634630" cy="496044"/>
            <a:chOff x="3254648" y="2021458"/>
            <a:chExt cx="2634630" cy="496044"/>
          </a:xfrm>
        </p:grpSpPr>
        <p:sp>
          <p:nvSpPr>
            <p:cNvPr id="5" name="Shape 3"/>
            <p:cNvSpPr/>
            <p:nvPr/>
          </p:nvSpPr>
          <p:spPr>
            <a:xfrm>
              <a:off x="3254648" y="2021458"/>
              <a:ext cx="2634630" cy="496044"/>
            </a:xfrm>
            <a:prstGeom prst="roundRect">
              <a:avLst>
                <a:gd name="adj" fmla="val 3751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 4"/>
            <p:cNvSpPr/>
            <p:nvPr/>
          </p:nvSpPr>
          <p:spPr>
            <a:xfrm>
              <a:off x="3378622" y="2145432"/>
              <a:ext cx="2386682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ChatGPT</a:t>
              </a:r>
              <a:endParaRPr lang="en-US" sz="1200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FD65C2F-5361-FEAB-41A3-BDC7B5553D64}"/>
              </a:ext>
            </a:extLst>
          </p:cNvPr>
          <p:cNvGrpSpPr/>
          <p:nvPr/>
        </p:nvGrpSpPr>
        <p:grpSpPr>
          <a:xfrm>
            <a:off x="6013252" y="2021458"/>
            <a:ext cx="2634555" cy="496044"/>
            <a:chOff x="6013252" y="2021458"/>
            <a:chExt cx="2634555" cy="496044"/>
          </a:xfrm>
        </p:grpSpPr>
        <p:sp>
          <p:nvSpPr>
            <p:cNvPr id="7" name="Shape 5"/>
            <p:cNvSpPr/>
            <p:nvPr/>
          </p:nvSpPr>
          <p:spPr>
            <a:xfrm>
              <a:off x="6013252" y="2021458"/>
              <a:ext cx="2634555" cy="496044"/>
            </a:xfrm>
            <a:prstGeom prst="roundRect">
              <a:avLst>
                <a:gd name="adj" fmla="val 3751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 6"/>
            <p:cNvSpPr/>
            <p:nvPr/>
          </p:nvSpPr>
          <p:spPr>
            <a:xfrm>
              <a:off x="6137225" y="2145432"/>
              <a:ext cx="2386608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NotebookLM</a:t>
              </a:r>
              <a:endParaRPr lang="en-US" sz="1200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655D2B0-CCC4-07D4-69B5-6ED21C7C5094}"/>
              </a:ext>
            </a:extLst>
          </p:cNvPr>
          <p:cNvGrpSpPr/>
          <p:nvPr/>
        </p:nvGrpSpPr>
        <p:grpSpPr>
          <a:xfrm>
            <a:off x="496119" y="2641476"/>
            <a:ext cx="2634555" cy="496044"/>
            <a:chOff x="496119" y="2641476"/>
            <a:chExt cx="2634555" cy="496044"/>
          </a:xfrm>
        </p:grpSpPr>
        <p:sp>
          <p:nvSpPr>
            <p:cNvPr id="9" name="Shape 7"/>
            <p:cNvSpPr/>
            <p:nvPr/>
          </p:nvSpPr>
          <p:spPr>
            <a:xfrm>
              <a:off x="496119" y="2641476"/>
              <a:ext cx="2634555" cy="496044"/>
            </a:xfrm>
            <a:prstGeom prst="roundRect">
              <a:avLst>
                <a:gd name="adj" fmla="val 3751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 8"/>
            <p:cNvSpPr/>
            <p:nvPr/>
          </p:nvSpPr>
          <p:spPr>
            <a:xfrm>
              <a:off x="620092" y="2765450"/>
              <a:ext cx="2386608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Lovable</a:t>
              </a:r>
              <a:endParaRPr lang="en-US" sz="1200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7EDEE8B-B370-C89F-6E68-F309D5C5E087}"/>
              </a:ext>
            </a:extLst>
          </p:cNvPr>
          <p:cNvGrpSpPr/>
          <p:nvPr/>
        </p:nvGrpSpPr>
        <p:grpSpPr>
          <a:xfrm>
            <a:off x="3254648" y="2641476"/>
            <a:ext cx="2634630" cy="496044"/>
            <a:chOff x="3254648" y="2641476"/>
            <a:chExt cx="2634630" cy="496044"/>
          </a:xfrm>
        </p:grpSpPr>
        <p:sp>
          <p:nvSpPr>
            <p:cNvPr id="11" name="Shape 9"/>
            <p:cNvSpPr/>
            <p:nvPr/>
          </p:nvSpPr>
          <p:spPr>
            <a:xfrm>
              <a:off x="3254648" y="2641476"/>
              <a:ext cx="2634630" cy="496044"/>
            </a:xfrm>
            <a:prstGeom prst="roundRect">
              <a:avLst>
                <a:gd name="adj" fmla="val 3751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 10"/>
            <p:cNvSpPr/>
            <p:nvPr/>
          </p:nvSpPr>
          <p:spPr>
            <a:xfrm>
              <a:off x="3378622" y="2765450"/>
              <a:ext cx="2386682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ElevenLabs</a:t>
              </a:r>
              <a:endParaRPr lang="en-US" sz="1200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3BF77F0-4C0A-515D-BDEB-206CBC88AEAF}"/>
              </a:ext>
            </a:extLst>
          </p:cNvPr>
          <p:cNvGrpSpPr/>
          <p:nvPr/>
        </p:nvGrpSpPr>
        <p:grpSpPr>
          <a:xfrm>
            <a:off x="6013252" y="2641476"/>
            <a:ext cx="2634555" cy="496044"/>
            <a:chOff x="6013252" y="2641476"/>
            <a:chExt cx="2634555" cy="496044"/>
          </a:xfrm>
        </p:grpSpPr>
        <p:sp>
          <p:nvSpPr>
            <p:cNvPr id="13" name="Shape 11"/>
            <p:cNvSpPr/>
            <p:nvPr/>
          </p:nvSpPr>
          <p:spPr>
            <a:xfrm>
              <a:off x="6013252" y="2641476"/>
              <a:ext cx="2634555" cy="496044"/>
            </a:xfrm>
            <a:prstGeom prst="roundRect">
              <a:avLst>
                <a:gd name="adj" fmla="val 3751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 12"/>
            <p:cNvSpPr/>
            <p:nvPr/>
          </p:nvSpPr>
          <p:spPr>
            <a:xfrm>
              <a:off x="6137225" y="2765450"/>
              <a:ext cx="2386608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Veo 3</a:t>
              </a:r>
              <a:endParaRPr lang="en-US" sz="1200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D9D4716-1F81-69BA-067D-1F798AD79FCD}"/>
              </a:ext>
            </a:extLst>
          </p:cNvPr>
          <p:cNvGrpSpPr/>
          <p:nvPr/>
        </p:nvGrpSpPr>
        <p:grpSpPr>
          <a:xfrm>
            <a:off x="496119" y="3261494"/>
            <a:ext cx="2634555" cy="496044"/>
            <a:chOff x="496119" y="3261494"/>
            <a:chExt cx="2634555" cy="496044"/>
          </a:xfrm>
        </p:grpSpPr>
        <p:sp>
          <p:nvSpPr>
            <p:cNvPr id="15" name="Shape 13"/>
            <p:cNvSpPr/>
            <p:nvPr/>
          </p:nvSpPr>
          <p:spPr>
            <a:xfrm>
              <a:off x="496119" y="3261494"/>
              <a:ext cx="2634555" cy="496044"/>
            </a:xfrm>
            <a:prstGeom prst="roundRect">
              <a:avLst>
                <a:gd name="adj" fmla="val 3751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 14"/>
            <p:cNvSpPr/>
            <p:nvPr/>
          </p:nvSpPr>
          <p:spPr>
            <a:xfrm>
              <a:off x="620092" y="3385468"/>
              <a:ext cx="2386608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Pictory</a:t>
              </a:r>
              <a:endParaRPr lang="en-US" sz="1200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B9B43EE-6781-5213-32CC-0CDD152C4EB5}"/>
              </a:ext>
            </a:extLst>
          </p:cNvPr>
          <p:cNvGrpSpPr/>
          <p:nvPr/>
        </p:nvGrpSpPr>
        <p:grpSpPr>
          <a:xfrm>
            <a:off x="3254648" y="3261494"/>
            <a:ext cx="2634630" cy="496044"/>
            <a:chOff x="3254648" y="3261494"/>
            <a:chExt cx="2634630" cy="496044"/>
          </a:xfrm>
        </p:grpSpPr>
        <p:sp>
          <p:nvSpPr>
            <p:cNvPr id="17" name="Shape 15"/>
            <p:cNvSpPr/>
            <p:nvPr/>
          </p:nvSpPr>
          <p:spPr>
            <a:xfrm>
              <a:off x="3254648" y="3261494"/>
              <a:ext cx="2634630" cy="496044"/>
            </a:xfrm>
            <a:prstGeom prst="roundRect">
              <a:avLst>
                <a:gd name="adj" fmla="val 3751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 16"/>
            <p:cNvSpPr/>
            <p:nvPr/>
          </p:nvSpPr>
          <p:spPr>
            <a:xfrm>
              <a:off x="3378622" y="3385468"/>
              <a:ext cx="2386682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Gemini</a:t>
              </a:r>
              <a:endParaRPr lang="en-US" sz="1200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5EFD1D9-0DD2-AA34-92BA-2F4238751CC4}"/>
              </a:ext>
            </a:extLst>
          </p:cNvPr>
          <p:cNvGrpSpPr/>
          <p:nvPr/>
        </p:nvGrpSpPr>
        <p:grpSpPr>
          <a:xfrm>
            <a:off x="6013252" y="3261494"/>
            <a:ext cx="2634555" cy="496044"/>
            <a:chOff x="6013252" y="3261494"/>
            <a:chExt cx="2634555" cy="496044"/>
          </a:xfrm>
        </p:grpSpPr>
        <p:sp>
          <p:nvSpPr>
            <p:cNvPr id="19" name="Shape 17"/>
            <p:cNvSpPr/>
            <p:nvPr/>
          </p:nvSpPr>
          <p:spPr>
            <a:xfrm>
              <a:off x="6013252" y="3261494"/>
              <a:ext cx="2634555" cy="496044"/>
            </a:xfrm>
            <a:prstGeom prst="roundRect">
              <a:avLst>
                <a:gd name="adj" fmla="val 3751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 18"/>
            <p:cNvSpPr/>
            <p:nvPr/>
          </p:nvSpPr>
          <p:spPr>
            <a:xfrm>
              <a:off x="6137225" y="3385468"/>
              <a:ext cx="2386608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Perplexity</a:t>
              </a:r>
              <a:endParaRPr lang="en-US" sz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9575"/>
            <a:ext cx="5296867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Examples of Hands-On Explorations</a:t>
            </a:r>
            <a:endParaRPr lang="en-US" sz="240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A6CFC59-7845-1E22-92A8-62A83FEA30A8}"/>
              </a:ext>
            </a:extLst>
          </p:cNvPr>
          <p:cNvGrpSpPr/>
          <p:nvPr/>
        </p:nvGrpSpPr>
        <p:grpSpPr>
          <a:xfrm>
            <a:off x="496119" y="1045146"/>
            <a:ext cx="8151763" cy="3688705"/>
            <a:chOff x="496119" y="1045146"/>
            <a:chExt cx="8151763" cy="3688705"/>
          </a:xfrm>
        </p:grpSpPr>
        <p:sp>
          <p:nvSpPr>
            <p:cNvPr id="4" name="Shape 2"/>
            <p:cNvSpPr/>
            <p:nvPr/>
          </p:nvSpPr>
          <p:spPr>
            <a:xfrm>
              <a:off x="500881" y="1049908"/>
              <a:ext cx="8142238" cy="406450"/>
            </a:xfrm>
            <a:prstGeom prst="rect">
              <a:avLst/>
            </a:prstGeom>
            <a:solidFill>
              <a:srgbClr val="FFFFFF">
                <a:alpha val="4000"/>
              </a:srgbClr>
            </a:solidFill>
            <a:ln/>
          </p:spPr>
          <p:txBody>
            <a:bodyPr/>
            <a:lstStyle/>
            <a:p>
              <a:endParaRPr lang="en-IN"/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E66AA858-9C2C-2EB4-A02F-9A6057A3C8C5}"/>
                </a:ext>
              </a:extLst>
            </p:cNvPr>
            <p:cNvGrpSpPr/>
            <p:nvPr/>
          </p:nvGrpSpPr>
          <p:grpSpPr>
            <a:xfrm>
              <a:off x="496119" y="1045146"/>
              <a:ext cx="8151763" cy="3688705"/>
              <a:chOff x="496119" y="1045146"/>
              <a:chExt cx="8151763" cy="3688705"/>
            </a:xfrm>
          </p:grpSpPr>
          <p:sp>
            <p:nvSpPr>
              <p:cNvPr id="3" name="Shape 1"/>
              <p:cNvSpPr/>
              <p:nvPr/>
            </p:nvSpPr>
            <p:spPr>
              <a:xfrm>
                <a:off x="496119" y="1045146"/>
                <a:ext cx="8151763" cy="3688705"/>
              </a:xfrm>
              <a:prstGeom prst="roundRect">
                <a:avLst>
                  <a:gd name="adj" fmla="val 504"/>
                </a:avLst>
              </a:prstGeom>
              <a:noFill/>
              <a:ln w="4763">
                <a:solidFill>
                  <a:srgbClr val="000000">
                    <a:alpha val="800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5" name="Text 3"/>
              <p:cNvSpPr/>
              <p:nvPr/>
            </p:nvSpPr>
            <p:spPr>
              <a:xfrm>
                <a:off x="624929" y="1129085"/>
                <a:ext cx="1609353" cy="248096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1950"/>
                  </a:lnSpc>
                  <a:buNone/>
                </a:pPr>
                <a:r>
                  <a:rPr lang="en-US" sz="1200" b="1" dirty="0">
                    <a:solidFill>
                      <a:srgbClr val="15213F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Domain</a:t>
                </a:r>
                <a:endParaRPr lang="en-US" sz="1200" dirty="0"/>
              </a:p>
            </p:txBody>
          </p:sp>
          <p:sp>
            <p:nvSpPr>
              <p:cNvPr id="6" name="Text 4"/>
              <p:cNvSpPr/>
              <p:nvPr/>
            </p:nvSpPr>
            <p:spPr>
              <a:xfrm>
                <a:off x="2486992" y="1129085"/>
                <a:ext cx="6032153" cy="248096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1950"/>
                  </a:lnSpc>
                  <a:buNone/>
                </a:pPr>
                <a:r>
                  <a:rPr lang="en-US" sz="1200" b="1" dirty="0">
                    <a:solidFill>
                      <a:srgbClr val="15213F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Possible Hands-On Exploration</a:t>
                </a:r>
                <a:endParaRPr lang="en-US" sz="1200" dirty="0"/>
              </a:p>
            </p:txBody>
          </p:sp>
        </p:grpSp>
      </p:grpSp>
      <p:sp>
        <p:nvSpPr>
          <p:cNvPr id="7" name="Shape 5"/>
          <p:cNvSpPr/>
          <p:nvPr/>
        </p:nvSpPr>
        <p:spPr>
          <a:xfrm>
            <a:off x="500881" y="1456358"/>
            <a:ext cx="8142238" cy="65454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24929" y="1535534"/>
            <a:ext cx="1609353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Food allergy management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486992" y="1535534"/>
            <a:ext cx="6032153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Set up a small Teachable Machine classifier with peanut and non-peanut food images. Observe what works, where it struggles, what surprises you.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0881" y="2110904"/>
            <a:ext cx="8142238" cy="65454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24929" y="2190080"/>
            <a:ext cx="160935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Music education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86992" y="2190080"/>
            <a:ext cx="6032153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ElevenLabs to generate the same sentence in different emotional tones. Note how the AI handles emotional expression.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0881" y="2765450"/>
            <a:ext cx="8142238" cy="65454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24929" y="2844626"/>
            <a:ext cx="160935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Early math learning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86992" y="2844626"/>
            <a:ext cx="6032153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ChatGPT to generate practice problems at different grade levels. Observe quality, difficulty, and any errors.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0881" y="3419996"/>
            <a:ext cx="8142238" cy="65454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24929" y="3499172"/>
            <a:ext cx="160935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Wildlife identification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486992" y="3499172"/>
            <a:ext cx="6032153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Set up a Teachable Machine classifier for two local species, or try Merlin or iNaturalist and analyze how it works.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0881" y="4074542"/>
            <a:ext cx="8142238" cy="65454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24929" y="4153719"/>
            <a:ext cx="1609353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Pediatric health communication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486992" y="4153719"/>
            <a:ext cx="6032153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Lovable to mock up an app interface that explains medication labels, or explore AI for accessibility.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1" grpId="0" animBg="1"/>
      <p:bldP spid="12" grpId="0" animBg="1"/>
      <p:bldP spid="14" grpId="0" animBg="1"/>
      <p:bldP spid="15" grpId="0" animBg="1"/>
      <p:bldP spid="17" grpId="0" animBg="1"/>
      <p:bldP spid="18" grpId="0" animBg="1"/>
      <p:bldP spid="20" grpId="0" animBg="1"/>
      <p:bldP spid="2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75705"/>
            <a:ext cx="31011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Finding Sources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511275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 need to find </a:t>
            </a: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5-8 credible sources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that discuss AI in your domain. A common workflow uses three tools in order:</a:t>
            </a:r>
            <a:endParaRPr lang="en-US" sz="12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9B33E64-3E8C-86CF-ADA8-A18BBF566D65}"/>
              </a:ext>
            </a:extLst>
          </p:cNvPr>
          <p:cNvGrpSpPr/>
          <p:nvPr/>
        </p:nvGrpSpPr>
        <p:grpSpPr>
          <a:xfrm>
            <a:off x="496119" y="1898898"/>
            <a:ext cx="2634555" cy="1066651"/>
            <a:chOff x="496119" y="1898898"/>
            <a:chExt cx="2634555" cy="1066651"/>
          </a:xfrm>
        </p:grpSpPr>
        <p:sp>
          <p:nvSpPr>
            <p:cNvPr id="4" name="Shape 2"/>
            <p:cNvSpPr/>
            <p:nvPr/>
          </p:nvSpPr>
          <p:spPr>
            <a:xfrm>
              <a:off x="496119" y="1898898"/>
              <a:ext cx="2634555" cy="1066651"/>
            </a:xfrm>
            <a:prstGeom prst="roundRect">
              <a:avLst>
                <a:gd name="adj" fmla="val 1744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620092" y="2022872"/>
              <a:ext cx="2386608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Perplexity</a:t>
              </a:r>
              <a:endParaRPr lang="en-US" sz="1200" dirty="0"/>
            </a:p>
          </p:txBody>
        </p:sp>
      </p:grpSp>
      <p:sp>
        <p:nvSpPr>
          <p:cNvPr id="6" name="Text 4"/>
          <p:cNvSpPr/>
          <p:nvPr/>
        </p:nvSpPr>
        <p:spPr>
          <a:xfrm>
            <a:off x="620092" y="2345382"/>
            <a:ext cx="2386608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Discover candidates - collect 8-12 sources with citations</a:t>
            </a:r>
            <a:endParaRPr lang="en-US" sz="12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69C2C6A-6088-9A04-1FE4-3AF1A80DB304}"/>
              </a:ext>
            </a:extLst>
          </p:cNvPr>
          <p:cNvGrpSpPr/>
          <p:nvPr/>
        </p:nvGrpSpPr>
        <p:grpSpPr>
          <a:xfrm>
            <a:off x="3254648" y="1898898"/>
            <a:ext cx="2634630" cy="1066651"/>
            <a:chOff x="3254648" y="1898898"/>
            <a:chExt cx="2634630" cy="1066651"/>
          </a:xfrm>
        </p:grpSpPr>
        <p:sp>
          <p:nvSpPr>
            <p:cNvPr id="7" name="Shape 5"/>
            <p:cNvSpPr/>
            <p:nvPr/>
          </p:nvSpPr>
          <p:spPr>
            <a:xfrm>
              <a:off x="3254648" y="1898898"/>
              <a:ext cx="2634630" cy="1066651"/>
            </a:xfrm>
            <a:prstGeom prst="roundRect">
              <a:avLst>
                <a:gd name="adj" fmla="val 1744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 6"/>
            <p:cNvSpPr/>
            <p:nvPr/>
          </p:nvSpPr>
          <p:spPr>
            <a:xfrm>
              <a:off x="3378622" y="2022872"/>
              <a:ext cx="2386682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Gemini</a:t>
              </a:r>
              <a:endParaRPr lang="en-US" sz="1200" dirty="0"/>
            </a:p>
          </p:txBody>
        </p:sp>
      </p:grpSp>
      <p:sp>
        <p:nvSpPr>
          <p:cNvPr id="9" name="Text 7"/>
          <p:cNvSpPr/>
          <p:nvPr/>
        </p:nvSpPr>
        <p:spPr>
          <a:xfrm>
            <a:off x="3378622" y="2345382"/>
            <a:ext cx="2386682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Compare and filter - narrow down to the most relevant</a:t>
            </a:r>
            <a:endParaRPr lang="en-US" sz="120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16D2FDC-E776-B60D-075E-C79D2D876C79}"/>
              </a:ext>
            </a:extLst>
          </p:cNvPr>
          <p:cNvGrpSpPr/>
          <p:nvPr/>
        </p:nvGrpSpPr>
        <p:grpSpPr>
          <a:xfrm>
            <a:off x="6013252" y="1898898"/>
            <a:ext cx="2634555" cy="1066651"/>
            <a:chOff x="6013252" y="1898898"/>
            <a:chExt cx="2634555" cy="1066651"/>
          </a:xfrm>
        </p:grpSpPr>
        <p:sp>
          <p:nvSpPr>
            <p:cNvPr id="10" name="Shape 8"/>
            <p:cNvSpPr/>
            <p:nvPr/>
          </p:nvSpPr>
          <p:spPr>
            <a:xfrm>
              <a:off x="6013252" y="1898898"/>
              <a:ext cx="2634555" cy="1066651"/>
            </a:xfrm>
            <a:prstGeom prst="roundRect">
              <a:avLst>
                <a:gd name="adj" fmla="val 1744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6137225" y="2022872"/>
              <a:ext cx="2386608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NotebookLM</a:t>
              </a:r>
              <a:endParaRPr lang="en-US" sz="1200" dirty="0"/>
            </a:p>
          </p:txBody>
        </p:sp>
      </p:grpSp>
      <p:sp>
        <p:nvSpPr>
          <p:cNvPr id="12" name="Text 10"/>
          <p:cNvSpPr/>
          <p:nvPr/>
        </p:nvSpPr>
        <p:spPr>
          <a:xfrm>
            <a:off x="6137225" y="2345382"/>
            <a:ext cx="2386608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Verify content - confirm each source is real and accessible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6119" y="3105076"/>
            <a:ext cx="81517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endParaRPr lang="en-US" sz="95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2D5657D-6661-E8E8-9441-99FA5F9EE998}"/>
              </a:ext>
            </a:extLst>
          </p:cNvPr>
          <p:cNvGrpSpPr/>
          <p:nvPr/>
        </p:nvGrpSpPr>
        <p:grpSpPr>
          <a:xfrm>
            <a:off x="496119" y="3443064"/>
            <a:ext cx="8151763" cy="824731"/>
            <a:chOff x="496119" y="3443064"/>
            <a:chExt cx="8151763" cy="824731"/>
          </a:xfrm>
        </p:grpSpPr>
        <p:sp>
          <p:nvSpPr>
            <p:cNvPr id="14" name="Shape 12"/>
            <p:cNvSpPr/>
            <p:nvPr/>
          </p:nvSpPr>
          <p:spPr>
            <a:xfrm>
              <a:off x="496119" y="3443064"/>
              <a:ext cx="8151763" cy="824731"/>
            </a:xfrm>
            <a:prstGeom prst="roundRect">
              <a:avLst>
                <a:gd name="adj" fmla="val 2256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15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0092" y="3638550"/>
              <a:ext cx="193774" cy="155004"/>
            </a:xfrm>
            <a:prstGeom prst="rect">
              <a:avLst/>
            </a:prstGeom>
          </p:spPr>
        </p:pic>
        <p:sp>
          <p:nvSpPr>
            <p:cNvPr id="16" name="Text 13"/>
            <p:cNvSpPr/>
            <p:nvPr/>
          </p:nvSpPr>
          <p:spPr>
            <a:xfrm>
              <a:off x="937840" y="3597994"/>
              <a:ext cx="7586067" cy="4961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This is a </a:t>
              </a:r>
              <a:r>
                <a:rPr lang="en-US" sz="1200" b="1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recommended workflow</a:t>
              </a:r>
              <a:r>
                <a:rPr lang="en-US" sz="1200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, not the only valid one. What matters is that your sources are real, credible, and actually say what you think they say.</a:t>
              </a:r>
              <a:endParaRPr lang="en-US" sz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9" grpId="0" animBg="1"/>
      <p:bldP spid="1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97285"/>
            <a:ext cx="31011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Perplexity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2182490"/>
            <a:ext cx="4093666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96119" y="2542208"/>
            <a:ext cx="4093666" cy="992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Perplexity is a search tool that returns answers with </a:t>
            </a: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citations to real sources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Every claim links to a source you can click and verify. It's well suited to discovering candidate sources by searching your research question.</a:t>
            </a:r>
            <a:endParaRPr lang="en-US" sz="12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98B2E8F-2758-A5C1-2C41-C8A98732A5EC}"/>
              </a:ext>
            </a:extLst>
          </p:cNvPr>
          <p:cNvGrpSpPr/>
          <p:nvPr/>
        </p:nvGrpSpPr>
        <p:grpSpPr>
          <a:xfrm>
            <a:off x="4807818" y="2070869"/>
            <a:ext cx="3934048" cy="1575346"/>
            <a:chOff x="4807818" y="2070869"/>
            <a:chExt cx="3934048" cy="1575346"/>
          </a:xfrm>
        </p:grpSpPr>
        <p:sp>
          <p:nvSpPr>
            <p:cNvPr id="5" name="Shape 3"/>
            <p:cNvSpPr/>
            <p:nvPr/>
          </p:nvSpPr>
          <p:spPr>
            <a:xfrm>
              <a:off x="4807818" y="2070869"/>
              <a:ext cx="3934048" cy="1575346"/>
            </a:xfrm>
            <a:prstGeom prst="roundRect">
              <a:avLst>
                <a:gd name="adj" fmla="val 1181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 4"/>
            <p:cNvSpPr/>
            <p:nvPr/>
          </p:nvSpPr>
          <p:spPr>
            <a:xfrm>
              <a:off x="4931792" y="2182490"/>
              <a:ext cx="3686101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Today's Goal</a:t>
              </a:r>
              <a:endParaRPr lang="en-US" sz="12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4931792" y="2542208"/>
              <a:ext cx="3686101" cy="99238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Collect </a:t>
              </a: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8–12 candidate sources</a:t>
              </a:r>
              <a:r>
                <a:rPr lang="en-US" sz="12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 from Perplexity searches. If you're using a different discovery tool, your goal is the same - collect 8-12 candidates with verifiable citations.</a:t>
              </a:r>
              <a:endParaRPr lang="en-US" sz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76039"/>
            <a:ext cx="4704308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Source Credibility Checklist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211610"/>
            <a:ext cx="8151763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 each candidate source, ask these five questions. Pass threshold: </a:t>
            </a: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 of 5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Drop sources that fail more than one check.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D2D7258-7638-E71F-3822-792B3DAE4318}"/>
              </a:ext>
            </a:extLst>
          </p:cNvPr>
          <p:cNvGrpSpPr/>
          <p:nvPr/>
        </p:nvGrpSpPr>
        <p:grpSpPr>
          <a:xfrm>
            <a:off x="496119" y="1847329"/>
            <a:ext cx="8151763" cy="2720132"/>
            <a:chOff x="496119" y="1847329"/>
            <a:chExt cx="8151763" cy="2720132"/>
          </a:xfrm>
        </p:grpSpPr>
        <p:sp>
          <p:nvSpPr>
            <p:cNvPr id="4" name="Shape 2"/>
            <p:cNvSpPr/>
            <p:nvPr/>
          </p:nvSpPr>
          <p:spPr>
            <a:xfrm>
              <a:off x="496119" y="1847329"/>
              <a:ext cx="8151763" cy="2720132"/>
            </a:xfrm>
            <a:prstGeom prst="roundRect">
              <a:avLst>
                <a:gd name="adj" fmla="val 684"/>
              </a:avLst>
            </a:prstGeom>
            <a:noFill/>
            <a:ln w="4763">
              <a:solidFill>
                <a:srgbClr val="000000">
                  <a:alpha val="8000"/>
                </a:srgbClr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 3"/>
            <p:cNvSpPr/>
            <p:nvPr/>
          </p:nvSpPr>
          <p:spPr>
            <a:xfrm>
              <a:off x="624929" y="1931268"/>
              <a:ext cx="2692226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Question</a:t>
              </a:r>
              <a:endParaRPr lang="en-US" sz="12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3569866" y="1931268"/>
              <a:ext cx="4949279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Pass Criterion</a:t>
              </a:r>
              <a:endParaRPr lang="en-US" sz="1200" dirty="0"/>
            </a:p>
          </p:txBody>
        </p:sp>
      </p:grpSp>
      <p:sp>
        <p:nvSpPr>
          <p:cNvPr id="7" name="Text 5"/>
          <p:cNvSpPr/>
          <p:nvPr/>
        </p:nvSpPr>
        <p:spPr>
          <a:xfrm>
            <a:off x="624929" y="2342480"/>
            <a:ext cx="2692226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Is the author named?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569866" y="2342480"/>
            <a:ext cx="4949279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Author has credentials or affiliation listed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4929" y="2753692"/>
            <a:ext cx="2692226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Is the publisher credible?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69866" y="2753692"/>
            <a:ext cx="4949279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Peer-reviewed journal, university, government, established news, or reputable publication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4929" y="3413001"/>
            <a:ext cx="2692226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Is the publication date within 3 years?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69866" y="3413001"/>
            <a:ext cx="4949279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moves fast; older sources may be outdated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4929" y="3824213"/>
            <a:ext cx="2692226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Can you find the original source?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69866" y="3824213"/>
            <a:ext cx="4949279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If cited from a summary, the original exists and is accessible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4929" y="4235425"/>
            <a:ext cx="2692226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Will NotebookLM load the content?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69866" y="4235425"/>
            <a:ext cx="4949279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source is accessible and parseable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502122"/>
            <a:ext cx="31011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Sources to Avoid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2137693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Some kinds of sources don't pass the credibility check. Avoid these:</a:t>
            </a:r>
            <a:endParaRPr lang="en-US" sz="12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FAFC18D-FD25-0323-266F-D155C8CEBC98}"/>
              </a:ext>
            </a:extLst>
          </p:cNvPr>
          <p:cNvGrpSpPr/>
          <p:nvPr/>
        </p:nvGrpSpPr>
        <p:grpSpPr>
          <a:xfrm>
            <a:off x="496119" y="2525316"/>
            <a:ext cx="2634555" cy="496044"/>
            <a:chOff x="496119" y="2525316"/>
            <a:chExt cx="2634555" cy="496044"/>
          </a:xfrm>
        </p:grpSpPr>
        <p:sp>
          <p:nvSpPr>
            <p:cNvPr id="4" name="Shape 2"/>
            <p:cNvSpPr/>
            <p:nvPr/>
          </p:nvSpPr>
          <p:spPr>
            <a:xfrm>
              <a:off x="496119" y="2525316"/>
              <a:ext cx="2634555" cy="496044"/>
            </a:xfrm>
            <a:prstGeom prst="roundRect">
              <a:avLst>
                <a:gd name="adj" fmla="val 3751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 3"/>
            <p:cNvSpPr/>
            <p:nvPr/>
          </p:nvSpPr>
          <p:spPr>
            <a:xfrm>
              <a:off x="620092" y="2649289"/>
              <a:ext cx="2386608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Random Blogs</a:t>
              </a:r>
              <a:endParaRPr lang="en-US" sz="1200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EC105A4-9543-BB02-AB49-6CD3DA37CA6E}"/>
              </a:ext>
            </a:extLst>
          </p:cNvPr>
          <p:cNvGrpSpPr/>
          <p:nvPr/>
        </p:nvGrpSpPr>
        <p:grpSpPr>
          <a:xfrm>
            <a:off x="3254648" y="2525316"/>
            <a:ext cx="2634630" cy="496044"/>
            <a:chOff x="3254648" y="2525316"/>
            <a:chExt cx="2634630" cy="496044"/>
          </a:xfrm>
        </p:grpSpPr>
        <p:sp>
          <p:nvSpPr>
            <p:cNvPr id="6" name="Shape 4"/>
            <p:cNvSpPr/>
            <p:nvPr/>
          </p:nvSpPr>
          <p:spPr>
            <a:xfrm>
              <a:off x="3254648" y="2525316"/>
              <a:ext cx="2634630" cy="496044"/>
            </a:xfrm>
            <a:prstGeom prst="roundRect">
              <a:avLst>
                <a:gd name="adj" fmla="val 3751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 5"/>
            <p:cNvSpPr/>
            <p:nvPr/>
          </p:nvSpPr>
          <p:spPr>
            <a:xfrm>
              <a:off x="3378622" y="2649289"/>
              <a:ext cx="2386682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Wikipedia</a:t>
              </a:r>
              <a:endParaRPr lang="en-US" sz="1200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E729CED-4175-9968-73D2-8076F5DD0111}"/>
              </a:ext>
            </a:extLst>
          </p:cNvPr>
          <p:cNvGrpSpPr/>
          <p:nvPr/>
        </p:nvGrpSpPr>
        <p:grpSpPr>
          <a:xfrm>
            <a:off x="6013252" y="2525316"/>
            <a:ext cx="2634555" cy="496044"/>
            <a:chOff x="6013252" y="2525316"/>
            <a:chExt cx="2634555" cy="496044"/>
          </a:xfrm>
        </p:grpSpPr>
        <p:sp>
          <p:nvSpPr>
            <p:cNvPr id="8" name="Shape 6"/>
            <p:cNvSpPr/>
            <p:nvPr/>
          </p:nvSpPr>
          <p:spPr>
            <a:xfrm>
              <a:off x="6013252" y="2525316"/>
              <a:ext cx="2634555" cy="496044"/>
            </a:xfrm>
            <a:prstGeom prst="roundRect">
              <a:avLst>
                <a:gd name="adj" fmla="val 3751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 7"/>
            <p:cNvSpPr/>
            <p:nvPr/>
          </p:nvSpPr>
          <p:spPr>
            <a:xfrm>
              <a:off x="6137225" y="2649289"/>
              <a:ext cx="2386608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AI-Generated Articles</a:t>
              </a:r>
              <a:endParaRPr lang="en-US" sz="120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91FC643-5A67-97C6-2DC3-C5D4CA67C171}"/>
              </a:ext>
            </a:extLst>
          </p:cNvPr>
          <p:cNvGrpSpPr/>
          <p:nvPr/>
        </p:nvGrpSpPr>
        <p:grpSpPr>
          <a:xfrm>
            <a:off x="496119" y="3145334"/>
            <a:ext cx="2634555" cy="496044"/>
            <a:chOff x="496119" y="3145334"/>
            <a:chExt cx="2634555" cy="496044"/>
          </a:xfrm>
        </p:grpSpPr>
        <p:sp>
          <p:nvSpPr>
            <p:cNvPr id="10" name="Shape 8"/>
            <p:cNvSpPr/>
            <p:nvPr/>
          </p:nvSpPr>
          <p:spPr>
            <a:xfrm>
              <a:off x="496119" y="3145334"/>
              <a:ext cx="2634555" cy="496044"/>
            </a:xfrm>
            <a:prstGeom prst="roundRect">
              <a:avLst>
                <a:gd name="adj" fmla="val 3751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 9"/>
            <p:cNvSpPr/>
            <p:nvPr/>
          </p:nvSpPr>
          <p:spPr>
            <a:xfrm>
              <a:off x="620092" y="3269307"/>
              <a:ext cx="2386608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Predatory Journals</a:t>
              </a:r>
              <a:endParaRPr lang="en-US" sz="1200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B9897BA-3E98-4B46-9ACB-5C203FC815E3}"/>
              </a:ext>
            </a:extLst>
          </p:cNvPr>
          <p:cNvGrpSpPr/>
          <p:nvPr/>
        </p:nvGrpSpPr>
        <p:grpSpPr>
          <a:xfrm>
            <a:off x="3254648" y="3145334"/>
            <a:ext cx="2634630" cy="496044"/>
            <a:chOff x="3254648" y="3145334"/>
            <a:chExt cx="2634630" cy="496044"/>
          </a:xfrm>
        </p:grpSpPr>
        <p:sp>
          <p:nvSpPr>
            <p:cNvPr id="12" name="Shape 10"/>
            <p:cNvSpPr/>
            <p:nvPr/>
          </p:nvSpPr>
          <p:spPr>
            <a:xfrm>
              <a:off x="3254648" y="3145334"/>
              <a:ext cx="2634630" cy="496044"/>
            </a:xfrm>
            <a:prstGeom prst="roundRect">
              <a:avLst>
                <a:gd name="adj" fmla="val 3751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 11"/>
            <p:cNvSpPr/>
            <p:nvPr/>
          </p:nvSpPr>
          <p:spPr>
            <a:xfrm>
              <a:off x="3378622" y="3269307"/>
              <a:ext cx="2386682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Social Media Posts</a:t>
              </a:r>
              <a:endParaRPr lang="en-US" sz="1200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1BC7F38-16CA-24DD-A965-5C2FC4893EEA}"/>
              </a:ext>
            </a:extLst>
          </p:cNvPr>
          <p:cNvGrpSpPr/>
          <p:nvPr/>
        </p:nvGrpSpPr>
        <p:grpSpPr>
          <a:xfrm>
            <a:off x="6013252" y="3145334"/>
            <a:ext cx="2634555" cy="496044"/>
            <a:chOff x="6013252" y="3145334"/>
            <a:chExt cx="2634555" cy="496044"/>
          </a:xfrm>
        </p:grpSpPr>
        <p:sp>
          <p:nvSpPr>
            <p:cNvPr id="14" name="Shape 12"/>
            <p:cNvSpPr/>
            <p:nvPr/>
          </p:nvSpPr>
          <p:spPr>
            <a:xfrm>
              <a:off x="6013252" y="3145334"/>
              <a:ext cx="2634555" cy="496044"/>
            </a:xfrm>
            <a:prstGeom prst="roundRect">
              <a:avLst>
                <a:gd name="adj" fmla="val 3751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 13"/>
            <p:cNvSpPr/>
            <p:nvPr/>
          </p:nvSpPr>
          <p:spPr>
            <a:xfrm>
              <a:off x="6137225" y="3269307"/>
              <a:ext cx="2386608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Marketing Content</a:t>
              </a:r>
              <a:endParaRPr lang="en-US" sz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53976"/>
            <a:ext cx="5569148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Reminder: AI Can Hallucinate Sources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2089547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Verify every source actually exists before adding it to your list. Don't trust a citation just because it looks real.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96119" y="2477170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91BC9A0-3DC9-7871-4804-525A1CEE8E8B}"/>
              </a:ext>
            </a:extLst>
          </p:cNvPr>
          <p:cNvGrpSpPr/>
          <p:nvPr/>
        </p:nvGrpSpPr>
        <p:grpSpPr>
          <a:xfrm>
            <a:off x="496119" y="2864793"/>
            <a:ext cx="8151763" cy="824731"/>
            <a:chOff x="496119" y="2864793"/>
            <a:chExt cx="8151763" cy="824731"/>
          </a:xfrm>
        </p:grpSpPr>
        <p:sp>
          <p:nvSpPr>
            <p:cNvPr id="5" name="Shape 3"/>
            <p:cNvSpPr/>
            <p:nvPr/>
          </p:nvSpPr>
          <p:spPr>
            <a:xfrm>
              <a:off x="496119" y="2864793"/>
              <a:ext cx="8151763" cy="824731"/>
            </a:xfrm>
            <a:prstGeom prst="roundRect">
              <a:avLst>
                <a:gd name="adj" fmla="val 2256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6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0092" y="3060278"/>
              <a:ext cx="193774" cy="155004"/>
            </a:xfrm>
            <a:prstGeom prst="rect">
              <a:avLst/>
            </a:prstGeom>
          </p:spPr>
        </p:pic>
        <p:sp>
          <p:nvSpPr>
            <p:cNvPr id="7" name="Text 4"/>
            <p:cNvSpPr/>
            <p:nvPr/>
          </p:nvSpPr>
          <p:spPr>
            <a:xfrm>
              <a:off x="937840" y="3019723"/>
              <a:ext cx="7586067" cy="4961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AI tools can generate citations to papers that don't exist. This is a known failure mode of large language models. </a:t>
              </a:r>
              <a:endParaRPr lang="en-US" sz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14958"/>
            <a:ext cx="2946053" cy="3682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Today's Workflow</a:t>
            </a:r>
            <a:endParaRPr lang="en-US" sz="2300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70B9C32-A667-423A-021F-3062C32ACEF2}"/>
              </a:ext>
            </a:extLst>
          </p:cNvPr>
          <p:cNvGrpSpPr/>
          <p:nvPr/>
        </p:nvGrpSpPr>
        <p:grpSpPr>
          <a:xfrm>
            <a:off x="496119" y="1560463"/>
            <a:ext cx="2642517" cy="695176"/>
            <a:chOff x="496119" y="1560463"/>
            <a:chExt cx="2642517" cy="695176"/>
          </a:xfrm>
        </p:grpSpPr>
        <p:sp>
          <p:nvSpPr>
            <p:cNvPr id="4" name="Shape 2"/>
            <p:cNvSpPr/>
            <p:nvPr/>
          </p:nvSpPr>
          <p:spPr>
            <a:xfrm>
              <a:off x="496119" y="1560463"/>
              <a:ext cx="353467" cy="353467"/>
            </a:xfrm>
            <a:prstGeom prst="roundRect">
              <a:avLst>
                <a:gd name="adj" fmla="val 80842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672852" y="1678260"/>
              <a:ext cx="2465784" cy="117797"/>
            </a:xfrm>
            <a:prstGeom prst="roundRect">
              <a:avLst>
                <a:gd name="adj" fmla="val 15006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5" name="Image 0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84448" y="1648867"/>
              <a:ext cx="176733" cy="176733"/>
            </a:xfrm>
            <a:prstGeom prst="rect">
              <a:avLst/>
            </a:prstGeom>
          </p:spPr>
        </p:pic>
        <p:sp>
          <p:nvSpPr>
            <p:cNvPr id="6" name="Text 3"/>
            <p:cNvSpPr/>
            <p:nvPr/>
          </p:nvSpPr>
          <p:spPr>
            <a:xfrm>
              <a:off x="613916" y="2025848"/>
              <a:ext cx="2406997" cy="2297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800"/>
                </a:lnSpc>
                <a:buNone/>
              </a:pPr>
              <a:r>
                <a:rPr lang="en-US" sz="115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Choose Your Angle</a:t>
              </a:r>
              <a:endParaRPr lang="en-US" sz="1150" dirty="0"/>
            </a:p>
          </p:txBody>
        </p:sp>
      </p:grpSp>
      <p:sp>
        <p:nvSpPr>
          <p:cNvPr id="7" name="Text 4"/>
          <p:cNvSpPr/>
          <p:nvPr/>
        </p:nvSpPr>
        <p:spPr>
          <a:xfrm>
            <a:off x="613916" y="2322761"/>
            <a:ext cx="2406997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Select from your mentor's options</a:t>
            </a:r>
            <a:endParaRPr lang="en-US" sz="1150" dirty="0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004D807E-B5DE-52B1-CDCE-E4529E88152A}"/>
              </a:ext>
            </a:extLst>
          </p:cNvPr>
          <p:cNvGrpSpPr/>
          <p:nvPr/>
        </p:nvGrpSpPr>
        <p:grpSpPr>
          <a:xfrm>
            <a:off x="3250629" y="1383729"/>
            <a:ext cx="2642593" cy="695177"/>
            <a:chOff x="3250629" y="1383729"/>
            <a:chExt cx="2642593" cy="695177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D28C3B4F-EF86-700E-CB27-31C321C2B513}"/>
                </a:ext>
              </a:extLst>
            </p:cNvPr>
            <p:cNvGrpSpPr/>
            <p:nvPr/>
          </p:nvGrpSpPr>
          <p:grpSpPr>
            <a:xfrm>
              <a:off x="3250629" y="1383729"/>
              <a:ext cx="2642593" cy="353467"/>
              <a:chOff x="3250629" y="1383729"/>
              <a:chExt cx="2642593" cy="353467"/>
            </a:xfrm>
          </p:grpSpPr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18D989C4-0519-2841-1CE1-925C3072F11A}"/>
                  </a:ext>
                </a:extLst>
              </p:cNvPr>
              <p:cNvGrpSpPr/>
              <p:nvPr/>
            </p:nvGrpSpPr>
            <p:grpSpPr>
              <a:xfrm>
                <a:off x="3250629" y="1383729"/>
                <a:ext cx="2642593" cy="353467"/>
                <a:chOff x="3250629" y="1383729"/>
                <a:chExt cx="2642593" cy="353467"/>
              </a:xfrm>
            </p:grpSpPr>
            <p:sp>
              <p:nvSpPr>
                <p:cNvPr id="9" name="Shape 6"/>
                <p:cNvSpPr/>
                <p:nvPr/>
              </p:nvSpPr>
              <p:spPr>
                <a:xfrm>
                  <a:off x="3250629" y="1383729"/>
                  <a:ext cx="353467" cy="353467"/>
                </a:xfrm>
                <a:prstGeom prst="roundRect">
                  <a:avLst>
                    <a:gd name="adj" fmla="val 80842"/>
                  </a:avLst>
                </a:prstGeom>
                <a:solidFill>
                  <a:srgbClr val="E9ECF2"/>
                </a:solidFill>
                <a:ln/>
              </p:spPr>
              <p:txBody>
                <a:bodyPr/>
                <a:lstStyle/>
                <a:p>
                  <a:endParaRPr lang="en-IN" dirty="0"/>
                </a:p>
              </p:txBody>
            </p:sp>
            <p:sp>
              <p:nvSpPr>
                <p:cNvPr id="8" name="Shape 5"/>
                <p:cNvSpPr/>
                <p:nvPr/>
              </p:nvSpPr>
              <p:spPr>
                <a:xfrm>
                  <a:off x="3427363" y="1501527"/>
                  <a:ext cx="2465859" cy="117797"/>
                </a:xfrm>
                <a:prstGeom prst="roundRect">
                  <a:avLst>
                    <a:gd name="adj" fmla="val 15006"/>
                  </a:avLst>
                </a:prstGeom>
                <a:solidFill>
                  <a:srgbClr val="E9ECF2"/>
                </a:solidFill>
                <a:ln/>
              </p:spPr>
              <p:txBody>
                <a:bodyPr/>
                <a:lstStyle/>
                <a:p>
                  <a:endParaRPr lang="en-IN"/>
                </a:p>
              </p:txBody>
            </p:sp>
          </p:grpSp>
          <p:pic>
            <p:nvPicPr>
              <p:cNvPr id="10" name="Image 1" descr="preencoded.png"/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3338959" y="1472133"/>
                <a:ext cx="176733" cy="176733"/>
              </a:xfrm>
              <a:prstGeom prst="rect">
                <a:avLst/>
              </a:prstGeom>
            </p:spPr>
          </p:pic>
        </p:grpSp>
        <p:sp>
          <p:nvSpPr>
            <p:cNvPr id="11" name="Text 7"/>
            <p:cNvSpPr/>
            <p:nvPr/>
          </p:nvSpPr>
          <p:spPr>
            <a:xfrm>
              <a:off x="3368427" y="1849115"/>
              <a:ext cx="2407072" cy="2297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800"/>
                </a:lnSpc>
                <a:buNone/>
              </a:pPr>
              <a:r>
                <a:rPr lang="en-US" sz="115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Sharpen Your Question</a:t>
              </a:r>
              <a:endParaRPr lang="en-US" sz="1150" dirty="0"/>
            </a:p>
          </p:txBody>
        </p:sp>
      </p:grpSp>
      <p:sp>
        <p:nvSpPr>
          <p:cNvPr id="12" name="Text 8"/>
          <p:cNvSpPr/>
          <p:nvPr/>
        </p:nvSpPr>
        <p:spPr>
          <a:xfrm>
            <a:off x="3368427" y="2146027"/>
            <a:ext cx="2407072" cy="459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Refine with mentor coaching until it passes the Three-Part Test</a:t>
            </a:r>
            <a:endParaRPr lang="en-US" sz="1150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2581DE5-979C-96BD-11B7-D0C12632C723}"/>
              </a:ext>
            </a:extLst>
          </p:cNvPr>
          <p:cNvGrpSpPr/>
          <p:nvPr/>
        </p:nvGrpSpPr>
        <p:grpSpPr>
          <a:xfrm>
            <a:off x="6005215" y="1206996"/>
            <a:ext cx="2642517" cy="695177"/>
            <a:chOff x="6005215" y="1206996"/>
            <a:chExt cx="2642517" cy="695177"/>
          </a:xfrm>
        </p:grpSpPr>
        <p:sp>
          <p:nvSpPr>
            <p:cNvPr id="14" name="Shape 10"/>
            <p:cNvSpPr/>
            <p:nvPr/>
          </p:nvSpPr>
          <p:spPr>
            <a:xfrm>
              <a:off x="6005215" y="1206996"/>
              <a:ext cx="353467" cy="353467"/>
            </a:xfrm>
            <a:prstGeom prst="roundRect">
              <a:avLst>
                <a:gd name="adj" fmla="val 80842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6" name="Text 11"/>
            <p:cNvSpPr/>
            <p:nvPr/>
          </p:nvSpPr>
          <p:spPr>
            <a:xfrm>
              <a:off x="6123012" y="1672382"/>
              <a:ext cx="2406997" cy="2297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800"/>
                </a:lnSpc>
                <a:buNone/>
              </a:pPr>
              <a:r>
                <a:rPr lang="en-US" sz="115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Sketch Your Abstract</a:t>
              </a:r>
              <a:endParaRPr lang="en-US" sz="1150" dirty="0"/>
            </a:p>
          </p:txBody>
        </p:sp>
        <p:sp>
          <p:nvSpPr>
            <p:cNvPr id="13" name="Shape 9"/>
            <p:cNvSpPr/>
            <p:nvPr/>
          </p:nvSpPr>
          <p:spPr>
            <a:xfrm>
              <a:off x="6181948" y="1324794"/>
              <a:ext cx="2465784" cy="117797"/>
            </a:xfrm>
            <a:prstGeom prst="roundRect">
              <a:avLst>
                <a:gd name="adj" fmla="val 15006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15" name="Image 2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093544" y="1295400"/>
              <a:ext cx="176733" cy="176733"/>
            </a:xfrm>
            <a:prstGeom prst="rect">
              <a:avLst/>
            </a:prstGeom>
          </p:spPr>
        </p:pic>
      </p:grpSp>
      <p:sp>
        <p:nvSpPr>
          <p:cNvPr id="17" name="Text 12"/>
          <p:cNvSpPr/>
          <p:nvPr/>
        </p:nvSpPr>
        <p:spPr>
          <a:xfrm>
            <a:off x="6123012" y="1969294"/>
            <a:ext cx="2406997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~80 words placeholder version</a:t>
            </a:r>
            <a:endParaRPr lang="en-US" sz="1150" dirty="0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7BEBFB57-8039-F7B3-810F-6ED82C4390D9}"/>
              </a:ext>
            </a:extLst>
          </p:cNvPr>
          <p:cNvGrpSpPr/>
          <p:nvPr/>
        </p:nvGrpSpPr>
        <p:grpSpPr>
          <a:xfrm>
            <a:off x="496119" y="3188791"/>
            <a:ext cx="2642517" cy="695177"/>
            <a:chOff x="496119" y="3188791"/>
            <a:chExt cx="2642517" cy="695177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92B6911E-32AC-E8BF-3D63-7B67F3B41987}"/>
                </a:ext>
              </a:extLst>
            </p:cNvPr>
            <p:cNvGrpSpPr/>
            <p:nvPr/>
          </p:nvGrpSpPr>
          <p:grpSpPr>
            <a:xfrm>
              <a:off x="496119" y="3188791"/>
              <a:ext cx="2642517" cy="353467"/>
              <a:chOff x="496119" y="3188791"/>
              <a:chExt cx="2642517" cy="353467"/>
            </a:xfrm>
          </p:grpSpPr>
          <p:sp>
            <p:nvSpPr>
              <p:cNvPr id="18" name="Shape 13"/>
              <p:cNvSpPr/>
              <p:nvPr/>
            </p:nvSpPr>
            <p:spPr>
              <a:xfrm>
                <a:off x="672852" y="3306589"/>
                <a:ext cx="2465784" cy="117797"/>
              </a:xfrm>
              <a:prstGeom prst="roundRect">
                <a:avLst>
                  <a:gd name="adj" fmla="val 15006"/>
                </a:avLst>
              </a:prstGeom>
              <a:solidFill>
                <a:srgbClr val="E9ECF2"/>
              </a:solidFill>
              <a:ln/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" name="Shape 14"/>
              <p:cNvSpPr/>
              <p:nvPr/>
            </p:nvSpPr>
            <p:spPr>
              <a:xfrm>
                <a:off x="496119" y="3188791"/>
                <a:ext cx="353467" cy="353467"/>
              </a:xfrm>
              <a:prstGeom prst="roundRect">
                <a:avLst>
                  <a:gd name="adj" fmla="val 80842"/>
                </a:avLst>
              </a:prstGeom>
              <a:solidFill>
                <a:srgbClr val="E9ECF2"/>
              </a:solidFill>
              <a:ln/>
            </p:spPr>
            <p:txBody>
              <a:bodyPr/>
              <a:lstStyle/>
              <a:p>
                <a:endParaRPr lang="en-IN" dirty="0"/>
              </a:p>
            </p:txBody>
          </p:sp>
          <p:pic>
            <p:nvPicPr>
              <p:cNvPr id="20" name="Image 3" descr="preencoded.png"/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584448" y="3277195"/>
                <a:ext cx="176733" cy="176733"/>
              </a:xfrm>
              <a:prstGeom prst="rect">
                <a:avLst/>
              </a:prstGeom>
            </p:spPr>
          </p:pic>
        </p:grpSp>
        <p:sp>
          <p:nvSpPr>
            <p:cNvPr id="21" name="Text 15"/>
            <p:cNvSpPr/>
            <p:nvPr/>
          </p:nvSpPr>
          <p:spPr>
            <a:xfrm>
              <a:off x="613916" y="3654177"/>
              <a:ext cx="2406997" cy="2297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800"/>
                </a:lnSpc>
                <a:buNone/>
              </a:pPr>
              <a:r>
                <a:rPr lang="en-US" sz="115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Outline Your Introduction</a:t>
              </a:r>
              <a:endParaRPr lang="en-US" sz="1150" dirty="0"/>
            </a:p>
          </p:txBody>
        </p:sp>
      </p:grpSp>
      <p:sp>
        <p:nvSpPr>
          <p:cNvPr id="22" name="Text 16"/>
          <p:cNvSpPr/>
          <p:nvPr/>
        </p:nvSpPr>
        <p:spPr>
          <a:xfrm>
            <a:off x="613916" y="3951089"/>
            <a:ext cx="2406997" cy="459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Bullet points - prose comes in homework</a:t>
            </a:r>
            <a:endParaRPr lang="en-US" sz="1150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B04D9A3-4429-DC3F-A2F9-C4381D72B01F}"/>
              </a:ext>
            </a:extLst>
          </p:cNvPr>
          <p:cNvGrpSpPr/>
          <p:nvPr/>
        </p:nvGrpSpPr>
        <p:grpSpPr>
          <a:xfrm>
            <a:off x="3250629" y="3012058"/>
            <a:ext cx="2642593" cy="695177"/>
            <a:chOff x="3250629" y="3012058"/>
            <a:chExt cx="2642593" cy="695177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E5E700F5-2FB3-7DB0-9AE8-C87706FDC369}"/>
                </a:ext>
              </a:extLst>
            </p:cNvPr>
            <p:cNvGrpSpPr/>
            <p:nvPr/>
          </p:nvGrpSpPr>
          <p:grpSpPr>
            <a:xfrm>
              <a:off x="3250629" y="3012058"/>
              <a:ext cx="2642593" cy="695177"/>
              <a:chOff x="3250629" y="3012058"/>
              <a:chExt cx="2642593" cy="695177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9B309DF4-5999-0D2F-81FC-6949EFC40B81}"/>
                  </a:ext>
                </a:extLst>
              </p:cNvPr>
              <p:cNvGrpSpPr/>
              <p:nvPr/>
            </p:nvGrpSpPr>
            <p:grpSpPr>
              <a:xfrm>
                <a:off x="3250629" y="3012058"/>
                <a:ext cx="2642593" cy="353467"/>
                <a:chOff x="3250629" y="3012058"/>
                <a:chExt cx="2642593" cy="353467"/>
              </a:xfrm>
            </p:grpSpPr>
            <p:sp>
              <p:nvSpPr>
                <p:cNvPr id="23" name="Shape 17"/>
                <p:cNvSpPr/>
                <p:nvPr/>
              </p:nvSpPr>
              <p:spPr>
                <a:xfrm>
                  <a:off x="3427363" y="3129855"/>
                  <a:ext cx="2465859" cy="117797"/>
                </a:xfrm>
                <a:prstGeom prst="roundRect">
                  <a:avLst>
                    <a:gd name="adj" fmla="val 15006"/>
                  </a:avLst>
                </a:prstGeom>
                <a:solidFill>
                  <a:srgbClr val="E9ECF2"/>
                </a:solidFill>
                <a:ln/>
              </p:spPr>
              <p:txBody>
                <a:bodyPr/>
                <a:lstStyle/>
                <a:p>
                  <a:endParaRPr lang="en-IN" dirty="0"/>
                </a:p>
              </p:txBody>
            </p:sp>
            <p:sp>
              <p:nvSpPr>
                <p:cNvPr id="24" name="Shape 18"/>
                <p:cNvSpPr/>
                <p:nvPr/>
              </p:nvSpPr>
              <p:spPr>
                <a:xfrm>
                  <a:off x="3250629" y="3012058"/>
                  <a:ext cx="353467" cy="353467"/>
                </a:xfrm>
                <a:prstGeom prst="roundRect">
                  <a:avLst>
                    <a:gd name="adj" fmla="val 80842"/>
                  </a:avLst>
                </a:prstGeom>
                <a:solidFill>
                  <a:srgbClr val="E9ECF2"/>
                </a:solidFill>
                <a:ln/>
              </p:spPr>
              <p:txBody>
                <a:bodyPr/>
                <a:lstStyle/>
                <a:p>
                  <a:endParaRPr lang="en-IN" dirty="0"/>
                </a:p>
              </p:txBody>
            </p:sp>
          </p:grpSp>
          <p:sp>
            <p:nvSpPr>
              <p:cNvPr id="26" name="Text 19"/>
              <p:cNvSpPr/>
              <p:nvPr/>
            </p:nvSpPr>
            <p:spPr>
              <a:xfrm>
                <a:off x="3368427" y="3477444"/>
                <a:ext cx="2407072" cy="229791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1800"/>
                  </a:lnSpc>
                  <a:buNone/>
                </a:pPr>
                <a:r>
                  <a:rPr lang="en-US" sz="1150" b="1" dirty="0">
                    <a:solidFill>
                      <a:srgbClr val="15213F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Run Source Discovery</a:t>
                </a:r>
                <a:endParaRPr lang="en-US" sz="1150" dirty="0"/>
              </a:p>
            </p:txBody>
          </p:sp>
        </p:grpSp>
        <p:pic>
          <p:nvPicPr>
            <p:cNvPr id="25" name="Image 4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338959" y="3100462"/>
              <a:ext cx="176733" cy="176733"/>
            </a:xfrm>
            <a:prstGeom prst="rect">
              <a:avLst/>
            </a:prstGeom>
          </p:spPr>
        </p:pic>
      </p:grpSp>
      <p:sp>
        <p:nvSpPr>
          <p:cNvPr id="27" name="Text 20"/>
          <p:cNvSpPr/>
          <p:nvPr/>
        </p:nvSpPr>
        <p:spPr>
          <a:xfrm>
            <a:off x="3368427" y="3774356"/>
            <a:ext cx="2407072" cy="459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8–12 candidates → apply checklist → cut to 5–8 → verify</a:t>
            </a:r>
            <a:endParaRPr lang="en-US" sz="1150" dirty="0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83CF1BE-BAE9-A281-5FB5-85FD722DD7D7}"/>
              </a:ext>
            </a:extLst>
          </p:cNvPr>
          <p:cNvGrpSpPr/>
          <p:nvPr/>
        </p:nvGrpSpPr>
        <p:grpSpPr>
          <a:xfrm>
            <a:off x="6005215" y="2835325"/>
            <a:ext cx="2642517" cy="695176"/>
            <a:chOff x="6005215" y="2835325"/>
            <a:chExt cx="2642517" cy="695176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4B780170-530E-D094-E34B-DE0B57C9865F}"/>
                </a:ext>
              </a:extLst>
            </p:cNvPr>
            <p:cNvGrpSpPr/>
            <p:nvPr/>
          </p:nvGrpSpPr>
          <p:grpSpPr>
            <a:xfrm>
              <a:off x="6005215" y="2835325"/>
              <a:ext cx="2642517" cy="353467"/>
              <a:chOff x="6005215" y="2835325"/>
              <a:chExt cx="2642517" cy="353467"/>
            </a:xfrm>
          </p:grpSpPr>
          <p:sp>
            <p:nvSpPr>
              <p:cNvPr id="28" name="Shape 21"/>
              <p:cNvSpPr/>
              <p:nvPr/>
            </p:nvSpPr>
            <p:spPr>
              <a:xfrm>
                <a:off x="6181948" y="2953122"/>
                <a:ext cx="2465784" cy="117797"/>
              </a:xfrm>
              <a:prstGeom prst="roundRect">
                <a:avLst>
                  <a:gd name="adj" fmla="val 15006"/>
                </a:avLst>
              </a:prstGeom>
              <a:solidFill>
                <a:srgbClr val="E9ECF2"/>
              </a:solidFill>
              <a:ln/>
            </p:spPr>
            <p:txBody>
              <a:bodyPr/>
              <a:lstStyle/>
              <a:p>
                <a:endParaRPr lang="en-IN"/>
              </a:p>
            </p:txBody>
          </p:sp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B3D5F3BC-AEDB-E317-22AB-F2B19E2603D5}"/>
                  </a:ext>
                </a:extLst>
              </p:cNvPr>
              <p:cNvGrpSpPr/>
              <p:nvPr/>
            </p:nvGrpSpPr>
            <p:grpSpPr>
              <a:xfrm>
                <a:off x="6005215" y="2835325"/>
                <a:ext cx="353467" cy="353467"/>
                <a:chOff x="6005215" y="2835325"/>
                <a:chExt cx="353467" cy="353467"/>
              </a:xfrm>
            </p:grpSpPr>
            <p:sp>
              <p:nvSpPr>
                <p:cNvPr id="29" name="Shape 22"/>
                <p:cNvSpPr/>
                <p:nvPr/>
              </p:nvSpPr>
              <p:spPr>
                <a:xfrm>
                  <a:off x="6005215" y="2835325"/>
                  <a:ext cx="353467" cy="353467"/>
                </a:xfrm>
                <a:prstGeom prst="roundRect">
                  <a:avLst>
                    <a:gd name="adj" fmla="val 80842"/>
                  </a:avLst>
                </a:prstGeom>
                <a:solidFill>
                  <a:srgbClr val="E9ECF2"/>
                </a:solidFill>
                <a:ln/>
              </p:spPr>
              <p:txBody>
                <a:bodyPr/>
                <a:lstStyle/>
                <a:p>
                  <a:endParaRPr lang="en-IN" dirty="0"/>
                </a:p>
              </p:txBody>
            </p:sp>
            <p:pic>
              <p:nvPicPr>
                <p:cNvPr id="30" name="Image 5" descr="preencoded.png"/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093544" y="2923729"/>
                  <a:ext cx="176733" cy="176733"/>
                </a:xfrm>
                <a:prstGeom prst="rect">
                  <a:avLst/>
                </a:prstGeom>
              </p:spPr>
            </p:pic>
          </p:grpSp>
        </p:grpSp>
        <p:sp>
          <p:nvSpPr>
            <p:cNvPr id="31" name="Text 23"/>
            <p:cNvSpPr/>
            <p:nvPr/>
          </p:nvSpPr>
          <p:spPr>
            <a:xfrm>
              <a:off x="6123012" y="3300710"/>
              <a:ext cx="2406997" cy="2297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800"/>
                </a:lnSpc>
                <a:buNone/>
              </a:pPr>
              <a:r>
                <a:rPr lang="en-US" sz="115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Commit to Exploration Plan</a:t>
              </a:r>
              <a:endParaRPr lang="en-US" sz="1150" dirty="0"/>
            </a:p>
          </p:txBody>
        </p:sp>
      </p:grpSp>
      <p:sp>
        <p:nvSpPr>
          <p:cNvPr id="32" name="Text 24"/>
          <p:cNvSpPr/>
          <p:nvPr/>
        </p:nvSpPr>
        <p:spPr>
          <a:xfrm>
            <a:off x="6123012" y="3597622"/>
            <a:ext cx="2406997" cy="459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Name your tool and what you'll do in Session 23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2" grpId="0" animBg="1"/>
      <p:bldP spid="17" grpId="0" animBg="1"/>
      <p:bldP spid="22" grpId="0" animBg="1"/>
      <p:bldP spid="27" grpId="0" animBg="1"/>
      <p:bldP spid="3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58825"/>
            <a:ext cx="31011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Homework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594396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Homework takes about </a:t>
            </a: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45–60 minutes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total. Complete all tasks before Session 23.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96119" y="1982019"/>
            <a:ext cx="8151763" cy="1238399"/>
          </a:xfrm>
          <a:prstGeom prst="roundRect">
            <a:avLst>
              <a:gd name="adj" fmla="val 1503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24855" y="2065958"/>
            <a:ext cx="789429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Verify each source. Write a one-sentence summary of each - in your own words.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4855" y="2477170"/>
            <a:ext cx="789429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Draft your </a:t>
            </a: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Related Work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section. Synthesize across sources - don't summarize them one by one.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4855" y="2888382"/>
            <a:ext cx="789429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Expand your </a:t>
            </a: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Introduction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outline into prose (100–200 words). Reference at least two sources.</a:t>
            </a:r>
            <a:endParaRPr lang="en-US" sz="120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525E925-6223-F972-32F7-C54258F08BFD}"/>
              </a:ext>
            </a:extLst>
          </p:cNvPr>
          <p:cNvGrpSpPr/>
          <p:nvPr/>
        </p:nvGrpSpPr>
        <p:grpSpPr>
          <a:xfrm>
            <a:off x="496119" y="3359944"/>
            <a:ext cx="8151763" cy="824731"/>
            <a:chOff x="496119" y="3359944"/>
            <a:chExt cx="8151763" cy="824731"/>
          </a:xfrm>
        </p:grpSpPr>
        <p:sp>
          <p:nvSpPr>
            <p:cNvPr id="8" name="Shape 6"/>
            <p:cNvSpPr/>
            <p:nvPr/>
          </p:nvSpPr>
          <p:spPr>
            <a:xfrm>
              <a:off x="496119" y="3359944"/>
              <a:ext cx="8151763" cy="824731"/>
            </a:xfrm>
            <a:prstGeom prst="roundRect">
              <a:avLst>
                <a:gd name="adj" fmla="val 2256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9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0092" y="3555429"/>
              <a:ext cx="193774" cy="155004"/>
            </a:xfrm>
            <a:prstGeom prst="rect">
              <a:avLst/>
            </a:prstGeom>
          </p:spPr>
        </p:pic>
        <p:sp>
          <p:nvSpPr>
            <p:cNvPr id="10" name="Text 7"/>
            <p:cNvSpPr/>
            <p:nvPr/>
          </p:nvSpPr>
          <p:spPr>
            <a:xfrm>
              <a:off x="937840" y="3514874"/>
              <a:ext cx="7586067" cy="4961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Use direct paraphrasing in Related Work. </a:t>
              </a:r>
              <a:r>
                <a:rPr lang="en-US" sz="1200" b="1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Don't copy phrasing from sources.</a:t>
              </a:r>
              <a:r>
                <a:rPr lang="en-US" sz="1200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 If you can't say it in your own words, you don't understand it well enough yet.</a:t>
              </a:r>
              <a:endParaRPr lang="en-US" sz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17427"/>
            <a:ext cx="3602757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What's Next - Session 23</a:t>
            </a:r>
            <a:endParaRPr lang="en-US" sz="240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782556E-92BC-4E75-110D-E5DB7A7C75A2}"/>
              </a:ext>
            </a:extLst>
          </p:cNvPr>
          <p:cNvGrpSpPr/>
          <p:nvPr/>
        </p:nvGrpSpPr>
        <p:grpSpPr>
          <a:xfrm>
            <a:off x="304797" y="1891010"/>
            <a:ext cx="4508097" cy="1935063"/>
            <a:chOff x="304797" y="1891010"/>
            <a:chExt cx="4508097" cy="1935063"/>
          </a:xfrm>
        </p:grpSpPr>
        <p:sp>
          <p:nvSpPr>
            <p:cNvPr id="3" name="Shape 1"/>
            <p:cNvSpPr/>
            <p:nvPr/>
          </p:nvSpPr>
          <p:spPr>
            <a:xfrm>
              <a:off x="304797" y="1891010"/>
              <a:ext cx="4508097" cy="1935063"/>
            </a:xfrm>
            <a:prstGeom prst="roundRect">
              <a:avLst>
                <a:gd name="adj" fmla="val 962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 2"/>
            <p:cNvSpPr/>
            <p:nvPr/>
          </p:nvSpPr>
          <p:spPr>
            <a:xfrm>
              <a:off x="664608" y="2002631"/>
              <a:ext cx="4024312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Bring to Session 23</a:t>
              </a:r>
              <a:endParaRPr lang="en-US" sz="1200" dirty="0"/>
            </a:p>
          </p:txBody>
        </p:sp>
      </p:grpSp>
      <p:sp>
        <p:nvSpPr>
          <p:cNvPr id="5" name="Text 3"/>
          <p:cNvSpPr/>
          <p:nvPr/>
        </p:nvSpPr>
        <p:spPr>
          <a:xfrm>
            <a:off x="496030" y="2321904"/>
            <a:ext cx="4148286" cy="13706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ts val="15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Your source list with one-sentence summaries</a:t>
            </a:r>
            <a:endParaRPr lang="en-US" sz="1200" dirty="0"/>
          </a:p>
          <a:p>
            <a:pPr marL="171450" indent="-171450" algn="l">
              <a:lnSpc>
                <a:spcPts val="15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Your Related Work draft</a:t>
            </a:r>
            <a:endParaRPr lang="en-US" sz="1200" dirty="0"/>
          </a:p>
          <a:p>
            <a:pPr marL="171450" indent="-171450" algn="l">
              <a:lnSpc>
                <a:spcPts val="15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Your Introduction draft</a:t>
            </a:r>
            <a:endParaRPr lang="en-US" sz="1200" dirty="0"/>
          </a:p>
          <a:p>
            <a:pPr marL="171450" indent="-171450" algn="l">
              <a:lnSpc>
                <a:spcPts val="15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Your final hands-on exploration plan with any adjustments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08625" y="2002631"/>
            <a:ext cx="3755454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Happens in Session 23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08625" y="2362349"/>
            <a:ext cx="3755454" cy="744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Research &amp; Build.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You'll do the deep literature read and your hands-on exploration. You'll draft Methodology and start Results.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08625" y="3218259"/>
            <a:ext cx="3755454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By end of next session, you'll have </a:t>
            </a: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four paper sections drafted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1673</Words>
  <Application>Microsoft Office PowerPoint</Application>
  <PresentationFormat>On-screen Show (16:9)</PresentationFormat>
  <Paragraphs>250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Arial</vt:lpstr>
      <vt:lpstr>Roboto Slab</vt:lpstr>
      <vt:lpstr>Roboto</vt:lpstr>
      <vt:lpstr>Roboto Slab Light</vt:lpstr>
      <vt:lpstr>Roboto Slab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sneha arya</dc:creator>
  <cp:lastModifiedBy>Office</cp:lastModifiedBy>
  <cp:revision>2</cp:revision>
  <dcterms:created xsi:type="dcterms:W3CDTF">2026-05-13T05:19:19Z</dcterms:created>
  <dcterms:modified xsi:type="dcterms:W3CDTF">2026-05-13T06:41:52Z</dcterms:modified>
</cp:coreProperties>
</file>